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9ddaf5bf204fd4" /><Relationship Type="http://schemas.openxmlformats.org/officeDocument/2006/relationships/extended-properties" Target="/docProps/app.xml" Id="Re5ecc8dd3f8a478d" /><Relationship Type="http://schemas.openxmlformats.org/officeDocument/2006/relationships/officeDocument" Target="/ppt/presentation.xml" Id="R33009313d3c24031" /></Relationships>
</file>

<file path=ppt/presentation.xml><?xml version="1.0" encoding="utf-8"?>
<p:presentation xmlns:p="http://schemas.openxmlformats.org/presentationml/2006/main">
  <p:sldMasterIdLst>
    <p:sldMasterId xmlns:r="http://schemas.openxmlformats.org/officeDocument/2006/relationships" id="2147483648" r:id="R86bf2d505bca478b"/>
  </p:sldMasterIdLst>
  <p:notesMasterIdLst>
    <p:notesMasterId xmlns:r="http://schemas.openxmlformats.org/officeDocument/2006/relationships" r:id="R037c92ef424749e6"/>
  </p:notesMasterIdLst>
  <p:sldIdLst>
    <p:sldId xmlns:r="http://schemas.openxmlformats.org/officeDocument/2006/relationships" id="256" r:id="R0226bd2931cc49ca"/>
    <p:sldId xmlns:r="http://schemas.openxmlformats.org/officeDocument/2006/relationships" id="257" r:id="Ra1bdce6fc79f48a4"/>
    <p:sldId xmlns:r="http://schemas.openxmlformats.org/officeDocument/2006/relationships" id="258" r:id="R18c824651d7542ab"/>
    <p:sldId xmlns:r="http://schemas.openxmlformats.org/officeDocument/2006/relationships" id="259" r:id="R5c337ef3514c42bc"/>
    <p:sldId xmlns:r="http://schemas.openxmlformats.org/officeDocument/2006/relationships" id="260" r:id="R5a42121a435144cc"/>
    <p:sldId xmlns:r="http://schemas.openxmlformats.org/officeDocument/2006/relationships" id="261" r:id="R6d8745c6ade7418c"/>
    <p:sldId xmlns:r="http://schemas.openxmlformats.org/officeDocument/2006/relationships" id="262" r:id="Rfde34a667c554a5d"/>
    <p:sldId xmlns:r="http://schemas.openxmlformats.org/officeDocument/2006/relationships" id="263" r:id="R44b07674adbf4f8b"/>
    <p:sldId xmlns:r="http://schemas.openxmlformats.org/officeDocument/2006/relationships" id="264" r:id="R9a2d28eb80994aec"/>
    <p:sldId xmlns:r="http://schemas.openxmlformats.org/officeDocument/2006/relationships" id="265" r:id="Rd5058aa476c942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4e0488f8fb4508" /><Relationship Type="http://schemas.openxmlformats.org/officeDocument/2006/relationships/slideMaster" Target="/ppt/slideMasters/slideMaster1.xml" Id="R86bf2d505bca478b" /><Relationship Type="http://schemas.openxmlformats.org/officeDocument/2006/relationships/notesMaster" Target="/ppt/notesMasters/notesMaster1.xml" Id="R037c92ef424749e6" /><Relationship Type="http://schemas.openxmlformats.org/officeDocument/2006/relationships/presProps" Target="/ppt/presProps.xml" Id="Re67885d813644211" /><Relationship Type="http://schemas.openxmlformats.org/officeDocument/2006/relationships/tableStyles" Target="/ppt/tableStyles.xml" Id="R783dd6f8f6be4ad4" /><Relationship Type="http://schemas.openxmlformats.org/officeDocument/2006/relationships/slide" Target="/ppt/slides/slide1.xml" Id="R0226bd2931cc49ca" /><Relationship Type="http://schemas.openxmlformats.org/officeDocument/2006/relationships/slide" Target="/ppt/slides/slide2.xml" Id="Ra1bdce6fc79f48a4" /><Relationship Type="http://schemas.openxmlformats.org/officeDocument/2006/relationships/slide" Target="/ppt/slides/slide3.xml" Id="R18c824651d7542ab" /><Relationship Type="http://schemas.openxmlformats.org/officeDocument/2006/relationships/slide" Target="/ppt/slides/slide4.xml" Id="R5c337ef3514c42bc" /><Relationship Type="http://schemas.openxmlformats.org/officeDocument/2006/relationships/slide" Target="/ppt/slides/slide5.xml" Id="R5a42121a435144cc" /><Relationship Type="http://schemas.openxmlformats.org/officeDocument/2006/relationships/slide" Target="/ppt/slides/slide6.xml" Id="R6d8745c6ade7418c" /><Relationship Type="http://schemas.openxmlformats.org/officeDocument/2006/relationships/slide" Target="/ppt/slides/slide7.xml" Id="Rfde34a667c554a5d" /><Relationship Type="http://schemas.openxmlformats.org/officeDocument/2006/relationships/slide" Target="/ppt/slides/slide8.xml" Id="R44b07674adbf4f8b" /><Relationship Type="http://schemas.openxmlformats.org/officeDocument/2006/relationships/slide" Target="/ppt/slides/slide9.xml" Id="R9a2d28eb80994aec" /><Relationship Type="http://schemas.openxmlformats.org/officeDocument/2006/relationships/slide" Target="/ppt/slides/slide10.xml" Id="Rd5058aa476c942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5462c86bf643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0b051b15804a1f" /><Relationship Type="http://schemas.openxmlformats.org/officeDocument/2006/relationships/notesMaster" Target="/ppt/notesMasters/notesMaster1.xml" Id="Rd407b588ea7644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633f89555649e4" /><Relationship Type="http://schemas.openxmlformats.org/officeDocument/2006/relationships/notesMaster" Target="/ppt/notesMasters/notesMaster1.xml" Id="R13d82433c9014a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1346197df9496e" /><Relationship Type="http://schemas.openxmlformats.org/officeDocument/2006/relationships/notesMaster" Target="/ppt/notesMasters/notesMaster1.xml" Id="R9cf016893fc742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204604708147ea" /><Relationship Type="http://schemas.openxmlformats.org/officeDocument/2006/relationships/notesMaster" Target="/ppt/notesMasters/notesMaster1.xml" Id="R986ffb6382bf43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5e40e37774474c" /><Relationship Type="http://schemas.openxmlformats.org/officeDocument/2006/relationships/notesMaster" Target="/ppt/notesMasters/notesMaster1.xml" Id="R123c0a9b9b5349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8d788a1da249a3" /><Relationship Type="http://schemas.openxmlformats.org/officeDocument/2006/relationships/notesMaster" Target="/ppt/notesMasters/notesMaster1.xml" Id="R0ba517a3933640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110d6d849d4e3b" /><Relationship Type="http://schemas.openxmlformats.org/officeDocument/2006/relationships/notesMaster" Target="/ppt/notesMasters/notesMaster1.xml" Id="Rc0a1bd241a0d46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5ef53859ad4e47" /><Relationship Type="http://schemas.openxmlformats.org/officeDocument/2006/relationships/notesMaster" Target="/ppt/notesMasters/notesMaster1.xml" Id="R8e4e159a94314e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8fce1235af4bc6" /><Relationship Type="http://schemas.openxmlformats.org/officeDocument/2006/relationships/notesMaster" Target="/ppt/notesMasters/notesMaster1.xml" Id="R6d7091ee2f2e4a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86838e0ca2445c" /><Relationship Type="http://schemas.openxmlformats.org/officeDocument/2006/relationships/notesMaster" Target="/ppt/notesMasters/notesMaster1.xml" Id="R775cdd5a62df43bf"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 إلى 0:25 (25 ثانية)</a:t>
            </a:r>
          </a:p>
          <a:p xmlns:a="http://schemas.openxmlformats.org/drawingml/2006/main">
            <a:r>
              <a:t/>
            </a:r>
          </a:p>
          <a:p xmlns:a="http://schemas.openxmlformats.org/drawingml/2006/main">
            <a:r>
              <a:t>السلام عليكم. نحن فريق Vcoders، ونقدّم لكم مُرشِدي، منصّة لدعم قرار اختيار التخصّص الجامعي. تخيّلوا طالباً وصل إلى نهاية التوجيهي، واجتهد سنوات حتى يحصل على معدّله. الآن أمامه سؤال يبدو بسيطاً، لكنه سيؤثر في سنوات دراسته وبداية حياته المهنية: ماذا أدرس؟ من هذا السؤال بدأ مُرشِدي، لنساعد الطالب وأهله على رؤية الخيارات بوضوح.</a:t>
            </a:r>
          </a:p>
          <a:p xmlns:a="http://schemas.openxmlformats.org/drawingml/2006/main">
            <a:r>
              <a:t/>
            </a:r>
          </a:p>
          <a:p xmlns:a="http://schemas.openxmlformats.org/drawingml/2006/main">
            <a:r>
              <a:t>مصادر المحتوى: README.md: تعريف المنصة؛ اسم الفريق بتأكيد المستخدم؛ افتتاح سردي</a:t>
            </a:r>
          </a:p>
          <a:p xmlns:a="http://schemas.openxmlformats.org/drawingml/2006/main">
            <a:r>
              <a:t>الصورة الافتتاحية: رسم مفاهيمي مولد. الشعار الأصلي من حزمة التسليم.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 إلى 1:10 (45 ثانية)</a:t>
            </a:r>
          </a:p>
          <a:p xmlns:a="http://schemas.openxmlformats.org/drawingml/2006/main">
            <a:r>
              <a:t/>
            </a:r>
          </a:p>
          <a:p xmlns:a="http://schemas.openxmlformats.org/drawingml/2006/main">
            <a:r>
              <a:t>الطالب لا يختار على أساس واحد. عنده ميول يحبّها، ومعدّل يفتح أمامه خيارات، وأسرة تفكّر في كلفة الدراسة، وأسئلة عن فرص العمل بعد التخرّج. المشكلة أن هذه العناصر غالباً تُناقش بشكل منفصل. قد يعرف الطالب اسم التخصّص، لكنه لا يعرف كيف يقارنه ببديل آخر يناسب ظروفه. وبين نصائح الأقارب والمعلومات المتفرّقة، تصبح المفاضلة أصعب. نحن نركّز على هذه اللحظة تحديداً: كيف نجمع صورة القرار أمام الطالب قبل أن يلتزم بمسار دراسي، حتى يتحاور مع أهله على أساس مفهوم ومشترك؟</a:t>
            </a:r>
          </a:p>
          <a:p xmlns:a="http://schemas.openxmlformats.org/drawingml/2006/main">
            <a:r>
              <a:t/>
            </a:r>
          </a:p>
          <a:p xmlns:a="http://schemas.openxmlformats.org/drawingml/2006/main">
            <a:r>
              <a:t>مصادر المحتوى: pdf-source/pitch-deck.html: المشكلة؛ PITCH_SCRIPT.md: المشهد الثاني؛ إعادة صياغة دون الإحصاءات غير المسندة</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إلى 2:05 (55 ثانية)</a:t>
            </a:r>
          </a:p>
          <a:p xmlns:a="http://schemas.openxmlformats.org/drawingml/2006/main">
            <a:r>
              <a:t/>
            </a:r>
          </a:p>
          <a:p xmlns:a="http://schemas.openxmlformats.org/drawingml/2006/main">
            <a:r>
              <a:t>مُرشِدي يجمع عناصر القرار في تجربة واحدة. يبدأ بمساعدة الطالب على استكشاف ميوله، ثم يتيح له مقارنة التخصّصات، والنظر إلى كلفة الدراسة ومؤشرات فرص العمل. وتضيف حاسبة عائد التعليم زاوية مهمة: ماذا تعني هذه الخيارات للأسرة على المدى الأبعد؟ الفكرة أن يرى الطالب ما الذي يكسبه وما الذي يحتاج أن يوازن بينه في كل خيار. الحسابات هنا تقديرات تساعد على المقارنة، والقرار يبقى للطالب وأهله. القيمة التي نقدّمها هي تحويل معلومات متفرّقة إلى صورة قابلة للفهم والنقاش، ضمن تجربة عربية قريبة من احتياجات الطالب الأردني. بذلك يصبح سؤال: ماذا أدرس؟ بداية مقارنة واعية يمكن للأسرة أن تشارك فيها.</a:t>
            </a:r>
          </a:p>
          <a:p xmlns:a="http://schemas.openxmlformats.org/drawingml/2006/main">
            <a:r>
              <a:t/>
            </a:r>
          </a:p>
          <a:p xmlns:a="http://schemas.openxmlformats.org/drawingml/2006/main">
            <a:r>
              <a:t>مصادر المحتوى: README.md: الميزات لتجربتها؛ pdf-source/documentation.html: نظرة عامة ومنطق حاسبة عائد التعليم</a:t>
            </a:r>
          </a:p>
          <a:p xmlns:a="http://schemas.openxmlformats.org/drawingml/2006/main">
            <a:r>
              <a:t>لقطة فعلية من واجهات النسخة المرفقة في حزمة التسليم.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 إلى 2:50 (45 ثانية)</a:t>
            </a:r>
          </a:p>
          <a:p xmlns:a="http://schemas.openxmlformats.org/drawingml/2006/main">
            <a:r>
              <a:t/>
            </a:r>
          </a:p>
          <a:p xmlns:a="http://schemas.openxmlformats.org/drawingml/2006/main">
            <a:r>
              <a:t>لنأخذ مثالاً افتراضياً لطالب يحبّ الحاسوب، ويفكّر أيضاً في الهندسة والإعلام. يبدأ بإدخال معلوماته الدراسية وظروفه، ويستكشف ميوله. بعدها يضع خياراته جنباً إلى جنب: ماذا سيدرس؟ ما الكلفة التقديرية؟ وما مؤشرات العمل المرتبطة بكل تخصّص؟ قد يكتشف أن خياراً قريباً من اهتماماته يستحق أن يبحث فيه أكثر، أو أن كلفة خيار آخر تحتاج إلى نقاش مع الأسرة. يخرج من هذه الرحلة بصورة أوضح لبدائله وأسئلة أفضل. ثم يجلس مع أهله ليوازن بين ما يحبّه، وما يناسب إمكاناته، والمسار الذي يريد بناءه.</a:t>
            </a:r>
          </a:p>
          <a:p xmlns:a="http://schemas.openxmlformats.org/drawingml/2006/main">
            <a:r>
              <a:t/>
            </a:r>
          </a:p>
          <a:p xmlns:a="http://schemas.openxmlformats.org/drawingml/2006/main">
            <a:r>
              <a:t>مصادر المحتوى: README.md: حاسبة عائد التعليم ومقارنة التخصصات واختبار الميول؛ مثال سردي افتراضي</a:t>
            </a:r>
          </a:p>
          <a:p xmlns:a="http://schemas.openxmlformats.org/drawingml/2006/main">
            <a:r>
              <a:t>لقطة فعلية من واجهات النسخة المرفقة في حزمة التسليم.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 إلى 3:30 (40 ثانية)</a:t>
            </a:r>
          </a:p>
          <a:p xmlns:a="http://schemas.openxmlformats.org/drawingml/2006/main">
            <a:r>
              <a:t/>
            </a:r>
          </a:p>
          <a:p xmlns:a="http://schemas.openxmlformats.org/drawingml/2006/main">
            <a:r>
              <a:t>المستفيد الأساسي هو طالب التوجيهي، ومعه وليّ الأمر الذي يشارك في القرار ويفكّر في الالتزام المالي. وللوصول إليهما، نقترح البدء من المدارس والجامعات، حيث يوجد احتياج واضح للإرشاد ومناقشة الخيارات. أمّا العملاء المحتملون فهم الجهات الحكومية المعنية بالتعليم، والجامعات التي يمكن أن تستفيد من خدمات الإرشاد والتقارير. بهذه العلاقة، تصل الخدمة إلى الطالب عبر مؤسسات قريبة منه. البداية المقترحة تكون مع نطاق محدود من المؤسسات، لنتعلّم من الاستخدام الفعلي ونطوّر الخدمة بناءً على احتياجات المستفيدين.</a:t>
            </a:r>
          </a:p>
          <a:p xmlns:a="http://schemas.openxmlformats.org/drawingml/2006/main">
            <a:r>
              <a:t/>
            </a:r>
          </a:p>
          <a:p xmlns:a="http://schemas.openxmlformats.org/drawingml/2006/main">
            <a:r>
              <a:t>مصادر المحتوى: pdf-source/pitch-deck.html: الأثر والاستدامة؛ قنوات الوصول والتجربة المحدودة مقترحات للمرحلة القادمة</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 إلى 4:10 (40 ثانية)</a:t>
            </a:r>
          </a:p>
          <a:p xmlns:a="http://schemas.openxmlformats.org/drawingml/2006/main">
            <a:r>
              <a:t/>
            </a:r>
          </a:p>
          <a:p xmlns:a="http://schemas.openxmlformats.org/drawingml/2006/main">
            <a:r>
              <a:t>ما يميّز مُرشِدي هو جمع عناصر القرار في سياق أردني واحد: ميول الطالب، وخيارات الدراسة، والكلفة، ومؤشرات العمل. التجربة العربية تساعد الطالب وأهله على فهم المقارنة واستخدامها في حوارهم. والتركيز على هذا القرار يمنح المشروع اتجاهاً واضحاً، كل إضافة يجب أن تساعد المستخدم على فهم خياراته أكثر. لدينا نموذج أولي ببيانات ثابتة يترجم الفكرة إلى رحلة يمكن عرضها وتجربتها. وميزة المشروع التي نريد تطويرها باستمرار هي جودة هذه الرحلة، ووضوح المعلومات، وملاءمتها لظروف الطلبة والأسر.</a:t>
            </a:r>
          </a:p>
          <a:p xmlns:a="http://schemas.openxmlformats.org/drawingml/2006/main">
            <a:r>
              <a:t/>
            </a:r>
          </a:p>
          <a:p xmlns:a="http://schemas.openxmlformats.org/drawingml/2006/main">
            <a:r>
              <a:t>مصادر المحتوى: README.md: الميزات واللغة؛ pdf-source/documentation.html: طبقة البيانات ومنظومة التصميم؛ pdf-source/pitch-deck.html: خارطة الطريق، MVP</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 إلى 5:05 (55 ثانية)</a:t>
            </a:r>
          </a:p>
          <a:p xmlns:a="http://schemas.openxmlformats.org/drawingml/2006/main">
            <a:r>
              <a:t/>
            </a:r>
          </a:p>
          <a:p xmlns:a="http://schemas.openxmlformats.org/drawingml/2006/main">
            <a:r>
              <a:t>نموذج العمل المقترح يحافظ على مجانية الخدمة الأساسية للطالب، ويبحث عن الاستدامة من المؤسسات المستفيدة. نخطّط لاختبار عقود خدمات وتقارير مع جهات حكومية وجامعات، إلى جانب شراكات تعليمية يمكن أن تدعم رحلة الطالب. هذه مسارات إيراد مقترحة، وسيحدّد التجريب أيّها يقدّم قيمة واضحة يمكن للمؤسسة أن تدفع مقابلها. أمّا المنح والتمويل الابتكاري، فدورها تمويل التطوير والتجربة الأولى، ونفصلها عن إيراد التشغيل المستمر. ومن المبادئ التي نقترح تثبيتها من البداية حياد المقارنة، فلا يغيّر الدفع ترتيب التخصّصات لمصلحة جهة معينة. ثقة الطالب هي أساس العلاقة، والاستدامة المالية يجب أن تساعدنا على الحفاظ عليها وتحسين الخدمة.</a:t>
            </a:r>
          </a:p>
          <a:p xmlns:a="http://schemas.openxmlformats.org/drawingml/2006/main">
            <a:r>
              <a:t/>
            </a:r>
          </a:p>
          <a:p xmlns:a="http://schemas.openxmlformats.org/drawingml/2006/main">
            <a:r>
              <a:t>مصادر المحتوى: pdf-source/pitch-deck.html: الاستدامة؛ PITCH_SCRIPT.md: السؤال الرابع؛ فصل المنح عن التشغيل والحياد مبادئ مقترحة</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5:05 إلى 5:50 (45 ثانية)</a:t>
            </a:r>
          </a:p>
          <a:p xmlns:a="http://schemas.openxmlformats.org/drawingml/2006/main">
            <a:r>
              <a:t/>
            </a:r>
          </a:p>
          <a:p xmlns:a="http://schemas.openxmlformats.org/drawingml/2006/main">
            <a:r>
              <a:t>الأثر الذي نستهدفه يبدأ من الطالب: فهم أوضح للبدائل، وحوار أفضل داخل الأسرة، وقدرة أكبر على موازنة الميول مع الكلفة وفرص العمل. وللمؤسسات، نطمح إلى دعم إرشاد أقرب لاحتياجات الطلبة. سنبدأ بقياس هذا الأثر في تجربة محدودة مقترحة: هل أصبحت الخيارات أوضح بعد الاستخدام؟ هل أكمل الطالب المقارنة؟ وهل وجد الطالب وأهله أن التجربة مفيدة؟ هذه مؤشرات تساعدنا على معرفة ما يعمل وما يحتاج إلى تحسين. ومع توسيع البيانات وتحسين التجربة، نطمح إلى مساهمة أوسع في اختيارات تعليمية أكثر وعياً على مستوى الأردن.</a:t>
            </a:r>
          </a:p>
          <a:p xmlns:a="http://schemas.openxmlformats.org/drawingml/2006/main">
            <a:r>
              <a:t/>
            </a:r>
          </a:p>
          <a:p xmlns:a="http://schemas.openxmlformats.org/drawingml/2006/main">
            <a:r>
              <a:t>مصادر المحتوى: pdf-source/pitch-deck.html: الأثر؛ مؤشرات وضوح القرار وإكمال المقارنة ورضا الأسر مقترحات للتحقق</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5:50 إلى 6:25 (35 ثانية)</a:t>
            </a:r>
          </a:p>
          <a:p xmlns:a="http://schemas.openxmlformats.org/drawingml/2006/main">
            <a:r>
              <a:t/>
            </a:r>
          </a:p>
          <a:p xmlns:a="http://schemas.openxmlformats.org/drawingml/2006/main">
            <a:r>
              <a:t>وراء مُرشِدي ثلاثة أعضاء بأدوار متكاملة. زيد أبو الشعر مسؤول عن تنفيذ واجهات التطبيق وتحويل التصاميم إلى تجربة قابلة للاستخدام. عبد الرحمن الكردي مسؤول عن تجربة المستخدم والهوية البصرية وتنظيم رحلة الطالب. وعبد الرحمن الهيموني يقود الفريق، ويتولّى منطق التطبيق والبيانات والاختبار. هذا التكامل يجمع فهم المستخدم، وبناء التجربة، ومراجعة عملها. وقد ساعدنا على الوصول إلى نموذج أولي واضح يمكن أن ننطلق منه إلى التحقق الميداني.</a:t>
            </a:r>
          </a:p>
          <a:p xmlns:a="http://schemas.openxmlformats.org/drawingml/2006/main">
            <a:r>
              <a:t/>
            </a:r>
          </a:p>
          <a:p xmlns:a="http://schemas.openxmlformats.org/drawingml/2006/main">
            <a:r>
              <a:t>مصادر المحتوى: pdf-source/team-roles.html: أعضاء الفريق والإسهامات الفعلية؛ اسم الفريق بتأكيد المستخدم</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 إلى 7:00 (35 ثانية)</a:t>
            </a:r>
          </a:p>
          <a:p xmlns:a="http://schemas.openxmlformats.org/drawingml/2006/main">
            <a:r>
              <a:t/>
            </a:r>
          </a:p>
          <a:p xmlns:a="http://schemas.openxmlformats.org/drawingml/2006/main">
            <a:r>
              <a:t>خطوتنا القادمة هي فتح باب تجربة محدودة مع مؤسسات تعليمية، والاستماع إلى الطلبة والأهالي، ثم توسيع البيانات وتحسين الخدمة وفق النتائج. والدعم الذي نبحث عنه اليوم هو المساعدة في الوصول إلى شركاء تجربة وتوجيه ريادي يختبر نموذج العمل. رؤيتنا أن يجد كل طالب أردني مساحة يفهم فيها خياراته ويناقشها بثقة. مُرشِدي يبدأ من سؤال: ماذا أدرس؟ ويساعد الطالب على الوصول إلى قرار يعرف لماذا اختاره. شكراً لكم.</a:t>
            </a:r>
          </a:p>
          <a:p xmlns:a="http://schemas.openxmlformats.org/drawingml/2006/main">
            <a:r>
              <a:t/>
            </a:r>
          </a:p>
          <a:p xmlns:a="http://schemas.openxmlformats.org/drawingml/2006/main">
            <a:r>
              <a:t>مصادر المحتوى: pdf-source/documentation.html: خطة التوسع؛ تجربة المؤسسات وطلب الدعم مقترحان للمرحلة القادمة</a:t>
            </a:r>
          </a:p>
          <a:p xmlns:a="http://schemas.openxmlformats.org/drawingml/2006/main">
            <a:r>
              <a:t>الصورة الافتتاحية: رسم مفاهيمي مولد. الشعار الأصلي من حزمة التسليم.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c58069521a4c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85303e5b1d4aa3" /><Relationship Type="http://schemas.openxmlformats.org/officeDocument/2006/relationships/slideLayout" Target="/ppt/slideLayouts/slideLayout1.xml" Id="R264eb629a2fe49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4eb629a2fe49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24a86c59d542c2" /><Relationship Type="http://schemas.openxmlformats.org/officeDocument/2006/relationships/image" Target="/ppt/media/image.png" Id="R54a4bd3be44d489f" /><Relationship Type="http://schemas.openxmlformats.org/officeDocument/2006/relationships/image" Target="/ppt/media/image2.png" Id="R81c4ba3d2c06467d" /><Relationship Type="http://schemas.openxmlformats.org/officeDocument/2006/relationships/notesSlide" Target="/ppt/notesSlides/notesSlide1.xml" Id="Ra65e6e1a3ae344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4ac02d43ed4457" /><Relationship Type="http://schemas.openxmlformats.org/officeDocument/2006/relationships/image" Target="/ppt/media/image3.png" Id="R920c8ea89f0c4d02" /><Relationship Type="http://schemas.openxmlformats.org/officeDocument/2006/relationships/notesSlide" Target="/ppt/notesSlides/notesSlide2.xml" Id="R3833e4056ee74e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93f4247678463a" /><Relationship Type="http://schemas.openxmlformats.org/officeDocument/2006/relationships/image" Target="/ppt/media/image4.png" Id="Rffd849ca49c54e39" /><Relationship Type="http://schemas.openxmlformats.org/officeDocument/2006/relationships/image" Target="/ppt/media/image5.png" Id="R70b5ea24dfbe4830" /><Relationship Type="http://schemas.openxmlformats.org/officeDocument/2006/relationships/notesSlide" Target="/ppt/notesSlides/notesSlide3.xml" Id="R98d8e1de34bd40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2ec04ba87e405b" /><Relationship Type="http://schemas.openxmlformats.org/officeDocument/2006/relationships/image" Target="/ppt/media/image6.png" Id="R0566663789384bbf" /><Relationship Type="http://schemas.openxmlformats.org/officeDocument/2006/relationships/image" Target="/ppt/media/image7.png" Id="R1e05a3dfdf9b4929" /><Relationship Type="http://schemas.openxmlformats.org/officeDocument/2006/relationships/notesSlide" Target="/ppt/notesSlides/notesSlide4.xml" Id="Rb28ef24456c142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c7ef797c9846fa" /><Relationship Type="http://schemas.openxmlformats.org/officeDocument/2006/relationships/image" Target="/ppt/media/image8.png" Id="R58f760f0ff074588" /><Relationship Type="http://schemas.openxmlformats.org/officeDocument/2006/relationships/notesSlide" Target="/ppt/notesSlides/notesSlide5.xml" Id="Rc71316da6a0946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e5ae3052d74239" /><Relationship Type="http://schemas.openxmlformats.org/officeDocument/2006/relationships/image" Target="/ppt/media/image9.png" Id="Rb55837c2d90c470a" /><Relationship Type="http://schemas.openxmlformats.org/officeDocument/2006/relationships/notesSlide" Target="/ppt/notesSlides/notesSlide6.xml" Id="Rab356561113a48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94abd7196449de" /><Relationship Type="http://schemas.openxmlformats.org/officeDocument/2006/relationships/image" Target="/ppt/media/image10.png" Id="Rfa5b4e4338a1449e" /><Relationship Type="http://schemas.openxmlformats.org/officeDocument/2006/relationships/notesSlide" Target="/ppt/notesSlides/notesSlide7.xml" Id="Rdd258c04fada46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36ab64f4ac44d5a" /><Relationship Type="http://schemas.openxmlformats.org/officeDocument/2006/relationships/image" Target="/ppt/media/image11.png" Id="Rf78fb19c31f84866" /><Relationship Type="http://schemas.openxmlformats.org/officeDocument/2006/relationships/notesSlide" Target="/ppt/notesSlides/notesSlide8.xml" Id="Racb551c6e98343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a17b0f82709482e" /><Relationship Type="http://schemas.openxmlformats.org/officeDocument/2006/relationships/image" Target="/ppt/media/image12.png" Id="Rc718270d6d384149" /><Relationship Type="http://schemas.openxmlformats.org/officeDocument/2006/relationships/notesSlide" Target="/ppt/notesSlides/notesSlide9.xml" Id="Rc49291521afb43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47793f796940e3" /><Relationship Type="http://schemas.openxmlformats.org/officeDocument/2006/relationships/image" Target="/ppt/media/image13.png" Id="R883fc57c79f547b6" /><Relationship Type="http://schemas.openxmlformats.org/officeDocument/2006/relationships/image" Target="/ppt/media/image14.png" Id="Ra61cc86ccc23439f" /><Relationship Type="http://schemas.openxmlformats.org/officeDocument/2006/relationships/notesSlide" Target="/ppt/notesSlides/notesSlide10.xml" Id="R471d6194308542d0" /></Relationships>
</file>

<file path=ppt/slides/slide1.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4a4bd3be44d489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1c4ba3d2c06467d"/>
          <a:stretch xmlns:a="http://schemas.openxmlformats.org/drawingml/2006/main"/>
        </p:blipFill>
        <p:spPr>
          <a:xfrm xmlns:a="http://schemas.openxmlformats.org/drawingml/2006/main">
            <a:off x="10306050" y="590550"/>
            <a:ext cx="1162050" cy="1162050"/>
          </a:xfrm>
          <a:prstGeom xmlns:a="http://schemas.openxmlformats.org/drawingml/2006/main" prst="rect">
            <a:avLst/>
          </a:prstGeom>
        </p:spPr>
      </p:pic>
      <p:sp>
        <p:nvSpPr>
          <p:cNvPr id="3" name="text-0-مُرشِدي">
            <a:extLst xmlns:a="http://schemas.openxmlformats.org/drawingml/2006/main">
              <a:ext uri="{FF2B5EF4-FFF2-40B4-BE49-F238E27FC236}">
                <a16:creationId xmlns:a16="http://schemas.microsoft.com/office/drawing/2014/main" id="{8D5E21B7-64A4-4664-B73A-2F093D302F4B}"/>
              </a:ext>
            </a:extLst>
          </p:cNvPr>
          <p:cNvSpPr>
            <a:spLocks xmlns:a="http://schemas.openxmlformats.org/drawingml/2006/main" noGrp="1"/>
          </p:cNvSpPr>
          <p:nvPr/>
        </p:nvSpPr>
        <p:spPr>
          <a:xfrm xmlns:a="http://schemas.openxmlformats.org/drawingml/2006/main">
            <a:off x="6334125" y="1952625"/>
            <a:ext cx="5143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7200" b="1" lang="ar-JO">
                <a:solidFill>
                  <a:srgbClr val="FFFFFF"/>
                </a:solidFill>
                <a:latin typeface="IBM Plex Sans Arabic"/>
                <a:ea typeface="IBM Plex Sans Arabic"/>
                <a:cs typeface="IBM Plex Sans Arabic"/>
              </a:defRPr>
            </a:pPr>
            <a:r>
              <a:rPr sz="7200" b="1" lang="ar-JO">
                <a:solidFill>
                  <a:srgbClr val="FFFFFF"/>
                </a:solidFill>
                <a:latin typeface="IBM Plex Sans Arabic"/>
                <a:ea typeface="IBM Plex Sans Arabic"/>
                <a:cs typeface="IBM Plex Sans Arabic"/>
              </a:rPr>
              <a:t>مُرشِدي</a:t>
            </a:r>
          </a:p>
        </p:txBody>
      </p:sp>
      <p:sp>
        <p:nvSpPr>
          <p:cNvPr id="4" name="text-1-منصّة دعم القرار الأ">
            <a:extLst xmlns:a="http://schemas.openxmlformats.org/drawingml/2006/main">
              <a:ext uri="{FF2B5EF4-FFF2-40B4-BE49-F238E27FC236}">
                <a16:creationId xmlns:a16="http://schemas.microsoft.com/office/drawing/2014/main" id="{7F7C5424-7625-4B5C-816B-67CE1B665C6B}"/>
              </a:ext>
            </a:extLst>
          </p:cNvPr>
          <p:cNvSpPr>
            <a:spLocks xmlns:a="http://schemas.openxmlformats.org/drawingml/2006/main" noGrp="1"/>
          </p:cNvSpPr>
          <p:nvPr/>
        </p:nvSpPr>
        <p:spPr>
          <a:xfrm xmlns:a="http://schemas.openxmlformats.org/drawingml/2006/main">
            <a:off x="6238875" y="3238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850" b="1" lang="ar-JO">
                <a:solidFill>
                  <a:srgbClr val="C8A04C"/>
                </a:solidFill>
                <a:latin typeface="IBM Plex Sans Arabic"/>
                <a:ea typeface="IBM Plex Sans Arabic"/>
                <a:cs typeface="IBM Plex Sans Arabic"/>
              </a:defRPr>
            </a:pPr>
            <a:r>
              <a:rPr sz="2850" b="1" lang="ar-JO">
                <a:solidFill>
                  <a:srgbClr val="C8A04C"/>
                </a:solidFill>
                <a:latin typeface="IBM Plex Sans Arabic"/>
                <a:ea typeface="IBM Plex Sans Arabic"/>
                <a:cs typeface="IBM Plex Sans Arabic"/>
              </a:rPr>
              <a:t>منصّة دعم القرار الأكاديمي</a:t>
            </a:r>
          </a:p>
        </p:txBody>
      </p:sp>
      <p:sp>
        <p:nvSpPr>
          <p:cNvPr id="5" name="text-2-Vcoders">
            <a:extLst xmlns:a="http://schemas.openxmlformats.org/drawingml/2006/main">
              <a:ext uri="{FF2B5EF4-FFF2-40B4-BE49-F238E27FC236}">
                <a16:creationId xmlns:a16="http://schemas.microsoft.com/office/drawing/2014/main" id="{9280DBC5-E0E3-4A1E-8FE6-C6D33C7B2111}"/>
              </a:ext>
            </a:extLst>
          </p:cNvPr>
          <p:cNvSpPr>
            <a:spLocks xmlns:a="http://schemas.openxmlformats.org/drawingml/2006/main" noGrp="1"/>
          </p:cNvSpPr>
          <p:nvPr/>
        </p:nvSpPr>
        <p:spPr>
          <a:xfrm xmlns:a="http://schemas.openxmlformats.org/drawingml/2006/main">
            <a:off x="7381875" y="40386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475" b="0" lang="ar-JO">
                <a:solidFill>
                  <a:srgbClr val="FFFFFF"/>
                </a:solidFill>
                <a:latin typeface="IBM Plex Sans Arabic"/>
                <a:ea typeface="IBM Plex Sans Arabic"/>
                <a:cs typeface="IBM Plex Sans Arabic"/>
              </a:defRPr>
            </a:pPr>
            <a:r>
              <a:rPr sz="2475" b="0" lang="ar-JO">
                <a:solidFill>
                  <a:srgbClr val="FFFFFF"/>
                </a:solidFill>
                <a:latin typeface="IBM Plex Sans Arabic"/>
                <a:ea typeface="IBM Plex Sans Arabic"/>
                <a:cs typeface="IBM Plex Sans Arabic"/>
              </a:rPr>
              <a:t>Vcoders</a:t>
            </a:r>
          </a:p>
        </p:txBody>
      </p:sp>
      <p:sp>
        <p:nvSpPr>
          <p:cNvPr id="6" name="text-3-جائزة ولي العهد لأفض">
            <a:extLst xmlns:a="http://schemas.openxmlformats.org/drawingml/2006/main">
              <a:ext uri="{FF2B5EF4-FFF2-40B4-BE49-F238E27FC236}">
                <a16:creationId xmlns:a16="http://schemas.microsoft.com/office/drawing/2014/main" id="{305FEBFE-F5B5-4741-A69F-0B9FCDD98BD7}"/>
              </a:ext>
            </a:extLst>
          </p:cNvPr>
          <p:cNvSpPr>
            <a:spLocks xmlns:a="http://schemas.openxmlformats.org/drawingml/2006/main" noGrp="1"/>
          </p:cNvSpPr>
          <p:nvPr/>
        </p:nvSpPr>
        <p:spPr>
          <a:xfrm xmlns:a="http://schemas.openxmlformats.org/drawingml/2006/main">
            <a:off x="6172200" y="55149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875" b="0" lang="ar-JO">
                <a:solidFill>
                  <a:srgbClr val="D1DEED"/>
                </a:solidFill>
                <a:latin typeface="IBM Plex Sans Arabic"/>
                <a:ea typeface="IBM Plex Sans Arabic"/>
                <a:cs typeface="IBM Plex Sans Arabic"/>
              </a:defRPr>
            </a:pPr>
            <a:r>
              <a:rPr sz="1875" b="0" lang="ar-JO">
                <a:solidFill>
                  <a:srgbClr val="D1DEED"/>
                </a:solidFill>
                <a:latin typeface="IBM Plex Sans Arabic"/>
                <a:ea typeface="IBM Plex Sans Arabic"/>
                <a:cs typeface="IBM Plex Sans Arabic"/>
              </a:rPr>
              <a:t>جائزة ولي العهد لأفضل تطبيق خدمات حكومية</a:t>
            </a:r>
          </a:p>
        </p:txBody>
      </p:sp>
      <p:sp>
        <p:nvSpPr>
          <p:cNvPr id="7" name="text-4-الدورة الخامسة">
            <a:extLst xmlns:a="http://schemas.openxmlformats.org/drawingml/2006/main">
              <a:ext uri="{FF2B5EF4-FFF2-40B4-BE49-F238E27FC236}">
                <a16:creationId xmlns:a16="http://schemas.microsoft.com/office/drawing/2014/main" id="{03C41E40-884B-453E-BB71-E05FDAE6D5C7}"/>
              </a:ext>
            </a:extLst>
          </p:cNvPr>
          <p:cNvSpPr>
            <a:spLocks xmlns:a="http://schemas.openxmlformats.org/drawingml/2006/main" noGrp="1"/>
          </p:cNvSpPr>
          <p:nvPr/>
        </p:nvSpPr>
        <p:spPr>
          <a:xfrm xmlns:a="http://schemas.openxmlformats.org/drawingml/2006/main">
            <a:off x="6477000" y="5934075"/>
            <a:ext cx="500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725" b="0" lang="ar-JO">
                <a:solidFill>
                  <a:srgbClr val="D1DEED"/>
                </a:solidFill>
                <a:latin typeface="IBM Plex Sans Arabic"/>
                <a:ea typeface="IBM Plex Sans Arabic"/>
                <a:cs typeface="IBM Plex Sans Arabic"/>
              </a:defRPr>
            </a:pPr>
            <a:r>
              <a:rPr sz="1725" b="0" lang="ar-JO">
                <a:solidFill>
                  <a:srgbClr val="D1DEED"/>
                </a:solidFill>
                <a:latin typeface="IBM Plex Sans Arabic"/>
                <a:ea typeface="IBM Plex Sans Arabic"/>
                <a:cs typeface="IBM Plex Sans Arabic"/>
              </a:rPr>
              <a:t>الدورة الخامسة</a:t>
            </a:r>
          </a:p>
        </p:txBody>
      </p:sp>
    </p:spTree>
    <p:extLst>
      <p:ext uri="{BB962C8B-B14F-4D97-AF65-F5344CB8AC3E}">
        <p14:creationId xmlns:p14="http://schemas.microsoft.com/office/powerpoint/2010/main" val="1523921581"/>
      </p:ext>
    </p:extLst>
  </p:cSld>
</p:sld>
</file>

<file path=ppt/slides/slide2.xml><?xml version="1.0" encoding="utf-8"?>
<p:sld xmlns:a="http://schemas.openxmlformats.org/drawingml/2006/main"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20c8ea89f0c4d02"/>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5-قرار واحد، ومعلومات ">
            <a:extLst xmlns:a="http://schemas.openxmlformats.org/drawingml/2006/main">
              <a:ext uri="{FF2B5EF4-FFF2-40B4-BE49-F238E27FC236}">
                <a16:creationId xmlns:a16="http://schemas.microsoft.com/office/drawing/2014/main" id="{AB202FCE-411B-4D1B-B849-EE3A14E03850}"/>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lang="ar-JO">
                <a:solidFill>
                  <a:srgbClr val="013070"/>
                </a:solidFill>
                <a:latin typeface="IBM Plex Sans Arabic"/>
                <a:ea typeface="IBM Plex Sans Arabic"/>
                <a:cs typeface="IBM Plex Sans Arabic"/>
              </a:defRPr>
            </a:pPr>
            <a:r>
              <a:rPr sz="3675" b="1" lang="ar-JO">
                <a:solidFill>
                  <a:srgbClr val="013070"/>
                </a:solidFill>
                <a:latin typeface="IBM Plex Sans Arabic"/>
                <a:ea typeface="IBM Plex Sans Arabic"/>
                <a:cs typeface="IBM Plex Sans Arabic"/>
              </a:rPr>
              <a:t>قرار واحد، ومعلومات متفرّقة</a:t>
            </a:r>
          </a:p>
        </p:txBody>
      </p:sp>
      <p:sp>
        <p:nvSpPr>
          <p:cNvPr id="3" name="text-6-02">
            <a:extLst xmlns:a="http://schemas.openxmlformats.org/drawingml/2006/main">
              <a:ext uri="{FF2B5EF4-FFF2-40B4-BE49-F238E27FC236}">
                <a16:creationId xmlns:a16="http://schemas.microsoft.com/office/drawing/2014/main" id="{52174113-158C-4FD8-BBB3-FFF944984E82}"/>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lang="ar-JO">
                <a:solidFill>
                  <a:srgbClr val="53657C"/>
                </a:solidFill>
                <a:latin typeface="IBM Plex Sans Arabic"/>
                <a:ea typeface="IBM Plex Sans Arabic"/>
                <a:cs typeface="IBM Plex Sans Arabic"/>
              </a:defRPr>
            </a:pPr>
            <a:r>
              <a:rPr sz="1575" b="0" lang="ar-JO">
                <a:solidFill>
                  <a:srgbClr val="53657C"/>
                </a:solidFill>
                <a:latin typeface="IBM Plex Sans Arabic"/>
                <a:ea typeface="IBM Plex Sans Arabic"/>
                <a:cs typeface="IBM Plex Sans Arabic"/>
              </a:rPr>
              <a:t>02</a:t>
            </a:r>
          </a:p>
        </p:txBody>
      </p:sp>
      <p:sp>
        <p:nvSpPr>
          <p:cNvPr id="4" name="text-7-شو أدرس؟">
            <a:extLst xmlns:a="http://schemas.openxmlformats.org/drawingml/2006/main">
              <a:ext uri="{FF2B5EF4-FFF2-40B4-BE49-F238E27FC236}">
                <a16:creationId xmlns:a16="http://schemas.microsoft.com/office/drawing/2014/main" id="{A8AE8BA0-DC12-48F3-B537-46DEA2719173}"/>
              </a:ext>
            </a:extLst>
          </p:cNvPr>
          <p:cNvSpPr>
            <a:spLocks xmlns:a="http://schemas.openxmlformats.org/drawingml/2006/main" noGrp="1"/>
          </p:cNvSpPr>
          <p:nvPr/>
        </p:nvSpPr>
        <p:spPr>
          <a:xfrm xmlns:a="http://schemas.openxmlformats.org/drawingml/2006/main">
            <a:off x="666750" y="2362200"/>
            <a:ext cx="4429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150" b="1" lang="ar-JO">
                <a:solidFill>
                  <a:srgbClr val="013070"/>
                </a:solidFill>
                <a:latin typeface="IBM Plex Sans Arabic"/>
                <a:ea typeface="IBM Plex Sans Arabic"/>
                <a:cs typeface="IBM Plex Sans Arabic"/>
              </a:defRPr>
            </a:pPr>
            <a:r>
              <a:rPr sz="6150" b="1" lang="ar-JO">
                <a:solidFill>
                  <a:srgbClr val="013070"/>
                </a:solidFill>
                <a:latin typeface="IBM Plex Sans Arabic"/>
                <a:ea typeface="IBM Plex Sans Arabic"/>
                <a:cs typeface="IBM Plex Sans Arabic"/>
              </a:rPr>
              <a:t>شو أدرس؟</a:t>
            </a:r>
          </a:p>
        </p:txBody>
      </p:sp>
      <p:sp>
        <p:nvSpPr>
          <p:cNvPr id="5" name="text-8-سؤال الطالب بعد التو">
            <a:extLst xmlns:a="http://schemas.openxmlformats.org/drawingml/2006/main">
              <a:ext uri="{FF2B5EF4-FFF2-40B4-BE49-F238E27FC236}">
                <a16:creationId xmlns:a16="http://schemas.microsoft.com/office/drawing/2014/main" id="{F7DD986D-62BF-436E-806C-C702C45ACCA4}"/>
              </a:ext>
            </a:extLst>
          </p:cNvPr>
          <p:cNvSpPr>
            <a:spLocks xmlns:a="http://schemas.openxmlformats.org/drawingml/2006/main" noGrp="1"/>
          </p:cNvSpPr>
          <p:nvPr/>
        </p:nvSpPr>
        <p:spPr>
          <a:xfrm xmlns:a="http://schemas.openxmlformats.org/drawingml/2006/main">
            <a:off x="714375" y="3752850"/>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lang="ar-JO">
                <a:solidFill>
                  <a:srgbClr val="53657C"/>
                </a:solidFill>
                <a:latin typeface="IBM Plex Sans Arabic"/>
                <a:ea typeface="IBM Plex Sans Arabic"/>
                <a:cs typeface="IBM Plex Sans Arabic"/>
              </a:defRPr>
            </a:pPr>
            <a:r>
              <a:rPr sz="2100" b="0" lang="ar-JO">
                <a:solidFill>
                  <a:srgbClr val="53657C"/>
                </a:solidFill>
                <a:latin typeface="IBM Plex Sans Arabic"/>
                <a:ea typeface="IBM Plex Sans Arabic"/>
                <a:cs typeface="IBM Plex Sans Arabic"/>
              </a:rPr>
              <a:t>سؤال الطالب بعد التوجيهي</a:t>
            </a:r>
          </a:p>
        </p:txBody>
      </p:sp>
      <p:sp>
        <p:nvSpPr>
          <p:cNvPr id="6" name="text-9-الميول">
            <a:extLst xmlns:a="http://schemas.openxmlformats.org/drawingml/2006/main">
              <a:ext uri="{FF2B5EF4-FFF2-40B4-BE49-F238E27FC236}">
                <a16:creationId xmlns:a16="http://schemas.microsoft.com/office/drawing/2014/main" id="{F7C277CA-0B21-4661-B818-54333B697220}"/>
              </a:ext>
            </a:extLst>
          </p:cNvPr>
          <p:cNvSpPr>
            <a:spLocks xmlns:a="http://schemas.openxmlformats.org/drawingml/2006/main" noGrp="1"/>
          </p:cNvSpPr>
          <p:nvPr/>
        </p:nvSpPr>
        <p:spPr>
          <a:xfrm xmlns:a="http://schemas.openxmlformats.org/drawingml/2006/main">
            <a:off x="9906000" y="1962150"/>
            <a:ext cx="156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1" lang="ar-JO">
                <a:solidFill>
                  <a:srgbClr val="013070"/>
                </a:solidFill>
                <a:latin typeface="IBM Plex Sans Arabic"/>
                <a:ea typeface="IBM Plex Sans Arabic"/>
                <a:cs typeface="IBM Plex Sans Arabic"/>
              </a:defRPr>
            </a:pPr>
            <a:r>
              <a:rPr sz="2175" b="1" lang="ar-JO">
                <a:solidFill>
                  <a:srgbClr val="013070"/>
                </a:solidFill>
                <a:latin typeface="IBM Plex Sans Arabic"/>
                <a:ea typeface="IBM Plex Sans Arabic"/>
                <a:cs typeface="IBM Plex Sans Arabic"/>
              </a:rPr>
              <a:t>الميول</a:t>
            </a:r>
          </a:p>
        </p:txBody>
      </p:sp>
      <p:sp>
        <p:nvSpPr>
          <p:cNvPr id="7" name="text-10-هل يناسبني التخصّص؟">
            <a:extLst xmlns:a="http://schemas.openxmlformats.org/drawingml/2006/main">
              <a:ext uri="{FF2B5EF4-FFF2-40B4-BE49-F238E27FC236}">
                <a16:creationId xmlns:a16="http://schemas.microsoft.com/office/drawing/2014/main" id="{16A6FC06-6F2B-46D1-BA51-6EEBEAD3F2B5}"/>
              </a:ext>
            </a:extLst>
          </p:cNvPr>
          <p:cNvSpPr>
            <a:spLocks xmlns:a="http://schemas.openxmlformats.org/drawingml/2006/main" noGrp="1"/>
          </p:cNvSpPr>
          <p:nvPr/>
        </p:nvSpPr>
        <p:spPr>
          <a:xfrm xmlns:a="http://schemas.openxmlformats.org/drawingml/2006/main">
            <a:off x="5524500" y="19812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lang="ar-JO">
                <a:solidFill>
                  <a:srgbClr val="53657C"/>
                </a:solidFill>
                <a:latin typeface="IBM Plex Sans Arabic"/>
                <a:ea typeface="IBM Plex Sans Arabic"/>
                <a:cs typeface="IBM Plex Sans Arabic"/>
              </a:defRPr>
            </a:pPr>
            <a:r>
              <a:rPr sz="2175" b="0" lang="ar-JO">
                <a:solidFill>
                  <a:srgbClr val="53657C"/>
                </a:solidFill>
                <a:latin typeface="IBM Plex Sans Arabic"/>
                <a:ea typeface="IBM Plex Sans Arabic"/>
                <a:cs typeface="IBM Plex Sans Arabic"/>
              </a:rPr>
              <a:t>هل يناسبني التخصّص؟</a:t>
            </a:r>
          </a:p>
        </p:txBody>
      </p:sp>
      <p:sp>
        <p:nvSpPr>
          <p:cNvPr id="8" name="text-11-القبول">
            <a:extLst xmlns:a="http://schemas.openxmlformats.org/drawingml/2006/main">
              <a:ext uri="{FF2B5EF4-FFF2-40B4-BE49-F238E27FC236}">
                <a16:creationId xmlns:a16="http://schemas.microsoft.com/office/drawing/2014/main" id="{0EFA0D2D-001E-4FFE-8040-9D3D8BF17D40}"/>
              </a:ext>
            </a:extLst>
          </p:cNvPr>
          <p:cNvSpPr>
            <a:spLocks xmlns:a="http://schemas.openxmlformats.org/drawingml/2006/main" noGrp="1"/>
          </p:cNvSpPr>
          <p:nvPr/>
        </p:nvSpPr>
        <p:spPr>
          <a:xfrm xmlns:a="http://schemas.openxmlformats.org/drawingml/2006/main">
            <a:off x="9906000" y="2800350"/>
            <a:ext cx="156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1" lang="ar-JO">
                <a:solidFill>
                  <a:srgbClr val="013070"/>
                </a:solidFill>
                <a:latin typeface="IBM Plex Sans Arabic"/>
                <a:ea typeface="IBM Plex Sans Arabic"/>
                <a:cs typeface="IBM Plex Sans Arabic"/>
              </a:defRPr>
            </a:pPr>
            <a:r>
              <a:rPr sz="2175" b="1" lang="ar-JO">
                <a:solidFill>
                  <a:srgbClr val="013070"/>
                </a:solidFill>
                <a:latin typeface="IBM Plex Sans Arabic"/>
                <a:ea typeface="IBM Plex Sans Arabic"/>
                <a:cs typeface="IBM Plex Sans Arabic"/>
              </a:rPr>
              <a:t>القبول</a:t>
            </a:r>
          </a:p>
        </p:txBody>
      </p:sp>
      <p:sp>
        <p:nvSpPr>
          <p:cNvPr id="9" name="text-12-ما الخيارات المتاحة ">
            <a:extLst xmlns:a="http://schemas.openxmlformats.org/drawingml/2006/main">
              <a:ext uri="{FF2B5EF4-FFF2-40B4-BE49-F238E27FC236}">
                <a16:creationId xmlns:a16="http://schemas.microsoft.com/office/drawing/2014/main" id="{7015D24F-B96A-47E6-B6F4-3DC26C574621}"/>
              </a:ext>
            </a:extLst>
          </p:cNvPr>
          <p:cNvSpPr>
            <a:spLocks xmlns:a="http://schemas.openxmlformats.org/drawingml/2006/main" noGrp="1"/>
          </p:cNvSpPr>
          <p:nvPr/>
        </p:nvSpPr>
        <p:spPr>
          <a:xfrm xmlns:a="http://schemas.openxmlformats.org/drawingml/2006/main">
            <a:off x="5524500" y="28194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lang="ar-JO">
                <a:solidFill>
                  <a:srgbClr val="53657C"/>
                </a:solidFill>
                <a:latin typeface="IBM Plex Sans Arabic"/>
                <a:ea typeface="IBM Plex Sans Arabic"/>
                <a:cs typeface="IBM Plex Sans Arabic"/>
              </a:defRPr>
            </a:pPr>
            <a:r>
              <a:rPr sz="2175" b="0" lang="ar-JO">
                <a:solidFill>
                  <a:srgbClr val="53657C"/>
                </a:solidFill>
                <a:latin typeface="IBM Plex Sans Arabic"/>
                <a:ea typeface="IBM Plex Sans Arabic"/>
                <a:cs typeface="IBM Plex Sans Arabic"/>
              </a:rPr>
              <a:t>ما الخيارات المتاحة لمعدّلي؟</a:t>
            </a:r>
          </a:p>
        </p:txBody>
      </p:sp>
      <p:sp>
        <p:nvSpPr>
          <p:cNvPr id="10" name="text-13-الكلفة">
            <a:extLst xmlns:a="http://schemas.openxmlformats.org/drawingml/2006/main">
              <a:ext uri="{FF2B5EF4-FFF2-40B4-BE49-F238E27FC236}">
                <a16:creationId xmlns:a16="http://schemas.microsoft.com/office/drawing/2014/main" id="{7214841D-1644-4DA5-95B7-E45CC1D00765}"/>
              </a:ext>
            </a:extLst>
          </p:cNvPr>
          <p:cNvSpPr>
            <a:spLocks xmlns:a="http://schemas.openxmlformats.org/drawingml/2006/main" noGrp="1"/>
          </p:cNvSpPr>
          <p:nvPr/>
        </p:nvSpPr>
        <p:spPr>
          <a:xfrm xmlns:a="http://schemas.openxmlformats.org/drawingml/2006/main">
            <a:off x="9906000" y="3638550"/>
            <a:ext cx="156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1" lang="ar-JO">
                <a:solidFill>
                  <a:srgbClr val="013070"/>
                </a:solidFill>
                <a:latin typeface="IBM Plex Sans Arabic"/>
                <a:ea typeface="IBM Plex Sans Arabic"/>
                <a:cs typeface="IBM Plex Sans Arabic"/>
              </a:defRPr>
            </a:pPr>
            <a:r>
              <a:rPr sz="2175" b="1" lang="ar-JO">
                <a:solidFill>
                  <a:srgbClr val="013070"/>
                </a:solidFill>
                <a:latin typeface="IBM Plex Sans Arabic"/>
                <a:ea typeface="IBM Plex Sans Arabic"/>
                <a:cs typeface="IBM Plex Sans Arabic"/>
              </a:rPr>
              <a:t>الكلفة</a:t>
            </a:r>
          </a:p>
        </p:txBody>
      </p:sp>
      <p:sp>
        <p:nvSpPr>
          <p:cNvPr id="11" name="text-14-ما الذي تستطيع أسرتي">
            <a:extLst xmlns:a="http://schemas.openxmlformats.org/drawingml/2006/main">
              <a:ext uri="{FF2B5EF4-FFF2-40B4-BE49-F238E27FC236}">
                <a16:creationId xmlns:a16="http://schemas.microsoft.com/office/drawing/2014/main" id="{987FA1F6-18F4-434E-AE98-2D2040E346A0}"/>
              </a:ext>
            </a:extLst>
          </p:cNvPr>
          <p:cNvSpPr>
            <a:spLocks xmlns:a="http://schemas.openxmlformats.org/drawingml/2006/main" noGrp="1"/>
          </p:cNvSpPr>
          <p:nvPr/>
        </p:nvSpPr>
        <p:spPr>
          <a:xfrm xmlns:a="http://schemas.openxmlformats.org/drawingml/2006/main">
            <a:off x="5524500" y="36576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lang="ar-JO">
                <a:solidFill>
                  <a:srgbClr val="53657C"/>
                </a:solidFill>
                <a:latin typeface="IBM Plex Sans Arabic"/>
                <a:ea typeface="IBM Plex Sans Arabic"/>
                <a:cs typeface="IBM Plex Sans Arabic"/>
              </a:defRPr>
            </a:pPr>
            <a:r>
              <a:rPr sz="2175" b="0" lang="ar-JO">
                <a:solidFill>
                  <a:srgbClr val="53657C"/>
                </a:solidFill>
                <a:latin typeface="IBM Plex Sans Arabic"/>
                <a:ea typeface="IBM Plex Sans Arabic"/>
                <a:cs typeface="IBM Plex Sans Arabic"/>
              </a:rPr>
              <a:t>ما الذي تستطيع أسرتي تحمّله؟</a:t>
            </a:r>
          </a:p>
        </p:txBody>
      </p:sp>
      <p:sp>
        <p:nvSpPr>
          <p:cNvPr id="12" name="text-15-العمل">
            <a:extLst xmlns:a="http://schemas.openxmlformats.org/drawingml/2006/main">
              <a:ext uri="{FF2B5EF4-FFF2-40B4-BE49-F238E27FC236}">
                <a16:creationId xmlns:a16="http://schemas.microsoft.com/office/drawing/2014/main" id="{33FB0BE9-6224-4F33-AF02-B93F801F2032}"/>
              </a:ext>
            </a:extLst>
          </p:cNvPr>
          <p:cNvSpPr>
            <a:spLocks xmlns:a="http://schemas.openxmlformats.org/drawingml/2006/main" noGrp="1"/>
          </p:cNvSpPr>
          <p:nvPr/>
        </p:nvSpPr>
        <p:spPr>
          <a:xfrm xmlns:a="http://schemas.openxmlformats.org/drawingml/2006/main">
            <a:off x="9906000" y="4476750"/>
            <a:ext cx="156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1" lang="ar-JO">
                <a:solidFill>
                  <a:srgbClr val="013070"/>
                </a:solidFill>
                <a:latin typeface="IBM Plex Sans Arabic"/>
                <a:ea typeface="IBM Plex Sans Arabic"/>
                <a:cs typeface="IBM Plex Sans Arabic"/>
              </a:defRPr>
            </a:pPr>
            <a:r>
              <a:rPr sz="2175" b="1" lang="ar-JO">
                <a:solidFill>
                  <a:srgbClr val="013070"/>
                </a:solidFill>
                <a:latin typeface="IBM Plex Sans Arabic"/>
                <a:ea typeface="IBM Plex Sans Arabic"/>
                <a:cs typeface="IBM Plex Sans Arabic"/>
              </a:rPr>
              <a:t>العمل</a:t>
            </a:r>
          </a:p>
        </p:txBody>
      </p:sp>
      <p:sp>
        <p:nvSpPr>
          <p:cNvPr id="13" name="text-16-ما فرصي بعد التخرّج؟">
            <a:extLst xmlns:a="http://schemas.openxmlformats.org/drawingml/2006/main">
              <a:ext uri="{FF2B5EF4-FFF2-40B4-BE49-F238E27FC236}">
                <a16:creationId xmlns:a16="http://schemas.microsoft.com/office/drawing/2014/main" id="{52EC76DB-8F7F-42D7-950D-AFA3F9CE37F5}"/>
              </a:ext>
            </a:extLst>
          </p:cNvPr>
          <p:cNvSpPr>
            <a:spLocks xmlns:a="http://schemas.openxmlformats.org/drawingml/2006/main" noGrp="1"/>
          </p:cNvSpPr>
          <p:nvPr/>
        </p:nvSpPr>
        <p:spPr>
          <a:xfrm xmlns:a="http://schemas.openxmlformats.org/drawingml/2006/main">
            <a:off x="5524500" y="44958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lang="ar-JO">
                <a:solidFill>
                  <a:srgbClr val="53657C"/>
                </a:solidFill>
                <a:latin typeface="IBM Plex Sans Arabic"/>
                <a:ea typeface="IBM Plex Sans Arabic"/>
                <a:cs typeface="IBM Plex Sans Arabic"/>
              </a:defRPr>
            </a:pPr>
            <a:r>
              <a:rPr sz="2175" b="0" lang="ar-JO">
                <a:solidFill>
                  <a:srgbClr val="53657C"/>
                </a:solidFill>
                <a:latin typeface="IBM Plex Sans Arabic"/>
                <a:ea typeface="IBM Plex Sans Arabic"/>
                <a:cs typeface="IBM Plex Sans Arabic"/>
              </a:rPr>
              <a:t>ما فرصي بعد التخرّج؟</a:t>
            </a:r>
          </a:p>
        </p:txBody>
      </p:sp>
      <p:sp>
        <p:nvSpPr>
          <p:cNvPr id="14" name="text-17-الأسرة تحتاج صورة كا">
            <a:extLst xmlns:a="http://schemas.openxmlformats.org/drawingml/2006/main">
              <a:ext uri="{FF2B5EF4-FFF2-40B4-BE49-F238E27FC236}">
                <a16:creationId xmlns:a16="http://schemas.microsoft.com/office/drawing/2014/main" id="{CAA3229A-E9FC-4833-814A-DB123FA4AF72}"/>
              </a:ext>
            </a:extLst>
          </p:cNvPr>
          <p:cNvSpPr>
            <a:spLocks xmlns:a="http://schemas.openxmlformats.org/drawingml/2006/main" noGrp="1"/>
          </p:cNvSpPr>
          <p:nvPr/>
        </p:nvSpPr>
        <p:spPr>
          <a:xfrm xmlns:a="http://schemas.openxmlformats.org/drawingml/2006/main">
            <a:off x="2428875" y="5638800"/>
            <a:ext cx="904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400" b="1" lang="ar-JO">
                <a:solidFill>
                  <a:srgbClr val="013070"/>
                </a:solidFill>
                <a:latin typeface="IBM Plex Sans Arabic"/>
                <a:ea typeface="IBM Plex Sans Arabic"/>
                <a:cs typeface="IBM Plex Sans Arabic"/>
              </a:defRPr>
            </a:pPr>
            <a:r>
              <a:rPr sz="2400" b="1" lang="ar-JO">
                <a:solidFill>
                  <a:srgbClr val="013070"/>
                </a:solidFill>
                <a:latin typeface="IBM Plex Sans Arabic"/>
                <a:ea typeface="IBM Plex Sans Arabic"/>
                <a:cs typeface="IBM Plex Sans Arabic"/>
              </a:rPr>
              <a:t>الأسرة تحتاج صورة كاملة قبل الالتزام بالمسار</a:t>
            </a:r>
          </a:p>
        </p:txBody>
      </p:sp>
    </p:spTree>
    <p:extLst>
      <p:ext uri="{BB962C8B-B14F-4D97-AF65-F5344CB8AC3E}">
        <p14:creationId xmlns:p14="http://schemas.microsoft.com/office/powerpoint/2010/main" val="729731707"/>
      </p:ext>
    </p:extLst>
  </p:cSld>
</p:sld>
</file>

<file path=ppt/slides/slide3.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fd849ca49c54e39"/>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18-عناصر القرار في تجرب">
            <a:extLst xmlns:a="http://schemas.openxmlformats.org/drawingml/2006/main">
              <a:ext uri="{FF2B5EF4-FFF2-40B4-BE49-F238E27FC236}">
                <a16:creationId xmlns:a16="http://schemas.microsoft.com/office/drawing/2014/main" id="{FA7745EC-F59D-4D0F-B8AD-424C8ED10B1E}"/>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lang="ar-JO">
                <a:solidFill>
                  <a:srgbClr val="FFFFFF"/>
                </a:solidFill>
                <a:latin typeface="IBM Plex Sans Arabic"/>
                <a:ea typeface="IBM Plex Sans Arabic"/>
                <a:cs typeface="IBM Plex Sans Arabic"/>
              </a:defRPr>
            </a:pPr>
            <a:r>
              <a:rPr sz="3675" b="1" lang="ar-JO">
                <a:solidFill>
                  <a:srgbClr val="FFFFFF"/>
                </a:solidFill>
                <a:latin typeface="IBM Plex Sans Arabic"/>
                <a:ea typeface="IBM Plex Sans Arabic"/>
                <a:cs typeface="IBM Plex Sans Arabic"/>
              </a:rPr>
              <a:t>عناصر القرار في تجربة واحدة</a:t>
            </a:r>
          </a:p>
        </p:txBody>
      </p:sp>
      <p:sp>
        <p:nvSpPr>
          <p:cNvPr id="3" name="text-19-03">
            <a:extLst xmlns:a="http://schemas.openxmlformats.org/drawingml/2006/main">
              <a:ext uri="{FF2B5EF4-FFF2-40B4-BE49-F238E27FC236}">
                <a16:creationId xmlns:a16="http://schemas.microsoft.com/office/drawing/2014/main" id="{3221F5D8-7E0E-49C9-A2A3-B7719BCA2B55}"/>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lang="ar-JO">
                <a:solidFill>
                  <a:srgbClr val="D1DEED"/>
                </a:solidFill>
                <a:latin typeface="IBM Plex Sans Arabic"/>
                <a:ea typeface="IBM Plex Sans Arabic"/>
                <a:cs typeface="IBM Plex Sans Arabic"/>
              </a:defRPr>
            </a:pPr>
            <a:r>
              <a:rPr sz="1575" b="0" lang="ar-JO">
                <a:solidFill>
                  <a:srgbClr val="D1DEED"/>
                </a:solidFill>
                <a:latin typeface="IBM Plex Sans Arabic"/>
                <a:ea typeface="IBM Plex Sans Arabic"/>
                <a:cs typeface="IBM Plex Sans Arabic"/>
              </a:rPr>
              <a:t>03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0b5ea24dfbe4830"/>
          <a:srcRect l="0" t="0" r="0" b="53500"/>
          <a:stretch xmlns:a="http://schemas.openxmlformats.org/drawingml/2006/main">
            <a:fillRect l="0" t="0" r="0" b="0"/>
          </a:stretch>
        </p:blipFill>
        <p:spPr>
          <a:xfrm xmlns:a="http://schemas.openxmlformats.org/drawingml/2006/main">
            <a:off x="714375" y="1885950"/>
            <a:ext cx="3857625" cy="3867150"/>
          </a:xfrm>
          <a:prstGeom xmlns:a="http://schemas.openxmlformats.org/drawingml/2006/main" prst="rect">
            <a:avLst/>
          </a:prstGeom>
        </p:spPr>
      </p:pic>
      <p:sp>
        <p:nvSpPr>
          <p:cNvPr id="5" name="text-20-لقطة فعلية من النموذ">
            <a:extLst xmlns:a="http://schemas.openxmlformats.org/drawingml/2006/main">
              <a:ext uri="{FF2B5EF4-FFF2-40B4-BE49-F238E27FC236}">
                <a16:creationId xmlns:a16="http://schemas.microsoft.com/office/drawing/2014/main" id="{4D23EAE4-2873-4D22-AC77-32764EC02204}"/>
              </a:ext>
            </a:extLst>
          </p:cNvPr>
          <p:cNvSpPr>
            <a:spLocks xmlns:a="http://schemas.openxmlformats.org/drawingml/2006/main" noGrp="1"/>
          </p:cNvSpPr>
          <p:nvPr/>
        </p:nvSpPr>
        <p:spPr>
          <a:xfrm xmlns:a="http://schemas.openxmlformats.org/drawingml/2006/main">
            <a:off x="666750" y="58197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lang="ar-JO">
                <a:solidFill>
                  <a:srgbClr val="D1DEED"/>
                </a:solidFill>
                <a:latin typeface="IBM Plex Sans Arabic"/>
                <a:ea typeface="IBM Plex Sans Arabic"/>
                <a:cs typeface="IBM Plex Sans Arabic"/>
              </a:defRPr>
            </a:pPr>
            <a:r>
              <a:rPr sz="1575" b="0" lang="ar-JO">
                <a:solidFill>
                  <a:srgbClr val="D1DEED"/>
                </a:solidFill>
                <a:latin typeface="IBM Plex Sans Arabic"/>
                <a:ea typeface="IBM Plex Sans Arabic"/>
                <a:cs typeface="IBM Plex Sans Arabic"/>
              </a:rPr>
              <a:t>لقطة فعلية من النموذج الأولي</a:t>
            </a:r>
          </a:p>
        </p:txBody>
      </p:sp>
      <p:sp>
        <p:nvSpPr>
          <p:cNvPr id="6" name="text-21-ميول الطالب">
            <a:extLst xmlns:a="http://schemas.openxmlformats.org/drawingml/2006/main">
              <a:ext uri="{FF2B5EF4-FFF2-40B4-BE49-F238E27FC236}">
                <a16:creationId xmlns:a16="http://schemas.microsoft.com/office/drawing/2014/main" id="{6B5AE69B-7148-42F8-8D48-62420025A242}"/>
              </a:ext>
            </a:extLst>
          </p:cNvPr>
          <p:cNvSpPr>
            <a:spLocks xmlns:a="http://schemas.openxmlformats.org/drawingml/2006/main" noGrp="1"/>
          </p:cNvSpPr>
          <p:nvPr/>
        </p:nvSpPr>
        <p:spPr>
          <a:xfrm xmlns:a="http://schemas.openxmlformats.org/drawingml/2006/main">
            <a:off x="6048375" y="18764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lang="ar-JO">
                <a:solidFill>
                  <a:srgbClr val="C8A04C"/>
                </a:solidFill>
                <a:latin typeface="IBM Plex Sans Arabic"/>
                <a:ea typeface="IBM Plex Sans Arabic"/>
                <a:cs typeface="IBM Plex Sans Arabic"/>
              </a:defRPr>
            </a:pPr>
            <a:r>
              <a:rPr sz="2550" b="1" lang="ar-JO">
                <a:solidFill>
                  <a:srgbClr val="C8A04C"/>
                </a:solidFill>
                <a:latin typeface="IBM Plex Sans Arabic"/>
                <a:ea typeface="IBM Plex Sans Arabic"/>
                <a:cs typeface="IBM Plex Sans Arabic"/>
              </a:rPr>
              <a:t>ميول الطالب</a:t>
            </a:r>
          </a:p>
        </p:txBody>
      </p:sp>
      <p:sp>
        <p:nvSpPr>
          <p:cNvPr id="7" name="text-22-استكشاف ما يناسب اهت">
            <a:extLst xmlns:a="http://schemas.openxmlformats.org/drawingml/2006/main">
              <a:ext uri="{FF2B5EF4-FFF2-40B4-BE49-F238E27FC236}">
                <a16:creationId xmlns:a16="http://schemas.microsoft.com/office/drawing/2014/main" id="{006BFD67-4EBE-4413-ADE5-507811BA9829}"/>
              </a:ext>
            </a:extLst>
          </p:cNvPr>
          <p:cNvSpPr>
            <a:spLocks xmlns:a="http://schemas.openxmlformats.org/drawingml/2006/main" noGrp="1"/>
          </p:cNvSpPr>
          <p:nvPr/>
        </p:nvSpPr>
        <p:spPr>
          <a:xfrm xmlns:a="http://schemas.openxmlformats.org/drawingml/2006/main">
            <a:off x="6048375" y="2390775"/>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lang="ar-JO">
                <a:solidFill>
                  <a:srgbClr val="D1DEED"/>
                </a:solidFill>
                <a:latin typeface="IBM Plex Sans Arabic"/>
                <a:ea typeface="IBM Plex Sans Arabic"/>
                <a:cs typeface="IBM Plex Sans Arabic"/>
              </a:defRPr>
            </a:pPr>
            <a:r>
              <a:rPr sz="2100" b="0" lang="ar-JO">
                <a:solidFill>
                  <a:srgbClr val="D1DEED"/>
                </a:solidFill>
                <a:latin typeface="IBM Plex Sans Arabic"/>
                <a:ea typeface="IBM Plex Sans Arabic"/>
                <a:cs typeface="IBM Plex Sans Arabic"/>
              </a:rPr>
              <a:t>استكشاف ما يناسب اهتماماته</a:t>
            </a:r>
          </a:p>
        </p:txBody>
      </p:sp>
      <p:sp>
        <p:nvSpPr>
          <p:cNvPr id="8" name="text-23-مقارنة التخصّصات">
            <a:extLst xmlns:a="http://schemas.openxmlformats.org/drawingml/2006/main">
              <a:ext uri="{FF2B5EF4-FFF2-40B4-BE49-F238E27FC236}">
                <a16:creationId xmlns:a16="http://schemas.microsoft.com/office/drawing/2014/main" id="{D011E118-3977-49B2-B409-78D9C84102F0}"/>
              </a:ext>
            </a:extLst>
          </p:cNvPr>
          <p:cNvSpPr>
            <a:spLocks xmlns:a="http://schemas.openxmlformats.org/drawingml/2006/main" noGrp="1"/>
          </p:cNvSpPr>
          <p:nvPr/>
        </p:nvSpPr>
        <p:spPr>
          <a:xfrm xmlns:a="http://schemas.openxmlformats.org/drawingml/2006/main">
            <a:off x="6048375" y="31337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lang="ar-JO">
                <a:solidFill>
                  <a:srgbClr val="C8A04C"/>
                </a:solidFill>
                <a:latin typeface="IBM Plex Sans Arabic"/>
                <a:ea typeface="IBM Plex Sans Arabic"/>
                <a:cs typeface="IBM Plex Sans Arabic"/>
              </a:defRPr>
            </a:pPr>
            <a:r>
              <a:rPr sz="2550" b="1" lang="ar-JO">
                <a:solidFill>
                  <a:srgbClr val="C8A04C"/>
                </a:solidFill>
                <a:latin typeface="IBM Plex Sans Arabic"/>
                <a:ea typeface="IBM Plex Sans Arabic"/>
                <a:cs typeface="IBM Plex Sans Arabic"/>
              </a:rPr>
              <a:t>مقارنة التخصّصات</a:t>
            </a:r>
          </a:p>
        </p:txBody>
      </p:sp>
      <p:sp>
        <p:nvSpPr>
          <p:cNvPr id="9" name="text-24-الكلفة ومؤشرات العمل">
            <a:extLst xmlns:a="http://schemas.openxmlformats.org/drawingml/2006/main">
              <a:ext uri="{FF2B5EF4-FFF2-40B4-BE49-F238E27FC236}">
                <a16:creationId xmlns:a16="http://schemas.microsoft.com/office/drawing/2014/main" id="{A5E5DAF5-C534-4217-B07C-0BA4AD8C308B}"/>
              </a:ext>
            </a:extLst>
          </p:cNvPr>
          <p:cNvSpPr>
            <a:spLocks xmlns:a="http://schemas.openxmlformats.org/drawingml/2006/main" noGrp="1"/>
          </p:cNvSpPr>
          <p:nvPr/>
        </p:nvSpPr>
        <p:spPr>
          <a:xfrm xmlns:a="http://schemas.openxmlformats.org/drawingml/2006/main">
            <a:off x="6048375" y="3648075"/>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lang="ar-JO">
                <a:solidFill>
                  <a:srgbClr val="D1DEED"/>
                </a:solidFill>
                <a:latin typeface="IBM Plex Sans Arabic"/>
                <a:ea typeface="IBM Plex Sans Arabic"/>
                <a:cs typeface="IBM Plex Sans Arabic"/>
              </a:defRPr>
            </a:pPr>
            <a:r>
              <a:rPr sz="2100" b="0" lang="ar-JO">
                <a:solidFill>
                  <a:srgbClr val="D1DEED"/>
                </a:solidFill>
                <a:latin typeface="IBM Plex Sans Arabic"/>
                <a:ea typeface="IBM Plex Sans Arabic"/>
                <a:cs typeface="IBM Plex Sans Arabic"/>
              </a:rPr>
              <a:t>الكلفة ومؤشرات العمل جنبًا إلى جنب</a:t>
            </a:r>
          </a:p>
        </p:txBody>
      </p:sp>
      <p:sp>
        <p:nvSpPr>
          <p:cNvPr id="10" name="text-25-عائد التعليم">
            <a:extLst xmlns:a="http://schemas.openxmlformats.org/drawingml/2006/main">
              <a:ext uri="{FF2B5EF4-FFF2-40B4-BE49-F238E27FC236}">
                <a16:creationId xmlns:a16="http://schemas.microsoft.com/office/drawing/2014/main" id="{F645FDEA-6316-4E6F-AE52-36512FF1BBDB}"/>
              </a:ext>
            </a:extLst>
          </p:cNvPr>
          <p:cNvSpPr>
            <a:spLocks xmlns:a="http://schemas.openxmlformats.org/drawingml/2006/main" noGrp="1"/>
          </p:cNvSpPr>
          <p:nvPr/>
        </p:nvSpPr>
        <p:spPr>
          <a:xfrm xmlns:a="http://schemas.openxmlformats.org/drawingml/2006/main">
            <a:off x="6048375" y="43910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lang="ar-JO">
                <a:solidFill>
                  <a:srgbClr val="C8A04C"/>
                </a:solidFill>
                <a:latin typeface="IBM Plex Sans Arabic"/>
                <a:ea typeface="IBM Plex Sans Arabic"/>
                <a:cs typeface="IBM Plex Sans Arabic"/>
              </a:defRPr>
            </a:pPr>
            <a:r>
              <a:rPr sz="2550" b="1" lang="ar-JO">
                <a:solidFill>
                  <a:srgbClr val="C8A04C"/>
                </a:solidFill>
                <a:latin typeface="IBM Plex Sans Arabic"/>
                <a:ea typeface="IBM Plex Sans Arabic"/>
                <a:cs typeface="IBM Plex Sans Arabic"/>
              </a:rPr>
              <a:t>عائد التعليم</a:t>
            </a:r>
          </a:p>
        </p:txBody>
      </p:sp>
      <p:sp>
        <p:nvSpPr>
          <p:cNvPr id="11" name="text-26-تقديرات تدعم المفاضل">
            <a:extLst xmlns:a="http://schemas.openxmlformats.org/drawingml/2006/main">
              <a:ext uri="{FF2B5EF4-FFF2-40B4-BE49-F238E27FC236}">
                <a16:creationId xmlns:a16="http://schemas.microsoft.com/office/drawing/2014/main" id="{31E8E33F-304F-4B03-8C17-BA06130988C9}"/>
              </a:ext>
            </a:extLst>
          </p:cNvPr>
          <p:cNvSpPr>
            <a:spLocks xmlns:a="http://schemas.openxmlformats.org/drawingml/2006/main" noGrp="1"/>
          </p:cNvSpPr>
          <p:nvPr/>
        </p:nvSpPr>
        <p:spPr>
          <a:xfrm xmlns:a="http://schemas.openxmlformats.org/drawingml/2006/main">
            <a:off x="6048375" y="4905375"/>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lang="ar-JO">
                <a:solidFill>
                  <a:srgbClr val="D1DEED"/>
                </a:solidFill>
                <a:latin typeface="IBM Plex Sans Arabic"/>
                <a:ea typeface="IBM Plex Sans Arabic"/>
                <a:cs typeface="IBM Plex Sans Arabic"/>
              </a:defRPr>
            </a:pPr>
            <a:r>
              <a:rPr sz="2100" b="0" lang="ar-JO">
                <a:solidFill>
                  <a:srgbClr val="D1DEED"/>
                </a:solidFill>
                <a:latin typeface="IBM Plex Sans Arabic"/>
                <a:ea typeface="IBM Plex Sans Arabic"/>
                <a:cs typeface="IBM Plex Sans Arabic"/>
              </a:rPr>
              <a:t>تقديرات تدعم المفاضلة بين البدائل</a:t>
            </a:r>
          </a:p>
        </p:txBody>
      </p:sp>
    </p:spTree>
    <p:extLst>
      <p:ext uri="{BB962C8B-B14F-4D97-AF65-F5344CB8AC3E}">
        <p14:creationId xmlns:p14="http://schemas.microsoft.com/office/powerpoint/2010/main" val="2123562013"/>
      </p:ext>
    </p:extLst>
  </p:cSld>
</p:sld>
</file>

<file path=ppt/slides/slide4.xml><?xml version="1.0" encoding="utf-8"?>
<p:sld xmlns:a="http://schemas.openxmlformats.org/drawingml/2006/main"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566663789384bbf"/>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27-رحلة الطالب داخل مُر">
            <a:extLst xmlns:a="http://schemas.openxmlformats.org/drawingml/2006/main">
              <a:ext uri="{FF2B5EF4-FFF2-40B4-BE49-F238E27FC236}">
                <a16:creationId xmlns:a16="http://schemas.microsoft.com/office/drawing/2014/main" id="{BD05CF8B-2222-4C7E-8A71-854D627EB5E3}"/>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lang="ar-JO">
                <a:solidFill>
                  <a:srgbClr val="013070"/>
                </a:solidFill>
                <a:latin typeface="IBM Plex Sans Arabic"/>
                <a:ea typeface="IBM Plex Sans Arabic"/>
                <a:cs typeface="IBM Plex Sans Arabic"/>
              </a:defRPr>
            </a:pPr>
            <a:r>
              <a:rPr sz="3675" b="1" lang="ar-JO">
                <a:solidFill>
                  <a:srgbClr val="013070"/>
                </a:solidFill>
                <a:latin typeface="IBM Plex Sans Arabic"/>
                <a:ea typeface="IBM Plex Sans Arabic"/>
                <a:cs typeface="IBM Plex Sans Arabic"/>
              </a:rPr>
              <a:t>رحلة الطالب داخل مُرشِدي</a:t>
            </a:r>
          </a:p>
        </p:txBody>
      </p:sp>
      <p:sp>
        <p:nvSpPr>
          <p:cNvPr id="3" name="text-28-04">
            <a:extLst xmlns:a="http://schemas.openxmlformats.org/drawingml/2006/main">
              <a:ext uri="{FF2B5EF4-FFF2-40B4-BE49-F238E27FC236}">
                <a16:creationId xmlns:a16="http://schemas.microsoft.com/office/drawing/2014/main" id="{0D1C1089-22EC-4846-8AEE-9C6FBE63A47D}"/>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lang="ar-JO">
                <a:solidFill>
                  <a:srgbClr val="53657C"/>
                </a:solidFill>
                <a:latin typeface="IBM Plex Sans Arabic"/>
                <a:ea typeface="IBM Plex Sans Arabic"/>
                <a:cs typeface="IBM Plex Sans Arabic"/>
              </a:defRPr>
            </a:pPr>
            <a:r>
              <a:rPr sz="1575" b="0" lang="ar-JO">
                <a:solidFill>
                  <a:srgbClr val="53657C"/>
                </a:solidFill>
                <a:latin typeface="IBM Plex Sans Arabic"/>
                <a:ea typeface="IBM Plex Sans Arabic"/>
                <a:cs typeface="IBM Plex Sans Arabic"/>
              </a:rPr>
              <a:t>04</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e05a3dfdf9b4929"/>
          <a:srcRect l="0" t="0" r="0" b="33900"/>
          <a:stretch xmlns:a="http://schemas.openxmlformats.org/drawingml/2006/main">
            <a:fillRect l="0" t="0" r="0" b="0"/>
          </a:stretch>
        </p:blipFill>
        <p:spPr>
          <a:xfrm xmlns:a="http://schemas.openxmlformats.org/drawingml/2006/main">
            <a:off x="742950" y="1714500"/>
            <a:ext cx="3105150" cy="4333875"/>
          </a:xfrm>
          <a:prstGeom xmlns:a="http://schemas.openxmlformats.org/drawingml/2006/main" prst="rect">
            <a:avLst/>
          </a:prstGeom>
        </p:spPr>
      </p:pic>
      <p:sp>
        <p:nvSpPr>
          <p:cNvPr id="5" name="text-29-لقطة فعلية من النموذ">
            <a:extLst xmlns:a="http://schemas.openxmlformats.org/drawingml/2006/main">
              <a:ext uri="{FF2B5EF4-FFF2-40B4-BE49-F238E27FC236}">
                <a16:creationId xmlns:a16="http://schemas.microsoft.com/office/drawing/2014/main" id="{D1DB2400-72B6-4917-A685-A3325A954351}"/>
              </a:ext>
            </a:extLst>
          </p:cNvPr>
          <p:cNvSpPr>
            <a:spLocks xmlns:a="http://schemas.openxmlformats.org/drawingml/2006/main" noGrp="1"/>
          </p:cNvSpPr>
          <p:nvPr/>
        </p:nvSpPr>
        <p:spPr>
          <a:xfrm xmlns:a="http://schemas.openxmlformats.org/drawingml/2006/main">
            <a:off x="552450" y="6105525"/>
            <a:ext cx="3486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lang="ar-JO">
                <a:solidFill>
                  <a:srgbClr val="53657C"/>
                </a:solidFill>
                <a:latin typeface="IBM Plex Sans Arabic"/>
                <a:ea typeface="IBM Plex Sans Arabic"/>
                <a:cs typeface="IBM Plex Sans Arabic"/>
              </a:defRPr>
            </a:pPr>
            <a:r>
              <a:rPr sz="1500" b="0" lang="ar-JO">
                <a:solidFill>
                  <a:srgbClr val="53657C"/>
                </a:solidFill>
                <a:latin typeface="IBM Plex Sans Arabic"/>
                <a:ea typeface="IBM Plex Sans Arabic"/>
                <a:cs typeface="IBM Plex Sans Arabic"/>
              </a:rPr>
              <a:t>لقطة فعلية من النموذج الأولي</a:t>
            </a:r>
          </a:p>
        </p:txBody>
      </p:sp>
      <p:sp>
        <p:nvSpPr>
          <p:cNvPr id="6" name="text-30-١">
            <a:extLst xmlns:a="http://schemas.openxmlformats.org/drawingml/2006/main">
              <a:ext uri="{FF2B5EF4-FFF2-40B4-BE49-F238E27FC236}">
                <a16:creationId xmlns:a16="http://schemas.microsoft.com/office/drawing/2014/main" id="{B82FE0BD-1155-4BF1-B4CF-DBF971925FC0}"/>
              </a:ext>
            </a:extLst>
          </p:cNvPr>
          <p:cNvSpPr>
            <a:spLocks xmlns:a="http://schemas.openxmlformats.org/drawingml/2006/main" noGrp="1"/>
          </p:cNvSpPr>
          <p:nvPr/>
        </p:nvSpPr>
        <p:spPr>
          <a:xfrm xmlns:a="http://schemas.openxmlformats.org/drawingml/2006/main">
            <a:off x="10572750" y="19431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4575" b="1" lang="ar-JO">
                <a:solidFill>
                  <a:srgbClr val="C8A04C"/>
                </a:solidFill>
                <a:latin typeface="IBM Plex Sans Arabic"/>
                <a:ea typeface="IBM Plex Sans Arabic"/>
                <a:cs typeface="IBM Plex Sans Arabic"/>
              </a:defRPr>
            </a:pPr>
            <a:r>
              <a:rPr sz="4575" b="1" lang="ar-JO">
                <a:solidFill>
                  <a:srgbClr val="C8A04C"/>
                </a:solidFill>
                <a:latin typeface="IBM Plex Sans Arabic"/>
                <a:ea typeface="IBM Plex Sans Arabic"/>
                <a:cs typeface="IBM Plex Sans Arabic"/>
              </a:rPr>
              <a:t>١</a:t>
            </a:r>
          </a:p>
        </p:txBody>
      </p:sp>
      <p:sp>
        <p:nvSpPr>
          <p:cNvPr id="7" name="text-31-ملف الطالب">
            <a:extLst xmlns:a="http://schemas.openxmlformats.org/drawingml/2006/main">
              <a:ext uri="{FF2B5EF4-FFF2-40B4-BE49-F238E27FC236}">
                <a16:creationId xmlns:a16="http://schemas.microsoft.com/office/drawing/2014/main" id="{021BE2EB-3314-495F-85DF-F28872D03A3F}"/>
              </a:ext>
            </a:extLst>
          </p:cNvPr>
          <p:cNvSpPr>
            <a:spLocks xmlns:a="http://schemas.openxmlformats.org/drawingml/2006/main" noGrp="1"/>
          </p:cNvSpPr>
          <p:nvPr/>
        </p:nvSpPr>
        <p:spPr>
          <a:xfrm xmlns:a="http://schemas.openxmlformats.org/drawingml/2006/main">
            <a:off x="5048250" y="19716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700" b="1" lang="ar-JO">
                <a:solidFill>
                  <a:srgbClr val="013070"/>
                </a:solidFill>
                <a:latin typeface="IBM Plex Sans Arabic"/>
                <a:ea typeface="IBM Plex Sans Arabic"/>
                <a:cs typeface="IBM Plex Sans Arabic"/>
              </a:defRPr>
            </a:pPr>
            <a:r>
              <a:rPr sz="2700" b="1" lang="ar-JO">
                <a:solidFill>
                  <a:srgbClr val="013070"/>
                </a:solidFill>
                <a:latin typeface="IBM Plex Sans Arabic"/>
                <a:ea typeface="IBM Plex Sans Arabic"/>
                <a:cs typeface="IBM Plex Sans Arabic"/>
              </a:rPr>
              <a:t>ملف الطالب</a:t>
            </a:r>
          </a:p>
        </p:txBody>
      </p:sp>
      <p:sp>
        <p:nvSpPr>
          <p:cNvPr id="8" name="text-32-معدّله، ميزانيته، وم">
            <a:extLst xmlns:a="http://schemas.openxmlformats.org/drawingml/2006/main">
              <a:ext uri="{FF2B5EF4-FFF2-40B4-BE49-F238E27FC236}">
                <a16:creationId xmlns:a16="http://schemas.microsoft.com/office/drawing/2014/main" id="{2AFDD345-FCD0-458C-AAAE-A4D783A581EF}"/>
              </a:ext>
            </a:extLst>
          </p:cNvPr>
          <p:cNvSpPr>
            <a:spLocks xmlns:a="http://schemas.openxmlformats.org/drawingml/2006/main" noGrp="1"/>
          </p:cNvSpPr>
          <p:nvPr/>
        </p:nvSpPr>
        <p:spPr>
          <a:xfrm xmlns:a="http://schemas.openxmlformats.org/drawingml/2006/main">
            <a:off x="4572000" y="24955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lang="ar-JO">
                <a:solidFill>
                  <a:srgbClr val="53657C"/>
                </a:solidFill>
                <a:latin typeface="IBM Plex Sans Arabic"/>
                <a:ea typeface="IBM Plex Sans Arabic"/>
                <a:cs typeface="IBM Plex Sans Arabic"/>
              </a:defRPr>
            </a:pPr>
            <a:r>
              <a:rPr sz="2100" b="0" lang="ar-JO">
                <a:solidFill>
                  <a:srgbClr val="53657C"/>
                </a:solidFill>
                <a:latin typeface="IBM Plex Sans Arabic"/>
                <a:ea typeface="IBM Plex Sans Arabic"/>
                <a:cs typeface="IBM Plex Sans Arabic"/>
              </a:rPr>
              <a:t>معدّله، ميزانيته، وميوله</a:t>
            </a:r>
          </a:p>
        </p:txBody>
      </p:sp>
      <p:sp>
        <p:nvSpPr>
          <p:cNvPr id="9" name="text-33-٢">
            <a:extLst xmlns:a="http://schemas.openxmlformats.org/drawingml/2006/main">
              <a:ext uri="{FF2B5EF4-FFF2-40B4-BE49-F238E27FC236}">
                <a16:creationId xmlns:a16="http://schemas.microsoft.com/office/drawing/2014/main" id="{BAF6275F-9ACC-4D09-83B5-A442571D2D52}"/>
              </a:ext>
            </a:extLst>
          </p:cNvPr>
          <p:cNvSpPr>
            <a:spLocks xmlns:a="http://schemas.openxmlformats.org/drawingml/2006/main" noGrp="1"/>
          </p:cNvSpPr>
          <p:nvPr/>
        </p:nvSpPr>
        <p:spPr>
          <a:xfrm xmlns:a="http://schemas.openxmlformats.org/drawingml/2006/main">
            <a:off x="10572750" y="315277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4575" b="1" lang="ar-JO">
                <a:solidFill>
                  <a:srgbClr val="C8A04C"/>
                </a:solidFill>
                <a:latin typeface="IBM Plex Sans Arabic"/>
                <a:ea typeface="IBM Plex Sans Arabic"/>
                <a:cs typeface="IBM Plex Sans Arabic"/>
              </a:defRPr>
            </a:pPr>
            <a:r>
              <a:rPr sz="4575" b="1" lang="ar-JO">
                <a:solidFill>
                  <a:srgbClr val="C8A04C"/>
                </a:solidFill>
                <a:latin typeface="IBM Plex Sans Arabic"/>
                <a:ea typeface="IBM Plex Sans Arabic"/>
                <a:cs typeface="IBM Plex Sans Arabic"/>
              </a:rPr>
              <a:t>٢</a:t>
            </a:r>
          </a:p>
        </p:txBody>
      </p:sp>
      <p:sp>
        <p:nvSpPr>
          <p:cNvPr id="10" name="text-34-مقارنة البدائل">
            <a:extLst xmlns:a="http://schemas.openxmlformats.org/drawingml/2006/main">
              <a:ext uri="{FF2B5EF4-FFF2-40B4-BE49-F238E27FC236}">
                <a16:creationId xmlns:a16="http://schemas.microsoft.com/office/drawing/2014/main" id="{F297BBFC-6AC2-4398-8B32-D0B068063FE8}"/>
              </a:ext>
            </a:extLst>
          </p:cNvPr>
          <p:cNvSpPr>
            <a:spLocks xmlns:a="http://schemas.openxmlformats.org/drawingml/2006/main" noGrp="1"/>
          </p:cNvSpPr>
          <p:nvPr/>
        </p:nvSpPr>
        <p:spPr>
          <a:xfrm xmlns:a="http://schemas.openxmlformats.org/drawingml/2006/main">
            <a:off x="5048250" y="31813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700" b="1" lang="ar-JO">
                <a:solidFill>
                  <a:srgbClr val="013070"/>
                </a:solidFill>
                <a:latin typeface="IBM Plex Sans Arabic"/>
                <a:ea typeface="IBM Plex Sans Arabic"/>
                <a:cs typeface="IBM Plex Sans Arabic"/>
              </a:defRPr>
            </a:pPr>
            <a:r>
              <a:rPr sz="2700" b="1" lang="ar-JO">
                <a:solidFill>
                  <a:srgbClr val="013070"/>
                </a:solidFill>
                <a:latin typeface="IBM Plex Sans Arabic"/>
                <a:ea typeface="IBM Plex Sans Arabic"/>
                <a:cs typeface="IBM Plex Sans Arabic"/>
              </a:rPr>
              <a:t>مقارنة البدائل</a:t>
            </a:r>
          </a:p>
        </p:txBody>
      </p:sp>
      <p:sp>
        <p:nvSpPr>
          <p:cNvPr id="11" name="text-35-تخصّصات يوازن بينها ">
            <a:extLst xmlns:a="http://schemas.openxmlformats.org/drawingml/2006/main">
              <a:ext uri="{FF2B5EF4-FFF2-40B4-BE49-F238E27FC236}">
                <a16:creationId xmlns:a16="http://schemas.microsoft.com/office/drawing/2014/main" id="{778FB602-3304-4E20-AAFA-AC1D4AB54C61}"/>
              </a:ext>
            </a:extLst>
          </p:cNvPr>
          <p:cNvSpPr>
            <a:spLocks xmlns:a="http://schemas.openxmlformats.org/drawingml/2006/main" noGrp="1"/>
          </p:cNvSpPr>
          <p:nvPr/>
        </p:nvSpPr>
        <p:spPr>
          <a:xfrm xmlns:a="http://schemas.openxmlformats.org/drawingml/2006/main">
            <a:off x="4572000" y="37052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lang="ar-JO">
                <a:solidFill>
                  <a:srgbClr val="53657C"/>
                </a:solidFill>
                <a:latin typeface="IBM Plex Sans Arabic"/>
                <a:ea typeface="IBM Plex Sans Arabic"/>
                <a:cs typeface="IBM Plex Sans Arabic"/>
              </a:defRPr>
            </a:pPr>
            <a:r>
              <a:rPr sz="2100" b="0" lang="ar-JO">
                <a:solidFill>
                  <a:srgbClr val="53657C"/>
                </a:solidFill>
                <a:latin typeface="IBM Plex Sans Arabic"/>
                <a:ea typeface="IBM Plex Sans Arabic"/>
                <a:cs typeface="IBM Plex Sans Arabic"/>
              </a:rPr>
              <a:t>تخصّصات يوازن بينها بوضوح</a:t>
            </a:r>
          </a:p>
        </p:txBody>
      </p:sp>
      <p:sp>
        <p:nvSpPr>
          <p:cNvPr id="12" name="text-36-٣">
            <a:extLst xmlns:a="http://schemas.openxmlformats.org/drawingml/2006/main">
              <a:ext uri="{FF2B5EF4-FFF2-40B4-BE49-F238E27FC236}">
                <a16:creationId xmlns:a16="http://schemas.microsoft.com/office/drawing/2014/main" id="{3DFCCDC7-2D7F-450D-8B22-9D3E0E715992}"/>
              </a:ext>
            </a:extLst>
          </p:cNvPr>
          <p:cNvSpPr>
            <a:spLocks xmlns:a="http://schemas.openxmlformats.org/drawingml/2006/main" noGrp="1"/>
          </p:cNvSpPr>
          <p:nvPr/>
        </p:nvSpPr>
        <p:spPr>
          <a:xfrm xmlns:a="http://schemas.openxmlformats.org/drawingml/2006/main">
            <a:off x="10572750" y="43624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4575" b="1" lang="ar-JO">
                <a:solidFill>
                  <a:srgbClr val="C8A04C"/>
                </a:solidFill>
                <a:latin typeface="IBM Plex Sans Arabic"/>
                <a:ea typeface="IBM Plex Sans Arabic"/>
                <a:cs typeface="IBM Plex Sans Arabic"/>
              </a:defRPr>
            </a:pPr>
            <a:r>
              <a:rPr sz="4575" b="1" lang="ar-JO">
                <a:solidFill>
                  <a:srgbClr val="C8A04C"/>
                </a:solidFill>
                <a:latin typeface="IBM Plex Sans Arabic"/>
                <a:ea typeface="IBM Plex Sans Arabic"/>
                <a:cs typeface="IBM Plex Sans Arabic"/>
              </a:rPr>
              <a:t>٣</a:t>
            </a:r>
          </a:p>
        </p:txBody>
      </p:sp>
      <p:sp>
        <p:nvSpPr>
          <p:cNvPr id="13" name="text-37-قرار مع الأهل">
            <a:extLst xmlns:a="http://schemas.openxmlformats.org/drawingml/2006/main">
              <a:ext uri="{FF2B5EF4-FFF2-40B4-BE49-F238E27FC236}">
                <a16:creationId xmlns:a16="http://schemas.microsoft.com/office/drawing/2014/main" id="{43DE5AED-F19A-4713-A8CC-5491A90F1C74}"/>
              </a:ext>
            </a:extLst>
          </p:cNvPr>
          <p:cNvSpPr>
            <a:spLocks xmlns:a="http://schemas.openxmlformats.org/drawingml/2006/main" noGrp="1"/>
          </p:cNvSpPr>
          <p:nvPr/>
        </p:nvSpPr>
        <p:spPr>
          <a:xfrm xmlns:a="http://schemas.openxmlformats.org/drawingml/2006/main">
            <a:off x="5048250" y="43910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700" b="1" lang="ar-JO">
                <a:solidFill>
                  <a:srgbClr val="013070"/>
                </a:solidFill>
                <a:latin typeface="IBM Plex Sans Arabic"/>
                <a:ea typeface="IBM Plex Sans Arabic"/>
                <a:cs typeface="IBM Plex Sans Arabic"/>
              </a:defRPr>
            </a:pPr>
            <a:r>
              <a:rPr sz="2700" b="1" lang="ar-JO">
                <a:solidFill>
                  <a:srgbClr val="013070"/>
                </a:solidFill>
                <a:latin typeface="IBM Plex Sans Arabic"/>
                <a:ea typeface="IBM Plex Sans Arabic"/>
                <a:cs typeface="IBM Plex Sans Arabic"/>
              </a:rPr>
              <a:t>قرار مع الأهل</a:t>
            </a:r>
          </a:p>
        </p:txBody>
      </p:sp>
      <p:sp>
        <p:nvSpPr>
          <p:cNvPr id="14" name="text-38-اختيار يفهم أسبابه و">
            <a:extLst xmlns:a="http://schemas.openxmlformats.org/drawingml/2006/main">
              <a:ext uri="{FF2B5EF4-FFF2-40B4-BE49-F238E27FC236}">
                <a16:creationId xmlns:a16="http://schemas.microsoft.com/office/drawing/2014/main" id="{2F4826B9-87FE-41CA-AEB4-DFECDDB8680C}"/>
              </a:ext>
            </a:extLst>
          </p:cNvPr>
          <p:cNvSpPr>
            <a:spLocks xmlns:a="http://schemas.openxmlformats.org/drawingml/2006/main" noGrp="1"/>
          </p:cNvSpPr>
          <p:nvPr/>
        </p:nvSpPr>
        <p:spPr>
          <a:xfrm xmlns:a="http://schemas.openxmlformats.org/drawingml/2006/main">
            <a:off x="4572000" y="491490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lang="ar-JO">
                <a:solidFill>
                  <a:srgbClr val="53657C"/>
                </a:solidFill>
                <a:latin typeface="IBM Plex Sans Arabic"/>
                <a:ea typeface="IBM Plex Sans Arabic"/>
                <a:cs typeface="IBM Plex Sans Arabic"/>
              </a:defRPr>
            </a:pPr>
            <a:r>
              <a:rPr sz="2100" b="0" lang="ar-JO">
                <a:solidFill>
                  <a:srgbClr val="53657C"/>
                </a:solidFill>
                <a:latin typeface="IBM Plex Sans Arabic"/>
                <a:ea typeface="IBM Plex Sans Arabic"/>
                <a:cs typeface="IBM Plex Sans Arabic"/>
              </a:rPr>
              <a:t>اختيار يفهم أسبابه وتكاليفه</a:t>
            </a:r>
          </a:p>
        </p:txBody>
      </p:sp>
      <p:sp>
        <p:nvSpPr>
          <p:cNvPr id="15" name="text-39-مثال توضيحي ببيانات ">
            <a:extLst xmlns:a="http://schemas.openxmlformats.org/drawingml/2006/main">
              <a:ext uri="{FF2B5EF4-FFF2-40B4-BE49-F238E27FC236}">
                <a16:creationId xmlns:a16="http://schemas.microsoft.com/office/drawing/2014/main" id="{DF7F2C0D-EE99-4037-B10E-B19DC66EE938}"/>
              </a:ext>
            </a:extLst>
          </p:cNvPr>
          <p:cNvSpPr>
            <a:spLocks xmlns:a="http://schemas.openxmlformats.org/drawingml/2006/main" noGrp="1"/>
          </p:cNvSpPr>
          <p:nvPr/>
        </p:nvSpPr>
        <p:spPr>
          <a:xfrm xmlns:a="http://schemas.openxmlformats.org/drawingml/2006/main">
            <a:off x="4524375" y="5753100"/>
            <a:ext cx="681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725" b="0" lang="ar-JO">
                <a:solidFill>
                  <a:srgbClr val="53657C"/>
                </a:solidFill>
                <a:latin typeface="IBM Plex Sans Arabic"/>
                <a:ea typeface="IBM Plex Sans Arabic"/>
                <a:cs typeface="IBM Plex Sans Arabic"/>
              </a:defRPr>
            </a:pPr>
            <a:r>
              <a:rPr sz="1725" b="0" lang="ar-JO">
                <a:solidFill>
                  <a:srgbClr val="53657C"/>
                </a:solidFill>
                <a:latin typeface="IBM Plex Sans Arabic"/>
                <a:ea typeface="IBM Plex Sans Arabic"/>
                <a:cs typeface="IBM Plex Sans Arabic"/>
              </a:rPr>
              <a:t>مثال توضيحي ببيانات ثابتة. النتائج تقديرية</a:t>
            </a:r>
          </a:p>
        </p:txBody>
      </p:sp>
    </p:spTree>
    <p:extLst>
      <p:ext uri="{BB962C8B-B14F-4D97-AF65-F5344CB8AC3E}">
        <p14:creationId xmlns:p14="http://schemas.microsoft.com/office/powerpoint/2010/main" val="2116574550"/>
      </p:ext>
    </p:extLst>
  </p:cSld>
</p:sld>
</file>

<file path=ppt/slides/slide5.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8f760f0ff074588"/>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40-المستفيدون والعملاء ">
            <a:extLst xmlns:a="http://schemas.openxmlformats.org/drawingml/2006/main">
              <a:ext uri="{FF2B5EF4-FFF2-40B4-BE49-F238E27FC236}">
                <a16:creationId xmlns:a16="http://schemas.microsoft.com/office/drawing/2014/main" id="{31AE0B9E-87C6-4181-9429-21DF337D36DE}"/>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lang="ar-JO">
                <a:solidFill>
                  <a:srgbClr val="FFFFFF"/>
                </a:solidFill>
                <a:latin typeface="IBM Plex Sans Arabic"/>
                <a:ea typeface="IBM Plex Sans Arabic"/>
                <a:cs typeface="IBM Plex Sans Arabic"/>
              </a:defRPr>
            </a:pPr>
            <a:r>
              <a:rPr sz="3675" b="1" lang="ar-JO">
                <a:solidFill>
                  <a:srgbClr val="FFFFFF"/>
                </a:solidFill>
                <a:latin typeface="IBM Plex Sans Arabic"/>
                <a:ea typeface="IBM Plex Sans Arabic"/>
                <a:cs typeface="IBM Plex Sans Arabic"/>
              </a:rPr>
              <a:t>المستفيدون والعملاء المحتملون</a:t>
            </a:r>
          </a:p>
        </p:txBody>
      </p:sp>
      <p:sp>
        <p:nvSpPr>
          <p:cNvPr id="3" name="text-41-05">
            <a:extLst xmlns:a="http://schemas.openxmlformats.org/drawingml/2006/main">
              <a:ext uri="{FF2B5EF4-FFF2-40B4-BE49-F238E27FC236}">
                <a16:creationId xmlns:a16="http://schemas.microsoft.com/office/drawing/2014/main" id="{1823DACF-126E-40A2-BF42-230318CD9224}"/>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lang="ar-JO">
                <a:solidFill>
                  <a:srgbClr val="D1DEED"/>
                </a:solidFill>
                <a:latin typeface="IBM Plex Sans Arabic"/>
                <a:ea typeface="IBM Plex Sans Arabic"/>
                <a:cs typeface="IBM Plex Sans Arabic"/>
              </a:defRPr>
            </a:pPr>
            <a:r>
              <a:rPr sz="1575" b="0" lang="ar-JO">
                <a:solidFill>
                  <a:srgbClr val="D1DEED"/>
                </a:solidFill>
                <a:latin typeface="IBM Plex Sans Arabic"/>
                <a:ea typeface="IBM Plex Sans Arabic"/>
                <a:cs typeface="IBM Plex Sans Arabic"/>
              </a:rPr>
              <a:t>05</a:t>
            </a:r>
          </a:p>
        </p:txBody>
      </p:sp>
      <p:sp>
        <p:nvSpPr>
          <p:cNvPr id="4" name="text-42-من يستفيد؟">
            <a:extLst xmlns:a="http://schemas.openxmlformats.org/drawingml/2006/main">
              <a:ext uri="{FF2B5EF4-FFF2-40B4-BE49-F238E27FC236}">
                <a16:creationId xmlns:a16="http://schemas.microsoft.com/office/drawing/2014/main" id="{4E3A2B3C-A806-41F3-9783-EA1B73E230BF}"/>
              </a:ext>
            </a:extLst>
          </p:cNvPr>
          <p:cNvSpPr>
            <a:spLocks xmlns:a="http://schemas.openxmlformats.org/drawingml/2006/main" noGrp="1"/>
          </p:cNvSpPr>
          <p:nvPr/>
        </p:nvSpPr>
        <p:spPr>
          <a:xfrm xmlns:a="http://schemas.openxmlformats.org/drawingml/2006/main">
            <a:off x="7048500" y="2038350"/>
            <a:ext cx="442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225" b="1" lang="ar-JO">
                <a:solidFill>
                  <a:srgbClr val="C8A04C"/>
                </a:solidFill>
                <a:latin typeface="IBM Plex Sans Arabic"/>
                <a:ea typeface="IBM Plex Sans Arabic"/>
                <a:cs typeface="IBM Plex Sans Arabic"/>
              </a:defRPr>
            </a:pPr>
            <a:r>
              <a:rPr sz="3225" b="1" lang="ar-JO">
                <a:solidFill>
                  <a:srgbClr val="C8A04C"/>
                </a:solidFill>
                <a:latin typeface="IBM Plex Sans Arabic"/>
                <a:ea typeface="IBM Plex Sans Arabic"/>
                <a:cs typeface="IBM Plex Sans Arabic"/>
              </a:rPr>
              <a:t>من يستفيد؟</a:t>
            </a:r>
          </a:p>
        </p:txBody>
      </p:sp>
      <p:sp>
        <p:nvSpPr>
          <p:cNvPr id="5" name="text-43-طلبة التوجيهي">
            <a:extLst xmlns:a="http://schemas.openxmlformats.org/drawingml/2006/main">
              <a:ext uri="{FF2B5EF4-FFF2-40B4-BE49-F238E27FC236}">
                <a16:creationId xmlns:a16="http://schemas.microsoft.com/office/drawing/2014/main" id="{C064C3FA-38B6-4A38-9BD7-178B9FDC4F25}"/>
              </a:ext>
            </a:extLst>
          </p:cNvPr>
          <p:cNvSpPr>
            <a:spLocks xmlns:a="http://schemas.openxmlformats.org/drawingml/2006/main" noGrp="1"/>
          </p:cNvSpPr>
          <p:nvPr/>
        </p:nvSpPr>
        <p:spPr>
          <a:xfrm xmlns:a="http://schemas.openxmlformats.org/drawingml/2006/main">
            <a:off x="6953250" y="2895600"/>
            <a:ext cx="452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150" b="1" lang="ar-JO">
                <a:solidFill>
                  <a:srgbClr val="FFFFFF"/>
                </a:solidFill>
                <a:latin typeface="IBM Plex Sans Arabic"/>
                <a:ea typeface="IBM Plex Sans Arabic"/>
                <a:cs typeface="IBM Plex Sans Arabic"/>
              </a:defRPr>
            </a:pPr>
            <a:r>
              <a:rPr sz="3150" b="1" lang="ar-JO">
                <a:solidFill>
                  <a:srgbClr val="FFFFFF"/>
                </a:solidFill>
                <a:latin typeface="IBM Plex Sans Arabic"/>
                <a:ea typeface="IBM Plex Sans Arabic"/>
                <a:cs typeface="IBM Plex Sans Arabic"/>
              </a:rPr>
              <a:t>طلبة التوجيهي</a:t>
            </a:r>
          </a:p>
        </p:txBody>
      </p:sp>
      <p:sp>
        <p:nvSpPr>
          <p:cNvPr id="6" name="text-44-وأولياء الأمور">
            <a:extLst xmlns:a="http://schemas.openxmlformats.org/drawingml/2006/main">
              <a:ext uri="{FF2B5EF4-FFF2-40B4-BE49-F238E27FC236}">
                <a16:creationId xmlns:a16="http://schemas.microsoft.com/office/drawing/2014/main" id="{6EA54AC5-D21E-4558-92FF-B898E6A560EC}"/>
              </a:ext>
            </a:extLst>
          </p:cNvPr>
          <p:cNvSpPr>
            <a:spLocks xmlns:a="http://schemas.openxmlformats.org/drawingml/2006/main" noGrp="1"/>
          </p:cNvSpPr>
          <p:nvPr/>
        </p:nvSpPr>
        <p:spPr>
          <a:xfrm xmlns:a="http://schemas.openxmlformats.org/drawingml/2006/main">
            <a:off x="6953250" y="3524250"/>
            <a:ext cx="4524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775" b="0" lang="ar-JO">
                <a:solidFill>
                  <a:srgbClr val="FFFFFF"/>
                </a:solidFill>
                <a:latin typeface="IBM Plex Sans Arabic"/>
                <a:ea typeface="IBM Plex Sans Arabic"/>
                <a:cs typeface="IBM Plex Sans Arabic"/>
              </a:defRPr>
            </a:pPr>
            <a:r>
              <a:rPr sz="2775" b="0" lang="ar-JO">
                <a:solidFill>
                  <a:srgbClr val="FFFFFF"/>
                </a:solidFill>
                <a:latin typeface="IBM Plex Sans Arabic"/>
                <a:ea typeface="IBM Plex Sans Arabic"/>
                <a:cs typeface="IBM Plex Sans Arabic"/>
              </a:rPr>
              <a:t>وأولياء الأمور</a:t>
            </a:r>
          </a:p>
        </p:txBody>
      </p:sp>
      <p:sp>
        <p:nvSpPr>
          <p:cNvPr id="7" name="text-45-من نختبر معه نموذج ا">
            <a:extLst xmlns:a="http://schemas.openxmlformats.org/drawingml/2006/main">
              <a:ext uri="{FF2B5EF4-FFF2-40B4-BE49-F238E27FC236}">
                <a16:creationId xmlns:a16="http://schemas.microsoft.com/office/drawing/2014/main" id="{C0F43FA7-E501-482C-A8E7-A677E24418D0}"/>
              </a:ext>
            </a:extLst>
          </p:cNvPr>
          <p:cNvSpPr>
            <a:spLocks xmlns:a="http://schemas.openxmlformats.org/drawingml/2006/main" noGrp="1"/>
          </p:cNvSpPr>
          <p:nvPr/>
        </p:nvSpPr>
        <p:spPr>
          <a:xfrm xmlns:a="http://schemas.openxmlformats.org/drawingml/2006/main">
            <a:off x="619125" y="203835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lang="ar-JO">
                <a:solidFill>
                  <a:srgbClr val="C8A04C"/>
                </a:solidFill>
                <a:latin typeface="IBM Plex Sans Arabic"/>
                <a:ea typeface="IBM Plex Sans Arabic"/>
                <a:cs typeface="IBM Plex Sans Arabic"/>
              </a:defRPr>
            </a:pPr>
            <a:r>
              <a:rPr sz="2550" b="1" lang="ar-JO">
                <a:solidFill>
                  <a:srgbClr val="C8A04C"/>
                </a:solidFill>
                <a:latin typeface="IBM Plex Sans Arabic"/>
                <a:ea typeface="IBM Plex Sans Arabic"/>
                <a:cs typeface="IBM Plex Sans Arabic"/>
              </a:rPr>
              <a:t>من نختبر معه نموذج العمل؟</a:t>
            </a:r>
          </a:p>
        </p:txBody>
      </p:sp>
      <p:sp>
        <p:nvSpPr>
          <p:cNvPr id="8" name="text-46-جهات حكومية معنية با">
            <a:extLst xmlns:a="http://schemas.openxmlformats.org/drawingml/2006/main">
              <a:ext uri="{FF2B5EF4-FFF2-40B4-BE49-F238E27FC236}">
                <a16:creationId xmlns:a16="http://schemas.microsoft.com/office/drawing/2014/main" id="{0F31AB8E-BC25-412D-98CD-3ACE581D5872}"/>
              </a:ext>
            </a:extLst>
          </p:cNvPr>
          <p:cNvSpPr>
            <a:spLocks xmlns:a="http://schemas.openxmlformats.org/drawingml/2006/main" noGrp="1"/>
          </p:cNvSpPr>
          <p:nvPr/>
        </p:nvSpPr>
        <p:spPr>
          <a:xfrm xmlns:a="http://schemas.openxmlformats.org/drawingml/2006/main">
            <a:off x="619125" y="295275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325" b="1" lang="ar-JO">
                <a:solidFill>
                  <a:srgbClr val="FFFFFF"/>
                </a:solidFill>
                <a:latin typeface="IBM Plex Sans Arabic"/>
                <a:ea typeface="IBM Plex Sans Arabic"/>
                <a:cs typeface="IBM Plex Sans Arabic"/>
              </a:defRPr>
            </a:pPr>
            <a:r>
              <a:rPr sz="2325" b="1" lang="ar-JO">
                <a:solidFill>
                  <a:srgbClr val="FFFFFF"/>
                </a:solidFill>
                <a:latin typeface="IBM Plex Sans Arabic"/>
                <a:ea typeface="IBM Plex Sans Arabic"/>
                <a:cs typeface="IBM Plex Sans Arabic"/>
              </a:rPr>
              <a:t>جهات حكومية معنية بالتعليم</a:t>
            </a:r>
          </a:p>
        </p:txBody>
      </p:sp>
      <p:sp>
        <p:nvSpPr>
          <p:cNvPr id="9" name="text-47-وجامعات أردنية">
            <a:extLst xmlns:a="http://schemas.openxmlformats.org/drawingml/2006/main">
              <a:ext uri="{FF2B5EF4-FFF2-40B4-BE49-F238E27FC236}">
                <a16:creationId xmlns:a16="http://schemas.microsoft.com/office/drawing/2014/main" id="{FB3A0E81-03E3-43CA-A75F-0082B08A60EA}"/>
              </a:ext>
            </a:extLst>
          </p:cNvPr>
          <p:cNvSpPr>
            <a:spLocks xmlns:a="http://schemas.openxmlformats.org/drawingml/2006/main" noGrp="1"/>
          </p:cNvSpPr>
          <p:nvPr/>
        </p:nvSpPr>
        <p:spPr>
          <a:xfrm xmlns:a="http://schemas.openxmlformats.org/drawingml/2006/main">
            <a:off x="619125" y="3552825"/>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0" lang="ar-JO">
                <a:solidFill>
                  <a:srgbClr val="FFFFFF"/>
                </a:solidFill>
                <a:latin typeface="IBM Plex Sans Arabic"/>
                <a:ea typeface="IBM Plex Sans Arabic"/>
                <a:cs typeface="IBM Plex Sans Arabic"/>
              </a:defRPr>
            </a:pPr>
            <a:r>
              <a:rPr sz="2550" b="0" lang="ar-JO">
                <a:solidFill>
                  <a:srgbClr val="FFFFFF"/>
                </a:solidFill>
                <a:latin typeface="IBM Plex Sans Arabic"/>
                <a:ea typeface="IBM Plex Sans Arabic"/>
                <a:cs typeface="IBM Plex Sans Arabic"/>
              </a:rPr>
              <a:t>وجامعات أردنية</a:t>
            </a:r>
          </a:p>
        </p:txBody>
      </p:sp>
      <p:sp>
        <p:nvSpPr>
          <p:cNvPr id="10" name="text-48-الوصول المقترح للطلب">
            <a:extLst xmlns:a="http://schemas.openxmlformats.org/drawingml/2006/main">
              <a:ext uri="{FF2B5EF4-FFF2-40B4-BE49-F238E27FC236}">
                <a16:creationId xmlns:a16="http://schemas.microsoft.com/office/drawing/2014/main" id="{5BC2DCEF-FA1E-4E28-ABC0-07253B9FF5FB}"/>
              </a:ext>
            </a:extLst>
          </p:cNvPr>
          <p:cNvSpPr>
            <a:spLocks xmlns:a="http://schemas.openxmlformats.org/drawingml/2006/main" noGrp="1"/>
          </p:cNvSpPr>
          <p:nvPr/>
        </p:nvSpPr>
        <p:spPr>
          <a:xfrm xmlns:a="http://schemas.openxmlformats.org/drawingml/2006/main">
            <a:off x="1476375" y="5257800"/>
            <a:ext cx="10001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400" b="0" lang="ar-JO">
                <a:solidFill>
                  <a:srgbClr val="D1DEED"/>
                </a:solidFill>
                <a:latin typeface="IBM Plex Sans Arabic"/>
                <a:ea typeface="IBM Plex Sans Arabic"/>
                <a:cs typeface="IBM Plex Sans Arabic"/>
              </a:defRPr>
            </a:pPr>
            <a:r>
              <a:rPr sz="2400" b="0" lang="ar-JO">
                <a:solidFill>
                  <a:srgbClr val="D1DEED"/>
                </a:solidFill>
                <a:latin typeface="IBM Plex Sans Arabic"/>
                <a:ea typeface="IBM Plex Sans Arabic"/>
                <a:cs typeface="IBM Plex Sans Arabic"/>
              </a:rPr>
              <a:t>الوصول المقترح للطلبة عبر المدارس والجامعات</a:t>
            </a:r>
          </a:p>
        </p:txBody>
      </p:sp>
    </p:spTree>
    <p:extLst>
      <p:ext uri="{BB962C8B-B14F-4D97-AF65-F5344CB8AC3E}">
        <p14:creationId xmlns:p14="http://schemas.microsoft.com/office/powerpoint/2010/main" val="1379530148"/>
      </p:ext>
    </p:extLst>
  </p:cSld>
</p:sld>
</file>

<file path=ppt/slides/slide6.xml><?xml version="1.0" encoding="utf-8"?>
<p:sld xmlns:a="http://schemas.openxmlformats.org/drawingml/2006/main"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55837c2d90c470a"/>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49-تميّز مُرشِدي في جمع">
            <a:extLst xmlns:a="http://schemas.openxmlformats.org/drawingml/2006/main">
              <a:ext uri="{FF2B5EF4-FFF2-40B4-BE49-F238E27FC236}">
                <a16:creationId xmlns:a16="http://schemas.microsoft.com/office/drawing/2014/main" id="{30EA8F6F-538A-4E44-9C1F-DD2AA972F398}"/>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lang="ar-JO">
                <a:solidFill>
                  <a:srgbClr val="013070"/>
                </a:solidFill>
                <a:latin typeface="IBM Plex Sans Arabic"/>
                <a:ea typeface="IBM Plex Sans Arabic"/>
                <a:cs typeface="IBM Plex Sans Arabic"/>
              </a:defRPr>
            </a:pPr>
            <a:r>
              <a:rPr sz="3675" b="1" lang="ar-JO">
                <a:solidFill>
                  <a:srgbClr val="013070"/>
                </a:solidFill>
                <a:latin typeface="IBM Plex Sans Arabic"/>
                <a:ea typeface="IBM Plex Sans Arabic"/>
                <a:cs typeface="IBM Plex Sans Arabic"/>
              </a:rPr>
              <a:t>تميّز مُرشِدي في جمع عناصر القرار</a:t>
            </a:r>
          </a:p>
        </p:txBody>
      </p:sp>
      <p:sp>
        <p:nvSpPr>
          <p:cNvPr id="3" name="text-50-06">
            <a:extLst xmlns:a="http://schemas.openxmlformats.org/drawingml/2006/main">
              <a:ext uri="{FF2B5EF4-FFF2-40B4-BE49-F238E27FC236}">
                <a16:creationId xmlns:a16="http://schemas.microsoft.com/office/drawing/2014/main" id="{A1B005AB-78F6-4EDA-A96A-FC14C9867A0E}"/>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lang="ar-JO">
                <a:solidFill>
                  <a:srgbClr val="53657C"/>
                </a:solidFill>
                <a:latin typeface="IBM Plex Sans Arabic"/>
                <a:ea typeface="IBM Plex Sans Arabic"/>
                <a:cs typeface="IBM Plex Sans Arabic"/>
              </a:defRPr>
            </a:pPr>
            <a:r>
              <a:rPr sz="1575" b="0" lang="ar-JO">
                <a:solidFill>
                  <a:srgbClr val="53657C"/>
                </a:solidFill>
                <a:latin typeface="IBM Plex Sans Arabic"/>
                <a:ea typeface="IBM Plex Sans Arabic"/>
                <a:cs typeface="IBM Plex Sans Arabic"/>
              </a:rPr>
              <a:t>06</a:t>
            </a:r>
          </a:p>
        </p:txBody>
      </p:sp>
      <p:graphicFrame>
        <p:nvGraphicFramePr>
          <p:cNvPr id="9" name=""/>
          <p:cNvGraphicFramePr/>
          <p:nvPr/>
        </p:nvGraphicFramePr>
        <p:xfrm>
          <a:off xmlns:a="http://schemas.openxmlformats.org/drawingml/2006/main" x="762000" y="1876425"/>
          <a:ext xmlns:a="http://schemas.openxmlformats.org/drawingml/2006/main" cx="10668000" cy="3571875"/>
        </p:xfrm>
        <a:graphic xmlns:a="http://schemas.openxmlformats.org/drawingml/2006/main">
          <a:graphicData uri="http://schemas.openxmlformats.org/drawingml/2006/table">
            <a:tbl>
              <a:tblPr/>
              <a:tblGrid>
                <a:gridCol w="7143750"/>
                <a:gridCol w="3524250"/>
              </a:tblGrid>
              <a:tr h="714375">
                <a:tc>
                  <a:txBody>
                    <a:bodyPr lIns="238125" tIns="76200" rIns="238125" bIns="76200"/>
                    <a:lstStyle/>
                    <a:p>
                      <a:pPr algn="r" rtl="1"/>
                      <a:r>
                        <a:rPr sz="2250" b="1" lang="ar-JO">
                          <a:solidFill>
                            <a:srgbClr val="FFFFFF"/>
                          </a:solidFill>
                          <a:latin typeface="IBM Plex Sans Arabic"/>
                          <a:ea typeface="IBM Plex Sans Arabic"/>
                          <a:cs typeface="IBM Plex Sans Arabic"/>
                        </a:rPr>
                        <a:t>ما يضيفه مُرشِدي</a:t>
                      </a:r>
                    </a:p>
                  </a:txBody>
                  <a:tcPr marL="91440" marR="91440" marT="45720" marB="45720" anchor="ctr">
                    <a:solidFill>
                      <a:srgbClr val="013070"/>
                    </a:solidFill>
                  </a:tcPr>
                </a:tc>
                <a:tc>
                  <a:txBody>
                    <a:bodyPr lIns="238125" tIns="76200" rIns="238125" bIns="76200"/>
                    <a:lstStyle/>
                    <a:p>
                      <a:pPr algn="r" rtl="1"/>
                      <a:r>
                        <a:rPr sz="2250" b="1" lang="ar-JO">
                          <a:solidFill>
                            <a:srgbClr val="FFFFFF"/>
                          </a:solidFill>
                          <a:latin typeface="IBM Plex Sans Arabic"/>
                          <a:ea typeface="IBM Plex Sans Arabic"/>
                          <a:cs typeface="IBM Plex Sans Arabic"/>
                        </a:rPr>
                        <a:t>عنصر القرار</a:t>
                      </a:r>
                    </a:p>
                  </a:txBody>
                  <a:tcPr marL="91440" marR="91440" marT="45720" marB="45720" anchor="ctr">
                    <a:solidFill>
                      <a:srgbClr val="013070"/>
                    </a:solidFill>
                  </a:tcPr>
                </a:tc>
              </a:tr>
              <a:tr h="714375">
                <a:tc>
                  <a:txBody>
                    <a:bodyPr lIns="238125" tIns="76200" rIns="238125" bIns="76200"/>
                    <a:lstStyle/>
                    <a:p>
                      <a:pPr algn="r" rtl="1"/>
                      <a:r>
                        <a:rPr sz="2175" b="0" lang="ar-JO">
                          <a:solidFill>
                            <a:srgbClr val="53657C"/>
                          </a:solidFill>
                          <a:latin typeface="IBM Plex Sans Arabic"/>
                          <a:ea typeface="IBM Plex Sans Arabic"/>
                          <a:cs typeface="IBM Plex Sans Arabic"/>
                        </a:rPr>
                        <a:t>اختبار يساعد على الاستكشاف</a:t>
                      </a:r>
                    </a:p>
                  </a:txBody>
                  <a:tcPr marL="91440" marR="91440" marT="45720" marB="45720" anchor="ctr">
                    <a:solidFill>
                      <a:srgbClr val="FFFFFF"/>
                    </a:solidFill>
                  </a:tcPr>
                </a:tc>
                <a:tc>
                  <a:txBody>
                    <a:bodyPr lIns="238125" tIns="76200" rIns="238125" bIns="76200"/>
                    <a:lstStyle/>
                    <a:p>
                      <a:pPr algn="r" rtl="1"/>
                      <a:r>
                        <a:rPr sz="2175" b="1" lang="ar-JO">
                          <a:solidFill>
                            <a:srgbClr val="013070"/>
                          </a:solidFill>
                          <a:latin typeface="IBM Plex Sans Arabic"/>
                          <a:ea typeface="IBM Plex Sans Arabic"/>
                          <a:cs typeface="IBM Plex Sans Arabic"/>
                        </a:rPr>
                        <a:t>ميول الطالب</a:t>
                      </a:r>
                    </a:p>
                  </a:txBody>
                  <a:tcPr marL="91440" marR="91440" marT="45720" marB="45720" anchor="ctr">
                    <a:solidFill>
                      <a:srgbClr val="FFFFFF"/>
                    </a:solidFill>
                  </a:tcPr>
                </a:tc>
              </a:tr>
              <a:tr h="714375">
                <a:tc>
                  <a:txBody>
                    <a:bodyPr lIns="238125" tIns="76200" rIns="238125" bIns="76200"/>
                    <a:lstStyle/>
                    <a:p>
                      <a:pPr algn="r" rtl="1"/>
                      <a:r>
                        <a:rPr sz="2175" b="0" lang="ar-JO">
                          <a:solidFill>
                            <a:srgbClr val="53657C"/>
                          </a:solidFill>
                          <a:latin typeface="IBM Plex Sans Arabic"/>
                          <a:ea typeface="IBM Plex Sans Arabic"/>
                          <a:cs typeface="IBM Plex Sans Arabic"/>
                        </a:rPr>
                        <a:t>مقارنة التخصّصات والجامعات</a:t>
                      </a:r>
                    </a:p>
                  </a:txBody>
                  <a:tcPr marL="91440" marR="91440" marT="45720" marB="45720" anchor="ctr">
                    <a:solidFill>
                      <a:srgbClr val="EDF2F8"/>
                    </a:solidFill>
                  </a:tcPr>
                </a:tc>
                <a:tc>
                  <a:txBody>
                    <a:bodyPr lIns="238125" tIns="76200" rIns="238125" bIns="76200"/>
                    <a:lstStyle/>
                    <a:p>
                      <a:pPr algn="r" rtl="1"/>
                      <a:r>
                        <a:rPr sz="2175" b="1" lang="ar-JO">
                          <a:solidFill>
                            <a:srgbClr val="013070"/>
                          </a:solidFill>
                          <a:latin typeface="IBM Plex Sans Arabic"/>
                          <a:ea typeface="IBM Plex Sans Arabic"/>
                          <a:cs typeface="IBM Plex Sans Arabic"/>
                        </a:rPr>
                        <a:t>خيارات الدراسة</a:t>
                      </a:r>
                    </a:p>
                  </a:txBody>
                  <a:tcPr marL="91440" marR="91440" marT="45720" marB="45720" anchor="ctr">
                    <a:solidFill>
                      <a:srgbClr val="EDF2F8"/>
                    </a:solidFill>
                  </a:tcPr>
                </a:tc>
              </a:tr>
              <a:tr h="714375">
                <a:tc>
                  <a:txBody>
                    <a:bodyPr lIns="238125" tIns="76200" rIns="238125" bIns="76200"/>
                    <a:lstStyle/>
                    <a:p>
                      <a:pPr algn="r" rtl="1"/>
                      <a:r>
                        <a:rPr sz="2175" b="0" lang="ar-JO">
                          <a:solidFill>
                            <a:srgbClr val="53657C"/>
                          </a:solidFill>
                          <a:latin typeface="IBM Plex Sans Arabic"/>
                          <a:ea typeface="IBM Plex Sans Arabic"/>
                          <a:cs typeface="IBM Plex Sans Arabic"/>
                        </a:rPr>
                        <a:t>تقدير الكلفة وعائد التعليم</a:t>
                      </a:r>
                    </a:p>
                  </a:txBody>
                  <a:tcPr marL="91440" marR="91440" marT="45720" marB="45720" anchor="ctr">
                    <a:solidFill>
                      <a:srgbClr val="FFFFFF"/>
                    </a:solidFill>
                  </a:tcPr>
                </a:tc>
                <a:tc>
                  <a:txBody>
                    <a:bodyPr lIns="238125" tIns="76200" rIns="238125" bIns="76200"/>
                    <a:lstStyle/>
                    <a:p>
                      <a:pPr algn="r" rtl="1"/>
                      <a:r>
                        <a:rPr sz="2175" b="1" lang="ar-JO">
                          <a:solidFill>
                            <a:srgbClr val="013070"/>
                          </a:solidFill>
                          <a:latin typeface="IBM Plex Sans Arabic"/>
                          <a:ea typeface="IBM Plex Sans Arabic"/>
                          <a:cs typeface="IBM Plex Sans Arabic"/>
                        </a:rPr>
                        <a:t>القدرة المالية</a:t>
                      </a:r>
                    </a:p>
                  </a:txBody>
                  <a:tcPr marL="91440" marR="91440" marT="45720" marB="45720" anchor="ctr">
                    <a:solidFill>
                      <a:srgbClr val="FFFFFF"/>
                    </a:solidFill>
                  </a:tcPr>
                </a:tc>
              </a:tr>
              <a:tr h="714375">
                <a:tc>
                  <a:txBody>
                    <a:bodyPr lIns="238125" tIns="76200" rIns="238125" bIns="76200"/>
                    <a:lstStyle/>
                    <a:p>
                      <a:pPr algn="r" rtl="1"/>
                      <a:r>
                        <a:rPr sz="2175" b="0" lang="ar-JO">
                          <a:solidFill>
                            <a:srgbClr val="53657C"/>
                          </a:solidFill>
                          <a:latin typeface="IBM Plex Sans Arabic"/>
                          <a:ea typeface="IBM Plex Sans Arabic"/>
                          <a:cs typeface="IBM Plex Sans Arabic"/>
                        </a:rPr>
                        <a:t>مؤشرات تُقرأ مع بقية الخيارات</a:t>
                      </a:r>
                    </a:p>
                  </a:txBody>
                  <a:tcPr marL="91440" marR="91440" marT="45720" marB="45720" anchor="ctr">
                    <a:solidFill>
                      <a:srgbClr val="EDF2F8"/>
                    </a:solidFill>
                  </a:tcPr>
                </a:tc>
                <a:tc>
                  <a:txBody>
                    <a:bodyPr lIns="238125" tIns="76200" rIns="238125" bIns="76200"/>
                    <a:lstStyle/>
                    <a:p>
                      <a:pPr algn="r" rtl="1"/>
                      <a:r>
                        <a:rPr sz="2175" b="1" lang="ar-JO">
                          <a:solidFill>
                            <a:srgbClr val="013070"/>
                          </a:solidFill>
                          <a:latin typeface="IBM Plex Sans Arabic"/>
                          <a:ea typeface="IBM Plex Sans Arabic"/>
                          <a:cs typeface="IBM Plex Sans Arabic"/>
                        </a:rPr>
                        <a:t>فرص العمل</a:t>
                      </a:r>
                    </a:p>
                  </a:txBody>
                  <a:tcPr marL="91440" marR="91440" marT="45720" marB="45720" anchor="ctr">
                    <a:solidFill>
                      <a:srgbClr val="EDF2F8"/>
                    </a:solidFill>
                  </a:tcPr>
                </a:tc>
              </a:tr>
            </a:tbl>
          </a:graphicData>
        </a:graphic>
      </p:graphicFrame>
      <p:sp>
        <p:nvSpPr>
          <p:cNvPr id="5" name="text-51-تجربة عربية ملائمة ل">
            <a:extLst xmlns:a="http://schemas.openxmlformats.org/drawingml/2006/main">
              <a:ext uri="{FF2B5EF4-FFF2-40B4-BE49-F238E27FC236}">
                <a16:creationId xmlns:a16="http://schemas.microsoft.com/office/drawing/2014/main" id="{ABF4028D-7246-41A8-90EB-393A68DDB020}"/>
              </a:ext>
            </a:extLst>
          </p:cNvPr>
          <p:cNvSpPr>
            <a:spLocks xmlns:a="http://schemas.openxmlformats.org/drawingml/2006/main" noGrp="1"/>
          </p:cNvSpPr>
          <p:nvPr/>
        </p:nvSpPr>
        <p:spPr>
          <a:xfrm xmlns:a="http://schemas.openxmlformats.org/drawingml/2006/main">
            <a:off x="2286000" y="5667375"/>
            <a:ext cx="914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400" b="1" lang="ar-JO">
                <a:solidFill>
                  <a:srgbClr val="013070"/>
                </a:solidFill>
                <a:latin typeface="IBM Plex Sans Arabic"/>
                <a:ea typeface="IBM Plex Sans Arabic"/>
                <a:cs typeface="IBM Plex Sans Arabic"/>
              </a:defRPr>
            </a:pPr>
            <a:r>
              <a:rPr sz="2400" b="1" lang="ar-JO">
                <a:solidFill>
                  <a:srgbClr val="013070"/>
                </a:solidFill>
                <a:latin typeface="IBM Plex Sans Arabic"/>
                <a:ea typeface="IBM Plex Sans Arabic"/>
                <a:cs typeface="IBM Plex Sans Arabic"/>
              </a:rPr>
              <a:t>تجربة عربية ملائمة للسياق الأردني</a:t>
            </a:r>
          </a:p>
        </p:txBody>
      </p:sp>
    </p:spTree>
    <p:extLst>
      <p:ext uri="{BB962C8B-B14F-4D97-AF65-F5344CB8AC3E}">
        <p14:creationId xmlns:p14="http://schemas.microsoft.com/office/powerpoint/2010/main" val="1676580511"/>
      </p:ext>
    </p:extLst>
  </p:cSld>
</p:sld>
</file>

<file path=ppt/slides/slide7.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a5b4e4338a1449e"/>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52-نموذج عمل مقترح">
            <a:extLst xmlns:a="http://schemas.openxmlformats.org/drawingml/2006/main">
              <a:ext uri="{FF2B5EF4-FFF2-40B4-BE49-F238E27FC236}">
                <a16:creationId xmlns:a16="http://schemas.microsoft.com/office/drawing/2014/main" id="{3505DC72-109D-499C-BC0C-1A9D7722B058}"/>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lang="ar-JO">
                <a:solidFill>
                  <a:srgbClr val="FFFFFF"/>
                </a:solidFill>
                <a:latin typeface="IBM Plex Sans Arabic"/>
                <a:ea typeface="IBM Plex Sans Arabic"/>
                <a:cs typeface="IBM Plex Sans Arabic"/>
              </a:defRPr>
            </a:pPr>
            <a:r>
              <a:rPr sz="3675" b="1" lang="ar-JO">
                <a:solidFill>
                  <a:srgbClr val="FFFFFF"/>
                </a:solidFill>
                <a:latin typeface="IBM Plex Sans Arabic"/>
                <a:ea typeface="IBM Plex Sans Arabic"/>
                <a:cs typeface="IBM Plex Sans Arabic"/>
              </a:rPr>
              <a:t>نموذج عمل مقترح</a:t>
            </a:r>
          </a:p>
        </p:txBody>
      </p:sp>
      <p:sp>
        <p:nvSpPr>
          <p:cNvPr id="3" name="text-53-07">
            <a:extLst xmlns:a="http://schemas.openxmlformats.org/drawingml/2006/main">
              <a:ext uri="{FF2B5EF4-FFF2-40B4-BE49-F238E27FC236}">
                <a16:creationId xmlns:a16="http://schemas.microsoft.com/office/drawing/2014/main" id="{05CB246A-9CF0-4F6D-B65E-7B6DDF88B542}"/>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lang="ar-JO">
                <a:solidFill>
                  <a:srgbClr val="D1DEED"/>
                </a:solidFill>
                <a:latin typeface="IBM Plex Sans Arabic"/>
                <a:ea typeface="IBM Plex Sans Arabic"/>
                <a:cs typeface="IBM Plex Sans Arabic"/>
              </a:defRPr>
            </a:pPr>
            <a:r>
              <a:rPr sz="1575" b="0" lang="ar-JO">
                <a:solidFill>
                  <a:srgbClr val="D1DEED"/>
                </a:solidFill>
                <a:latin typeface="IBM Plex Sans Arabic"/>
                <a:ea typeface="IBM Plex Sans Arabic"/>
                <a:cs typeface="IBM Plex Sans Arabic"/>
              </a:rPr>
              <a:t>07</a:t>
            </a:r>
          </a:p>
        </p:txBody>
      </p:sp>
      <p:sp>
        <p:nvSpPr>
          <p:cNvPr id="4" name="text-54-مجاني">
            <a:extLst xmlns:a="http://schemas.openxmlformats.org/drawingml/2006/main">
              <a:ext uri="{FF2B5EF4-FFF2-40B4-BE49-F238E27FC236}">
                <a16:creationId xmlns:a16="http://schemas.microsoft.com/office/drawing/2014/main" id="{70DE7611-629A-4307-AE3A-EA852CB257F5}"/>
              </a:ext>
            </a:extLst>
          </p:cNvPr>
          <p:cNvSpPr>
            <a:spLocks xmlns:a="http://schemas.openxmlformats.org/drawingml/2006/main" noGrp="1"/>
          </p:cNvSpPr>
          <p:nvPr/>
        </p:nvSpPr>
        <p:spPr>
          <a:xfrm xmlns:a="http://schemas.openxmlformats.org/drawingml/2006/main">
            <a:off x="619125" y="2343150"/>
            <a:ext cx="3905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000" b="1" lang="ar-JO">
                <a:solidFill>
                  <a:srgbClr val="C8A04C"/>
                </a:solidFill>
                <a:latin typeface="IBM Plex Sans Arabic"/>
                <a:ea typeface="IBM Plex Sans Arabic"/>
                <a:cs typeface="IBM Plex Sans Arabic"/>
              </a:defRPr>
            </a:pPr>
            <a:r>
              <a:rPr sz="6000" b="1" lang="ar-JO">
                <a:solidFill>
                  <a:srgbClr val="C8A04C"/>
                </a:solidFill>
                <a:latin typeface="IBM Plex Sans Arabic"/>
                <a:ea typeface="IBM Plex Sans Arabic"/>
                <a:cs typeface="IBM Plex Sans Arabic"/>
              </a:rPr>
              <a:t>مجاني</a:t>
            </a:r>
          </a:p>
        </p:txBody>
      </p:sp>
      <p:sp>
        <p:nvSpPr>
          <p:cNvPr id="5" name="text-55-للطالب">
            <a:extLst xmlns:a="http://schemas.openxmlformats.org/drawingml/2006/main">
              <a:ext uri="{FF2B5EF4-FFF2-40B4-BE49-F238E27FC236}">
                <a16:creationId xmlns:a16="http://schemas.microsoft.com/office/drawing/2014/main" id="{EC3ECF3D-EE22-4AB9-9448-6E3D5C59A5F6}"/>
              </a:ext>
            </a:extLst>
          </p:cNvPr>
          <p:cNvSpPr>
            <a:spLocks xmlns:a="http://schemas.openxmlformats.org/drawingml/2006/main" noGrp="1"/>
          </p:cNvSpPr>
          <p:nvPr/>
        </p:nvSpPr>
        <p:spPr>
          <a:xfrm xmlns:a="http://schemas.openxmlformats.org/drawingml/2006/main">
            <a:off x="619125" y="3324225"/>
            <a:ext cx="3905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500" b="1" lang="ar-JO">
                <a:solidFill>
                  <a:srgbClr val="FFFFFF"/>
                </a:solidFill>
                <a:latin typeface="IBM Plex Sans Arabic"/>
                <a:ea typeface="IBM Plex Sans Arabic"/>
                <a:cs typeface="IBM Plex Sans Arabic"/>
              </a:defRPr>
            </a:pPr>
            <a:r>
              <a:rPr sz="4500" b="1" lang="ar-JO">
                <a:solidFill>
                  <a:srgbClr val="FFFFFF"/>
                </a:solidFill>
                <a:latin typeface="IBM Plex Sans Arabic"/>
                <a:ea typeface="IBM Plex Sans Arabic"/>
                <a:cs typeface="IBM Plex Sans Arabic"/>
              </a:rPr>
              <a:t>للطالب</a:t>
            </a:r>
          </a:p>
        </p:txBody>
      </p:sp>
      <p:sp>
        <p:nvSpPr>
          <p:cNvPr id="6" name="text-56-الخدمة الأساسية">
            <a:extLst xmlns:a="http://schemas.openxmlformats.org/drawingml/2006/main">
              <a:ext uri="{FF2B5EF4-FFF2-40B4-BE49-F238E27FC236}">
                <a16:creationId xmlns:a16="http://schemas.microsoft.com/office/drawing/2014/main" id="{7D42478C-4116-45EB-A5A3-51A91E9F889C}"/>
              </a:ext>
            </a:extLst>
          </p:cNvPr>
          <p:cNvSpPr>
            <a:spLocks xmlns:a="http://schemas.openxmlformats.org/drawingml/2006/main" noGrp="1"/>
          </p:cNvSpPr>
          <p:nvPr/>
        </p:nvSpPr>
        <p:spPr>
          <a:xfrm xmlns:a="http://schemas.openxmlformats.org/drawingml/2006/main">
            <a:off x="619125" y="4295775"/>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lang="ar-JO">
                <a:solidFill>
                  <a:srgbClr val="D1DEED"/>
                </a:solidFill>
                <a:latin typeface="IBM Plex Sans Arabic"/>
                <a:ea typeface="IBM Plex Sans Arabic"/>
                <a:cs typeface="IBM Plex Sans Arabic"/>
              </a:defRPr>
            </a:pPr>
            <a:r>
              <a:rPr sz="2100" b="0" lang="ar-JO">
                <a:solidFill>
                  <a:srgbClr val="D1DEED"/>
                </a:solidFill>
                <a:latin typeface="IBM Plex Sans Arabic"/>
                <a:ea typeface="IBM Plex Sans Arabic"/>
                <a:cs typeface="IBM Plex Sans Arabic"/>
              </a:rPr>
              <a:t>الخدمة الأساسية</a:t>
            </a:r>
          </a:p>
        </p:txBody>
      </p:sp>
      <p:sp>
        <p:nvSpPr>
          <p:cNvPr id="7" name="text-57-عقود حكومية">
            <a:extLst xmlns:a="http://schemas.openxmlformats.org/drawingml/2006/main">
              <a:ext uri="{FF2B5EF4-FFF2-40B4-BE49-F238E27FC236}">
                <a16:creationId xmlns:a16="http://schemas.microsoft.com/office/drawing/2014/main" id="{7DDB71C7-59EB-41E1-9D38-7524CF46160B}"/>
              </a:ext>
            </a:extLst>
          </p:cNvPr>
          <p:cNvSpPr>
            <a:spLocks xmlns:a="http://schemas.openxmlformats.org/drawingml/2006/main" noGrp="1"/>
          </p:cNvSpPr>
          <p:nvPr/>
        </p:nvSpPr>
        <p:spPr>
          <a:xfrm xmlns:a="http://schemas.openxmlformats.org/drawingml/2006/main">
            <a:off x="5619750" y="1857375"/>
            <a:ext cx="585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lang="ar-JO">
                <a:solidFill>
                  <a:srgbClr val="C8A04C"/>
                </a:solidFill>
                <a:latin typeface="IBM Plex Sans Arabic"/>
                <a:ea typeface="IBM Plex Sans Arabic"/>
                <a:cs typeface="IBM Plex Sans Arabic"/>
              </a:defRPr>
            </a:pPr>
            <a:r>
              <a:rPr sz="2550" b="1" lang="ar-JO">
                <a:solidFill>
                  <a:srgbClr val="C8A04C"/>
                </a:solidFill>
                <a:latin typeface="IBM Plex Sans Arabic"/>
                <a:ea typeface="IBM Plex Sans Arabic"/>
                <a:cs typeface="IBM Plex Sans Arabic"/>
              </a:rPr>
              <a:t>عقود حكومية</a:t>
            </a:r>
          </a:p>
        </p:txBody>
      </p:sp>
      <p:sp>
        <p:nvSpPr>
          <p:cNvPr id="8" name="text-58-خدمات إرشاد وتقارير ">
            <a:extLst xmlns:a="http://schemas.openxmlformats.org/drawingml/2006/main">
              <a:ext uri="{FF2B5EF4-FFF2-40B4-BE49-F238E27FC236}">
                <a16:creationId xmlns:a16="http://schemas.microsoft.com/office/drawing/2014/main" id="{26E45072-0429-46D1-B34D-6910037E367E}"/>
              </a:ext>
            </a:extLst>
          </p:cNvPr>
          <p:cNvSpPr>
            <a:spLocks xmlns:a="http://schemas.openxmlformats.org/drawingml/2006/main" noGrp="1"/>
          </p:cNvSpPr>
          <p:nvPr/>
        </p:nvSpPr>
        <p:spPr>
          <a:xfrm xmlns:a="http://schemas.openxmlformats.org/drawingml/2006/main">
            <a:off x="5619750" y="2371725"/>
            <a:ext cx="585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lang="ar-JO">
                <a:solidFill>
                  <a:srgbClr val="D1DEED"/>
                </a:solidFill>
                <a:latin typeface="IBM Plex Sans Arabic"/>
                <a:ea typeface="IBM Plex Sans Arabic"/>
                <a:cs typeface="IBM Plex Sans Arabic"/>
              </a:defRPr>
            </a:pPr>
            <a:r>
              <a:rPr sz="2100" b="0" lang="ar-JO">
                <a:solidFill>
                  <a:srgbClr val="D1DEED"/>
                </a:solidFill>
                <a:latin typeface="IBM Plex Sans Arabic"/>
                <a:ea typeface="IBM Plex Sans Arabic"/>
                <a:cs typeface="IBM Plex Sans Arabic"/>
              </a:rPr>
              <a:t>خدمات إرشاد وتقارير للجهات المعنية</a:t>
            </a:r>
          </a:p>
        </p:txBody>
      </p:sp>
      <p:sp>
        <p:nvSpPr>
          <p:cNvPr id="9" name="text-59-عقود جامعات وشراكات ">
            <a:extLst xmlns:a="http://schemas.openxmlformats.org/drawingml/2006/main">
              <a:ext uri="{FF2B5EF4-FFF2-40B4-BE49-F238E27FC236}">
                <a16:creationId xmlns:a16="http://schemas.microsoft.com/office/drawing/2014/main" id="{0D329D91-8335-459D-8FBD-6EA7AD24FB43}"/>
              </a:ext>
            </a:extLst>
          </p:cNvPr>
          <p:cNvSpPr>
            <a:spLocks xmlns:a="http://schemas.openxmlformats.org/drawingml/2006/main" noGrp="1"/>
          </p:cNvSpPr>
          <p:nvPr/>
        </p:nvSpPr>
        <p:spPr>
          <a:xfrm xmlns:a="http://schemas.openxmlformats.org/drawingml/2006/main">
            <a:off x="5286375" y="32004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lang="ar-JO">
                <a:solidFill>
                  <a:srgbClr val="C8A04C"/>
                </a:solidFill>
                <a:latin typeface="IBM Plex Sans Arabic"/>
                <a:ea typeface="IBM Plex Sans Arabic"/>
                <a:cs typeface="IBM Plex Sans Arabic"/>
              </a:defRPr>
            </a:pPr>
            <a:r>
              <a:rPr sz="2550" b="1" lang="ar-JO">
                <a:solidFill>
                  <a:srgbClr val="C8A04C"/>
                </a:solidFill>
                <a:latin typeface="IBM Plex Sans Arabic"/>
                <a:ea typeface="IBM Plex Sans Arabic"/>
                <a:cs typeface="IBM Plex Sans Arabic"/>
              </a:rPr>
              <a:t>عقود جامعات وشراكات تعليمية</a:t>
            </a:r>
          </a:p>
        </p:txBody>
      </p:sp>
      <p:sp>
        <p:nvSpPr>
          <p:cNvPr id="10" name="text-60-خدمات مؤسسية تدعم رح">
            <a:extLst xmlns:a="http://schemas.openxmlformats.org/drawingml/2006/main">
              <a:ext uri="{FF2B5EF4-FFF2-40B4-BE49-F238E27FC236}">
                <a16:creationId xmlns:a16="http://schemas.microsoft.com/office/drawing/2014/main" id="{A5898A07-83E0-461A-BDAD-A865D3E95D53}"/>
              </a:ext>
            </a:extLst>
          </p:cNvPr>
          <p:cNvSpPr>
            <a:spLocks xmlns:a="http://schemas.openxmlformats.org/drawingml/2006/main" noGrp="1"/>
          </p:cNvSpPr>
          <p:nvPr/>
        </p:nvSpPr>
        <p:spPr>
          <a:xfrm xmlns:a="http://schemas.openxmlformats.org/drawingml/2006/main">
            <a:off x="5286375" y="3714750"/>
            <a:ext cx="619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lang="ar-JO">
                <a:solidFill>
                  <a:srgbClr val="D1DEED"/>
                </a:solidFill>
                <a:latin typeface="IBM Plex Sans Arabic"/>
                <a:ea typeface="IBM Plex Sans Arabic"/>
                <a:cs typeface="IBM Plex Sans Arabic"/>
              </a:defRPr>
            </a:pPr>
            <a:r>
              <a:rPr sz="2100" b="0" lang="ar-JO">
                <a:solidFill>
                  <a:srgbClr val="D1DEED"/>
                </a:solidFill>
                <a:latin typeface="IBM Plex Sans Arabic"/>
                <a:ea typeface="IBM Plex Sans Arabic"/>
                <a:cs typeface="IBM Plex Sans Arabic"/>
              </a:rPr>
              <a:t>خدمات مؤسسية تدعم رحلة الطالب</a:t>
            </a:r>
          </a:p>
        </p:txBody>
      </p:sp>
      <p:sp>
        <p:nvSpPr>
          <p:cNvPr id="11" name="text-61-المنح لتمويل التطوير">
            <a:extLst xmlns:a="http://schemas.openxmlformats.org/drawingml/2006/main">
              <a:ext uri="{FF2B5EF4-FFF2-40B4-BE49-F238E27FC236}">
                <a16:creationId xmlns:a16="http://schemas.microsoft.com/office/drawing/2014/main" id="{FF2ADEA1-111D-41EE-9E61-1B891F93BA9F}"/>
              </a:ext>
            </a:extLst>
          </p:cNvPr>
          <p:cNvSpPr>
            <a:spLocks xmlns:a="http://schemas.openxmlformats.org/drawingml/2006/main" noGrp="1"/>
          </p:cNvSpPr>
          <p:nvPr/>
        </p:nvSpPr>
        <p:spPr>
          <a:xfrm xmlns:a="http://schemas.openxmlformats.org/drawingml/2006/main">
            <a:off x="4095750" y="4838700"/>
            <a:ext cx="738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lang="ar-JO">
                <a:solidFill>
                  <a:srgbClr val="D1DEED"/>
                </a:solidFill>
                <a:latin typeface="IBM Plex Sans Arabic"/>
                <a:ea typeface="IBM Plex Sans Arabic"/>
                <a:cs typeface="IBM Plex Sans Arabic"/>
              </a:defRPr>
            </a:pPr>
            <a:r>
              <a:rPr sz="2175" b="0" lang="ar-JO">
                <a:solidFill>
                  <a:srgbClr val="D1DEED"/>
                </a:solidFill>
                <a:latin typeface="IBM Plex Sans Arabic"/>
                <a:ea typeface="IBM Plex Sans Arabic"/>
                <a:cs typeface="IBM Plex Sans Arabic"/>
              </a:rPr>
              <a:t>المنح لتمويل التطوير والتجربة الأولى</a:t>
            </a:r>
          </a:p>
        </p:txBody>
      </p:sp>
      <p:sp>
        <p:nvSpPr>
          <p:cNvPr id="12" name="text-62-مبدأ مقترح: الدفع لا">
            <a:extLst xmlns:a="http://schemas.openxmlformats.org/drawingml/2006/main">
              <a:ext uri="{FF2B5EF4-FFF2-40B4-BE49-F238E27FC236}">
                <a16:creationId xmlns:a16="http://schemas.microsoft.com/office/drawing/2014/main" id="{88139D4A-AF46-44E2-B678-BC149388E398}"/>
              </a:ext>
            </a:extLst>
          </p:cNvPr>
          <p:cNvSpPr>
            <a:spLocks xmlns:a="http://schemas.openxmlformats.org/drawingml/2006/main" noGrp="1"/>
          </p:cNvSpPr>
          <p:nvPr/>
        </p:nvSpPr>
        <p:spPr>
          <a:xfrm xmlns:a="http://schemas.openxmlformats.org/drawingml/2006/main">
            <a:off x="3238500" y="5629275"/>
            <a:ext cx="8239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1" lang="ar-JO">
                <a:solidFill>
                  <a:srgbClr val="C8A04C"/>
                </a:solidFill>
                <a:latin typeface="IBM Plex Sans Arabic"/>
                <a:ea typeface="IBM Plex Sans Arabic"/>
                <a:cs typeface="IBM Plex Sans Arabic"/>
              </a:defRPr>
            </a:pPr>
            <a:r>
              <a:rPr sz="2175" b="1" lang="ar-JO">
                <a:solidFill>
                  <a:srgbClr val="C8A04C"/>
                </a:solidFill>
                <a:latin typeface="IBM Plex Sans Arabic"/>
                <a:ea typeface="IBM Plex Sans Arabic"/>
                <a:cs typeface="IBM Plex Sans Arabic"/>
              </a:rPr>
              <a:t>مبدأ مقترح: الدفع لا يغيّر ترتيب التوصيات</a:t>
            </a:r>
          </a:p>
        </p:txBody>
      </p:sp>
    </p:spTree>
    <p:extLst>
      <p:ext uri="{BB962C8B-B14F-4D97-AF65-F5344CB8AC3E}">
        <p14:creationId xmlns:p14="http://schemas.microsoft.com/office/powerpoint/2010/main" val="1688405930"/>
      </p:ext>
    </p:extLst>
  </p:cSld>
</p:sld>
</file>

<file path=ppt/slides/slide8.xml><?xml version="1.0" encoding="utf-8"?>
<p:sld xmlns:a="http://schemas.openxmlformats.org/drawingml/2006/main"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78fb19c31f84866"/>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63-الأثر المتوقع وكيف ن">
            <a:extLst xmlns:a="http://schemas.openxmlformats.org/drawingml/2006/main">
              <a:ext uri="{FF2B5EF4-FFF2-40B4-BE49-F238E27FC236}">
                <a16:creationId xmlns:a16="http://schemas.microsoft.com/office/drawing/2014/main" id="{37E6E213-ECEB-420A-BB2D-2CBDCB672CE3}"/>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lang="ar-JO">
                <a:solidFill>
                  <a:srgbClr val="013070"/>
                </a:solidFill>
                <a:latin typeface="IBM Plex Sans Arabic"/>
                <a:ea typeface="IBM Plex Sans Arabic"/>
                <a:cs typeface="IBM Plex Sans Arabic"/>
              </a:defRPr>
            </a:pPr>
            <a:r>
              <a:rPr sz="3675" b="1" lang="ar-JO">
                <a:solidFill>
                  <a:srgbClr val="013070"/>
                </a:solidFill>
                <a:latin typeface="IBM Plex Sans Arabic"/>
                <a:ea typeface="IBM Plex Sans Arabic"/>
                <a:cs typeface="IBM Plex Sans Arabic"/>
              </a:rPr>
              <a:t>الأثر المتوقع وكيف نقيسه</a:t>
            </a:r>
          </a:p>
        </p:txBody>
      </p:sp>
      <p:sp>
        <p:nvSpPr>
          <p:cNvPr id="3" name="text-64-08">
            <a:extLst xmlns:a="http://schemas.openxmlformats.org/drawingml/2006/main">
              <a:ext uri="{FF2B5EF4-FFF2-40B4-BE49-F238E27FC236}">
                <a16:creationId xmlns:a16="http://schemas.microsoft.com/office/drawing/2014/main" id="{E2CC1282-9349-443E-A86D-6AF492D00968}"/>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lang="ar-JO">
                <a:solidFill>
                  <a:srgbClr val="53657C"/>
                </a:solidFill>
                <a:latin typeface="IBM Plex Sans Arabic"/>
                <a:ea typeface="IBM Plex Sans Arabic"/>
                <a:cs typeface="IBM Plex Sans Arabic"/>
              </a:defRPr>
            </a:pPr>
            <a:r>
              <a:rPr sz="1575" b="0" lang="ar-JO">
                <a:solidFill>
                  <a:srgbClr val="53657C"/>
                </a:solidFill>
                <a:latin typeface="IBM Plex Sans Arabic"/>
                <a:ea typeface="IBM Plex Sans Arabic"/>
                <a:cs typeface="IBM Plex Sans Arabic"/>
              </a:rPr>
              <a:t>08</a:t>
            </a:r>
          </a:p>
        </p:txBody>
      </p:sp>
      <p:sp>
        <p:nvSpPr>
          <p:cNvPr id="4" name="text-65-القيمة التي نستهدفها">
            <a:extLst xmlns:a="http://schemas.openxmlformats.org/drawingml/2006/main">
              <a:ext uri="{FF2B5EF4-FFF2-40B4-BE49-F238E27FC236}">
                <a16:creationId xmlns:a16="http://schemas.microsoft.com/office/drawing/2014/main" id="{E2E9E68B-0376-4D2A-B2CA-643A192126BE}"/>
              </a:ext>
            </a:extLst>
          </p:cNvPr>
          <p:cNvSpPr>
            <a:spLocks xmlns:a="http://schemas.openxmlformats.org/drawingml/2006/main" noGrp="1"/>
          </p:cNvSpPr>
          <p:nvPr/>
        </p:nvSpPr>
        <p:spPr>
          <a:xfrm xmlns:a="http://schemas.openxmlformats.org/drawingml/2006/main">
            <a:off x="6429375" y="19526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925" b="1" lang="ar-JO">
                <a:solidFill>
                  <a:srgbClr val="013070"/>
                </a:solidFill>
                <a:latin typeface="IBM Plex Sans Arabic"/>
                <a:ea typeface="IBM Plex Sans Arabic"/>
                <a:cs typeface="IBM Plex Sans Arabic"/>
              </a:defRPr>
            </a:pPr>
            <a:r>
              <a:rPr sz="2925" b="1" lang="ar-JO">
                <a:solidFill>
                  <a:srgbClr val="013070"/>
                </a:solidFill>
                <a:latin typeface="IBM Plex Sans Arabic"/>
                <a:ea typeface="IBM Plex Sans Arabic"/>
                <a:cs typeface="IBM Plex Sans Arabic"/>
              </a:rPr>
              <a:t>القيمة التي نستهدفها</a:t>
            </a:r>
          </a:p>
        </p:txBody>
      </p:sp>
      <p:sp>
        <p:nvSpPr>
          <p:cNvPr id="5" name="text-66-للطالب والأسرة">
            <a:extLst xmlns:a="http://schemas.openxmlformats.org/drawingml/2006/main">
              <a:ext uri="{FF2B5EF4-FFF2-40B4-BE49-F238E27FC236}">
                <a16:creationId xmlns:a16="http://schemas.microsoft.com/office/drawing/2014/main" id="{D7B74C21-466A-460C-B340-CE5AB2AA4FA2}"/>
              </a:ext>
            </a:extLst>
          </p:cNvPr>
          <p:cNvSpPr>
            <a:spLocks xmlns:a="http://schemas.openxmlformats.org/drawingml/2006/main" noGrp="1"/>
          </p:cNvSpPr>
          <p:nvPr/>
        </p:nvSpPr>
        <p:spPr>
          <a:xfrm xmlns:a="http://schemas.openxmlformats.org/drawingml/2006/main">
            <a:off x="6191250" y="28575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lang="ar-JO">
                <a:solidFill>
                  <a:srgbClr val="013070"/>
                </a:solidFill>
                <a:latin typeface="IBM Plex Sans Arabic"/>
                <a:ea typeface="IBM Plex Sans Arabic"/>
                <a:cs typeface="IBM Plex Sans Arabic"/>
              </a:defRPr>
            </a:pPr>
            <a:r>
              <a:rPr sz="2550" b="1" lang="ar-JO">
                <a:solidFill>
                  <a:srgbClr val="013070"/>
                </a:solidFill>
                <a:latin typeface="IBM Plex Sans Arabic"/>
                <a:ea typeface="IBM Plex Sans Arabic"/>
                <a:cs typeface="IBM Plex Sans Arabic"/>
              </a:rPr>
              <a:t>للطالب والأسرة</a:t>
            </a:r>
          </a:p>
        </p:txBody>
      </p:sp>
      <p:sp>
        <p:nvSpPr>
          <p:cNvPr id="6" name="text-67-خيارات أوضح وحوار أف">
            <a:extLst xmlns:a="http://schemas.openxmlformats.org/drawingml/2006/main">
              <a:ext uri="{FF2B5EF4-FFF2-40B4-BE49-F238E27FC236}">
                <a16:creationId xmlns:a16="http://schemas.microsoft.com/office/drawing/2014/main" id="{42F7BCA1-9AE1-4957-A71C-7C374717F57E}"/>
              </a:ext>
            </a:extLst>
          </p:cNvPr>
          <p:cNvSpPr>
            <a:spLocks xmlns:a="http://schemas.openxmlformats.org/drawingml/2006/main" noGrp="1"/>
          </p:cNvSpPr>
          <p:nvPr/>
        </p:nvSpPr>
        <p:spPr>
          <a:xfrm xmlns:a="http://schemas.openxmlformats.org/drawingml/2006/main">
            <a:off x="6191250" y="3371850"/>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lang="ar-JO">
                <a:solidFill>
                  <a:srgbClr val="53657C"/>
                </a:solidFill>
                <a:latin typeface="IBM Plex Sans Arabic"/>
                <a:ea typeface="IBM Plex Sans Arabic"/>
                <a:cs typeface="IBM Plex Sans Arabic"/>
              </a:defRPr>
            </a:pPr>
            <a:r>
              <a:rPr sz="2100" b="0" lang="ar-JO">
                <a:solidFill>
                  <a:srgbClr val="53657C"/>
                </a:solidFill>
                <a:latin typeface="IBM Plex Sans Arabic"/>
                <a:ea typeface="IBM Plex Sans Arabic"/>
                <a:cs typeface="IBM Plex Sans Arabic"/>
              </a:rPr>
              <a:t>خيارات أوضح وحوار أفضل حول القرار</a:t>
            </a:r>
          </a:p>
        </p:txBody>
      </p:sp>
      <p:sp>
        <p:nvSpPr>
          <p:cNvPr id="7" name="text-68-للمؤسسات التعليمية">
            <a:extLst xmlns:a="http://schemas.openxmlformats.org/drawingml/2006/main">
              <a:ext uri="{FF2B5EF4-FFF2-40B4-BE49-F238E27FC236}">
                <a16:creationId xmlns:a16="http://schemas.microsoft.com/office/drawing/2014/main" id="{7548BDB7-8CD4-46D2-B2D5-E02F679B5E86}"/>
              </a:ext>
            </a:extLst>
          </p:cNvPr>
          <p:cNvSpPr>
            <a:spLocks xmlns:a="http://schemas.openxmlformats.org/drawingml/2006/main" noGrp="1"/>
          </p:cNvSpPr>
          <p:nvPr/>
        </p:nvSpPr>
        <p:spPr>
          <a:xfrm xmlns:a="http://schemas.openxmlformats.org/drawingml/2006/main">
            <a:off x="6191250" y="41719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lang="ar-JO">
                <a:solidFill>
                  <a:srgbClr val="013070"/>
                </a:solidFill>
                <a:latin typeface="IBM Plex Sans Arabic"/>
                <a:ea typeface="IBM Plex Sans Arabic"/>
                <a:cs typeface="IBM Plex Sans Arabic"/>
              </a:defRPr>
            </a:pPr>
            <a:r>
              <a:rPr sz="2550" b="1" lang="ar-JO">
                <a:solidFill>
                  <a:srgbClr val="013070"/>
                </a:solidFill>
                <a:latin typeface="IBM Plex Sans Arabic"/>
                <a:ea typeface="IBM Plex Sans Arabic"/>
                <a:cs typeface="IBM Plex Sans Arabic"/>
              </a:rPr>
              <a:t>للمؤسسات التعليمية</a:t>
            </a:r>
          </a:p>
        </p:txBody>
      </p:sp>
      <p:sp>
        <p:nvSpPr>
          <p:cNvPr id="8" name="text-69-إرشاد أقرب لاحتياجات">
            <a:extLst xmlns:a="http://schemas.openxmlformats.org/drawingml/2006/main">
              <a:ext uri="{FF2B5EF4-FFF2-40B4-BE49-F238E27FC236}">
                <a16:creationId xmlns:a16="http://schemas.microsoft.com/office/drawing/2014/main" id="{CCF44473-B4F2-4F44-A6BF-3F5EF78C34D8}"/>
              </a:ext>
            </a:extLst>
          </p:cNvPr>
          <p:cNvSpPr>
            <a:spLocks xmlns:a="http://schemas.openxmlformats.org/drawingml/2006/main" noGrp="1"/>
          </p:cNvSpPr>
          <p:nvPr/>
        </p:nvSpPr>
        <p:spPr>
          <a:xfrm xmlns:a="http://schemas.openxmlformats.org/drawingml/2006/main">
            <a:off x="6191250" y="4686300"/>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lang="ar-JO">
                <a:solidFill>
                  <a:srgbClr val="53657C"/>
                </a:solidFill>
                <a:latin typeface="IBM Plex Sans Arabic"/>
                <a:ea typeface="IBM Plex Sans Arabic"/>
                <a:cs typeface="IBM Plex Sans Arabic"/>
              </a:defRPr>
            </a:pPr>
            <a:r>
              <a:rPr sz="2100" b="0" lang="ar-JO">
                <a:solidFill>
                  <a:srgbClr val="53657C"/>
                </a:solidFill>
                <a:latin typeface="IBM Plex Sans Arabic"/>
                <a:ea typeface="IBM Plex Sans Arabic"/>
                <a:cs typeface="IBM Plex Sans Arabic"/>
              </a:rPr>
              <a:t>إرشاد أقرب لاحتياجات الطلبة</a:t>
            </a:r>
          </a:p>
        </p:txBody>
      </p:sp>
      <p:sp>
        <p:nvSpPr>
          <p:cNvPr id="9" name="text-70-في تجربة محدودة مقتر">
            <a:extLst xmlns:a="http://schemas.openxmlformats.org/drawingml/2006/main">
              <a:ext uri="{FF2B5EF4-FFF2-40B4-BE49-F238E27FC236}">
                <a16:creationId xmlns:a16="http://schemas.microsoft.com/office/drawing/2014/main" id="{8DEAA042-2EDA-473E-955B-7B068B35A60F}"/>
              </a:ext>
            </a:extLst>
          </p:cNvPr>
          <p:cNvSpPr>
            <a:spLocks xmlns:a="http://schemas.openxmlformats.org/drawingml/2006/main" noGrp="1"/>
          </p:cNvSpPr>
          <p:nvPr/>
        </p:nvSpPr>
        <p:spPr>
          <a:xfrm xmlns:a="http://schemas.openxmlformats.org/drawingml/2006/main">
            <a:off x="619125" y="1952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700" b="1" lang="ar-JO">
                <a:solidFill>
                  <a:srgbClr val="013070"/>
                </a:solidFill>
                <a:latin typeface="IBM Plex Sans Arabic"/>
                <a:ea typeface="IBM Plex Sans Arabic"/>
                <a:cs typeface="IBM Plex Sans Arabic"/>
              </a:defRPr>
            </a:pPr>
            <a:r>
              <a:rPr sz="2700" b="1" lang="ar-JO">
                <a:solidFill>
                  <a:srgbClr val="013070"/>
                </a:solidFill>
                <a:latin typeface="IBM Plex Sans Arabic"/>
                <a:ea typeface="IBM Plex Sans Arabic"/>
                <a:cs typeface="IBM Plex Sans Arabic"/>
              </a:rPr>
              <a:t>في تجربة محدودة مقترحة</a:t>
            </a:r>
          </a:p>
        </p:txBody>
      </p:sp>
      <p:sp>
        <p:nvSpPr>
          <p:cNvPr id="10" name="text-71-وضوح القرار قبل الاس">
            <a:extLst xmlns:a="http://schemas.openxmlformats.org/drawingml/2006/main">
              <a:ext uri="{FF2B5EF4-FFF2-40B4-BE49-F238E27FC236}">
                <a16:creationId xmlns:a16="http://schemas.microsoft.com/office/drawing/2014/main" id="{75249787-3BF7-48FC-9593-53C760899EF2}"/>
              </a:ext>
            </a:extLst>
          </p:cNvPr>
          <p:cNvSpPr>
            <a:spLocks xmlns:a="http://schemas.openxmlformats.org/drawingml/2006/main" noGrp="1"/>
          </p:cNvSpPr>
          <p:nvPr/>
        </p:nvSpPr>
        <p:spPr>
          <a:xfrm xmlns:a="http://schemas.openxmlformats.org/drawingml/2006/main">
            <a:off x="619125" y="300037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lang="ar-JO">
                <a:solidFill>
                  <a:srgbClr val="53657C"/>
                </a:solidFill>
                <a:latin typeface="IBM Plex Sans Arabic"/>
                <a:ea typeface="IBM Plex Sans Arabic"/>
                <a:cs typeface="IBM Plex Sans Arabic"/>
              </a:defRPr>
            </a:pPr>
            <a:r>
              <a:rPr sz="2175" b="0" lang="ar-JO">
                <a:solidFill>
                  <a:srgbClr val="53657C"/>
                </a:solidFill>
                <a:latin typeface="IBM Plex Sans Arabic"/>
                <a:ea typeface="IBM Plex Sans Arabic"/>
                <a:cs typeface="IBM Plex Sans Arabic"/>
              </a:rPr>
              <a:t>وضوح القرار قبل الاستخدام وبعده</a:t>
            </a:r>
          </a:p>
        </p:txBody>
      </p:sp>
      <p:sp>
        <p:nvSpPr>
          <p:cNvPr id="11" name="text-72-إكمال المقارنة بين ا">
            <a:extLst xmlns:a="http://schemas.openxmlformats.org/drawingml/2006/main">
              <a:ext uri="{FF2B5EF4-FFF2-40B4-BE49-F238E27FC236}">
                <a16:creationId xmlns:a16="http://schemas.microsoft.com/office/drawing/2014/main" id="{DCC80C16-6793-4C11-ACE4-4180107F66A2}"/>
              </a:ext>
            </a:extLst>
          </p:cNvPr>
          <p:cNvSpPr>
            <a:spLocks xmlns:a="http://schemas.openxmlformats.org/drawingml/2006/main" noGrp="1"/>
          </p:cNvSpPr>
          <p:nvPr/>
        </p:nvSpPr>
        <p:spPr>
          <a:xfrm xmlns:a="http://schemas.openxmlformats.org/drawingml/2006/main">
            <a:off x="619125" y="387667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lang="ar-JO">
                <a:solidFill>
                  <a:srgbClr val="53657C"/>
                </a:solidFill>
                <a:latin typeface="IBM Plex Sans Arabic"/>
                <a:ea typeface="IBM Plex Sans Arabic"/>
                <a:cs typeface="IBM Plex Sans Arabic"/>
              </a:defRPr>
            </a:pPr>
            <a:r>
              <a:rPr sz="2175" b="0" lang="ar-JO">
                <a:solidFill>
                  <a:srgbClr val="53657C"/>
                </a:solidFill>
                <a:latin typeface="IBM Plex Sans Arabic"/>
                <a:ea typeface="IBM Plex Sans Arabic"/>
                <a:cs typeface="IBM Plex Sans Arabic"/>
              </a:rPr>
              <a:t>إكمال المقارنة بين التخصّصات</a:t>
            </a:r>
          </a:p>
        </p:txBody>
      </p:sp>
      <p:sp>
        <p:nvSpPr>
          <p:cNvPr id="12" name="text-73-رضا الطلبة وأولياء ا">
            <a:extLst xmlns:a="http://schemas.openxmlformats.org/drawingml/2006/main">
              <a:ext uri="{FF2B5EF4-FFF2-40B4-BE49-F238E27FC236}">
                <a16:creationId xmlns:a16="http://schemas.microsoft.com/office/drawing/2014/main" id="{AAE4937C-F20B-4E65-8C05-7C7140DB4D8C}"/>
              </a:ext>
            </a:extLst>
          </p:cNvPr>
          <p:cNvSpPr>
            <a:spLocks xmlns:a="http://schemas.openxmlformats.org/drawingml/2006/main" noGrp="1"/>
          </p:cNvSpPr>
          <p:nvPr/>
        </p:nvSpPr>
        <p:spPr>
          <a:xfrm xmlns:a="http://schemas.openxmlformats.org/drawingml/2006/main">
            <a:off x="619125" y="475297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lang="ar-JO">
                <a:solidFill>
                  <a:srgbClr val="53657C"/>
                </a:solidFill>
                <a:latin typeface="IBM Plex Sans Arabic"/>
                <a:ea typeface="IBM Plex Sans Arabic"/>
                <a:cs typeface="IBM Plex Sans Arabic"/>
              </a:defRPr>
            </a:pPr>
            <a:r>
              <a:rPr sz="2175" b="0" lang="ar-JO">
                <a:solidFill>
                  <a:srgbClr val="53657C"/>
                </a:solidFill>
                <a:latin typeface="IBM Plex Sans Arabic"/>
                <a:ea typeface="IBM Plex Sans Arabic"/>
                <a:cs typeface="IBM Plex Sans Arabic"/>
              </a:rPr>
              <a:t>رضا الطلبة وأولياء الأمور</a:t>
            </a:r>
          </a:p>
        </p:txBody>
      </p:sp>
      <p:sp>
        <p:nvSpPr>
          <p:cNvPr id="13" name="text-74-نقيس أولًا، ثم نوسّع">
            <a:extLst xmlns:a="http://schemas.openxmlformats.org/drawingml/2006/main">
              <a:ext uri="{FF2B5EF4-FFF2-40B4-BE49-F238E27FC236}">
                <a16:creationId xmlns:a16="http://schemas.microsoft.com/office/drawing/2014/main" id="{F9CA3FB2-D096-4DCE-B070-4FB4B4714B4E}"/>
              </a:ext>
            </a:extLst>
          </p:cNvPr>
          <p:cNvSpPr>
            <a:spLocks xmlns:a="http://schemas.openxmlformats.org/drawingml/2006/main" noGrp="1"/>
          </p:cNvSpPr>
          <p:nvPr/>
        </p:nvSpPr>
        <p:spPr>
          <a:xfrm xmlns:a="http://schemas.openxmlformats.org/drawingml/2006/main">
            <a:off x="1809750" y="5753100"/>
            <a:ext cx="9620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325" b="1" lang="ar-JO">
                <a:solidFill>
                  <a:srgbClr val="013070"/>
                </a:solidFill>
                <a:latin typeface="IBM Plex Sans Arabic"/>
                <a:ea typeface="IBM Plex Sans Arabic"/>
                <a:cs typeface="IBM Plex Sans Arabic"/>
              </a:defRPr>
            </a:pPr>
            <a:r>
              <a:rPr sz="2325" b="1" lang="ar-JO">
                <a:solidFill>
                  <a:srgbClr val="013070"/>
                </a:solidFill>
                <a:latin typeface="IBM Plex Sans Arabic"/>
                <a:ea typeface="IBM Plex Sans Arabic"/>
                <a:cs typeface="IBM Plex Sans Arabic"/>
              </a:rPr>
              <a:t>نقيس أولًا، ثم نوسّع التجربة وفق النتائج</a:t>
            </a:r>
          </a:p>
        </p:txBody>
      </p:sp>
    </p:spTree>
    <p:extLst>
      <p:ext uri="{BB962C8B-B14F-4D97-AF65-F5344CB8AC3E}">
        <p14:creationId xmlns:p14="http://schemas.microsoft.com/office/powerpoint/2010/main" val="1866892495"/>
      </p:ext>
    </p:extLst>
  </p:cSld>
</p:sld>
</file>

<file path=ppt/slides/slide9.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718270d6d384149"/>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75-Vcoders">
            <a:extLst xmlns:a="http://schemas.openxmlformats.org/drawingml/2006/main">
              <a:ext uri="{FF2B5EF4-FFF2-40B4-BE49-F238E27FC236}">
                <a16:creationId xmlns:a16="http://schemas.microsoft.com/office/drawing/2014/main" id="{9F0129E5-8CF0-4CB8-8586-6F37E5B4DFA1}"/>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lang="ar-JO">
                <a:solidFill>
                  <a:srgbClr val="FFFFFF"/>
                </a:solidFill>
                <a:latin typeface="IBM Plex Sans Arabic"/>
                <a:ea typeface="IBM Plex Sans Arabic"/>
                <a:cs typeface="IBM Plex Sans Arabic"/>
              </a:defRPr>
            </a:pPr>
            <a:r>
              <a:rPr sz="3675" b="1" lang="ar-JO">
                <a:solidFill>
                  <a:srgbClr val="FFFFFF"/>
                </a:solidFill>
                <a:latin typeface="IBM Plex Sans Arabic"/>
                <a:ea typeface="IBM Plex Sans Arabic"/>
                <a:cs typeface="IBM Plex Sans Arabic"/>
              </a:rPr>
              <a:t>Vcoders</a:t>
            </a:r>
          </a:p>
        </p:txBody>
      </p:sp>
      <p:sp>
        <p:nvSpPr>
          <p:cNvPr id="3" name="text-76-09">
            <a:extLst xmlns:a="http://schemas.openxmlformats.org/drawingml/2006/main">
              <a:ext uri="{FF2B5EF4-FFF2-40B4-BE49-F238E27FC236}">
                <a16:creationId xmlns:a16="http://schemas.microsoft.com/office/drawing/2014/main" id="{6317BED4-8966-41A9-91A4-7E0FBF2B6EA2}"/>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lang="ar-JO">
                <a:solidFill>
                  <a:srgbClr val="D1DEED"/>
                </a:solidFill>
                <a:latin typeface="IBM Plex Sans Arabic"/>
                <a:ea typeface="IBM Plex Sans Arabic"/>
                <a:cs typeface="IBM Plex Sans Arabic"/>
              </a:defRPr>
            </a:pPr>
            <a:r>
              <a:rPr sz="1575" b="0" lang="ar-JO">
                <a:solidFill>
                  <a:srgbClr val="D1DEED"/>
                </a:solidFill>
                <a:latin typeface="IBM Plex Sans Arabic"/>
                <a:ea typeface="IBM Plex Sans Arabic"/>
                <a:cs typeface="IBM Plex Sans Arabic"/>
              </a:rPr>
              <a:t>09</a:t>
            </a:r>
          </a:p>
        </p:txBody>
      </p:sp>
      <p:sp>
        <p:nvSpPr>
          <p:cNvPr id="4" name="text-77-عبد الرحمن&#10;الهيموني">
            <a:extLst xmlns:a="http://schemas.openxmlformats.org/drawingml/2006/main">
              <a:ext uri="{FF2B5EF4-FFF2-40B4-BE49-F238E27FC236}">
                <a16:creationId xmlns:a16="http://schemas.microsoft.com/office/drawing/2014/main" id="{7ECDA7FC-8BD2-4B32-9D77-78D1E662B1DC}"/>
              </a:ext>
            </a:extLst>
          </p:cNvPr>
          <p:cNvSpPr>
            <a:spLocks xmlns:a="http://schemas.openxmlformats.org/drawingml/2006/main" noGrp="1"/>
          </p:cNvSpPr>
          <p:nvPr/>
        </p:nvSpPr>
        <p:spPr>
          <a:xfrm xmlns:a="http://schemas.openxmlformats.org/drawingml/2006/main">
            <a:off x="8210550" y="2076450"/>
            <a:ext cx="323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lang="ar-JO">
                <a:solidFill>
                  <a:srgbClr val="FFFFFF"/>
                </a:solidFill>
                <a:latin typeface="IBM Plex Sans Arabic"/>
                <a:ea typeface="IBM Plex Sans Arabic"/>
                <a:cs typeface="IBM Plex Sans Arabic"/>
              </a:defRPr>
            </a:pPr>
            <a:r>
              <a:rPr sz="2775" b="1" lang="ar-JO">
                <a:solidFill>
                  <a:srgbClr val="FFFFFF"/>
                </a:solidFill>
                <a:latin typeface="IBM Plex Sans Arabic"/>
                <a:ea typeface="IBM Plex Sans Arabic"/>
                <a:cs typeface="IBM Plex Sans Arabic"/>
              </a:rPr>
              <a:t>عبد الرحمن</a:t>
            </a:r>
          </a:p>
          <a:p xmlns:a="http://schemas.openxmlformats.org/drawingml/2006/main">
            <a:pPr algn="ctr">
              <a:defRPr sz="2775" b="1" lang="ar-JO">
                <a:solidFill>
                  <a:srgbClr val="FFFFFF"/>
                </a:solidFill>
                <a:latin typeface="IBM Plex Sans Arabic"/>
                <a:ea typeface="IBM Plex Sans Arabic"/>
                <a:cs typeface="IBM Plex Sans Arabic"/>
              </a:defRPr>
            </a:pPr>
            <a:r>
              <a:rPr sz="2775" b="1" lang="ar-JO">
                <a:solidFill>
                  <a:srgbClr val="FFFFFF"/>
                </a:solidFill>
                <a:latin typeface="IBM Plex Sans Arabic"/>
                <a:ea typeface="IBM Plex Sans Arabic"/>
                <a:cs typeface="IBM Plex Sans Arabic"/>
              </a:rPr>
              <a:t>الهيموني</a:t>
            </a:r>
          </a:p>
        </p:txBody>
      </p:sp>
      <p:sp>
        <p:nvSpPr>
          <p:cNvPr id="5" name="text-78-قيادة الفريق">
            <a:extLst xmlns:a="http://schemas.openxmlformats.org/drawingml/2006/main">
              <a:ext uri="{FF2B5EF4-FFF2-40B4-BE49-F238E27FC236}">
                <a16:creationId xmlns:a16="http://schemas.microsoft.com/office/drawing/2014/main" id="{AAB19757-42E4-43B3-97D2-E8F20D2223FD}"/>
              </a:ext>
            </a:extLst>
          </p:cNvPr>
          <p:cNvSpPr>
            <a:spLocks xmlns:a="http://schemas.openxmlformats.org/drawingml/2006/main" noGrp="1"/>
          </p:cNvSpPr>
          <p:nvPr/>
        </p:nvSpPr>
        <p:spPr>
          <a:xfrm xmlns:a="http://schemas.openxmlformats.org/drawingml/2006/main">
            <a:off x="8210550" y="34099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lang="ar-JO">
                <a:solidFill>
                  <a:srgbClr val="C8A04C"/>
                </a:solidFill>
                <a:latin typeface="IBM Plex Sans Arabic"/>
                <a:ea typeface="IBM Plex Sans Arabic"/>
                <a:cs typeface="IBM Plex Sans Arabic"/>
              </a:defRPr>
            </a:pPr>
            <a:r>
              <a:rPr sz="2250" b="1" lang="ar-JO">
                <a:solidFill>
                  <a:srgbClr val="C8A04C"/>
                </a:solidFill>
                <a:latin typeface="IBM Plex Sans Arabic"/>
                <a:ea typeface="IBM Plex Sans Arabic"/>
                <a:cs typeface="IBM Plex Sans Arabic"/>
              </a:rPr>
              <a:t>قيادة الفريق</a:t>
            </a:r>
          </a:p>
        </p:txBody>
      </p:sp>
      <p:sp>
        <p:nvSpPr>
          <p:cNvPr id="6" name="text-79-منطق التطبيق والبيان">
            <a:extLst xmlns:a="http://schemas.openxmlformats.org/drawingml/2006/main">
              <a:ext uri="{FF2B5EF4-FFF2-40B4-BE49-F238E27FC236}">
                <a16:creationId xmlns:a16="http://schemas.microsoft.com/office/drawing/2014/main" id="{F4D2D65B-6AAA-4BC9-9C29-46A376D54EA6}"/>
              </a:ext>
            </a:extLst>
          </p:cNvPr>
          <p:cNvSpPr>
            <a:spLocks xmlns:a="http://schemas.openxmlformats.org/drawingml/2006/main" noGrp="1"/>
          </p:cNvSpPr>
          <p:nvPr/>
        </p:nvSpPr>
        <p:spPr>
          <a:xfrm xmlns:a="http://schemas.openxmlformats.org/drawingml/2006/main">
            <a:off x="8210550" y="4076700"/>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lang="ar-JO">
                <a:solidFill>
                  <a:srgbClr val="D1DEED"/>
                </a:solidFill>
                <a:latin typeface="IBM Plex Sans Arabic"/>
                <a:ea typeface="IBM Plex Sans Arabic"/>
                <a:cs typeface="IBM Plex Sans Arabic"/>
              </a:defRPr>
            </a:pPr>
            <a:r>
              <a:rPr sz="2025" b="0" lang="ar-JO">
                <a:solidFill>
                  <a:srgbClr val="D1DEED"/>
                </a:solidFill>
                <a:latin typeface="IBM Plex Sans Arabic"/>
                <a:ea typeface="IBM Plex Sans Arabic"/>
                <a:cs typeface="IBM Plex Sans Arabic"/>
              </a:rPr>
              <a:t>منطق التطبيق والبيانات</a:t>
            </a:r>
          </a:p>
          <a:p xmlns:a="http://schemas.openxmlformats.org/drawingml/2006/main">
            <a:pPr algn="ctr">
              <a:defRPr sz="2025" b="0" lang="ar-JO">
                <a:solidFill>
                  <a:srgbClr val="D1DEED"/>
                </a:solidFill>
                <a:latin typeface="IBM Plex Sans Arabic"/>
                <a:ea typeface="IBM Plex Sans Arabic"/>
                <a:cs typeface="IBM Plex Sans Arabic"/>
              </a:defRPr>
            </a:pPr>
            <a:r>
              <a:rPr sz="2025" b="0" lang="ar-JO">
                <a:solidFill>
                  <a:srgbClr val="D1DEED"/>
                </a:solidFill>
                <a:latin typeface="IBM Plex Sans Arabic"/>
                <a:ea typeface="IBM Plex Sans Arabic"/>
                <a:cs typeface="IBM Plex Sans Arabic"/>
              </a:rPr>
              <a:t>والاختبار</a:t>
            </a:r>
          </a:p>
        </p:txBody>
      </p:sp>
      <p:sp>
        <p:nvSpPr>
          <p:cNvPr id="7" name="text-80-عبد الرحمن&#10;الكردي">
            <a:extLst xmlns:a="http://schemas.openxmlformats.org/drawingml/2006/main">
              <a:ext uri="{FF2B5EF4-FFF2-40B4-BE49-F238E27FC236}">
                <a16:creationId xmlns:a16="http://schemas.microsoft.com/office/drawing/2014/main" id="{0D2A4D8A-1F44-4A6F-B264-70B003FEEA47}"/>
              </a:ext>
            </a:extLst>
          </p:cNvPr>
          <p:cNvSpPr>
            <a:spLocks xmlns:a="http://schemas.openxmlformats.org/drawingml/2006/main" noGrp="1"/>
          </p:cNvSpPr>
          <p:nvPr/>
        </p:nvSpPr>
        <p:spPr>
          <a:xfrm xmlns:a="http://schemas.openxmlformats.org/drawingml/2006/main">
            <a:off x="4410075" y="2076450"/>
            <a:ext cx="323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lang="ar-JO">
                <a:solidFill>
                  <a:srgbClr val="FFFFFF"/>
                </a:solidFill>
                <a:latin typeface="IBM Plex Sans Arabic"/>
                <a:ea typeface="IBM Plex Sans Arabic"/>
                <a:cs typeface="IBM Plex Sans Arabic"/>
              </a:defRPr>
            </a:pPr>
            <a:r>
              <a:rPr sz="2775" b="1" lang="ar-JO">
                <a:solidFill>
                  <a:srgbClr val="FFFFFF"/>
                </a:solidFill>
                <a:latin typeface="IBM Plex Sans Arabic"/>
                <a:ea typeface="IBM Plex Sans Arabic"/>
                <a:cs typeface="IBM Plex Sans Arabic"/>
              </a:rPr>
              <a:t>عبد الرحمن</a:t>
            </a:r>
          </a:p>
          <a:p xmlns:a="http://schemas.openxmlformats.org/drawingml/2006/main">
            <a:pPr algn="ctr">
              <a:defRPr sz="2775" b="1" lang="ar-JO">
                <a:solidFill>
                  <a:srgbClr val="FFFFFF"/>
                </a:solidFill>
                <a:latin typeface="IBM Plex Sans Arabic"/>
                <a:ea typeface="IBM Plex Sans Arabic"/>
                <a:cs typeface="IBM Plex Sans Arabic"/>
              </a:defRPr>
            </a:pPr>
            <a:r>
              <a:rPr sz="2775" b="1" lang="ar-JO">
                <a:solidFill>
                  <a:srgbClr val="FFFFFF"/>
                </a:solidFill>
                <a:latin typeface="IBM Plex Sans Arabic"/>
                <a:ea typeface="IBM Plex Sans Arabic"/>
                <a:cs typeface="IBM Plex Sans Arabic"/>
              </a:rPr>
              <a:t>الكردي</a:t>
            </a:r>
          </a:p>
        </p:txBody>
      </p:sp>
      <p:sp>
        <p:nvSpPr>
          <p:cNvPr id="8" name="text-81-تجربة المستخدم">
            <a:extLst xmlns:a="http://schemas.openxmlformats.org/drawingml/2006/main">
              <a:ext uri="{FF2B5EF4-FFF2-40B4-BE49-F238E27FC236}">
                <a16:creationId xmlns:a16="http://schemas.microsoft.com/office/drawing/2014/main" id="{1BB231B6-3163-42AA-8FB5-D510F4024AE2}"/>
              </a:ext>
            </a:extLst>
          </p:cNvPr>
          <p:cNvSpPr>
            <a:spLocks xmlns:a="http://schemas.openxmlformats.org/drawingml/2006/main" noGrp="1"/>
          </p:cNvSpPr>
          <p:nvPr/>
        </p:nvSpPr>
        <p:spPr>
          <a:xfrm xmlns:a="http://schemas.openxmlformats.org/drawingml/2006/main">
            <a:off x="4410075" y="34099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lang="ar-JO">
                <a:solidFill>
                  <a:srgbClr val="C8A04C"/>
                </a:solidFill>
                <a:latin typeface="IBM Plex Sans Arabic"/>
                <a:ea typeface="IBM Plex Sans Arabic"/>
                <a:cs typeface="IBM Plex Sans Arabic"/>
              </a:defRPr>
            </a:pPr>
            <a:r>
              <a:rPr sz="2250" b="1" lang="ar-JO">
                <a:solidFill>
                  <a:srgbClr val="C8A04C"/>
                </a:solidFill>
                <a:latin typeface="IBM Plex Sans Arabic"/>
                <a:ea typeface="IBM Plex Sans Arabic"/>
                <a:cs typeface="IBM Plex Sans Arabic"/>
              </a:rPr>
              <a:t>تجربة المستخدم</a:t>
            </a:r>
          </a:p>
        </p:txBody>
      </p:sp>
      <p:sp>
        <p:nvSpPr>
          <p:cNvPr id="9" name="text-82-الهوية البصرية&#10;وتنظي">
            <a:extLst xmlns:a="http://schemas.openxmlformats.org/drawingml/2006/main">
              <a:ext uri="{FF2B5EF4-FFF2-40B4-BE49-F238E27FC236}">
                <a16:creationId xmlns:a16="http://schemas.microsoft.com/office/drawing/2014/main" id="{F6C58EA7-3709-4130-B695-E9449685719A}"/>
              </a:ext>
            </a:extLst>
          </p:cNvPr>
          <p:cNvSpPr>
            <a:spLocks xmlns:a="http://schemas.openxmlformats.org/drawingml/2006/main" noGrp="1"/>
          </p:cNvSpPr>
          <p:nvPr/>
        </p:nvSpPr>
        <p:spPr>
          <a:xfrm xmlns:a="http://schemas.openxmlformats.org/drawingml/2006/main">
            <a:off x="4410075" y="4076700"/>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lang="ar-JO">
                <a:solidFill>
                  <a:srgbClr val="D1DEED"/>
                </a:solidFill>
                <a:latin typeface="IBM Plex Sans Arabic"/>
                <a:ea typeface="IBM Plex Sans Arabic"/>
                <a:cs typeface="IBM Plex Sans Arabic"/>
              </a:defRPr>
            </a:pPr>
            <a:r>
              <a:rPr sz="2025" b="0" lang="ar-JO">
                <a:solidFill>
                  <a:srgbClr val="D1DEED"/>
                </a:solidFill>
                <a:latin typeface="IBM Plex Sans Arabic"/>
                <a:ea typeface="IBM Plex Sans Arabic"/>
                <a:cs typeface="IBM Plex Sans Arabic"/>
              </a:rPr>
              <a:t>الهوية البصرية</a:t>
            </a:r>
          </a:p>
          <a:p xmlns:a="http://schemas.openxmlformats.org/drawingml/2006/main">
            <a:pPr algn="ctr">
              <a:defRPr sz="2025" b="0" lang="ar-JO">
                <a:solidFill>
                  <a:srgbClr val="D1DEED"/>
                </a:solidFill>
                <a:latin typeface="IBM Plex Sans Arabic"/>
                <a:ea typeface="IBM Plex Sans Arabic"/>
                <a:cs typeface="IBM Plex Sans Arabic"/>
              </a:defRPr>
            </a:pPr>
            <a:r>
              <a:rPr sz="2025" b="0" lang="ar-JO">
                <a:solidFill>
                  <a:srgbClr val="D1DEED"/>
                </a:solidFill>
                <a:latin typeface="IBM Plex Sans Arabic"/>
                <a:ea typeface="IBM Plex Sans Arabic"/>
                <a:cs typeface="IBM Plex Sans Arabic"/>
              </a:rPr>
              <a:t>وتنظيم رحلة الطالب</a:t>
            </a:r>
          </a:p>
        </p:txBody>
      </p:sp>
      <p:sp>
        <p:nvSpPr>
          <p:cNvPr id="10" name="text-83-زيد&#10;أبو الشعر">
            <a:extLst xmlns:a="http://schemas.openxmlformats.org/drawingml/2006/main">
              <a:ext uri="{FF2B5EF4-FFF2-40B4-BE49-F238E27FC236}">
                <a16:creationId xmlns:a16="http://schemas.microsoft.com/office/drawing/2014/main" id="{B6F1971D-DA9E-4083-BC49-EA951F76A113}"/>
              </a:ext>
            </a:extLst>
          </p:cNvPr>
          <p:cNvSpPr>
            <a:spLocks xmlns:a="http://schemas.openxmlformats.org/drawingml/2006/main" noGrp="1"/>
          </p:cNvSpPr>
          <p:nvPr/>
        </p:nvSpPr>
        <p:spPr>
          <a:xfrm xmlns:a="http://schemas.openxmlformats.org/drawingml/2006/main">
            <a:off x="609600" y="2076450"/>
            <a:ext cx="323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lang="ar-JO">
                <a:solidFill>
                  <a:srgbClr val="FFFFFF"/>
                </a:solidFill>
                <a:latin typeface="IBM Plex Sans Arabic"/>
                <a:ea typeface="IBM Plex Sans Arabic"/>
                <a:cs typeface="IBM Plex Sans Arabic"/>
              </a:defRPr>
            </a:pPr>
            <a:r>
              <a:rPr sz="2775" b="1" lang="ar-JO">
                <a:solidFill>
                  <a:srgbClr val="FFFFFF"/>
                </a:solidFill>
                <a:latin typeface="IBM Plex Sans Arabic"/>
                <a:ea typeface="IBM Plex Sans Arabic"/>
                <a:cs typeface="IBM Plex Sans Arabic"/>
              </a:rPr>
              <a:t>زيد</a:t>
            </a:r>
          </a:p>
          <a:p xmlns:a="http://schemas.openxmlformats.org/drawingml/2006/main">
            <a:pPr algn="ctr">
              <a:defRPr sz="2775" b="1" lang="ar-JO">
                <a:solidFill>
                  <a:srgbClr val="FFFFFF"/>
                </a:solidFill>
                <a:latin typeface="IBM Plex Sans Arabic"/>
                <a:ea typeface="IBM Plex Sans Arabic"/>
                <a:cs typeface="IBM Plex Sans Arabic"/>
              </a:defRPr>
            </a:pPr>
            <a:r>
              <a:rPr sz="2775" b="1" lang="ar-JO">
                <a:solidFill>
                  <a:srgbClr val="FFFFFF"/>
                </a:solidFill>
                <a:latin typeface="IBM Plex Sans Arabic"/>
                <a:ea typeface="IBM Plex Sans Arabic"/>
                <a:cs typeface="IBM Plex Sans Arabic"/>
              </a:rPr>
              <a:t>أبو الشعر</a:t>
            </a:r>
          </a:p>
        </p:txBody>
      </p:sp>
      <p:sp>
        <p:nvSpPr>
          <p:cNvPr id="11" name="text-84-تنفيذ الواجهات">
            <a:extLst xmlns:a="http://schemas.openxmlformats.org/drawingml/2006/main">
              <a:ext uri="{FF2B5EF4-FFF2-40B4-BE49-F238E27FC236}">
                <a16:creationId xmlns:a16="http://schemas.microsoft.com/office/drawing/2014/main" id="{1DC0D91C-D897-480F-B190-5F829F51A8BE}"/>
              </a:ext>
            </a:extLst>
          </p:cNvPr>
          <p:cNvSpPr>
            <a:spLocks xmlns:a="http://schemas.openxmlformats.org/drawingml/2006/main" noGrp="1"/>
          </p:cNvSpPr>
          <p:nvPr/>
        </p:nvSpPr>
        <p:spPr>
          <a:xfrm xmlns:a="http://schemas.openxmlformats.org/drawingml/2006/main">
            <a:off x="609600" y="34099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lang="ar-JO">
                <a:solidFill>
                  <a:srgbClr val="C8A04C"/>
                </a:solidFill>
                <a:latin typeface="IBM Plex Sans Arabic"/>
                <a:ea typeface="IBM Plex Sans Arabic"/>
                <a:cs typeface="IBM Plex Sans Arabic"/>
              </a:defRPr>
            </a:pPr>
            <a:r>
              <a:rPr sz="2250" b="1" lang="ar-JO">
                <a:solidFill>
                  <a:srgbClr val="C8A04C"/>
                </a:solidFill>
                <a:latin typeface="IBM Plex Sans Arabic"/>
                <a:ea typeface="IBM Plex Sans Arabic"/>
                <a:cs typeface="IBM Plex Sans Arabic"/>
              </a:rPr>
              <a:t>تنفيذ الواجهات</a:t>
            </a:r>
          </a:p>
        </p:txBody>
      </p:sp>
      <p:sp>
        <p:nvSpPr>
          <p:cNvPr id="12" name="text-85-تحويل التصاميم&#10;إلى ت">
            <a:extLst xmlns:a="http://schemas.openxmlformats.org/drawingml/2006/main">
              <a:ext uri="{FF2B5EF4-FFF2-40B4-BE49-F238E27FC236}">
                <a16:creationId xmlns:a16="http://schemas.microsoft.com/office/drawing/2014/main" id="{0BA8CD5B-DADD-4846-81C9-601B06AEF020}"/>
              </a:ext>
            </a:extLst>
          </p:cNvPr>
          <p:cNvSpPr>
            <a:spLocks xmlns:a="http://schemas.openxmlformats.org/drawingml/2006/main" noGrp="1"/>
          </p:cNvSpPr>
          <p:nvPr/>
        </p:nvSpPr>
        <p:spPr>
          <a:xfrm xmlns:a="http://schemas.openxmlformats.org/drawingml/2006/main">
            <a:off x="609600" y="4076700"/>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lang="ar-JO">
                <a:solidFill>
                  <a:srgbClr val="D1DEED"/>
                </a:solidFill>
                <a:latin typeface="IBM Plex Sans Arabic"/>
                <a:ea typeface="IBM Plex Sans Arabic"/>
                <a:cs typeface="IBM Plex Sans Arabic"/>
              </a:defRPr>
            </a:pPr>
            <a:r>
              <a:rPr sz="2025" b="0" lang="ar-JO">
                <a:solidFill>
                  <a:srgbClr val="D1DEED"/>
                </a:solidFill>
                <a:latin typeface="IBM Plex Sans Arabic"/>
                <a:ea typeface="IBM Plex Sans Arabic"/>
                <a:cs typeface="IBM Plex Sans Arabic"/>
              </a:rPr>
              <a:t>تحويل التصاميم</a:t>
            </a:r>
          </a:p>
          <a:p xmlns:a="http://schemas.openxmlformats.org/drawingml/2006/main">
            <a:pPr algn="ctr">
              <a:defRPr sz="2025" b="0" lang="ar-JO">
                <a:solidFill>
                  <a:srgbClr val="D1DEED"/>
                </a:solidFill>
                <a:latin typeface="IBM Plex Sans Arabic"/>
                <a:ea typeface="IBM Plex Sans Arabic"/>
                <a:cs typeface="IBM Plex Sans Arabic"/>
              </a:defRPr>
            </a:pPr>
            <a:r>
              <a:rPr sz="2025" b="0" lang="ar-JO">
                <a:solidFill>
                  <a:srgbClr val="D1DEED"/>
                </a:solidFill>
                <a:latin typeface="IBM Plex Sans Arabic"/>
                <a:ea typeface="IBM Plex Sans Arabic"/>
                <a:cs typeface="IBM Plex Sans Arabic"/>
              </a:rPr>
              <a:t>إلى تجربة قابلة للاستخدام</a:t>
            </a:r>
          </a:p>
        </p:txBody>
      </p:sp>
      <p:sp>
        <p:nvSpPr>
          <p:cNvPr id="13" name="text-86-أدوار متكاملة لبناء ">
            <a:extLst xmlns:a="http://schemas.openxmlformats.org/drawingml/2006/main">
              <a:ext uri="{FF2B5EF4-FFF2-40B4-BE49-F238E27FC236}">
                <a16:creationId xmlns:a16="http://schemas.microsoft.com/office/drawing/2014/main" id="{BE41A83B-DF75-4439-B17D-E7ABC87F4ACE}"/>
              </a:ext>
            </a:extLst>
          </p:cNvPr>
          <p:cNvSpPr>
            <a:spLocks xmlns:a="http://schemas.openxmlformats.org/drawingml/2006/main" noGrp="1"/>
          </p:cNvSpPr>
          <p:nvPr/>
        </p:nvSpPr>
        <p:spPr>
          <a:xfrm xmlns:a="http://schemas.openxmlformats.org/drawingml/2006/main">
            <a:off x="1952625" y="5657850"/>
            <a:ext cx="952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400" b="1" lang="ar-JO">
                <a:solidFill>
                  <a:srgbClr val="FFFFFF"/>
                </a:solidFill>
                <a:latin typeface="IBM Plex Sans Arabic"/>
                <a:ea typeface="IBM Plex Sans Arabic"/>
                <a:cs typeface="IBM Plex Sans Arabic"/>
              </a:defRPr>
            </a:pPr>
            <a:r>
              <a:rPr sz="2400" b="1" lang="ar-JO">
                <a:solidFill>
                  <a:srgbClr val="FFFFFF"/>
                </a:solidFill>
                <a:latin typeface="IBM Plex Sans Arabic"/>
                <a:ea typeface="IBM Plex Sans Arabic"/>
                <a:cs typeface="IBM Plex Sans Arabic"/>
              </a:rPr>
              <a:t>أدوار متكاملة لبناء مُرشِدي وتطويره</a:t>
            </a:r>
          </a:p>
        </p:txBody>
      </p:sp>
    </p:spTree>
    <p:extLst>
      <p:ext uri="{BB962C8B-B14F-4D97-AF65-F5344CB8AC3E}">
        <p14:creationId xmlns:p14="http://schemas.microsoft.com/office/powerpoint/2010/main" val="1850661066"/>
      </p:ext>
    </p:extLst>
  </p:cSld>
</p:sld>
</file>

<file path=ppt/slides/slide10.xml><?xml version="1.0" encoding="utf-8"?>
<p:sld xmlns:a="http://schemas.openxmlformats.org/drawingml/2006/main"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83fc57c79f547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61cc86ccc23439f"/>
          <a:stretch xmlns:a="http://schemas.openxmlformats.org/drawingml/2006/main"/>
        </p:blipFill>
        <p:spPr>
          <a:xfrm xmlns:a="http://schemas.openxmlformats.org/drawingml/2006/main">
            <a:off x="10610850" y="542925"/>
            <a:ext cx="895350" cy="895350"/>
          </a:xfrm>
          <a:prstGeom xmlns:a="http://schemas.openxmlformats.org/drawingml/2006/main" prst="rect">
            <a:avLst/>
          </a:prstGeom>
        </p:spPr>
      </p:pic>
      <p:sp>
        <p:nvSpPr>
          <p:cNvPr id="3" name="text-87-خطوتنا القادمة">
            <a:extLst xmlns:a="http://schemas.openxmlformats.org/drawingml/2006/main">
              <a:ext uri="{FF2B5EF4-FFF2-40B4-BE49-F238E27FC236}">
                <a16:creationId xmlns:a16="http://schemas.microsoft.com/office/drawing/2014/main" id="{B2FC3F97-8AE8-4BF6-8248-57C4BE22B03C}"/>
              </a:ext>
            </a:extLst>
          </p:cNvPr>
          <p:cNvSpPr>
            <a:spLocks xmlns:a="http://schemas.openxmlformats.org/drawingml/2006/main" noGrp="1"/>
          </p:cNvSpPr>
          <p:nvPr/>
        </p:nvSpPr>
        <p:spPr>
          <a:xfrm xmlns:a="http://schemas.openxmlformats.org/drawingml/2006/main">
            <a:off x="6048375" y="2009775"/>
            <a:ext cx="542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4050" b="1" lang="ar-JO">
                <a:solidFill>
                  <a:srgbClr val="C8A04C"/>
                </a:solidFill>
                <a:latin typeface="IBM Plex Sans Arabic"/>
                <a:ea typeface="IBM Plex Sans Arabic"/>
                <a:cs typeface="IBM Plex Sans Arabic"/>
              </a:defRPr>
            </a:pPr>
            <a:r>
              <a:rPr sz="4050" b="1" lang="ar-JO">
                <a:solidFill>
                  <a:srgbClr val="C8A04C"/>
                </a:solidFill>
                <a:latin typeface="IBM Plex Sans Arabic"/>
                <a:ea typeface="IBM Plex Sans Arabic"/>
                <a:cs typeface="IBM Plex Sans Arabic"/>
              </a:rPr>
              <a:t>خطوتنا القادمة</a:t>
            </a:r>
          </a:p>
        </p:txBody>
      </p:sp>
      <p:sp>
        <p:nvSpPr>
          <p:cNvPr id="4" name="text-88-تجربة مع&#10;مؤسسات تعلي">
            <a:extLst xmlns:a="http://schemas.openxmlformats.org/drawingml/2006/main">
              <a:ext uri="{FF2B5EF4-FFF2-40B4-BE49-F238E27FC236}">
                <a16:creationId xmlns:a16="http://schemas.microsoft.com/office/drawing/2014/main" id="{8D1A8505-AC02-47F2-AC04-5FC63845A097}"/>
              </a:ext>
            </a:extLst>
          </p:cNvPr>
          <p:cNvSpPr>
            <a:spLocks xmlns:a="http://schemas.openxmlformats.org/drawingml/2006/main" noGrp="1"/>
          </p:cNvSpPr>
          <p:nvPr/>
        </p:nvSpPr>
        <p:spPr>
          <a:xfrm xmlns:a="http://schemas.openxmlformats.org/drawingml/2006/main">
            <a:off x="5953125" y="2933700"/>
            <a:ext cx="5524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4200" b="1" lang="ar-JO">
                <a:solidFill>
                  <a:srgbClr val="FFFFFF"/>
                </a:solidFill>
                <a:latin typeface="IBM Plex Sans Arabic"/>
                <a:ea typeface="IBM Plex Sans Arabic"/>
                <a:cs typeface="IBM Plex Sans Arabic"/>
              </a:defRPr>
            </a:pPr>
            <a:r>
              <a:rPr sz="4200" b="1" lang="ar-JO">
                <a:solidFill>
                  <a:srgbClr val="FFFFFF"/>
                </a:solidFill>
                <a:latin typeface="IBM Plex Sans Arabic"/>
                <a:ea typeface="IBM Plex Sans Arabic"/>
                <a:cs typeface="IBM Plex Sans Arabic"/>
              </a:rPr>
              <a:t>تجربة مع</a:t>
            </a:r>
          </a:p>
          <a:p xmlns:a="http://schemas.openxmlformats.org/drawingml/2006/main">
            <a:pPr algn="r">
              <a:defRPr sz="4200" b="1" lang="ar-JO">
                <a:solidFill>
                  <a:srgbClr val="FFFFFF"/>
                </a:solidFill>
                <a:latin typeface="IBM Plex Sans Arabic"/>
                <a:ea typeface="IBM Plex Sans Arabic"/>
                <a:cs typeface="IBM Plex Sans Arabic"/>
              </a:defRPr>
            </a:pPr>
            <a:r>
              <a:rPr sz="4200" b="1" lang="ar-JO">
                <a:solidFill>
                  <a:srgbClr val="FFFFFF"/>
                </a:solidFill>
                <a:latin typeface="IBM Plex Sans Arabic"/>
                <a:ea typeface="IBM Plex Sans Arabic"/>
                <a:cs typeface="IBM Plex Sans Arabic"/>
              </a:rPr>
              <a:t>مؤسسات تعليمية</a:t>
            </a:r>
          </a:p>
        </p:txBody>
      </p:sp>
      <p:sp>
        <p:nvSpPr>
          <p:cNvPr id="5" name="text-89-شركاء للتجربة وتوجيه">
            <a:extLst xmlns:a="http://schemas.openxmlformats.org/drawingml/2006/main">
              <a:ext uri="{FF2B5EF4-FFF2-40B4-BE49-F238E27FC236}">
                <a16:creationId xmlns:a16="http://schemas.microsoft.com/office/drawing/2014/main" id="{3148264F-8AAA-4F04-A1D5-26EA249C7385}"/>
              </a:ext>
            </a:extLst>
          </p:cNvPr>
          <p:cNvSpPr>
            <a:spLocks xmlns:a="http://schemas.openxmlformats.org/drawingml/2006/main" noGrp="1"/>
          </p:cNvSpPr>
          <p:nvPr/>
        </p:nvSpPr>
        <p:spPr>
          <a:xfrm xmlns:a="http://schemas.openxmlformats.org/drawingml/2006/main">
            <a:off x="5286375" y="4600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325" b="0" lang="ar-JO">
                <a:solidFill>
                  <a:srgbClr val="D1DEED"/>
                </a:solidFill>
                <a:latin typeface="IBM Plex Sans Arabic"/>
                <a:ea typeface="IBM Plex Sans Arabic"/>
                <a:cs typeface="IBM Plex Sans Arabic"/>
              </a:defRPr>
            </a:pPr>
            <a:r>
              <a:rPr sz="2325" b="0" lang="ar-JO">
                <a:solidFill>
                  <a:srgbClr val="D1DEED"/>
                </a:solidFill>
                <a:latin typeface="IBM Plex Sans Arabic"/>
                <a:ea typeface="IBM Plex Sans Arabic"/>
                <a:cs typeface="IBM Plex Sans Arabic"/>
              </a:rPr>
              <a:t>شركاء للتجربة وتوجيه لنموذج العمل</a:t>
            </a:r>
          </a:p>
        </p:txBody>
      </p:sp>
      <p:sp>
        <p:nvSpPr>
          <p:cNvPr id="6" name="text-90-مُرشِدي، قرار أوضح ل">
            <a:extLst xmlns:a="http://schemas.openxmlformats.org/drawingml/2006/main">
              <a:ext uri="{FF2B5EF4-FFF2-40B4-BE49-F238E27FC236}">
                <a16:creationId xmlns:a16="http://schemas.microsoft.com/office/drawing/2014/main" id="{39157B7A-5821-4EB6-BEAC-876F8172DAC4}"/>
              </a:ext>
            </a:extLst>
          </p:cNvPr>
          <p:cNvSpPr>
            <a:spLocks xmlns:a="http://schemas.openxmlformats.org/drawingml/2006/main" noGrp="1"/>
          </p:cNvSpPr>
          <p:nvPr/>
        </p:nvSpPr>
        <p:spPr>
          <a:xfrm xmlns:a="http://schemas.openxmlformats.org/drawingml/2006/main">
            <a:off x="5133975" y="5715000"/>
            <a:ext cx="6343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400" b="1" lang="ar-JO">
                <a:solidFill>
                  <a:srgbClr val="FFFFFF"/>
                </a:solidFill>
                <a:latin typeface="IBM Plex Sans Arabic"/>
                <a:ea typeface="IBM Plex Sans Arabic"/>
                <a:cs typeface="IBM Plex Sans Arabic"/>
              </a:defRPr>
            </a:pPr>
            <a:r>
              <a:rPr sz="2400" b="1" lang="ar-JO">
                <a:solidFill>
                  <a:srgbClr val="FFFFFF"/>
                </a:solidFill>
                <a:latin typeface="IBM Plex Sans Arabic"/>
                <a:ea typeface="IBM Plex Sans Arabic"/>
                <a:cs typeface="IBM Plex Sans Arabic"/>
              </a:rPr>
              <a:t>مُرشِدي، قرار أوضح لمستقبل الطالب</a:t>
            </a:r>
          </a:p>
        </p:txBody>
      </p:sp>
    </p:spTree>
    <p:extLst>
      <p:ext uri="{BB962C8B-B14F-4D97-AF65-F5344CB8AC3E}">
        <p14:creationId xmlns:p14="http://schemas.microsoft.com/office/powerpoint/2010/main" val="13633327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2026-09-10T17:58:45.0320000Z</dcterms:created>
  <dcterms:modified xsi:type="dcterms:W3CDTF">2026-09-10T17:58:45.0320000Z</dcterms:modified>
</coreProperties>
</file>