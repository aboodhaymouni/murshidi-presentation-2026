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BM Plex Sans Arabic" panose="020B0503050203000203" pitchFamily="34" charset="-78"/>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إلى 0:20 (20 ثانية)</a:t>
            </a:r>
          </a:p>
          <a:p>
            <a:endParaRPr/>
          </a:p>
          <a:p>
            <a:r>
              <a:t>صباح الخير. نحن فريق Vcoders، ونقدّم مُرشِدي: منصّة تساعد الطالب وأسرته على اتخاذ قرار جامعي أوضح. نبدأ من السؤال الذي يأتي بعد التوجيهي مباشرة: شو أدرس؟ ونحوّله من بحث مشتّت إلى قرار يجمع الملاءمة والقبول والكلفة والسوق في رحلة واحدة.</a:t>
            </a:r>
          </a:p>
          <a:p>
            <a:endParaRPr/>
          </a:p>
          <a:p>
            <a:r>
              <a:t>المصادر: ملفات المشروع الأصلية؛ اسم الفريق Vcoders حسب توجيه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إلى 1:00 (40 ثانية)</a:t>
            </a:r>
          </a:p>
          <a:p>
            <a:endParaRPr/>
          </a:p>
          <a:p>
            <a:r>
              <a:t>تخيّل طالبًا أنهى التوجيهي اليوم. يريد جوابًا عن ثلاثة أسئلة: هل التخصص يناسبني؟ هل أستطيع التقديم؟ وهل تستطيع أسرتي تحمّل كلفته؟ في دفعة 2026 وصل 116,366 ناجحًا إلى هذه اللحظة، وينشر القبول الموحد 607 عروض برامج تختلف أهلية الطالب لها حسب الفرع والمعدل. المعلومات موجودة، لكنها موزعة بين القبول والجامعات وإحصاءات العمل؛ فيركّب الطالب والأسرة والمرشد القرار يدويًا. هنا تبدأ المشكلة التي يحلّها مُرشِدي.</a:t>
            </a:r>
          </a:p>
          <a:p>
            <a:endParaRPr/>
          </a:p>
          <a:p>
            <a:r>
              <a:t>المصادر: وزارة التربية والتعليم عبر وكالة بترا، 10 آب 2026: 116,366 ناجحًا في التوجيهي، ويشمل العدد النظاميين والدراسة الخاصة. وحدة تنسيق القبول الموحد، 13 آب 2026: 607 عروض برامج بكالوريوس للدورة الصيفية 2026/2027؛ عروض برامج وليست تخصصات مهنية فريدة. البطالة متعددة الأسباب، ولا ننسبها لاختيار التخصص وحده.</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إلى 1:32 (32 ثانية)</a:t>
            </a:r>
          </a:p>
          <a:p>
            <a:endParaRPr/>
          </a:p>
          <a:p>
            <a:r>
              <a:t>يجمع مُرشِدي رحلة القرار في ثلاث خطوات. يبدأ الطالب بأسئلة استكشاف ذاتي تبني نقطة انطلاق، ثم يقارن البرامج وفق القبول والرسوم والكلفة، ويطّلع بصورة منفصلة على مؤشرات سوق العمل العامة. بعدها يبني قائمة قصيرة وخطة كلفة مستندة إلى بيانات مؤرخة. هذه شاشة حقيقية من نسخة ويب محلية تعمل بالعربية والإنجليزية. النتيجة ليست توصية مغلقة، بل قرار مبرّر يناقشه الطالب وأسرته والمرشد قبل التقديم.</a:t>
            </a:r>
          </a:p>
          <a:p>
            <a:endParaRPr/>
          </a:p>
          <a:p>
            <a:r>
              <a:t>المصادر: شاشة فعلية من النسخة المحلية المحدثة للسورس؛ اختبار الميول استكشافي ولا يدعي اعتمادًا نفسيًا.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1:32 إلى 2:12 (40 ثانية)</a:t>
            </a:r>
          </a:p>
          <a:p>
            <a:endParaRPr/>
          </a:p>
          <a:p>
            <a:r>
              <a:t>لنأخذ طالبًا يفكر في علم الحاسوب. في شاشة واحدة يقارن البرامج، ويفهم الفرق بين شرط التقديم والحد التنافسي السابق، ويرى رسم الساعة ومصدر مجموعة البيانات وفترتها. شرط التقديم يجيب: هل يحق لي التقديم؟ أما الحد السابق فهو مرجع تاريخي، وليس وعد قبول. بهذه الدقة لا نعرض رقمًا بلا معناه ولا نخلط سنة بسنة، فيبني الطالب قائمة قصيرة يستطيع الدفاع عنها أمام أسرته والمرشد.</a:t>
            </a:r>
          </a:p>
          <a:p>
            <a:endParaRPr/>
          </a:p>
          <a:p>
            <a:r>
              <a:t>المصادر: وحدة تنسيق القبول الموحد: دليل البرامج والرسوم 2026/2027؛ جداول الحدود الدنيا المنشورة 2021–2025، تحقق 10 أيلول 2026. آخر حد تنافسي منشور يظهر كسجل سابق لا كضمان قبول.</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2:12 إلى 2:47 (35 ثانية)</a:t>
            </a:r>
          </a:p>
          <a:p>
            <a:endParaRPr/>
          </a:p>
          <a:p>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تظهر كلفة سنوية مقدارها 3,051 دينارًا. إذا تغيّرت الميزانية تتغيّر فجوة التمويل فورًا. هكذا تنتقل الأسرة من سؤال عام عن القدرة إلى خطة واضحة، مع فصل الرقم الرسمي عن افتراضاتها الخاصة.</a:t>
            </a:r>
          </a:p>
          <a:p>
            <a:endParaRPr/>
          </a:p>
          <a:p>
            <a:r>
              <a:t>المصادر: رسم الساعة لعلم الحاسوب في الجامعة الأردنية من دليل القبول الموحد؛ بقية المدخلات افتراضات توضيحية قابلة للتعديل. الحساب: (47×132)/4 + 300 + (100×12) = 3,051 د.أ سنويًا. لا توقع دخل أو عائد مضمون.</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2:47 إلى 3:22 (35 ثانية)</a:t>
            </a:r>
          </a:p>
          <a:p>
            <a:endParaRPr/>
          </a:p>
          <a:p>
            <a:r>
              <a:t>القبول الموحد يشرح ما يمكن التقديم إليه، ومواقع الجامعات تنشر الرسوم، وإحصاءات العمل تصف السوق. لكن أيًّا منها لا يعرف اهتمام الطالب أو ميزانية أسرته، ولا يجمع المقارنة في قرار واحد. مُرشِدي يضيف سياق الطالب مع تفسير ومصدر وتاريخ. وتدعم منطق الحل تجربتان عشوائيتان منفصلتان ضمّتا أكثر من 77 ألف مشارك: معلومات مرتبطة بخيار الطالب قبل القرار يمكن أن تغيّر الاختيار. ثم نتحقق من الأثر محليًا.</a:t>
            </a:r>
          </a:p>
          <a:p>
            <a:endParaRPr/>
          </a:p>
          <a:p>
            <a:r>
              <a:t>المصادر: de Koning, Fouarge &amp; Dur، IZA Discussion Paper 17951، 2025: 28,186 طالبًا في 243 مدرسة. Hastings, Neilson &amp; Zimmerman، NBER Working Paper 21300: 49,166 مشاركًا. المجموع التقريبي أكبر من 77 ألفًا عبر تجربتين منفصلتين في سياقين خارج الأردن؛ يدعم مبدأ تخصيص المعلومات ولا يثبت خفض بطالة أو أثر مُرشِدي محليًا.</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3:22 إلى 3:57 (35 ثانية)</a:t>
            </a:r>
          </a:p>
          <a:p>
            <a:endParaRPr/>
          </a:p>
          <a:p>
            <a:r>
              <a:t>المستفيد المباشر هو الطالب وأسرته؛ يحصلان على رحلة القرار الأساسية مجانًا. العميل الذي سنختبر استعداده للدفع هو مدرسة أو جامعة أو شبكة تعليمية. سنقدّم لها عرضًا مؤسسيًا مقترحًا يضم أدوات للمرشد وتقارير مجمعة ودعمًا. ونستهدف الجهة التعليمية العامة كشريك تمكين وتوسع يسهّل الوصول إلى البيانات والمدارس وقياس الأثر. فصل المستفيد عن العميل يجعل النموذج قابلًا للتبني من دون وضع تكلفة القرار على الطالب.</a:t>
            </a:r>
          </a:p>
          <a:p>
            <a:endParaRPr/>
          </a:p>
          <a:p>
            <a:r>
              <a:t>المصادر: نموذج B2B2C مقترح: الطالب والأسرة مستفيدان، والمؤسسة التعليمية عميل دافع، والجهة العامة شريك تمكين وتوسع. لا عملاء أو عقود أو شراكات حكومية قائمة حتى 11 أيلول 2026.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3:57 إلى 4:42 (45 ثانية)</a:t>
            </a:r>
          </a:p>
          <a:p>
            <a:endParaRPr/>
          </a:p>
          <a:p>
            <a:r>
              <a:t>لدينا ثلاث طبقات واضحة. الطالب والأسرة يستخدمان الرحلة الأساسية مجانًا. نفترض أن المؤسسة التعليمية تدفع 20 دينارًا سنويًا عن كل مقعد طالب ممول مقابل طبقة مؤسسية نقترحها: أدوات للمرشد، وتقارير مجمعة، وتدريب ودعم. وعلى نطاق وطني يمكن أن يكون الإيراد عقدًا سنويًا بحسب حجم الخدمة وقياس الأثر. وفق افتراضاتنا الحالية، نصل إلى التعادل عند 1,950 مقعد طالب ممول بعقود مؤسسية. سنختبر هذه الفرضيات بعروض سعر وتجارب مدفوعة؛ وهي ليست إيرادًا محققًا.</a:t>
            </a:r>
          </a:p>
          <a:p>
            <a:endParaRPr/>
          </a:p>
          <a:p>
            <a:r>
              <a:t>المصادر: فرضية تسعير للاختبار وليست مبيعات: 20 د.أ/مقعد طالب ممول/سنة للمؤسسة. افتراض كلفة متغيرة 4 د.أ سنويًا لكل طالب نشط، كلفة ثابتة 30,000 د.أ سنويًا، و300 طالب تجارب مجانية خارج المقاعد الممولة. التعادل: [30,000+(300×4)]/(20−4)=1,950 مقعد طالب ممول. لا سعر مفترض للعقد العام قبل تحديد النطاق.</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4:42 إلى 5:22 (40 ثانية)</a:t>
            </a:r>
          </a:p>
          <a:p>
            <a:endParaRPr/>
          </a:p>
          <a:p>
            <a:r>
              <a:t>نبدأ بتجربة محددة: 100 طالب في ثلاث مدارس خلال ستة أسابيع. نرصد قبل الاستخدام وبعده وقت بناء مقارنة ثلاثة برامج، وإجابات الطالب في اختبار قصير حول القبول والكلفة، ووضوحه الذاتي على مقياس من خمس نقاط. نعتبر التجربة ناجحة إذا أكمل 70 طالبًا مقارنة موثقة، وتحسن متوسط الوضوح الذاتي بنقطة واحدة، وبدأت مؤسستان تجربة مدفوعة. هذه أهداف معلنة وليست نتائج سابقة؛ وإذا لم تتحقق نعدّل قبل التوسع.</a:t>
            </a:r>
          </a:p>
          <a:p>
            <a:endParaRPr/>
          </a:p>
          <a:p>
            <a:r>
              <a:t>المصادر: تصميم تجربة وأهداف مقترحة وليست نتائج محققة: 100 طالب، 3 مدارس، 6 أسابيع؛ 70 طالبًا يكملون مقارنة موثقة؛ تحسن نقطة واحدة على مقياس من 5؛ ومؤسستان تبدآن تجربة مدفوعة. دليل الجائزة ص29-30 يطلب أثرًا قابلًا للقياس.</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5:22 إلى 6:09 (47 ثانية)</a:t>
            </a:r>
          </a:p>
          <a:p>
            <a:endParaRPr/>
          </a:p>
          <a:p>
            <a:r>
              <a:t>اليوم لدينا نسخة ويب محلية عاملة بالعربية والإنجليزية، وشاشات حقيقية، ولقطة بيانات عامة متحققة بسنة ومصدر. خلال تسعين يومًا ننفذ التجربة، نقيس القيمة، ونختبر استعداد المؤسسات للدفع. وخلال اثني عشر شهرًا نستهدف 13 مؤسسة و1,950 مقعد طالب ممول للوصول إلى نقطة التعادل المفترضة، مع 300 طالب في تجارب مجانية خارجها. الإيراد يمول تحديث المصادر ودعم المرشدين وقياس الأثر. وطلبنا من اللجنة هو ربطنا بثلاث مدارس ومرشدين وقناة بيانات تعليمية لنقدّم تقريرًا قابلًا للمراجعة.</a:t>
            </a:r>
          </a:p>
          <a:p>
            <a:endParaRPr/>
          </a:p>
          <a:p>
            <a:r>
              <a:t>المصادر: خطة تنفيذ وأهداف مستقبلية وليست نتائج: اليوم نسخة ويب محلية عاملة؛ 90 يومًا للتجربة والتقرير؛ 12 شهرًا لهدف 13 مؤسسة و1,950 مقعد طالب ممول، إضافة إلى 300 طالب تجارب مجانية. لا تنسيق حكومي رسمي قائم؛ الربط بثلاث مدارس وجهة بيانات هو الطلب المقترح.</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6:09 إلى 6:34 (25 ثانية)</a:t>
            </a:r>
          </a:p>
          <a:p>
            <a:endParaRPr/>
          </a:p>
          <a:p>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نراجع كل قرار معًا حتى تظهر النتيجة كمنتج واحد: بيانات صحيحة، ورحلة مفهومة، وواجهة تعمل.</a:t>
            </a:r>
          </a:p>
          <a:p>
            <a:endParaRPr/>
          </a:p>
          <a:p>
            <a:r>
              <a:t>المصادر: Murshidi-Team-Roles.pdf من حزمة المشروع؛ اسم الفريق Vcoders حسب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6:34 إلى 6:50 (16 ثانية)</a:t>
            </a:r>
          </a:p>
          <a:p>
            <a:endParaRPr/>
          </a:p>
          <a:p>
            <a:r>
              <a:t>قبل أن يلتزم الطالب لسنوات، يستحق أن يرى الملاءمة والقبول والكلفة والسوق في قرار واحد يمكن تفسيره. مُرشِدي يحوّل البيانات العامة إلى خطوة عملية. لدينا منتج يعمل وخطة قياس واضحة. هل نبدأ التجربة؟ شكرًا لكم.</a:t>
            </a:r>
          </a:p>
          <a:p>
            <a:endParaRPr/>
          </a:p>
          <a:p>
            <a:r>
              <a:t>المصادر: خاتمة العرض؛ لا تتضمن ادعاء شراكة أو نتيجة أثر غير محققة.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pic>
        <p:nvPicPr>
          <p:cNvPr id="9" name="Picture 8"/>
          <p:cNvPicPr>
            <a:picLocks noChangeAspect="1"/>
          </p:cNvPicPr>
          <p:nvPr/>
        </p:nvPicPr>
        <p:blipFill>
          <a:blip r:embed="rId4"/>
          <a:stretch/>
        </p:blipFill>
        <p:spPr>
          <a:xfrm>
            <a:off x="10287000" y="571500"/>
            <a:ext cx="1181100" cy="1181100"/>
          </a:xfrm>
          <a:prstGeom prst="rect">
            <a:avLst/>
          </a:prstGeom>
        </p:spPr>
      </p:pic>
      <p:sp>
        <p:nvSpPr>
          <p:cNvPr id="3" name="مُرشِدي">
            <a:extLst>
              <a:ext uri="{FF2B5EF4-FFF2-40B4-BE49-F238E27FC236}">
                <a16:creationId xmlns:a16="http://schemas.microsoft.com/office/drawing/2014/main" id="{7CFCE7E7-46FB-45ED-94B0-F29F69B3E9C8}"/>
              </a:ext>
            </a:extLst>
          </p:cNvPr>
          <p:cNvSpPr>
            <a:spLocks noGrp="1"/>
          </p:cNvSpPr>
          <p:nvPr/>
        </p:nvSpPr>
        <p:spPr>
          <a:xfrm>
            <a:off x="6191250" y="1884045"/>
            <a:ext cx="5286375" cy="133731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7200" b="1" kern="0" spc="0">
                <a:solidFill>
                  <a:srgbClr val="FFFFFF"/>
                </a:solidFill>
                <a:latin typeface="IBM Plex Sans Arabic"/>
                <a:ea typeface="IBM Plex Sans Arabic"/>
                <a:cs typeface="IBM Plex Sans Arabic"/>
              </a:defRPr>
            </a:pPr>
            <a:r>
              <a:rPr lang="ar-JO" sz="7200" b="1" kern="0" spc="0">
                <a:solidFill>
                  <a:srgbClr val="FFFFFF"/>
                </a:solidFill>
                <a:latin typeface="IBM Plex Sans Arabic"/>
                <a:ea typeface="IBM Plex Sans Arabic"/>
                <a:cs typeface="IBM Plex Sans Arabic"/>
              </a:rPr>
              <a:t>مُرشِدي</a:t>
            </a:r>
          </a:p>
        </p:txBody>
      </p:sp>
      <p:sp>
        <p:nvSpPr>
          <p:cNvPr id="4" name="قرار جامعي أوضح">
            <a:extLst>
              <a:ext uri="{FF2B5EF4-FFF2-40B4-BE49-F238E27FC236}">
                <a16:creationId xmlns:a16="http://schemas.microsoft.com/office/drawing/2014/main" id="{A0FA5A73-5CB3-4515-B300-6BEDCC0E4CC2}"/>
              </a:ext>
            </a:extLst>
          </p:cNvPr>
          <p:cNvSpPr>
            <a:spLocks noGrp="1"/>
          </p:cNvSpPr>
          <p:nvPr/>
        </p:nvSpPr>
        <p:spPr>
          <a:xfrm>
            <a:off x="6143625" y="3195638"/>
            <a:ext cx="5334000" cy="6572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75" b="1" kern="0" spc="0">
                <a:solidFill>
                  <a:srgbClr val="C8A04C"/>
                </a:solidFill>
                <a:latin typeface="IBM Plex Sans Arabic"/>
                <a:ea typeface="IBM Plex Sans Arabic"/>
                <a:cs typeface="IBM Plex Sans Arabic"/>
              </a:defRPr>
            </a:pPr>
            <a:r>
              <a:rPr lang="ar-JO" sz="3375" b="1" kern="0" spc="0">
                <a:solidFill>
                  <a:srgbClr val="C8A04C"/>
                </a:solidFill>
                <a:latin typeface="IBM Plex Sans Arabic"/>
                <a:ea typeface="IBM Plex Sans Arabic"/>
                <a:cs typeface="IBM Plex Sans Arabic"/>
              </a:rPr>
              <a:t>قرار جامعي أوضح</a:t>
            </a:r>
          </a:p>
        </p:txBody>
      </p:sp>
      <p:sp>
        <p:nvSpPr>
          <p:cNvPr id="5" name="Vcoders">
            <a:extLst>
              <a:ext uri="{FF2B5EF4-FFF2-40B4-BE49-F238E27FC236}">
                <a16:creationId xmlns:a16="http://schemas.microsoft.com/office/drawing/2014/main" id="{54FCFBBB-56DF-4256-86F7-9037816C0DAF}"/>
              </a:ext>
            </a:extLst>
          </p:cNvPr>
          <p:cNvSpPr>
            <a:spLocks noGrp="1"/>
          </p:cNvSpPr>
          <p:nvPr/>
        </p:nvSpPr>
        <p:spPr>
          <a:xfrm>
            <a:off x="7286625" y="4021455"/>
            <a:ext cx="4191000" cy="51054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2550" b="0" kern="0" spc="0">
                <a:solidFill>
                  <a:srgbClr val="FFFFFF"/>
                </a:solidFill>
                <a:latin typeface="IBM Plex Sans Arabic"/>
                <a:ea typeface="IBM Plex Sans Arabic"/>
                <a:cs typeface="IBM Plex Sans Arabic"/>
              </a:defRPr>
            </a:pPr>
            <a:r>
              <a:rPr lang="ar-JO" sz="2550" b="0" kern="0" spc="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a:ext uri="{FF2B5EF4-FFF2-40B4-BE49-F238E27FC236}">
                <a16:creationId xmlns:a16="http://schemas.microsoft.com/office/drawing/2014/main" id="{0C2D08E6-0835-4500-98F4-3476D520A879}"/>
              </a:ext>
            </a:extLst>
          </p:cNvPr>
          <p:cNvSpPr>
            <a:spLocks noGrp="1"/>
          </p:cNvSpPr>
          <p:nvPr/>
        </p:nvSpPr>
        <p:spPr>
          <a:xfrm>
            <a:off x="6096000" y="5534025"/>
            <a:ext cx="5381625" cy="4000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0" kern="0" spc="0">
                <a:solidFill>
                  <a:srgbClr val="D1DEED"/>
                </a:solidFill>
                <a:latin typeface="IBM Plex Sans Arabic"/>
                <a:ea typeface="IBM Plex Sans Arabic"/>
                <a:cs typeface="IBM Plex Sans Arabic"/>
              </a:defRPr>
            </a:pPr>
            <a:r>
              <a:rPr lang="ar-JO" sz="1875" b="0" kern="0" spc="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a:ext uri="{FF2B5EF4-FFF2-40B4-BE49-F238E27FC236}">
                <a16:creationId xmlns:a16="http://schemas.microsoft.com/office/drawing/2014/main" id="{D6FF1AC7-1373-4DCF-B248-5C935D5903A8}"/>
              </a:ext>
            </a:extLst>
          </p:cNvPr>
          <p:cNvSpPr>
            <a:spLocks noGrp="1"/>
          </p:cNvSpPr>
          <p:nvPr/>
        </p:nvSpPr>
        <p:spPr>
          <a:xfrm>
            <a:off x="7429500" y="5937885"/>
            <a:ext cx="4048125" cy="36385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D1DEED"/>
                </a:solidFill>
                <a:latin typeface="IBM Plex Sans Arabic"/>
                <a:ea typeface="IBM Plex Sans Arabic"/>
                <a:cs typeface="IBM Plex Sans Arabic"/>
              </a:defRPr>
            </a:pPr>
            <a:r>
              <a:rPr lang="ar-JO" sz="1725" b="0" kern="0" spc="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1518756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6" name="Picture 25"/>
          <p:cNvPicPr>
            <a:picLocks noChangeAspect="1"/>
          </p:cNvPicPr>
          <p:nvPr/>
        </p:nvPicPr>
        <p:blipFill>
          <a:blip r:embed="rId3"/>
          <a:stretch/>
        </p:blipFill>
        <p:spPr>
          <a:xfrm>
            <a:off x="11125200" y="400050"/>
            <a:ext cx="552450" cy="552450"/>
          </a:xfrm>
          <a:prstGeom prst="rect">
            <a:avLst/>
          </a:prstGeom>
        </p:spPr>
      </p:pic>
      <p:sp>
        <p:nvSpPr>
          <p:cNvPr id="2" name="قرار واحد داخل دليل يضم 607 عرض برنامج">
            <a:extLst>
              <a:ext uri="{FF2B5EF4-FFF2-40B4-BE49-F238E27FC236}">
                <a16:creationId xmlns:a16="http://schemas.microsoft.com/office/drawing/2014/main" id="{816373EA-28A6-408C-BF73-91D468007628}"/>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قرار واحد داخل دليل يضم 607 عرض برنامج</a:t>
            </a:r>
          </a:p>
        </p:txBody>
      </p:sp>
      <p:sp>
        <p:nvSpPr>
          <p:cNvPr id="3" name="02">
            <a:extLst>
              <a:ext uri="{FF2B5EF4-FFF2-40B4-BE49-F238E27FC236}">
                <a16:creationId xmlns:a16="http://schemas.microsoft.com/office/drawing/2014/main" id="{BF3C4CBC-7851-40D2-AE14-39710AD6F58E}"/>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02</a:t>
            </a:r>
          </a:p>
        </p:txBody>
      </p:sp>
      <p:sp>
        <p:nvSpPr>
          <p:cNvPr id="4" name="Rectangle: Rounded Corners 3">
            <a:extLst>
              <a:ext uri="{FF2B5EF4-FFF2-40B4-BE49-F238E27FC236}">
                <a16:creationId xmlns:a16="http://schemas.microsoft.com/office/drawing/2014/main" id="{F3162491-A290-4A44-AC01-8B5BCDAFC184}"/>
              </a:ext>
            </a:extLst>
          </p:cNvPr>
          <p:cNvSpPr>
            <a:spLocks noGrp="1"/>
          </p:cNvSpPr>
          <p:nvPr/>
        </p:nvSpPr>
        <p:spPr>
          <a:xfrm>
            <a:off x="6191250" y="1581150"/>
            <a:ext cx="5286375" cy="3257550"/>
          </a:xfrm>
          <a:prstGeom prst="roundRect">
            <a:avLst>
              <a:gd name="adj" fmla="val 2339"/>
            </a:avLst>
          </a:prstGeom>
          <a:solidFill>
            <a:srgbClr val="FFFFFF"/>
          </a:solidFill>
          <a:ln w="12383">
            <a:solidFill>
              <a:srgbClr val="D4DEE9"/>
            </a:solidFill>
          </a:ln>
        </p:spPr>
      </p:sp>
      <p:sp>
        <p:nvSpPr>
          <p:cNvPr id="5" name="Rectangle: Rounded Corners 4">
            <a:extLst>
              <a:ext uri="{FF2B5EF4-FFF2-40B4-BE49-F238E27FC236}">
                <a16:creationId xmlns:a16="http://schemas.microsoft.com/office/drawing/2014/main" id="{D843EC9A-5075-4CA0-BBDA-069E094B1BD3}"/>
              </a:ext>
            </a:extLst>
          </p:cNvPr>
          <p:cNvSpPr>
            <a:spLocks noGrp="1"/>
          </p:cNvSpPr>
          <p:nvPr/>
        </p:nvSpPr>
        <p:spPr>
          <a:xfrm>
            <a:off x="9144000" y="1781175"/>
            <a:ext cx="2095500" cy="381000"/>
          </a:xfrm>
          <a:prstGeom prst="roundRect">
            <a:avLst>
              <a:gd name="adj" fmla="val 20000"/>
            </a:avLst>
          </a:prstGeom>
          <a:solidFill>
            <a:srgbClr val="E7EEF6"/>
          </a:solidFill>
          <a:ln w="12383">
            <a:solidFill>
              <a:srgbClr val="C9D5E3"/>
            </a:solidFill>
          </a:ln>
        </p:spPr>
      </p:sp>
      <p:sp>
        <p:nvSpPr>
          <p:cNvPr id="6" name="لحظة الطالب">
            <a:extLst>
              <a:ext uri="{FF2B5EF4-FFF2-40B4-BE49-F238E27FC236}">
                <a16:creationId xmlns:a16="http://schemas.microsoft.com/office/drawing/2014/main" id="{80C5BE7F-5F5D-44CD-B551-17C6B8F908CF}"/>
              </a:ext>
            </a:extLst>
          </p:cNvPr>
          <p:cNvSpPr>
            <a:spLocks noGrp="1"/>
          </p:cNvSpPr>
          <p:nvPr/>
        </p:nvSpPr>
        <p:spPr>
          <a:xfrm>
            <a:off x="9239250" y="1808798"/>
            <a:ext cx="19050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لحظة الطالب</a:t>
            </a:r>
          </a:p>
        </p:txBody>
      </p:sp>
      <p:sp>
        <p:nvSpPr>
          <p:cNvPr id="7" name="بعد التوجيهي يريد جوابًا واضحًا:">
            <a:extLst>
              <a:ext uri="{FF2B5EF4-FFF2-40B4-BE49-F238E27FC236}">
                <a16:creationId xmlns:a16="http://schemas.microsoft.com/office/drawing/2014/main" id="{4B52E89C-8288-4A0D-AD9C-E8968F6C4CF2}"/>
              </a:ext>
            </a:extLst>
          </p:cNvPr>
          <p:cNvSpPr>
            <a:spLocks noGrp="1"/>
          </p:cNvSpPr>
          <p:nvPr/>
        </p:nvSpPr>
        <p:spPr>
          <a:xfrm>
            <a:off x="6477000" y="2266950"/>
            <a:ext cx="4714875" cy="4572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75" b="1" kern="0" spc="0">
                <a:solidFill>
                  <a:srgbClr val="013070"/>
                </a:solidFill>
                <a:latin typeface="IBM Plex Sans Arabic"/>
                <a:ea typeface="IBM Plex Sans Arabic"/>
                <a:cs typeface="IBM Plex Sans Arabic"/>
              </a:defRPr>
            </a:pPr>
            <a:r>
              <a:rPr lang="ar-JO" sz="2175" b="1" kern="0" spc="0">
                <a:solidFill>
                  <a:srgbClr val="013070"/>
                </a:solidFill>
                <a:latin typeface="IBM Plex Sans Arabic"/>
                <a:ea typeface="IBM Plex Sans Arabic"/>
                <a:cs typeface="IBM Plex Sans Arabic"/>
              </a:rPr>
              <a:t>بعد التوجيهي يريد جوابًا واضحًا:</a:t>
            </a:r>
          </a:p>
        </p:txBody>
      </p:sp>
      <p:sp>
        <p:nvSpPr>
          <p:cNvPr id="8" name="Rectangle: Rounded Corners 7">
            <a:extLst>
              <a:ext uri="{FF2B5EF4-FFF2-40B4-BE49-F238E27FC236}">
                <a16:creationId xmlns:a16="http://schemas.microsoft.com/office/drawing/2014/main" id="{74022DE2-38A8-4DA3-9E63-27DB7B90E7DC}"/>
              </a:ext>
            </a:extLst>
          </p:cNvPr>
          <p:cNvSpPr>
            <a:spLocks noGrp="1"/>
          </p:cNvSpPr>
          <p:nvPr/>
        </p:nvSpPr>
        <p:spPr>
          <a:xfrm>
            <a:off x="6486525" y="2838450"/>
            <a:ext cx="4705350" cy="514350"/>
          </a:xfrm>
          <a:prstGeom prst="roundRect">
            <a:avLst>
              <a:gd name="adj" fmla="val 14815"/>
            </a:avLst>
          </a:prstGeom>
          <a:solidFill>
            <a:srgbClr val="F3EAD7"/>
          </a:solidFill>
          <a:ln w="12383">
            <a:solidFill>
              <a:srgbClr val="DFC98F"/>
            </a:solidFill>
          </a:ln>
        </p:spPr>
      </p:sp>
      <p:sp>
        <p:nvSpPr>
          <p:cNvPr id="9" name="يناسبني؟">
            <a:extLst>
              <a:ext uri="{FF2B5EF4-FFF2-40B4-BE49-F238E27FC236}">
                <a16:creationId xmlns:a16="http://schemas.microsoft.com/office/drawing/2014/main" id="{20681571-5090-44E1-B91F-705AAB0BB666}"/>
              </a:ext>
            </a:extLst>
          </p:cNvPr>
          <p:cNvSpPr>
            <a:spLocks noGrp="1"/>
          </p:cNvSpPr>
          <p:nvPr/>
        </p:nvSpPr>
        <p:spPr>
          <a:xfrm>
            <a:off x="8858250" y="2895600"/>
            <a:ext cx="2143125" cy="3714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يناسبني؟</a:t>
            </a:r>
          </a:p>
        </p:txBody>
      </p:sp>
      <p:sp>
        <p:nvSpPr>
          <p:cNvPr id="10" name="الميول والاهتمامات">
            <a:extLst>
              <a:ext uri="{FF2B5EF4-FFF2-40B4-BE49-F238E27FC236}">
                <a16:creationId xmlns:a16="http://schemas.microsoft.com/office/drawing/2014/main" id="{8A43E225-FC36-4CAC-A1CA-8A04AE0C626A}"/>
              </a:ext>
            </a:extLst>
          </p:cNvPr>
          <p:cNvSpPr>
            <a:spLocks noGrp="1"/>
          </p:cNvSpPr>
          <p:nvPr/>
        </p:nvSpPr>
        <p:spPr>
          <a:xfrm>
            <a:off x="6677025" y="2895600"/>
            <a:ext cx="2095500" cy="3714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الميول والاهتمامات</a:t>
            </a:r>
          </a:p>
        </p:txBody>
      </p:sp>
      <p:sp>
        <p:nvSpPr>
          <p:cNvPr id="11" name="Rectangle: Rounded Corners 10">
            <a:extLst>
              <a:ext uri="{FF2B5EF4-FFF2-40B4-BE49-F238E27FC236}">
                <a16:creationId xmlns:a16="http://schemas.microsoft.com/office/drawing/2014/main" id="{9960C32C-FF3D-44CF-BC0B-9842FA991B54}"/>
              </a:ext>
            </a:extLst>
          </p:cNvPr>
          <p:cNvSpPr>
            <a:spLocks noGrp="1"/>
          </p:cNvSpPr>
          <p:nvPr/>
        </p:nvSpPr>
        <p:spPr>
          <a:xfrm>
            <a:off x="6486525" y="3467100"/>
            <a:ext cx="4705350" cy="514350"/>
          </a:xfrm>
          <a:prstGeom prst="roundRect">
            <a:avLst>
              <a:gd name="adj" fmla="val 14815"/>
            </a:avLst>
          </a:prstGeom>
          <a:solidFill>
            <a:srgbClr val="EEF3F8"/>
          </a:solidFill>
          <a:ln w="12383">
            <a:solidFill>
              <a:srgbClr val="D4DEE9"/>
            </a:solidFill>
          </a:ln>
        </p:spPr>
      </p:sp>
      <p:sp>
        <p:nvSpPr>
          <p:cNvPr id="12" name="أستطيع التقديم؟">
            <a:extLst>
              <a:ext uri="{FF2B5EF4-FFF2-40B4-BE49-F238E27FC236}">
                <a16:creationId xmlns:a16="http://schemas.microsoft.com/office/drawing/2014/main" id="{57BD7AB2-371F-4F64-8205-9C278FBD0411}"/>
              </a:ext>
            </a:extLst>
          </p:cNvPr>
          <p:cNvSpPr>
            <a:spLocks noGrp="1"/>
          </p:cNvSpPr>
          <p:nvPr/>
        </p:nvSpPr>
        <p:spPr>
          <a:xfrm>
            <a:off x="8858250" y="3524250"/>
            <a:ext cx="2143125" cy="3714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أستطيع التقديم؟</a:t>
            </a:r>
          </a:p>
        </p:txBody>
      </p:sp>
      <p:sp>
        <p:nvSpPr>
          <p:cNvPr id="13" name="الشروط والقبول">
            <a:extLst>
              <a:ext uri="{FF2B5EF4-FFF2-40B4-BE49-F238E27FC236}">
                <a16:creationId xmlns:a16="http://schemas.microsoft.com/office/drawing/2014/main" id="{61EB120E-B46A-4666-AF1F-ECC2D537778B}"/>
              </a:ext>
            </a:extLst>
          </p:cNvPr>
          <p:cNvSpPr>
            <a:spLocks noGrp="1"/>
          </p:cNvSpPr>
          <p:nvPr/>
        </p:nvSpPr>
        <p:spPr>
          <a:xfrm>
            <a:off x="6677025" y="3524250"/>
            <a:ext cx="2095500" cy="3714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الشروط والقبول</a:t>
            </a:r>
          </a:p>
        </p:txBody>
      </p:sp>
      <p:sp>
        <p:nvSpPr>
          <p:cNvPr id="14" name="Rectangle: Rounded Corners 13">
            <a:extLst>
              <a:ext uri="{FF2B5EF4-FFF2-40B4-BE49-F238E27FC236}">
                <a16:creationId xmlns:a16="http://schemas.microsoft.com/office/drawing/2014/main" id="{A5E6B150-7061-43F9-A099-6B675024D552}"/>
              </a:ext>
            </a:extLst>
          </p:cNvPr>
          <p:cNvSpPr>
            <a:spLocks noGrp="1"/>
          </p:cNvSpPr>
          <p:nvPr/>
        </p:nvSpPr>
        <p:spPr>
          <a:xfrm>
            <a:off x="6486525" y="4095750"/>
            <a:ext cx="4705350" cy="514350"/>
          </a:xfrm>
          <a:prstGeom prst="roundRect">
            <a:avLst>
              <a:gd name="adj" fmla="val 14815"/>
            </a:avLst>
          </a:prstGeom>
          <a:solidFill>
            <a:srgbClr val="EEF3F8"/>
          </a:solidFill>
          <a:ln w="12383">
            <a:solidFill>
              <a:srgbClr val="D4DEE9"/>
            </a:solidFill>
          </a:ln>
        </p:spPr>
      </p:sp>
      <p:sp>
        <p:nvSpPr>
          <p:cNvPr id="15" name="تستطيع أسرتي تحمّله؟">
            <a:extLst>
              <a:ext uri="{FF2B5EF4-FFF2-40B4-BE49-F238E27FC236}">
                <a16:creationId xmlns:a16="http://schemas.microsoft.com/office/drawing/2014/main" id="{D9C1D689-DED9-418B-A013-C4575574F989}"/>
              </a:ext>
            </a:extLst>
          </p:cNvPr>
          <p:cNvSpPr>
            <a:spLocks noGrp="1"/>
          </p:cNvSpPr>
          <p:nvPr/>
        </p:nvSpPr>
        <p:spPr>
          <a:xfrm>
            <a:off x="8858250" y="4152900"/>
            <a:ext cx="2143125" cy="3714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تستطيع أسرتي تحمّله؟</a:t>
            </a:r>
          </a:p>
        </p:txBody>
      </p:sp>
      <p:sp>
        <p:nvSpPr>
          <p:cNvPr id="16" name="الرسوم والكلفة">
            <a:extLst>
              <a:ext uri="{FF2B5EF4-FFF2-40B4-BE49-F238E27FC236}">
                <a16:creationId xmlns:a16="http://schemas.microsoft.com/office/drawing/2014/main" id="{6E4711BE-D906-4A78-979C-2BC4495A6FB5}"/>
              </a:ext>
            </a:extLst>
          </p:cNvPr>
          <p:cNvSpPr>
            <a:spLocks noGrp="1"/>
          </p:cNvSpPr>
          <p:nvPr/>
        </p:nvSpPr>
        <p:spPr>
          <a:xfrm>
            <a:off x="6677025" y="4152900"/>
            <a:ext cx="2095500" cy="3714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الرسوم والكلفة</a:t>
            </a:r>
          </a:p>
        </p:txBody>
      </p:sp>
      <p:sp>
        <p:nvSpPr>
          <p:cNvPr id="17" name="Rectangle: Rounded Corners 16">
            <a:extLst>
              <a:ext uri="{FF2B5EF4-FFF2-40B4-BE49-F238E27FC236}">
                <a16:creationId xmlns:a16="http://schemas.microsoft.com/office/drawing/2014/main" id="{570C8514-0161-48A8-8194-BB392F8E4B39}"/>
              </a:ext>
            </a:extLst>
          </p:cNvPr>
          <p:cNvSpPr>
            <a:spLocks noGrp="1"/>
          </p:cNvSpPr>
          <p:nvPr/>
        </p:nvSpPr>
        <p:spPr>
          <a:xfrm>
            <a:off x="571500" y="1581150"/>
            <a:ext cx="5095875" cy="1495425"/>
          </a:xfrm>
          <a:prstGeom prst="roundRect">
            <a:avLst>
              <a:gd name="adj" fmla="val 5096"/>
            </a:avLst>
          </a:prstGeom>
          <a:solidFill>
            <a:srgbClr val="FFFFFF"/>
          </a:solidFill>
          <a:ln w="12383">
            <a:solidFill>
              <a:srgbClr val="D4DEE9"/>
            </a:solidFill>
          </a:ln>
        </p:spPr>
      </p:sp>
      <p:sp>
        <p:nvSpPr>
          <p:cNvPr id="18" name="116,366">
            <a:extLst>
              <a:ext uri="{FF2B5EF4-FFF2-40B4-BE49-F238E27FC236}">
                <a16:creationId xmlns:a16="http://schemas.microsoft.com/office/drawing/2014/main" id="{BF4C2CCD-019C-4A06-B903-0C226EE79D45}"/>
              </a:ext>
            </a:extLst>
          </p:cNvPr>
          <p:cNvSpPr>
            <a:spLocks noGrp="1"/>
          </p:cNvSpPr>
          <p:nvPr/>
        </p:nvSpPr>
        <p:spPr>
          <a:xfrm>
            <a:off x="809625" y="1677353"/>
            <a:ext cx="4619625" cy="81724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275" b="1" kern="0" spc="0">
                <a:solidFill>
                  <a:srgbClr val="013070"/>
                </a:solidFill>
                <a:latin typeface="IBM Plex Sans Arabic"/>
                <a:ea typeface="IBM Plex Sans Arabic"/>
                <a:cs typeface="IBM Plex Sans Arabic"/>
              </a:defRPr>
            </a:pPr>
            <a:r>
              <a:rPr lang="ar-JO" sz="4275" b="1" kern="0" spc="0">
                <a:solidFill>
                  <a:srgbClr val="013070"/>
                </a:solidFill>
                <a:latin typeface="IBM Plex Sans Arabic"/>
                <a:ea typeface="IBM Plex Sans Arabic"/>
                <a:cs typeface="IBM Plex Sans Arabic"/>
              </a:rPr>
              <a:t>116,366</a:t>
            </a:r>
          </a:p>
        </p:txBody>
      </p:sp>
      <p:sp>
        <p:nvSpPr>
          <p:cNvPr id="19" name="ناجحًا في التوجيهي 2026">
            <a:extLst>
              <a:ext uri="{FF2B5EF4-FFF2-40B4-BE49-F238E27FC236}">
                <a16:creationId xmlns:a16="http://schemas.microsoft.com/office/drawing/2014/main" id="{5BD4168D-3AD5-48EC-BB3A-178FCB2F1545}"/>
              </a:ext>
            </a:extLst>
          </p:cNvPr>
          <p:cNvSpPr>
            <a:spLocks noGrp="1"/>
          </p:cNvSpPr>
          <p:nvPr/>
        </p:nvSpPr>
        <p:spPr>
          <a:xfrm>
            <a:off x="809625" y="2447925"/>
            <a:ext cx="4619625" cy="4095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53657C"/>
                </a:solidFill>
                <a:latin typeface="IBM Plex Sans Arabic"/>
                <a:ea typeface="IBM Plex Sans Arabic"/>
                <a:cs typeface="IBM Plex Sans Arabic"/>
              </a:defRPr>
            </a:pPr>
            <a:r>
              <a:rPr lang="ar-JO" sz="1800" b="1" kern="0" spc="0">
                <a:solidFill>
                  <a:srgbClr val="53657C"/>
                </a:solidFill>
                <a:latin typeface="IBM Plex Sans Arabic"/>
                <a:ea typeface="IBM Plex Sans Arabic"/>
                <a:cs typeface="IBM Plex Sans Arabic"/>
              </a:rPr>
              <a:t>ناجحًا في التوجيهي 2026</a:t>
            </a:r>
          </a:p>
        </p:txBody>
      </p:sp>
      <p:sp>
        <p:nvSpPr>
          <p:cNvPr id="20" name="Rectangle: Rounded Corners 19">
            <a:extLst>
              <a:ext uri="{FF2B5EF4-FFF2-40B4-BE49-F238E27FC236}">
                <a16:creationId xmlns:a16="http://schemas.microsoft.com/office/drawing/2014/main" id="{477811BE-257B-4F1E-BC38-4021E3F6061B}"/>
              </a:ext>
            </a:extLst>
          </p:cNvPr>
          <p:cNvSpPr>
            <a:spLocks noGrp="1"/>
          </p:cNvSpPr>
          <p:nvPr/>
        </p:nvSpPr>
        <p:spPr>
          <a:xfrm>
            <a:off x="571500" y="3238500"/>
            <a:ext cx="5095875" cy="1600200"/>
          </a:xfrm>
          <a:prstGeom prst="roundRect">
            <a:avLst>
              <a:gd name="adj" fmla="val 4762"/>
            </a:avLst>
          </a:prstGeom>
          <a:solidFill>
            <a:srgbClr val="F3EAD7"/>
          </a:solidFill>
          <a:ln w="12383">
            <a:solidFill>
              <a:srgbClr val="DFC98F"/>
            </a:solidFill>
          </a:ln>
        </p:spPr>
      </p:sp>
      <p:sp>
        <p:nvSpPr>
          <p:cNvPr id="21" name="607">
            <a:extLst>
              <a:ext uri="{FF2B5EF4-FFF2-40B4-BE49-F238E27FC236}">
                <a16:creationId xmlns:a16="http://schemas.microsoft.com/office/drawing/2014/main" id="{9463BE36-F6C6-4DDF-AA0C-77025E23C5A3}"/>
              </a:ext>
            </a:extLst>
          </p:cNvPr>
          <p:cNvSpPr>
            <a:spLocks noGrp="1"/>
          </p:cNvSpPr>
          <p:nvPr/>
        </p:nvSpPr>
        <p:spPr>
          <a:xfrm>
            <a:off x="809625" y="3295650"/>
            <a:ext cx="4619625" cy="9906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5250" b="1" kern="0" spc="0">
                <a:solidFill>
                  <a:srgbClr val="C8A04C"/>
                </a:solidFill>
                <a:latin typeface="IBM Plex Sans Arabic"/>
                <a:ea typeface="IBM Plex Sans Arabic"/>
                <a:cs typeface="IBM Plex Sans Arabic"/>
              </a:defRPr>
            </a:pPr>
            <a:r>
              <a:rPr lang="ar-JO" sz="5250" b="1" kern="0" spc="0">
                <a:solidFill>
                  <a:srgbClr val="C8A04C"/>
                </a:solidFill>
                <a:latin typeface="IBM Plex Sans Arabic"/>
                <a:ea typeface="IBM Plex Sans Arabic"/>
                <a:cs typeface="IBM Plex Sans Arabic"/>
              </a:rPr>
              <a:t>607</a:t>
            </a:r>
          </a:p>
        </p:txBody>
      </p:sp>
      <p:sp>
        <p:nvSpPr>
          <p:cNvPr id="22" name="عروض برامج بكالوريوس">
            <a:extLst>
              <a:ext uri="{FF2B5EF4-FFF2-40B4-BE49-F238E27FC236}">
                <a16:creationId xmlns:a16="http://schemas.microsoft.com/office/drawing/2014/main" id="{67F9AA9A-9CF4-4444-8C25-D4F52971D032}"/>
              </a:ext>
            </a:extLst>
          </p:cNvPr>
          <p:cNvSpPr>
            <a:spLocks noGrp="1"/>
          </p:cNvSpPr>
          <p:nvPr/>
        </p:nvSpPr>
        <p:spPr>
          <a:xfrm>
            <a:off x="809625" y="4171950"/>
            <a:ext cx="4619625"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013070"/>
                </a:solidFill>
                <a:latin typeface="IBM Plex Sans Arabic"/>
                <a:ea typeface="IBM Plex Sans Arabic"/>
                <a:cs typeface="IBM Plex Sans Arabic"/>
              </a:defRPr>
            </a:pPr>
            <a:r>
              <a:rPr lang="ar-JO" sz="1950" b="1" kern="0" spc="0">
                <a:solidFill>
                  <a:srgbClr val="013070"/>
                </a:solidFill>
                <a:latin typeface="IBM Plex Sans Arabic"/>
                <a:ea typeface="IBM Plex Sans Arabic"/>
                <a:cs typeface="IBM Plex Sans Arabic"/>
              </a:rPr>
              <a:t>عروض برامج بكالوريوس</a:t>
            </a:r>
          </a:p>
        </p:txBody>
      </p:sp>
      <p:sp>
        <p:nvSpPr>
          <p:cNvPr id="23" name="Rectangle: Rounded Corners 22">
            <a:extLst>
              <a:ext uri="{FF2B5EF4-FFF2-40B4-BE49-F238E27FC236}">
                <a16:creationId xmlns:a16="http://schemas.microsoft.com/office/drawing/2014/main" id="{1AB8C986-7D40-4F96-92DE-5B35EDADCDE2}"/>
              </a:ext>
            </a:extLst>
          </p:cNvPr>
          <p:cNvSpPr>
            <a:spLocks noGrp="1"/>
          </p:cNvSpPr>
          <p:nvPr/>
        </p:nvSpPr>
        <p:spPr>
          <a:xfrm>
            <a:off x="666750" y="5105400"/>
            <a:ext cx="10810875" cy="666750"/>
          </a:xfrm>
          <a:prstGeom prst="roundRect">
            <a:avLst>
              <a:gd name="adj" fmla="val 11429"/>
            </a:avLst>
          </a:prstGeom>
          <a:solidFill>
            <a:srgbClr val="013070"/>
          </a:solidFill>
          <a:ln w="12383">
            <a:solidFill>
              <a:srgbClr val="013070"/>
            </a:solidFill>
          </a:ln>
        </p:spPr>
      </p:sp>
      <p:sp>
        <p:nvSpPr>
          <p:cNvPr id="24" name="المشكلة: القبول والرسوم والكلفة والسوق لا تجت">
            <a:extLst>
              <a:ext uri="{FF2B5EF4-FFF2-40B4-BE49-F238E27FC236}">
                <a16:creationId xmlns:a16="http://schemas.microsoft.com/office/drawing/2014/main" id="{6F9E6C2D-7231-40CE-8EC6-D2EA062566CF}"/>
              </a:ext>
            </a:extLst>
          </p:cNvPr>
          <p:cNvSpPr>
            <a:spLocks noGrp="1"/>
          </p:cNvSpPr>
          <p:nvPr/>
        </p:nvSpPr>
        <p:spPr>
          <a:xfrm>
            <a:off x="876300" y="5200650"/>
            <a:ext cx="10391775" cy="4762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FFFFFF"/>
                </a:solidFill>
                <a:latin typeface="IBM Plex Sans Arabic"/>
                <a:ea typeface="IBM Plex Sans Arabic"/>
                <a:cs typeface="IBM Plex Sans Arabic"/>
              </a:defRPr>
            </a:pPr>
            <a:r>
              <a:rPr lang="ar-JO" sz="1950" b="1" kern="0" spc="0">
                <a:solidFill>
                  <a:srgbClr val="FFFFFF"/>
                </a:solidFill>
                <a:latin typeface="IBM Plex Sans Arabic"/>
                <a:ea typeface="IBM Plex Sans Arabic"/>
                <a:cs typeface="IBM Plex Sans Arabic"/>
              </a:rPr>
              <a:t>المشكلة: القبول والرسوم والكلفة والسوق لا تجتمع حول الطالب في قرار واحد</a:t>
            </a:r>
          </a:p>
        </p:txBody>
      </p:sp>
      <p:sp>
        <p:nvSpPr>
          <p:cNvPr id="25" name="المصدر: وزارة التربية والتعليم • وحدة تنسيق ا">
            <a:extLst>
              <a:ext uri="{FF2B5EF4-FFF2-40B4-BE49-F238E27FC236}">
                <a16:creationId xmlns:a16="http://schemas.microsoft.com/office/drawing/2014/main" id="{8F03DB70-33B2-46BF-A200-CB74FB848B35}"/>
              </a:ext>
            </a:extLst>
          </p:cNvPr>
          <p:cNvSpPr>
            <a:spLocks noGrp="1"/>
          </p:cNvSpPr>
          <p:nvPr/>
        </p:nvSpPr>
        <p:spPr>
          <a:xfrm>
            <a:off x="762000" y="5966460"/>
            <a:ext cx="106680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المصدر: وزارة التربية والتعليم • وحدة تنسيق القبول الموحد، آب 2026</a:t>
            </a:r>
          </a:p>
        </p:txBody>
      </p:sp>
    </p:spTree>
    <p:extLst>
      <p:ext uri="{BB962C8B-B14F-4D97-AF65-F5344CB8AC3E}">
        <p14:creationId xmlns:p14="http://schemas.microsoft.com/office/powerpoint/2010/main" val="471679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11125200" y="400050"/>
            <a:ext cx="552450" cy="552450"/>
          </a:xfrm>
          <a:prstGeom prst="rect">
            <a:avLst/>
          </a:prstGeom>
        </p:spPr>
      </p:pic>
      <p:sp>
        <p:nvSpPr>
          <p:cNvPr id="2" name="الحل: من الاهتمام إلى قائمة قصيرة">
            <a:extLst>
              <a:ext uri="{FF2B5EF4-FFF2-40B4-BE49-F238E27FC236}">
                <a16:creationId xmlns:a16="http://schemas.microsoft.com/office/drawing/2014/main" id="{3AFD930C-0D64-4A18-A7AD-055F435E188A}"/>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الحل: من الاهتمام إلى قائمة قصيرة</a:t>
            </a:r>
          </a:p>
        </p:txBody>
      </p:sp>
      <p:sp>
        <p:nvSpPr>
          <p:cNvPr id="3" name="03">
            <a:extLst>
              <a:ext uri="{FF2B5EF4-FFF2-40B4-BE49-F238E27FC236}">
                <a16:creationId xmlns:a16="http://schemas.microsoft.com/office/drawing/2014/main" id="{3BFF29FB-E134-429D-A1FB-6D58CC78054D}"/>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03</a:t>
            </a:r>
          </a:p>
        </p:txBody>
      </p:sp>
      <p:pic>
        <p:nvPicPr>
          <p:cNvPr id="18" name="Picture 17"/>
          <p:cNvPicPr>
            <a:picLocks noChangeAspect="1"/>
          </p:cNvPicPr>
          <p:nvPr/>
        </p:nvPicPr>
        <p:blipFill>
          <a:blip r:embed="rId4"/>
          <a:stretch/>
        </p:blipFill>
        <p:spPr>
          <a:xfrm>
            <a:off x="76200" y="57150"/>
            <a:ext cx="4178300" cy="6267450"/>
          </a:xfrm>
          <a:prstGeom prst="rect">
            <a:avLst/>
          </a:prstGeom>
        </p:spPr>
      </p:pic>
      <p:sp>
        <p:nvSpPr>
          <p:cNvPr id="5" name="Rectangle: Rounded Corners 4">
            <a:extLst>
              <a:ext uri="{FF2B5EF4-FFF2-40B4-BE49-F238E27FC236}">
                <a16:creationId xmlns:a16="http://schemas.microsoft.com/office/drawing/2014/main" id="{94DE4D26-6B2F-4525-9344-A358DAA98861}"/>
              </a:ext>
            </a:extLst>
          </p:cNvPr>
          <p:cNvSpPr>
            <a:spLocks noGrp="1"/>
          </p:cNvSpPr>
          <p:nvPr/>
        </p:nvSpPr>
        <p:spPr>
          <a:xfrm>
            <a:off x="8096250" y="1381125"/>
            <a:ext cx="3381375" cy="381000"/>
          </a:xfrm>
          <a:prstGeom prst="roundRect">
            <a:avLst>
              <a:gd name="adj" fmla="val 20000"/>
            </a:avLst>
          </a:prstGeom>
          <a:solidFill>
            <a:srgbClr val="123D76"/>
          </a:solidFill>
          <a:ln w="12383">
            <a:solidFill>
              <a:srgbClr val="58749B"/>
            </a:solidFill>
          </a:ln>
        </p:spPr>
      </p:sp>
      <p:sp>
        <p:nvSpPr>
          <p:cNvPr id="6" name="نسخة ويب محلية  •  عربي + English">
            <a:extLst>
              <a:ext uri="{FF2B5EF4-FFF2-40B4-BE49-F238E27FC236}">
                <a16:creationId xmlns:a16="http://schemas.microsoft.com/office/drawing/2014/main" id="{327994E6-0E66-4F51-83B4-1191EEAB90E8}"/>
              </a:ext>
            </a:extLst>
          </p:cNvPr>
          <p:cNvSpPr>
            <a:spLocks noGrp="1"/>
          </p:cNvSpPr>
          <p:nvPr/>
        </p:nvSpPr>
        <p:spPr>
          <a:xfrm>
            <a:off x="8191500" y="1408748"/>
            <a:ext cx="319087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نسخة ويب محلية  •  عربي + English</a:t>
            </a:r>
          </a:p>
        </p:txBody>
      </p:sp>
      <p:sp>
        <p:nvSpPr>
          <p:cNvPr id="7" name="1  اكتشف نقطة البداية">
            <a:extLst>
              <a:ext uri="{FF2B5EF4-FFF2-40B4-BE49-F238E27FC236}">
                <a16:creationId xmlns:a16="http://schemas.microsoft.com/office/drawing/2014/main" id="{FE28C62D-ACCF-4523-9A6C-1BB2352CAA7A}"/>
              </a:ext>
            </a:extLst>
          </p:cNvPr>
          <p:cNvSpPr>
            <a:spLocks noGrp="1"/>
          </p:cNvSpPr>
          <p:nvPr/>
        </p:nvSpPr>
        <p:spPr>
          <a:xfrm>
            <a:off x="4524375" y="19526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1  اكتشف نقطة البداية</a:t>
            </a:r>
          </a:p>
        </p:txBody>
      </p:sp>
      <p:sp>
        <p:nvSpPr>
          <p:cNvPr id="8" name="أسئلة استكشاف ذاتي تبني قائمة أولية">
            <a:extLst>
              <a:ext uri="{FF2B5EF4-FFF2-40B4-BE49-F238E27FC236}">
                <a16:creationId xmlns:a16="http://schemas.microsoft.com/office/drawing/2014/main" id="{500909E0-4529-494D-A641-4D69EB40D6EE}"/>
              </a:ext>
            </a:extLst>
          </p:cNvPr>
          <p:cNvSpPr>
            <a:spLocks noGrp="1"/>
          </p:cNvSpPr>
          <p:nvPr/>
        </p:nvSpPr>
        <p:spPr>
          <a:xfrm>
            <a:off x="4524375" y="25431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أسئلة استكشاف ذاتي تبني قائمة أولية</a:t>
            </a:r>
          </a:p>
        </p:txBody>
      </p:sp>
      <p:sp>
        <p:nvSpPr>
          <p:cNvPr id="9" name="2  قارن ما يهم القرار">
            <a:extLst>
              <a:ext uri="{FF2B5EF4-FFF2-40B4-BE49-F238E27FC236}">
                <a16:creationId xmlns:a16="http://schemas.microsoft.com/office/drawing/2014/main" id="{ADAE1ABB-1CDA-46B8-8B15-D9622DEA67CE}"/>
              </a:ext>
            </a:extLst>
          </p:cNvPr>
          <p:cNvSpPr>
            <a:spLocks noGrp="1"/>
          </p:cNvSpPr>
          <p:nvPr/>
        </p:nvSpPr>
        <p:spPr>
          <a:xfrm>
            <a:off x="4524375" y="31718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2  قارن ما يهم القرار</a:t>
            </a:r>
          </a:p>
        </p:txBody>
      </p:sp>
      <p:sp>
        <p:nvSpPr>
          <p:cNvPr id="10" name="قبول ورسوم وكلفة، ثم مؤشرات سوق عامة">
            <a:extLst>
              <a:ext uri="{FF2B5EF4-FFF2-40B4-BE49-F238E27FC236}">
                <a16:creationId xmlns:a16="http://schemas.microsoft.com/office/drawing/2014/main" id="{AA59799E-B816-482B-84DB-BDA46D6DEC7A}"/>
              </a:ext>
            </a:extLst>
          </p:cNvPr>
          <p:cNvSpPr>
            <a:spLocks noGrp="1"/>
          </p:cNvSpPr>
          <p:nvPr/>
        </p:nvSpPr>
        <p:spPr>
          <a:xfrm>
            <a:off x="4524375" y="37623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قبول ورسوم وكلفة، ثم مؤشرات سوق عامة</a:t>
            </a:r>
          </a:p>
        </p:txBody>
      </p:sp>
      <p:sp>
        <p:nvSpPr>
          <p:cNvPr id="11" name="3  ابنِ قائمة مبرّرة">
            <a:extLst>
              <a:ext uri="{FF2B5EF4-FFF2-40B4-BE49-F238E27FC236}">
                <a16:creationId xmlns:a16="http://schemas.microsoft.com/office/drawing/2014/main" id="{249D46FA-03A8-41A2-9764-CC1CA65F4186}"/>
              </a:ext>
            </a:extLst>
          </p:cNvPr>
          <p:cNvSpPr>
            <a:spLocks noGrp="1"/>
          </p:cNvSpPr>
          <p:nvPr/>
        </p:nvSpPr>
        <p:spPr>
          <a:xfrm>
            <a:off x="4524375" y="43910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3  ابنِ قائمة مبرّرة</a:t>
            </a:r>
          </a:p>
        </p:txBody>
      </p:sp>
      <p:sp>
        <p:nvSpPr>
          <p:cNvPr id="12" name="خيارات قصيرة وخطة كلفة وبيانات مؤرخة">
            <a:extLst>
              <a:ext uri="{FF2B5EF4-FFF2-40B4-BE49-F238E27FC236}">
                <a16:creationId xmlns:a16="http://schemas.microsoft.com/office/drawing/2014/main" id="{2BE9F121-6C4D-4173-8851-7B5AAE670AB1}"/>
              </a:ext>
            </a:extLst>
          </p:cNvPr>
          <p:cNvSpPr>
            <a:spLocks noGrp="1"/>
          </p:cNvSpPr>
          <p:nvPr/>
        </p:nvSpPr>
        <p:spPr>
          <a:xfrm>
            <a:off x="4524375" y="49815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خيارات قصيرة وخطة كلفة وبيانات مؤرخة</a:t>
            </a:r>
          </a:p>
        </p:txBody>
      </p:sp>
      <p:sp>
        <p:nvSpPr>
          <p:cNvPr id="13" name="Rectangle: Rounded Corners 12">
            <a:extLst>
              <a:ext uri="{FF2B5EF4-FFF2-40B4-BE49-F238E27FC236}">
                <a16:creationId xmlns:a16="http://schemas.microsoft.com/office/drawing/2014/main" id="{73DC67AA-F60E-4B30-92F8-12EF17A2742D}"/>
              </a:ext>
            </a:extLst>
          </p:cNvPr>
          <p:cNvSpPr>
            <a:spLocks noGrp="1"/>
          </p:cNvSpPr>
          <p:nvPr/>
        </p:nvSpPr>
        <p:spPr>
          <a:xfrm>
            <a:off x="4524375" y="5553075"/>
            <a:ext cx="6953250" cy="619125"/>
          </a:xfrm>
          <a:prstGeom prst="roundRect">
            <a:avLst>
              <a:gd name="adj" fmla="val 12308"/>
            </a:avLst>
          </a:prstGeom>
          <a:solidFill>
            <a:srgbClr val="F3EAD7"/>
          </a:solidFill>
          <a:ln w="12383">
            <a:solidFill>
              <a:srgbClr val="DFC98F"/>
            </a:solidFill>
          </a:ln>
        </p:spPr>
      </p:sp>
      <p:sp>
        <p:nvSpPr>
          <p:cNvPr id="14" name="المخرج: قرار يناقشه الطالب مع أسرته والمرشد">
            <a:extLst>
              <a:ext uri="{FF2B5EF4-FFF2-40B4-BE49-F238E27FC236}">
                <a16:creationId xmlns:a16="http://schemas.microsoft.com/office/drawing/2014/main" id="{0A15A23C-E336-471F-934A-55B7939F81B3}"/>
              </a:ext>
            </a:extLst>
          </p:cNvPr>
          <p:cNvSpPr>
            <a:spLocks noGrp="1"/>
          </p:cNvSpPr>
          <p:nvPr/>
        </p:nvSpPr>
        <p:spPr>
          <a:xfrm>
            <a:off x="4714875" y="5619750"/>
            <a:ext cx="65722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المخرج: قرار يناقشه الطالب مع أسرته والمرشد</a:t>
            </a:r>
          </a:p>
        </p:txBody>
      </p:sp>
    </p:spTree>
    <p:extLst>
      <p:ext uri="{BB962C8B-B14F-4D97-AF65-F5344CB8AC3E}">
        <p14:creationId xmlns:p14="http://schemas.microsoft.com/office/powerpoint/2010/main" val="543956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8" name="Picture 17"/>
          <p:cNvPicPr>
            <a:picLocks noChangeAspect="1"/>
          </p:cNvPicPr>
          <p:nvPr/>
        </p:nvPicPr>
        <p:blipFill>
          <a:blip r:embed="rId3"/>
          <a:stretch/>
        </p:blipFill>
        <p:spPr>
          <a:xfrm>
            <a:off x="11125200" y="400050"/>
            <a:ext cx="552450" cy="552450"/>
          </a:xfrm>
          <a:prstGeom prst="rect">
            <a:avLst/>
          </a:prstGeom>
        </p:spPr>
      </p:pic>
      <p:sp>
        <p:nvSpPr>
          <p:cNvPr id="2" name="لحظة القرار: رقم ومعنى ومصدر">
            <a:extLst>
              <a:ext uri="{FF2B5EF4-FFF2-40B4-BE49-F238E27FC236}">
                <a16:creationId xmlns:a16="http://schemas.microsoft.com/office/drawing/2014/main" id="{F34173D7-E210-495C-B8FA-083897A15D09}"/>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لحظة القرار: رقم ومعنى ومصدر</a:t>
            </a:r>
          </a:p>
        </p:txBody>
      </p:sp>
      <p:sp>
        <p:nvSpPr>
          <p:cNvPr id="3" name="04">
            <a:extLst>
              <a:ext uri="{FF2B5EF4-FFF2-40B4-BE49-F238E27FC236}">
                <a16:creationId xmlns:a16="http://schemas.microsoft.com/office/drawing/2014/main" id="{3C07446D-6B19-4CA3-86E5-478028E2E57C}"/>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04</a:t>
            </a:r>
          </a:p>
        </p:txBody>
      </p:sp>
      <p:pic>
        <p:nvPicPr>
          <p:cNvPr id="21" name="Picture 20"/>
          <p:cNvPicPr>
            <a:picLocks noChangeAspect="1"/>
          </p:cNvPicPr>
          <p:nvPr/>
        </p:nvPicPr>
        <p:blipFill>
          <a:blip r:embed="rId4"/>
          <a:stretch/>
        </p:blipFill>
        <p:spPr>
          <a:xfrm>
            <a:off x="76200" y="57150"/>
            <a:ext cx="4178300" cy="6267450"/>
          </a:xfrm>
          <a:prstGeom prst="rect">
            <a:avLst/>
          </a:prstGeom>
        </p:spPr>
      </p:pic>
      <p:sp>
        <p:nvSpPr>
          <p:cNvPr id="5" name="مقارنة واحدة، ثلاثة أسئلة دقيقة">
            <a:extLst>
              <a:ext uri="{FF2B5EF4-FFF2-40B4-BE49-F238E27FC236}">
                <a16:creationId xmlns:a16="http://schemas.microsoft.com/office/drawing/2014/main" id="{ABD2DC9D-18E0-4447-AED4-39ED967B0238}"/>
              </a:ext>
            </a:extLst>
          </p:cNvPr>
          <p:cNvSpPr>
            <a:spLocks noGrp="1"/>
          </p:cNvSpPr>
          <p:nvPr/>
        </p:nvSpPr>
        <p:spPr>
          <a:xfrm>
            <a:off x="4429125" y="1523048"/>
            <a:ext cx="7048500" cy="49720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75" b="1" kern="0" spc="0">
                <a:solidFill>
                  <a:srgbClr val="013070"/>
                </a:solidFill>
                <a:latin typeface="IBM Plex Sans Arabic"/>
                <a:ea typeface="IBM Plex Sans Arabic"/>
                <a:cs typeface="IBM Plex Sans Arabic"/>
              </a:defRPr>
            </a:pPr>
            <a:r>
              <a:rPr lang="ar-JO" sz="2475" b="1" kern="0" spc="0">
                <a:solidFill>
                  <a:srgbClr val="013070"/>
                </a:solidFill>
                <a:latin typeface="IBM Plex Sans Arabic"/>
                <a:ea typeface="IBM Plex Sans Arabic"/>
                <a:cs typeface="IBM Plex Sans Arabic"/>
              </a:rPr>
              <a:t>مقارنة واحدة، ثلاثة أسئلة دقيقة</a:t>
            </a:r>
          </a:p>
        </p:txBody>
      </p:sp>
      <p:sp>
        <p:nvSpPr>
          <p:cNvPr id="6" name="Rectangle: Rounded Corners 5">
            <a:extLst>
              <a:ext uri="{FF2B5EF4-FFF2-40B4-BE49-F238E27FC236}">
                <a16:creationId xmlns:a16="http://schemas.microsoft.com/office/drawing/2014/main" id="{5384F511-1F95-4B46-BAB9-2C8EBD948BEE}"/>
              </a:ext>
            </a:extLst>
          </p:cNvPr>
          <p:cNvSpPr>
            <a:spLocks noGrp="1"/>
          </p:cNvSpPr>
          <p:nvPr/>
        </p:nvSpPr>
        <p:spPr>
          <a:xfrm>
            <a:off x="4524375" y="2200275"/>
            <a:ext cx="6953250" cy="781050"/>
          </a:xfrm>
          <a:prstGeom prst="roundRect">
            <a:avLst>
              <a:gd name="adj" fmla="val 9756"/>
            </a:avLst>
          </a:prstGeom>
          <a:solidFill>
            <a:srgbClr val="FFFFFF"/>
          </a:solidFill>
          <a:ln w="12383">
            <a:solidFill>
              <a:srgbClr val="D4DEE9"/>
            </a:solidFill>
          </a:ln>
        </p:spPr>
      </p:sp>
      <p:sp>
        <p:nvSpPr>
          <p:cNvPr id="7" name="شرط التقديم">
            <a:extLst>
              <a:ext uri="{FF2B5EF4-FFF2-40B4-BE49-F238E27FC236}">
                <a16:creationId xmlns:a16="http://schemas.microsoft.com/office/drawing/2014/main" id="{B7ECD684-7561-444F-9425-6B1EB177DD03}"/>
              </a:ext>
            </a:extLst>
          </p:cNvPr>
          <p:cNvSpPr>
            <a:spLocks noGrp="1"/>
          </p:cNvSpPr>
          <p:nvPr/>
        </p:nvSpPr>
        <p:spPr>
          <a:xfrm>
            <a:off x="8629650" y="2295525"/>
            <a:ext cx="2571750" cy="5238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شرط التقديم</a:t>
            </a:r>
          </a:p>
        </p:txBody>
      </p:sp>
      <p:sp>
        <p:nvSpPr>
          <p:cNvPr id="8" name="هل يحق لي التقديم؟">
            <a:extLst>
              <a:ext uri="{FF2B5EF4-FFF2-40B4-BE49-F238E27FC236}">
                <a16:creationId xmlns:a16="http://schemas.microsoft.com/office/drawing/2014/main" id="{2D05D1A0-0DE9-47AF-A665-C931BCC83CD6}"/>
              </a:ext>
            </a:extLst>
          </p:cNvPr>
          <p:cNvSpPr>
            <a:spLocks noGrp="1"/>
          </p:cNvSpPr>
          <p:nvPr/>
        </p:nvSpPr>
        <p:spPr>
          <a:xfrm>
            <a:off x="4762500" y="2295525"/>
            <a:ext cx="3695700" cy="5238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هل يحق لي التقديم؟</a:t>
            </a:r>
          </a:p>
        </p:txBody>
      </p:sp>
      <p:sp>
        <p:nvSpPr>
          <p:cNvPr id="9" name="Rectangle: Rounded Corners 8">
            <a:extLst>
              <a:ext uri="{FF2B5EF4-FFF2-40B4-BE49-F238E27FC236}">
                <a16:creationId xmlns:a16="http://schemas.microsoft.com/office/drawing/2014/main" id="{AF9F84E5-998E-421E-98CD-7311DF8744A2}"/>
              </a:ext>
            </a:extLst>
          </p:cNvPr>
          <p:cNvSpPr>
            <a:spLocks noGrp="1"/>
          </p:cNvSpPr>
          <p:nvPr/>
        </p:nvSpPr>
        <p:spPr>
          <a:xfrm>
            <a:off x="4524375" y="3181350"/>
            <a:ext cx="6953250" cy="781050"/>
          </a:xfrm>
          <a:prstGeom prst="roundRect">
            <a:avLst>
              <a:gd name="adj" fmla="val 9756"/>
            </a:avLst>
          </a:prstGeom>
          <a:solidFill>
            <a:srgbClr val="F3EAD7"/>
          </a:solidFill>
          <a:ln w="12383">
            <a:solidFill>
              <a:srgbClr val="DFC98F"/>
            </a:solidFill>
          </a:ln>
        </p:spPr>
      </p:sp>
      <p:sp>
        <p:nvSpPr>
          <p:cNvPr id="10" name="حد تنافسي سابق">
            <a:extLst>
              <a:ext uri="{FF2B5EF4-FFF2-40B4-BE49-F238E27FC236}">
                <a16:creationId xmlns:a16="http://schemas.microsoft.com/office/drawing/2014/main" id="{86D110F5-B272-4AFC-BDED-672A2690C267}"/>
              </a:ext>
            </a:extLst>
          </p:cNvPr>
          <p:cNvSpPr>
            <a:spLocks noGrp="1"/>
          </p:cNvSpPr>
          <p:nvPr/>
        </p:nvSpPr>
        <p:spPr>
          <a:xfrm>
            <a:off x="8629650" y="3276600"/>
            <a:ext cx="2571750" cy="5238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حد تنافسي سابق</a:t>
            </a:r>
          </a:p>
        </p:txBody>
      </p:sp>
      <p:sp>
        <p:nvSpPr>
          <p:cNvPr id="11" name="مرجع تاريخي، وليس وعد قبول">
            <a:extLst>
              <a:ext uri="{FF2B5EF4-FFF2-40B4-BE49-F238E27FC236}">
                <a16:creationId xmlns:a16="http://schemas.microsoft.com/office/drawing/2014/main" id="{8E1EF8CA-2C46-4D97-B799-FED07E3F048B}"/>
              </a:ext>
            </a:extLst>
          </p:cNvPr>
          <p:cNvSpPr>
            <a:spLocks noGrp="1"/>
          </p:cNvSpPr>
          <p:nvPr/>
        </p:nvSpPr>
        <p:spPr>
          <a:xfrm>
            <a:off x="4762500" y="3276600"/>
            <a:ext cx="3695700" cy="5238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مرجع تاريخي، وليس وعد قبول</a:t>
            </a:r>
          </a:p>
        </p:txBody>
      </p:sp>
      <p:sp>
        <p:nvSpPr>
          <p:cNvPr id="12" name="Rectangle: Rounded Corners 11">
            <a:extLst>
              <a:ext uri="{FF2B5EF4-FFF2-40B4-BE49-F238E27FC236}">
                <a16:creationId xmlns:a16="http://schemas.microsoft.com/office/drawing/2014/main" id="{A1975113-874D-4251-94BC-BAE1B6ADBE30}"/>
              </a:ext>
            </a:extLst>
          </p:cNvPr>
          <p:cNvSpPr>
            <a:spLocks noGrp="1"/>
          </p:cNvSpPr>
          <p:nvPr/>
        </p:nvSpPr>
        <p:spPr>
          <a:xfrm>
            <a:off x="4524375" y="4162425"/>
            <a:ext cx="6953250" cy="781050"/>
          </a:xfrm>
          <a:prstGeom prst="roundRect">
            <a:avLst>
              <a:gd name="adj" fmla="val 9756"/>
            </a:avLst>
          </a:prstGeom>
          <a:solidFill>
            <a:srgbClr val="FFFFFF"/>
          </a:solidFill>
          <a:ln w="12383">
            <a:solidFill>
              <a:srgbClr val="D4DEE9"/>
            </a:solidFill>
          </a:ln>
        </p:spPr>
      </p:sp>
      <p:sp>
        <p:nvSpPr>
          <p:cNvPr id="13" name="رسم رسمي">
            <a:extLst>
              <a:ext uri="{FF2B5EF4-FFF2-40B4-BE49-F238E27FC236}">
                <a16:creationId xmlns:a16="http://schemas.microsoft.com/office/drawing/2014/main" id="{27A9D757-7422-43BC-B498-E3C78E5B5C3A}"/>
              </a:ext>
            </a:extLst>
          </p:cNvPr>
          <p:cNvSpPr>
            <a:spLocks noGrp="1"/>
          </p:cNvSpPr>
          <p:nvPr/>
        </p:nvSpPr>
        <p:spPr>
          <a:xfrm>
            <a:off x="8629650" y="4257675"/>
            <a:ext cx="2571750" cy="5238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رسم رسمي</a:t>
            </a:r>
          </a:p>
        </p:txBody>
      </p:sp>
      <p:sp>
        <p:nvSpPr>
          <p:cNvPr id="14" name="كم تدفع الأسرة؟ ومن أي سنة؟">
            <a:extLst>
              <a:ext uri="{FF2B5EF4-FFF2-40B4-BE49-F238E27FC236}">
                <a16:creationId xmlns:a16="http://schemas.microsoft.com/office/drawing/2014/main" id="{FECC110C-E388-4087-972F-13F62566DD97}"/>
              </a:ext>
            </a:extLst>
          </p:cNvPr>
          <p:cNvSpPr>
            <a:spLocks noGrp="1"/>
          </p:cNvSpPr>
          <p:nvPr/>
        </p:nvSpPr>
        <p:spPr>
          <a:xfrm>
            <a:off x="4762500" y="4257675"/>
            <a:ext cx="3695700" cy="5238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كم تدفع الأسرة؟ ومن أي سنة؟</a:t>
            </a:r>
          </a:p>
        </p:txBody>
      </p:sp>
      <p:sp>
        <p:nvSpPr>
          <p:cNvPr id="15" name="Rectangle: Rounded Corners 14">
            <a:extLst>
              <a:ext uri="{FF2B5EF4-FFF2-40B4-BE49-F238E27FC236}">
                <a16:creationId xmlns:a16="http://schemas.microsoft.com/office/drawing/2014/main" id="{D0C137B5-89E2-412D-B457-88A116E884F4}"/>
              </a:ext>
            </a:extLst>
          </p:cNvPr>
          <p:cNvSpPr>
            <a:spLocks noGrp="1"/>
          </p:cNvSpPr>
          <p:nvPr/>
        </p:nvSpPr>
        <p:spPr>
          <a:xfrm>
            <a:off x="4524375" y="5305425"/>
            <a:ext cx="6953250" cy="638175"/>
          </a:xfrm>
          <a:prstGeom prst="roundRect">
            <a:avLst>
              <a:gd name="adj" fmla="val 11940"/>
            </a:avLst>
          </a:prstGeom>
          <a:solidFill>
            <a:srgbClr val="013070"/>
          </a:solidFill>
          <a:ln w="12383">
            <a:solidFill>
              <a:srgbClr val="013070"/>
            </a:solidFill>
          </a:ln>
        </p:spPr>
      </p:sp>
      <p:sp>
        <p:nvSpPr>
          <p:cNvPr id="16" name="قائمة قصيرة يمكن تفسيرها والدفاع عنها">
            <a:extLst>
              <a:ext uri="{FF2B5EF4-FFF2-40B4-BE49-F238E27FC236}">
                <a16:creationId xmlns:a16="http://schemas.microsoft.com/office/drawing/2014/main" id="{B8E8229A-6419-4447-A3A8-8B478658D087}"/>
              </a:ext>
            </a:extLst>
          </p:cNvPr>
          <p:cNvSpPr>
            <a:spLocks noGrp="1"/>
          </p:cNvSpPr>
          <p:nvPr/>
        </p:nvSpPr>
        <p:spPr>
          <a:xfrm>
            <a:off x="4762500" y="5381625"/>
            <a:ext cx="6477000" cy="4762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FFFFFF"/>
                </a:solidFill>
                <a:latin typeface="IBM Plex Sans Arabic"/>
                <a:ea typeface="IBM Plex Sans Arabic"/>
                <a:cs typeface="IBM Plex Sans Arabic"/>
              </a:defRPr>
            </a:pPr>
            <a:r>
              <a:rPr lang="ar-JO" sz="2025" b="1" kern="0" spc="0">
                <a:solidFill>
                  <a:srgbClr val="FFFFFF"/>
                </a:solidFill>
                <a:latin typeface="IBM Plex Sans Arabic"/>
                <a:ea typeface="IBM Plex Sans Arabic"/>
                <a:cs typeface="IBM Plex Sans Arabic"/>
              </a:rPr>
              <a:t>قائمة قصيرة يمكن تفسيرها والدفاع عنها</a:t>
            </a:r>
          </a:p>
        </p:txBody>
      </p:sp>
      <p:sp>
        <p:nvSpPr>
          <p:cNvPr id="17" name="دليل 2026/2027 • الحدود السابقة معروضة بسنتها">
            <a:extLst>
              <a:ext uri="{FF2B5EF4-FFF2-40B4-BE49-F238E27FC236}">
                <a16:creationId xmlns:a16="http://schemas.microsoft.com/office/drawing/2014/main" id="{46875A16-F350-4349-A5C4-DABE25C35392}"/>
              </a:ext>
            </a:extLst>
          </p:cNvPr>
          <p:cNvSpPr>
            <a:spLocks noGrp="1"/>
          </p:cNvSpPr>
          <p:nvPr/>
        </p:nvSpPr>
        <p:spPr>
          <a:xfrm>
            <a:off x="4524375" y="6033135"/>
            <a:ext cx="69532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دليل 2026/2027 • الحدود السابقة معروضة بسنتها • تحقق 10 أيلول 2026</a:t>
            </a:r>
          </a:p>
        </p:txBody>
      </p:sp>
    </p:spTree>
    <p:extLst>
      <p:ext uri="{BB962C8B-B14F-4D97-AF65-F5344CB8AC3E}">
        <p14:creationId xmlns:p14="http://schemas.microsoft.com/office/powerpoint/2010/main" val="257727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لحظة القرار: كلفة تناقشها الأسرة">
            <a:extLst>
              <a:ext uri="{FF2B5EF4-FFF2-40B4-BE49-F238E27FC236}">
                <a16:creationId xmlns:a16="http://schemas.microsoft.com/office/drawing/2014/main" id="{FFE8BEB7-3446-49BB-9AC9-1208C2C62837}"/>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لحظة القرار: كلفة تناقشها الأسرة</a:t>
            </a:r>
          </a:p>
        </p:txBody>
      </p:sp>
      <p:sp>
        <p:nvSpPr>
          <p:cNvPr id="3" name="05">
            <a:extLst>
              <a:ext uri="{FF2B5EF4-FFF2-40B4-BE49-F238E27FC236}">
                <a16:creationId xmlns:a16="http://schemas.microsoft.com/office/drawing/2014/main" id="{B9425887-4600-4684-9DD3-1E58EC96D431}"/>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05</a:t>
            </a:r>
          </a:p>
        </p:txBody>
      </p:sp>
      <p:pic>
        <p:nvPicPr>
          <p:cNvPr id="19" name="Picture 18"/>
          <p:cNvPicPr>
            <a:picLocks noChangeAspect="1"/>
          </p:cNvPicPr>
          <p:nvPr/>
        </p:nvPicPr>
        <p:blipFill>
          <a:blip r:embed="rId4"/>
          <a:stretch/>
        </p:blipFill>
        <p:spPr>
          <a:xfrm>
            <a:off x="76200" y="57150"/>
            <a:ext cx="4178300" cy="6267450"/>
          </a:xfrm>
          <a:prstGeom prst="rect">
            <a:avLst/>
          </a:prstGeom>
        </p:spPr>
      </p:pic>
      <p:sp>
        <p:nvSpPr>
          <p:cNvPr id="5" name="Rectangle: Rounded Corners 4">
            <a:extLst>
              <a:ext uri="{FF2B5EF4-FFF2-40B4-BE49-F238E27FC236}">
                <a16:creationId xmlns:a16="http://schemas.microsoft.com/office/drawing/2014/main" id="{6348BF77-3FA2-4610-9B7A-3C90A26D5050}"/>
              </a:ext>
            </a:extLst>
          </p:cNvPr>
          <p:cNvSpPr>
            <a:spLocks noGrp="1"/>
          </p:cNvSpPr>
          <p:nvPr/>
        </p:nvSpPr>
        <p:spPr>
          <a:xfrm>
            <a:off x="9448800" y="1457325"/>
            <a:ext cx="2028825" cy="381000"/>
          </a:xfrm>
          <a:prstGeom prst="roundRect">
            <a:avLst>
              <a:gd name="adj" fmla="val 20000"/>
            </a:avLst>
          </a:prstGeom>
          <a:solidFill>
            <a:srgbClr val="123D76"/>
          </a:solidFill>
          <a:ln w="12383">
            <a:solidFill>
              <a:srgbClr val="58749B"/>
            </a:solidFill>
          </a:ln>
        </p:spPr>
      </p:sp>
      <p:sp>
        <p:nvSpPr>
          <p:cNvPr id="6" name="مثال قابل للتعديل">
            <a:extLst>
              <a:ext uri="{FF2B5EF4-FFF2-40B4-BE49-F238E27FC236}">
                <a16:creationId xmlns:a16="http://schemas.microsoft.com/office/drawing/2014/main" id="{DEED0356-5FDD-4247-9FA2-988081B9FC66}"/>
              </a:ext>
            </a:extLst>
          </p:cNvPr>
          <p:cNvSpPr>
            <a:spLocks noGrp="1"/>
          </p:cNvSpPr>
          <p:nvPr/>
        </p:nvSpPr>
        <p:spPr>
          <a:xfrm>
            <a:off x="9544050" y="1484948"/>
            <a:ext cx="183832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مثال قابل للتعديل</a:t>
            </a:r>
          </a:p>
        </p:txBody>
      </p:sp>
      <p:sp>
        <p:nvSpPr>
          <p:cNvPr id="7" name="3,051">
            <a:extLst>
              <a:ext uri="{FF2B5EF4-FFF2-40B4-BE49-F238E27FC236}">
                <a16:creationId xmlns:a16="http://schemas.microsoft.com/office/drawing/2014/main" id="{C3F787DB-2F5C-4BCA-8B3F-A34A212C0440}"/>
              </a:ext>
            </a:extLst>
          </p:cNvPr>
          <p:cNvSpPr>
            <a:spLocks noGrp="1"/>
          </p:cNvSpPr>
          <p:nvPr/>
        </p:nvSpPr>
        <p:spPr>
          <a:xfrm>
            <a:off x="4524375" y="1765935"/>
            <a:ext cx="6953250" cy="123063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6600" b="1" kern="0" spc="0">
                <a:solidFill>
                  <a:srgbClr val="FFFFFF"/>
                </a:solidFill>
                <a:latin typeface="IBM Plex Sans Arabic"/>
                <a:ea typeface="IBM Plex Sans Arabic"/>
                <a:cs typeface="IBM Plex Sans Arabic"/>
              </a:defRPr>
            </a:pPr>
            <a:r>
              <a:rPr lang="ar-JO" sz="6600" b="1" kern="0" spc="0">
                <a:solidFill>
                  <a:srgbClr val="FFFFFF"/>
                </a:solidFill>
                <a:latin typeface="IBM Plex Sans Arabic"/>
                <a:ea typeface="IBM Plex Sans Arabic"/>
                <a:cs typeface="IBM Plex Sans Arabic"/>
              </a:rPr>
              <a:t>3,051</a:t>
            </a:r>
          </a:p>
        </p:txBody>
      </p:sp>
      <p:sp>
        <p:nvSpPr>
          <p:cNvPr id="8" name="دينارًا سنويًا في هذا المثال">
            <a:extLst>
              <a:ext uri="{FF2B5EF4-FFF2-40B4-BE49-F238E27FC236}">
                <a16:creationId xmlns:a16="http://schemas.microsoft.com/office/drawing/2014/main" id="{436B9F3F-BFD7-494C-B807-FF1ADB3EA7DA}"/>
              </a:ext>
            </a:extLst>
          </p:cNvPr>
          <p:cNvSpPr>
            <a:spLocks noGrp="1"/>
          </p:cNvSpPr>
          <p:nvPr/>
        </p:nvSpPr>
        <p:spPr>
          <a:xfrm>
            <a:off x="4429125" y="2889885"/>
            <a:ext cx="7048500" cy="56388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850" b="1" kern="0" spc="0">
                <a:solidFill>
                  <a:srgbClr val="C8A04C"/>
                </a:solidFill>
                <a:latin typeface="IBM Plex Sans Arabic"/>
                <a:ea typeface="IBM Plex Sans Arabic"/>
                <a:cs typeface="IBM Plex Sans Arabic"/>
              </a:defRPr>
            </a:pPr>
            <a:r>
              <a:rPr lang="ar-JO" sz="2850" b="1" kern="0" spc="0">
                <a:solidFill>
                  <a:srgbClr val="C8A04C"/>
                </a:solidFill>
                <a:latin typeface="IBM Plex Sans Arabic"/>
                <a:ea typeface="IBM Plex Sans Arabic"/>
                <a:cs typeface="IBM Plex Sans Arabic"/>
              </a:rPr>
              <a:t>دينارًا سنويًا في هذا المثال</a:t>
            </a:r>
          </a:p>
        </p:txBody>
      </p:sp>
      <p:sp>
        <p:nvSpPr>
          <p:cNvPr id="9" name="Rectangle: Rounded Corners 8">
            <a:extLst>
              <a:ext uri="{FF2B5EF4-FFF2-40B4-BE49-F238E27FC236}">
                <a16:creationId xmlns:a16="http://schemas.microsoft.com/office/drawing/2014/main" id="{90337908-9DBE-4E28-B718-801A0B775A07}"/>
              </a:ext>
            </a:extLst>
          </p:cNvPr>
          <p:cNvSpPr>
            <a:spLocks noGrp="1"/>
          </p:cNvSpPr>
          <p:nvPr/>
        </p:nvSpPr>
        <p:spPr>
          <a:xfrm>
            <a:off x="4524375" y="3667125"/>
            <a:ext cx="6953250" cy="1028700"/>
          </a:xfrm>
          <a:prstGeom prst="roundRect">
            <a:avLst>
              <a:gd name="adj" fmla="val 7407"/>
            </a:avLst>
          </a:prstGeom>
          <a:solidFill>
            <a:srgbClr val="123D76"/>
          </a:solidFill>
          <a:ln w="12383">
            <a:solidFill>
              <a:srgbClr val="58749B"/>
            </a:solidFill>
          </a:ln>
        </p:spPr>
      </p:sp>
      <p:sp>
        <p:nvSpPr>
          <p:cNvPr id="10" name="47 د.أ للساعة">
            <a:extLst>
              <a:ext uri="{FF2B5EF4-FFF2-40B4-BE49-F238E27FC236}">
                <a16:creationId xmlns:a16="http://schemas.microsoft.com/office/drawing/2014/main" id="{F6F7A481-9B6B-4FB2-B822-1DD372026415}"/>
              </a:ext>
            </a:extLst>
          </p:cNvPr>
          <p:cNvSpPr>
            <a:spLocks noGrp="1"/>
          </p:cNvSpPr>
          <p:nvPr/>
        </p:nvSpPr>
        <p:spPr>
          <a:xfrm>
            <a:off x="8096250" y="3764280"/>
            <a:ext cx="3095625" cy="44386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75" b="1" kern="0" spc="0">
                <a:solidFill>
                  <a:srgbClr val="FFFFFF"/>
                </a:solidFill>
                <a:latin typeface="IBM Plex Sans Arabic"/>
                <a:ea typeface="IBM Plex Sans Arabic"/>
                <a:cs typeface="IBM Plex Sans Arabic"/>
              </a:defRPr>
            </a:pPr>
            <a:r>
              <a:rPr lang="ar-JO" sz="2175" b="1" kern="0" spc="0">
                <a:solidFill>
                  <a:srgbClr val="FFFFFF"/>
                </a:solidFill>
                <a:latin typeface="IBM Plex Sans Arabic"/>
                <a:ea typeface="IBM Plex Sans Arabic"/>
                <a:cs typeface="IBM Plex Sans Arabic"/>
              </a:rPr>
              <a:t>47 د.أ للساعة</a:t>
            </a:r>
          </a:p>
        </p:txBody>
      </p:sp>
      <p:sp>
        <p:nvSpPr>
          <p:cNvPr id="11" name="رقم رسمي">
            <a:extLst>
              <a:ext uri="{FF2B5EF4-FFF2-40B4-BE49-F238E27FC236}">
                <a16:creationId xmlns:a16="http://schemas.microsoft.com/office/drawing/2014/main" id="{ECB48444-57B2-4B4D-B856-57D4240E6935}"/>
              </a:ext>
            </a:extLst>
          </p:cNvPr>
          <p:cNvSpPr>
            <a:spLocks noGrp="1"/>
          </p:cNvSpPr>
          <p:nvPr/>
        </p:nvSpPr>
        <p:spPr>
          <a:xfrm>
            <a:off x="8096250" y="4192905"/>
            <a:ext cx="3095625" cy="31051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رقم رسمي</a:t>
            </a:r>
          </a:p>
        </p:txBody>
      </p:sp>
      <p:sp>
        <p:nvSpPr>
          <p:cNvPr id="12" name="الساعات والمعيشة السنوية">
            <a:extLst>
              <a:ext uri="{FF2B5EF4-FFF2-40B4-BE49-F238E27FC236}">
                <a16:creationId xmlns:a16="http://schemas.microsoft.com/office/drawing/2014/main" id="{2C7DB4BF-156F-40A5-BCD2-17A8A921565A}"/>
              </a:ext>
            </a:extLst>
          </p:cNvPr>
          <p:cNvSpPr>
            <a:spLocks noGrp="1"/>
          </p:cNvSpPr>
          <p:nvPr/>
        </p:nvSpPr>
        <p:spPr>
          <a:xfrm>
            <a:off x="4762500" y="3781425"/>
            <a:ext cx="3095625" cy="4095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875" b="1" kern="0" spc="0">
                <a:solidFill>
                  <a:srgbClr val="FFFFFF"/>
                </a:solidFill>
                <a:latin typeface="IBM Plex Sans Arabic"/>
                <a:ea typeface="IBM Plex Sans Arabic"/>
                <a:cs typeface="IBM Plex Sans Arabic"/>
              </a:defRPr>
            </a:pPr>
            <a:r>
              <a:rPr lang="ar-JO" sz="1875" b="1" kern="0" spc="0">
                <a:solidFill>
                  <a:srgbClr val="FFFFFF"/>
                </a:solidFill>
                <a:latin typeface="IBM Plex Sans Arabic"/>
                <a:ea typeface="IBM Plex Sans Arabic"/>
                <a:cs typeface="IBM Plex Sans Arabic"/>
              </a:rPr>
              <a:t>الساعات والمعيشة السنوية</a:t>
            </a:r>
          </a:p>
        </p:txBody>
      </p:sp>
      <p:sp>
        <p:nvSpPr>
          <p:cNvPr id="13" name="افتراضات الأسرة">
            <a:extLst>
              <a:ext uri="{FF2B5EF4-FFF2-40B4-BE49-F238E27FC236}">
                <a16:creationId xmlns:a16="http://schemas.microsoft.com/office/drawing/2014/main" id="{EF34FE0D-6889-4103-BCCA-156822506E66}"/>
              </a:ext>
            </a:extLst>
          </p:cNvPr>
          <p:cNvSpPr>
            <a:spLocks noGrp="1"/>
          </p:cNvSpPr>
          <p:nvPr/>
        </p:nvSpPr>
        <p:spPr>
          <a:xfrm>
            <a:off x="4762500" y="4192905"/>
            <a:ext cx="3095625" cy="31051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افتراضات الأسرة</a:t>
            </a:r>
          </a:p>
        </p:txBody>
      </p:sp>
      <p:sp>
        <p:nvSpPr>
          <p:cNvPr id="14" name="تغيير الميزانية يغيّر فجوة التمويل فورًا">
            <a:extLst>
              <a:ext uri="{FF2B5EF4-FFF2-40B4-BE49-F238E27FC236}">
                <a16:creationId xmlns:a16="http://schemas.microsoft.com/office/drawing/2014/main" id="{0639826A-C12F-4F69-8550-6D6F92878DC2}"/>
              </a:ext>
            </a:extLst>
          </p:cNvPr>
          <p:cNvSpPr>
            <a:spLocks noGrp="1"/>
          </p:cNvSpPr>
          <p:nvPr/>
        </p:nvSpPr>
        <p:spPr>
          <a:xfrm>
            <a:off x="4429125" y="5010150"/>
            <a:ext cx="7048500" cy="5429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تغيير الميزانية يغيّر فجوة التمويل فورًا</a:t>
            </a:r>
          </a:p>
        </p:txBody>
      </p:sp>
      <p:sp>
        <p:nvSpPr>
          <p:cNvPr id="15" name="مثال علم الحاسوب، الجامعة الأردنية • لا توقع ">
            <a:extLst>
              <a:ext uri="{FF2B5EF4-FFF2-40B4-BE49-F238E27FC236}">
                <a16:creationId xmlns:a16="http://schemas.microsoft.com/office/drawing/2014/main" id="{12D57A4B-2223-41DE-BE8B-110B796CEFCD}"/>
              </a:ext>
            </a:extLst>
          </p:cNvPr>
          <p:cNvSpPr>
            <a:spLocks noGrp="1"/>
          </p:cNvSpPr>
          <p:nvPr/>
        </p:nvSpPr>
        <p:spPr>
          <a:xfrm>
            <a:off x="4429125" y="5938838"/>
            <a:ext cx="7048500" cy="3238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500" b="0" kern="0" spc="0">
                <a:solidFill>
                  <a:srgbClr val="D1DEED"/>
                </a:solidFill>
                <a:latin typeface="IBM Plex Sans Arabic"/>
                <a:ea typeface="IBM Plex Sans Arabic"/>
                <a:cs typeface="IBM Plex Sans Arabic"/>
              </a:defRPr>
            </a:pPr>
            <a:r>
              <a:rPr lang="ar-JO" sz="1500" b="0" kern="0" spc="0">
                <a:solidFill>
                  <a:srgbClr val="D1DEED"/>
                </a:solidFill>
                <a:latin typeface="IBM Plex Sans Arabic"/>
                <a:ea typeface="IBM Plex Sans Arabic"/>
                <a:cs typeface="IBM Plex Sans Arabic"/>
              </a:rPr>
              <a:t>مثال علم الحاسوب، الجامعة الأردنية • لا توقع دخل أو عائد مضمون</a:t>
            </a:r>
          </a:p>
        </p:txBody>
      </p:sp>
    </p:spTree>
    <p:extLst>
      <p:ext uri="{BB962C8B-B14F-4D97-AF65-F5344CB8AC3E}">
        <p14:creationId xmlns:p14="http://schemas.microsoft.com/office/powerpoint/2010/main" val="1343883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3" name="Picture 22"/>
          <p:cNvPicPr>
            <a:picLocks noChangeAspect="1"/>
          </p:cNvPicPr>
          <p:nvPr/>
        </p:nvPicPr>
        <p:blipFill>
          <a:blip r:embed="rId3"/>
          <a:stretch/>
        </p:blipFill>
        <p:spPr>
          <a:xfrm>
            <a:off x="11125200" y="400050"/>
            <a:ext cx="552450" cy="552450"/>
          </a:xfrm>
          <a:prstGeom prst="rect">
            <a:avLst/>
          </a:prstGeom>
        </p:spPr>
      </p:pic>
      <p:sp>
        <p:nvSpPr>
          <p:cNvPr id="2" name="لماذا لا تكفي المصادر وحدها؟">
            <a:extLst>
              <a:ext uri="{FF2B5EF4-FFF2-40B4-BE49-F238E27FC236}">
                <a16:creationId xmlns:a16="http://schemas.microsoft.com/office/drawing/2014/main" id="{320902DF-E4B4-41B4-8FEB-8C0325990610}"/>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لماذا لا تكفي المصادر وحدها؟</a:t>
            </a:r>
          </a:p>
        </p:txBody>
      </p:sp>
      <p:sp>
        <p:nvSpPr>
          <p:cNvPr id="3" name="06">
            <a:extLst>
              <a:ext uri="{FF2B5EF4-FFF2-40B4-BE49-F238E27FC236}">
                <a16:creationId xmlns:a16="http://schemas.microsoft.com/office/drawing/2014/main" id="{357FA7AE-88EE-4955-B7AC-9D11439E4565}"/>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06</a:t>
            </a:r>
          </a:p>
        </p:txBody>
      </p:sp>
      <p:sp>
        <p:nvSpPr>
          <p:cNvPr id="4" name="Rectangle: Rounded Corners 3">
            <a:extLst>
              <a:ext uri="{FF2B5EF4-FFF2-40B4-BE49-F238E27FC236}">
                <a16:creationId xmlns:a16="http://schemas.microsoft.com/office/drawing/2014/main" id="{DD9DD1AA-F869-46F9-A414-FABE3CBEF480}"/>
              </a:ext>
            </a:extLst>
          </p:cNvPr>
          <p:cNvSpPr>
            <a:spLocks noGrp="1"/>
          </p:cNvSpPr>
          <p:nvPr/>
        </p:nvSpPr>
        <p:spPr>
          <a:xfrm>
            <a:off x="8143875" y="1695450"/>
            <a:ext cx="3333750" cy="1352550"/>
          </a:xfrm>
          <a:prstGeom prst="roundRect">
            <a:avLst>
              <a:gd name="adj" fmla="val 5634"/>
            </a:avLst>
          </a:prstGeom>
          <a:solidFill>
            <a:srgbClr val="FFFFFF"/>
          </a:solidFill>
          <a:ln w="12383">
            <a:solidFill>
              <a:srgbClr val="D4DEE9"/>
            </a:solidFill>
          </a:ln>
        </p:spPr>
      </p:sp>
      <p:sp>
        <p:nvSpPr>
          <p:cNvPr id="5" name="القبول الموحد">
            <a:extLst>
              <a:ext uri="{FF2B5EF4-FFF2-40B4-BE49-F238E27FC236}">
                <a16:creationId xmlns:a16="http://schemas.microsoft.com/office/drawing/2014/main" id="{65595497-00AE-415A-BD75-C7F844E90C50}"/>
              </a:ext>
            </a:extLst>
          </p:cNvPr>
          <p:cNvSpPr>
            <a:spLocks noGrp="1"/>
          </p:cNvSpPr>
          <p:nvPr/>
        </p:nvSpPr>
        <p:spPr>
          <a:xfrm>
            <a:off x="8334375" y="183832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القبول الموحد</a:t>
            </a:r>
          </a:p>
        </p:txBody>
      </p:sp>
      <p:sp>
        <p:nvSpPr>
          <p:cNvPr id="6" name="برامج وشروط&#10;بلا ميزانية أسرة">
            <a:extLst>
              <a:ext uri="{FF2B5EF4-FFF2-40B4-BE49-F238E27FC236}">
                <a16:creationId xmlns:a16="http://schemas.microsoft.com/office/drawing/2014/main" id="{A9E7B810-901C-4C37-896A-6986187D0687}"/>
              </a:ext>
            </a:extLst>
          </p:cNvPr>
          <p:cNvSpPr>
            <a:spLocks noGrp="1"/>
          </p:cNvSpPr>
          <p:nvPr/>
        </p:nvSpPr>
        <p:spPr>
          <a:xfrm>
            <a:off x="8353425" y="2277428"/>
            <a:ext cx="2914650"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برامج وشروط</a:t>
            </a:r>
          </a:p>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بلا ميزانية أسرة</a:t>
            </a:r>
          </a:p>
        </p:txBody>
      </p:sp>
      <p:sp>
        <p:nvSpPr>
          <p:cNvPr id="7" name="↓">
            <a:extLst>
              <a:ext uri="{FF2B5EF4-FFF2-40B4-BE49-F238E27FC236}">
                <a16:creationId xmlns:a16="http://schemas.microsoft.com/office/drawing/2014/main" id="{EA18A23A-36B8-4126-ABBE-C0C5448D7573}"/>
              </a:ext>
            </a:extLst>
          </p:cNvPr>
          <p:cNvSpPr>
            <a:spLocks noGrp="1"/>
          </p:cNvSpPr>
          <p:nvPr/>
        </p:nvSpPr>
        <p:spPr>
          <a:xfrm>
            <a:off x="9505950" y="3043238"/>
            <a:ext cx="60960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8" name="Rectangle: Rounded Corners 7">
            <a:extLst>
              <a:ext uri="{FF2B5EF4-FFF2-40B4-BE49-F238E27FC236}">
                <a16:creationId xmlns:a16="http://schemas.microsoft.com/office/drawing/2014/main" id="{4698C005-87BD-4F4F-A0AA-9AD8852A6A04}"/>
              </a:ext>
            </a:extLst>
          </p:cNvPr>
          <p:cNvSpPr>
            <a:spLocks noGrp="1"/>
          </p:cNvSpPr>
          <p:nvPr/>
        </p:nvSpPr>
        <p:spPr>
          <a:xfrm>
            <a:off x="4333875" y="1695450"/>
            <a:ext cx="3333750" cy="1352550"/>
          </a:xfrm>
          <a:prstGeom prst="roundRect">
            <a:avLst>
              <a:gd name="adj" fmla="val 5634"/>
            </a:avLst>
          </a:prstGeom>
          <a:solidFill>
            <a:srgbClr val="FFFFFF"/>
          </a:solidFill>
          <a:ln w="12383">
            <a:solidFill>
              <a:srgbClr val="D4DEE9"/>
            </a:solidFill>
          </a:ln>
        </p:spPr>
      </p:sp>
      <p:sp>
        <p:nvSpPr>
          <p:cNvPr id="9" name="مواقع الجامعات">
            <a:extLst>
              <a:ext uri="{FF2B5EF4-FFF2-40B4-BE49-F238E27FC236}">
                <a16:creationId xmlns:a16="http://schemas.microsoft.com/office/drawing/2014/main" id="{7D68539B-AAD5-4ABF-B496-EAF234F5DB17}"/>
              </a:ext>
            </a:extLst>
          </p:cNvPr>
          <p:cNvSpPr>
            <a:spLocks noGrp="1"/>
          </p:cNvSpPr>
          <p:nvPr/>
        </p:nvSpPr>
        <p:spPr>
          <a:xfrm>
            <a:off x="4524375" y="183832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مواقع الجامعات</a:t>
            </a:r>
          </a:p>
        </p:txBody>
      </p:sp>
      <p:sp>
        <p:nvSpPr>
          <p:cNvPr id="10" name="رسوم منفصلة&#10;بلا مقارنة موحّدة">
            <a:extLst>
              <a:ext uri="{FF2B5EF4-FFF2-40B4-BE49-F238E27FC236}">
                <a16:creationId xmlns:a16="http://schemas.microsoft.com/office/drawing/2014/main" id="{A18C8D2A-008E-4D8E-BE69-3B98E1A6F912}"/>
              </a:ext>
            </a:extLst>
          </p:cNvPr>
          <p:cNvSpPr>
            <a:spLocks noGrp="1"/>
          </p:cNvSpPr>
          <p:nvPr/>
        </p:nvSpPr>
        <p:spPr>
          <a:xfrm>
            <a:off x="4543425" y="2277428"/>
            <a:ext cx="2914650"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رسوم منفصلة</a:t>
            </a:r>
          </a:p>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بلا مقارنة موحّدة</a:t>
            </a:r>
          </a:p>
        </p:txBody>
      </p:sp>
      <p:sp>
        <p:nvSpPr>
          <p:cNvPr id="11" name="↓">
            <a:extLst>
              <a:ext uri="{FF2B5EF4-FFF2-40B4-BE49-F238E27FC236}">
                <a16:creationId xmlns:a16="http://schemas.microsoft.com/office/drawing/2014/main" id="{81A1DBF8-1C0A-43C6-B66E-155CE293A67F}"/>
              </a:ext>
            </a:extLst>
          </p:cNvPr>
          <p:cNvSpPr>
            <a:spLocks noGrp="1"/>
          </p:cNvSpPr>
          <p:nvPr/>
        </p:nvSpPr>
        <p:spPr>
          <a:xfrm>
            <a:off x="5695950" y="3043238"/>
            <a:ext cx="60960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2" name="Rectangle: Rounded Corners 11">
            <a:extLst>
              <a:ext uri="{FF2B5EF4-FFF2-40B4-BE49-F238E27FC236}">
                <a16:creationId xmlns:a16="http://schemas.microsoft.com/office/drawing/2014/main" id="{F0FBD67C-8269-4330-B982-5BC1E77EBC02}"/>
              </a:ext>
            </a:extLst>
          </p:cNvPr>
          <p:cNvSpPr>
            <a:spLocks noGrp="1"/>
          </p:cNvSpPr>
          <p:nvPr/>
        </p:nvSpPr>
        <p:spPr>
          <a:xfrm>
            <a:off x="523875" y="1695450"/>
            <a:ext cx="3333750" cy="1352550"/>
          </a:xfrm>
          <a:prstGeom prst="roundRect">
            <a:avLst>
              <a:gd name="adj" fmla="val 5634"/>
            </a:avLst>
          </a:prstGeom>
          <a:solidFill>
            <a:srgbClr val="FFFFFF"/>
          </a:solidFill>
          <a:ln w="12383">
            <a:solidFill>
              <a:srgbClr val="D4DEE9"/>
            </a:solidFill>
          </a:ln>
        </p:spPr>
      </p:sp>
      <p:sp>
        <p:nvSpPr>
          <p:cNvPr id="13" name="إحصاءات العمل">
            <a:extLst>
              <a:ext uri="{FF2B5EF4-FFF2-40B4-BE49-F238E27FC236}">
                <a16:creationId xmlns:a16="http://schemas.microsoft.com/office/drawing/2014/main" id="{5A34EFA0-89BC-4862-9354-DD04B07614BA}"/>
              </a:ext>
            </a:extLst>
          </p:cNvPr>
          <p:cNvSpPr>
            <a:spLocks noGrp="1"/>
          </p:cNvSpPr>
          <p:nvPr/>
        </p:nvSpPr>
        <p:spPr>
          <a:xfrm>
            <a:off x="714375" y="183832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إحصاءات العمل</a:t>
            </a:r>
          </a:p>
        </p:txBody>
      </p:sp>
      <p:sp>
        <p:nvSpPr>
          <p:cNvPr id="14" name="مؤشرات سوق&#10;بلا ربط بخيار الطالب">
            <a:extLst>
              <a:ext uri="{FF2B5EF4-FFF2-40B4-BE49-F238E27FC236}">
                <a16:creationId xmlns:a16="http://schemas.microsoft.com/office/drawing/2014/main" id="{31D01919-D95E-49DE-B105-1102F4FE241F}"/>
              </a:ext>
            </a:extLst>
          </p:cNvPr>
          <p:cNvSpPr>
            <a:spLocks noGrp="1"/>
          </p:cNvSpPr>
          <p:nvPr/>
        </p:nvSpPr>
        <p:spPr>
          <a:xfrm>
            <a:off x="733425" y="2277428"/>
            <a:ext cx="2914650"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مؤشرات سوق</a:t>
            </a:r>
          </a:p>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بلا ربط بخيار الطالب</a:t>
            </a:r>
          </a:p>
        </p:txBody>
      </p:sp>
      <p:sp>
        <p:nvSpPr>
          <p:cNvPr id="15" name="↓">
            <a:extLst>
              <a:ext uri="{FF2B5EF4-FFF2-40B4-BE49-F238E27FC236}">
                <a16:creationId xmlns:a16="http://schemas.microsoft.com/office/drawing/2014/main" id="{0C6BE095-FF12-4A6D-B350-99F14290348D}"/>
              </a:ext>
            </a:extLst>
          </p:cNvPr>
          <p:cNvSpPr>
            <a:spLocks noGrp="1"/>
          </p:cNvSpPr>
          <p:nvPr/>
        </p:nvSpPr>
        <p:spPr>
          <a:xfrm>
            <a:off x="1885950" y="3043238"/>
            <a:ext cx="60960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6" name="Rectangle: Rounded Corners 15">
            <a:extLst>
              <a:ext uri="{FF2B5EF4-FFF2-40B4-BE49-F238E27FC236}">
                <a16:creationId xmlns:a16="http://schemas.microsoft.com/office/drawing/2014/main" id="{A655C44C-3DBB-432B-88E7-AF21515A2CE3}"/>
              </a:ext>
            </a:extLst>
          </p:cNvPr>
          <p:cNvSpPr>
            <a:spLocks noGrp="1"/>
          </p:cNvSpPr>
          <p:nvPr/>
        </p:nvSpPr>
        <p:spPr>
          <a:xfrm>
            <a:off x="1524000" y="3457575"/>
            <a:ext cx="9953625" cy="990600"/>
          </a:xfrm>
          <a:prstGeom prst="roundRect">
            <a:avLst>
              <a:gd name="adj" fmla="val 7692"/>
            </a:avLst>
          </a:prstGeom>
          <a:solidFill>
            <a:srgbClr val="F3EAD7"/>
          </a:solidFill>
          <a:ln w="12383">
            <a:solidFill>
              <a:srgbClr val="DFC98F"/>
            </a:solidFill>
          </a:ln>
        </p:spPr>
      </p:sp>
      <p:sp>
        <p:nvSpPr>
          <p:cNvPr id="17" name="مُرشِدي يضيف سياق الطالب">
            <a:extLst>
              <a:ext uri="{FF2B5EF4-FFF2-40B4-BE49-F238E27FC236}">
                <a16:creationId xmlns:a16="http://schemas.microsoft.com/office/drawing/2014/main" id="{BD6413F0-9AFB-4404-8AA8-8E6D76AF3390}"/>
              </a:ext>
            </a:extLst>
          </p:cNvPr>
          <p:cNvSpPr>
            <a:spLocks noGrp="1"/>
          </p:cNvSpPr>
          <p:nvPr/>
        </p:nvSpPr>
        <p:spPr>
          <a:xfrm>
            <a:off x="1809750" y="3527108"/>
            <a:ext cx="9382125" cy="47053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مُرشِدي يضيف سياق الطالب</a:t>
            </a:r>
          </a:p>
        </p:txBody>
      </p:sp>
      <p:sp>
        <p:nvSpPr>
          <p:cNvPr id="18" name="الاهتمامات  +  ميزانية الأسرة  +  مقارنة موحّ">
            <a:extLst>
              <a:ext uri="{FF2B5EF4-FFF2-40B4-BE49-F238E27FC236}">
                <a16:creationId xmlns:a16="http://schemas.microsoft.com/office/drawing/2014/main" id="{5D204E7E-8C6C-42EE-9DD8-FBD19D8ABA6C}"/>
              </a:ext>
            </a:extLst>
          </p:cNvPr>
          <p:cNvSpPr>
            <a:spLocks noGrp="1"/>
          </p:cNvSpPr>
          <p:nvPr/>
        </p:nvSpPr>
        <p:spPr>
          <a:xfrm>
            <a:off x="1809750" y="3968115"/>
            <a:ext cx="9382125" cy="3505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الاهتمامات  +  ميزانية الأسرة  +  مقارنة موحّدة  +  مصدر وتاريخ</a:t>
            </a:r>
          </a:p>
        </p:txBody>
      </p:sp>
      <p:sp>
        <p:nvSpPr>
          <p:cNvPr id="19" name="Rectangle: Rounded Corners 18">
            <a:extLst>
              <a:ext uri="{FF2B5EF4-FFF2-40B4-BE49-F238E27FC236}">
                <a16:creationId xmlns:a16="http://schemas.microsoft.com/office/drawing/2014/main" id="{60DFC60E-613C-45D0-83AB-B0F1A5918421}"/>
              </a:ext>
            </a:extLst>
          </p:cNvPr>
          <p:cNvSpPr>
            <a:spLocks noGrp="1"/>
          </p:cNvSpPr>
          <p:nvPr/>
        </p:nvSpPr>
        <p:spPr>
          <a:xfrm>
            <a:off x="1524000" y="4638675"/>
            <a:ext cx="9953625" cy="638175"/>
          </a:xfrm>
          <a:prstGeom prst="roundRect">
            <a:avLst>
              <a:gd name="adj" fmla="val 11940"/>
            </a:avLst>
          </a:prstGeom>
          <a:solidFill>
            <a:srgbClr val="123D76"/>
          </a:solidFill>
          <a:ln w="12383">
            <a:solidFill>
              <a:srgbClr val="58749B"/>
            </a:solidFill>
          </a:ln>
        </p:spPr>
      </p:sp>
      <p:sp>
        <p:nvSpPr>
          <p:cNvPr id="20" name="النتيجة: قرار شخصي قابل للتفسير">
            <a:extLst>
              <a:ext uri="{FF2B5EF4-FFF2-40B4-BE49-F238E27FC236}">
                <a16:creationId xmlns:a16="http://schemas.microsoft.com/office/drawing/2014/main" id="{3F7E5B49-6CA0-4DE5-8066-EEAD1EDDA380}"/>
              </a:ext>
            </a:extLst>
          </p:cNvPr>
          <p:cNvSpPr>
            <a:spLocks noGrp="1"/>
          </p:cNvSpPr>
          <p:nvPr/>
        </p:nvSpPr>
        <p:spPr>
          <a:xfrm>
            <a:off x="1809750" y="4724400"/>
            <a:ext cx="9382125"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00" b="1" kern="0" spc="0">
                <a:solidFill>
                  <a:srgbClr val="FFFFFF"/>
                </a:solidFill>
                <a:latin typeface="IBM Plex Sans Arabic"/>
                <a:ea typeface="IBM Plex Sans Arabic"/>
                <a:cs typeface="IBM Plex Sans Arabic"/>
              </a:defRPr>
            </a:pPr>
            <a:r>
              <a:rPr lang="ar-JO" sz="2100" b="1" kern="0" spc="0">
                <a:solidFill>
                  <a:srgbClr val="FFFFFF"/>
                </a:solidFill>
                <a:latin typeface="IBM Plex Sans Arabic"/>
                <a:ea typeface="IBM Plex Sans Arabic"/>
                <a:cs typeface="IBM Plex Sans Arabic"/>
              </a:rPr>
              <a:t>النتيجة: قرار شخصي قابل للتفسير</a:t>
            </a:r>
          </a:p>
        </p:txBody>
      </p:sp>
      <p:sp>
        <p:nvSpPr>
          <p:cNvPr id="21" name="Rectangle: Rounded Corners 20">
            <a:extLst>
              <a:ext uri="{FF2B5EF4-FFF2-40B4-BE49-F238E27FC236}">
                <a16:creationId xmlns:a16="http://schemas.microsoft.com/office/drawing/2014/main" id="{C469F217-A249-4C06-AEE1-73E2C1EF30C8}"/>
              </a:ext>
            </a:extLst>
          </p:cNvPr>
          <p:cNvSpPr>
            <a:spLocks noGrp="1"/>
          </p:cNvSpPr>
          <p:nvPr/>
        </p:nvSpPr>
        <p:spPr>
          <a:xfrm>
            <a:off x="1524000" y="5476875"/>
            <a:ext cx="9953625" cy="628650"/>
          </a:xfrm>
          <a:prstGeom prst="roundRect">
            <a:avLst>
              <a:gd name="adj" fmla="val 12121"/>
            </a:avLst>
          </a:prstGeom>
          <a:solidFill>
            <a:srgbClr val="0A2D61"/>
          </a:solidFill>
          <a:ln w="12383">
            <a:solidFill>
              <a:srgbClr val="58749B"/>
            </a:solidFill>
          </a:ln>
        </p:spPr>
      </p:sp>
      <p:sp>
        <p:nvSpPr>
          <p:cNvPr id="22" name="دراستان عشوائيتان  •  أكثر من 77 ألف مشارك  •">
            <a:extLst>
              <a:ext uri="{FF2B5EF4-FFF2-40B4-BE49-F238E27FC236}">
                <a16:creationId xmlns:a16="http://schemas.microsoft.com/office/drawing/2014/main" id="{9B3FB438-ED8E-4CE3-8D20-346216F68ED6}"/>
              </a:ext>
            </a:extLst>
          </p:cNvPr>
          <p:cNvSpPr>
            <a:spLocks noGrp="1"/>
          </p:cNvSpPr>
          <p:nvPr/>
        </p:nvSpPr>
        <p:spPr>
          <a:xfrm>
            <a:off x="1733550" y="5553075"/>
            <a:ext cx="9534525" cy="4762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1" kern="0" spc="0">
                <a:solidFill>
                  <a:srgbClr val="D1DEED"/>
                </a:solidFill>
                <a:latin typeface="IBM Plex Sans Arabic"/>
                <a:ea typeface="IBM Plex Sans Arabic"/>
                <a:cs typeface="IBM Plex Sans Arabic"/>
              </a:defRPr>
            </a:pPr>
            <a:r>
              <a:rPr lang="ar-JO" sz="1575" b="1" kern="0" spc="0">
                <a:solidFill>
                  <a:srgbClr val="D1DEED"/>
                </a:solidFill>
                <a:latin typeface="IBM Plex Sans Arabic"/>
                <a:ea typeface="IBM Plex Sans Arabic"/>
                <a:cs typeface="IBM Plex Sans Arabic"/>
              </a:rPr>
              <a:t>دراستان عشوائيتان  •  أكثر من 77 ألف مشارك  •  ندعم المنطق ونختبر الأثر محليًا</a:t>
            </a:r>
          </a:p>
        </p:txBody>
      </p:sp>
    </p:spTree>
    <p:extLst>
      <p:ext uri="{BB962C8B-B14F-4D97-AF65-F5344CB8AC3E}">
        <p14:creationId xmlns:p14="http://schemas.microsoft.com/office/powerpoint/2010/main" val="12783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4" name="Picture 23"/>
          <p:cNvPicPr>
            <a:picLocks noChangeAspect="1"/>
          </p:cNvPicPr>
          <p:nvPr/>
        </p:nvPicPr>
        <p:blipFill>
          <a:blip r:embed="rId3"/>
          <a:stretch/>
        </p:blipFill>
        <p:spPr>
          <a:xfrm>
            <a:off x="11125200" y="400050"/>
            <a:ext cx="552450" cy="552450"/>
          </a:xfrm>
          <a:prstGeom prst="rect">
            <a:avLst/>
          </a:prstGeom>
        </p:spPr>
      </p:pic>
      <p:sp>
        <p:nvSpPr>
          <p:cNvPr id="2" name="لمن؟ ومن يدفع؟">
            <a:extLst>
              <a:ext uri="{FF2B5EF4-FFF2-40B4-BE49-F238E27FC236}">
                <a16:creationId xmlns:a16="http://schemas.microsoft.com/office/drawing/2014/main" id="{2F443F12-ABA8-40B5-BC1E-B579D4A5EFEF}"/>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لمن؟ ومن يدفع؟</a:t>
            </a:r>
          </a:p>
        </p:txBody>
      </p:sp>
      <p:sp>
        <p:nvSpPr>
          <p:cNvPr id="3" name="07">
            <a:extLst>
              <a:ext uri="{FF2B5EF4-FFF2-40B4-BE49-F238E27FC236}">
                <a16:creationId xmlns:a16="http://schemas.microsoft.com/office/drawing/2014/main" id="{9E4C670B-6888-49AD-8E5E-0BC515BDAB75}"/>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07</a:t>
            </a:r>
          </a:p>
        </p:txBody>
      </p:sp>
      <p:sp>
        <p:nvSpPr>
          <p:cNvPr id="4" name="Rectangle: Rounded Corners 3">
            <a:extLst>
              <a:ext uri="{FF2B5EF4-FFF2-40B4-BE49-F238E27FC236}">
                <a16:creationId xmlns:a16="http://schemas.microsoft.com/office/drawing/2014/main" id="{C4A5F26E-52C5-4FFB-BBD6-79EC71338E97}"/>
              </a:ext>
            </a:extLst>
          </p:cNvPr>
          <p:cNvSpPr>
            <a:spLocks noGrp="1"/>
          </p:cNvSpPr>
          <p:nvPr/>
        </p:nvSpPr>
        <p:spPr>
          <a:xfrm>
            <a:off x="8143875" y="1781175"/>
            <a:ext cx="3333750" cy="3600450"/>
          </a:xfrm>
          <a:prstGeom prst="roundRect">
            <a:avLst>
              <a:gd name="adj" fmla="val 2286"/>
            </a:avLst>
          </a:prstGeom>
          <a:solidFill>
            <a:srgbClr val="F3EAD7"/>
          </a:solidFill>
          <a:ln w="12383">
            <a:solidFill>
              <a:srgbClr val="DFC98F"/>
            </a:solidFill>
          </a:ln>
        </p:spPr>
      </p:sp>
      <p:sp>
        <p:nvSpPr>
          <p:cNvPr id="5" name="Rectangle: Rounded Corners 4">
            <a:extLst>
              <a:ext uri="{FF2B5EF4-FFF2-40B4-BE49-F238E27FC236}">
                <a16:creationId xmlns:a16="http://schemas.microsoft.com/office/drawing/2014/main" id="{DABDCD6E-FCA0-4440-8CDE-82285B5C37B5}"/>
              </a:ext>
            </a:extLst>
          </p:cNvPr>
          <p:cNvSpPr>
            <a:spLocks noGrp="1"/>
          </p:cNvSpPr>
          <p:nvPr/>
        </p:nvSpPr>
        <p:spPr>
          <a:xfrm>
            <a:off x="8858250" y="1990725"/>
            <a:ext cx="1905000" cy="381000"/>
          </a:xfrm>
          <a:prstGeom prst="roundRect">
            <a:avLst>
              <a:gd name="adj" fmla="val 20000"/>
            </a:avLst>
          </a:prstGeom>
          <a:solidFill>
            <a:srgbClr val="E7EEF6"/>
          </a:solidFill>
          <a:ln w="12383">
            <a:solidFill>
              <a:srgbClr val="C9D5E3"/>
            </a:solidFill>
          </a:ln>
        </p:spPr>
      </p:sp>
      <p:sp>
        <p:nvSpPr>
          <p:cNvPr id="6" name="المستفيد">
            <a:extLst>
              <a:ext uri="{FF2B5EF4-FFF2-40B4-BE49-F238E27FC236}">
                <a16:creationId xmlns:a16="http://schemas.microsoft.com/office/drawing/2014/main" id="{7DAF01CF-7948-426B-B854-2FDE4350AD52}"/>
              </a:ext>
            </a:extLst>
          </p:cNvPr>
          <p:cNvSpPr>
            <a:spLocks noGrp="1"/>
          </p:cNvSpPr>
          <p:nvPr/>
        </p:nvSpPr>
        <p:spPr>
          <a:xfrm>
            <a:off x="8953500" y="2018348"/>
            <a:ext cx="1714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المستفيد</a:t>
            </a:r>
          </a:p>
        </p:txBody>
      </p:sp>
      <p:sp>
        <p:nvSpPr>
          <p:cNvPr id="7" name="الطالب والأسرة">
            <a:extLst>
              <a:ext uri="{FF2B5EF4-FFF2-40B4-BE49-F238E27FC236}">
                <a16:creationId xmlns:a16="http://schemas.microsoft.com/office/drawing/2014/main" id="{D2882309-DA21-4354-8CB1-4C7B66F14BEC}"/>
              </a:ext>
            </a:extLst>
          </p:cNvPr>
          <p:cNvSpPr>
            <a:spLocks noGrp="1"/>
          </p:cNvSpPr>
          <p:nvPr/>
        </p:nvSpPr>
        <p:spPr>
          <a:xfrm>
            <a:off x="8334375" y="2628900"/>
            <a:ext cx="2952750" cy="5619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الطالب والأسرة</a:t>
            </a:r>
          </a:p>
        </p:txBody>
      </p:sp>
      <p:sp>
        <p:nvSpPr>
          <p:cNvPr id="8" name="رحلة القرار الأساسية&#10;مجانية">
            <a:extLst>
              <a:ext uri="{FF2B5EF4-FFF2-40B4-BE49-F238E27FC236}">
                <a16:creationId xmlns:a16="http://schemas.microsoft.com/office/drawing/2014/main" id="{385FD548-3E7D-4EB0-A665-06CF6F258B62}"/>
              </a:ext>
            </a:extLst>
          </p:cNvPr>
          <p:cNvSpPr>
            <a:spLocks noGrp="1"/>
          </p:cNvSpPr>
          <p:nvPr/>
        </p:nvSpPr>
        <p:spPr>
          <a:xfrm>
            <a:off x="8382000" y="3333750"/>
            <a:ext cx="2857500"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رحلة القرار الأساسية</a:t>
            </a:r>
          </a:p>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مجانية</a:t>
            </a:r>
          </a:p>
        </p:txBody>
      </p:sp>
      <p:sp>
        <p:nvSpPr>
          <p:cNvPr id="9" name="قرار أوضح بلا تكلفة على الطالب">
            <a:extLst>
              <a:ext uri="{FF2B5EF4-FFF2-40B4-BE49-F238E27FC236}">
                <a16:creationId xmlns:a16="http://schemas.microsoft.com/office/drawing/2014/main" id="{096E6B45-B987-43AC-B3DC-D70E86E4BE50}"/>
              </a:ext>
            </a:extLst>
          </p:cNvPr>
          <p:cNvSpPr>
            <a:spLocks noGrp="1"/>
          </p:cNvSpPr>
          <p:nvPr/>
        </p:nvSpPr>
        <p:spPr>
          <a:xfrm>
            <a:off x="8372475" y="4552950"/>
            <a:ext cx="28765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قرار أوضح بلا تكلفة على الطالب</a:t>
            </a:r>
          </a:p>
        </p:txBody>
      </p:sp>
      <p:sp>
        <p:nvSpPr>
          <p:cNvPr id="10" name="Rectangle: Rounded Corners 9">
            <a:extLst>
              <a:ext uri="{FF2B5EF4-FFF2-40B4-BE49-F238E27FC236}">
                <a16:creationId xmlns:a16="http://schemas.microsoft.com/office/drawing/2014/main" id="{ECB01A50-2D2E-4BBF-9C90-9956F43E36D2}"/>
              </a:ext>
            </a:extLst>
          </p:cNvPr>
          <p:cNvSpPr>
            <a:spLocks noGrp="1"/>
          </p:cNvSpPr>
          <p:nvPr/>
        </p:nvSpPr>
        <p:spPr>
          <a:xfrm>
            <a:off x="4333875" y="1781175"/>
            <a:ext cx="3333750" cy="3600450"/>
          </a:xfrm>
          <a:prstGeom prst="roundRect">
            <a:avLst>
              <a:gd name="adj" fmla="val 2286"/>
            </a:avLst>
          </a:prstGeom>
          <a:solidFill>
            <a:srgbClr val="013070"/>
          </a:solidFill>
          <a:ln w="12383">
            <a:solidFill>
              <a:srgbClr val="013070"/>
            </a:solidFill>
          </a:ln>
        </p:spPr>
      </p:sp>
      <p:sp>
        <p:nvSpPr>
          <p:cNvPr id="11" name="Rectangle: Rounded Corners 10">
            <a:extLst>
              <a:ext uri="{FF2B5EF4-FFF2-40B4-BE49-F238E27FC236}">
                <a16:creationId xmlns:a16="http://schemas.microsoft.com/office/drawing/2014/main" id="{C482245E-AA5B-4A94-9E05-100808E0F71F}"/>
              </a:ext>
            </a:extLst>
          </p:cNvPr>
          <p:cNvSpPr>
            <a:spLocks noGrp="1"/>
          </p:cNvSpPr>
          <p:nvPr/>
        </p:nvSpPr>
        <p:spPr>
          <a:xfrm>
            <a:off x="5048250" y="1990725"/>
            <a:ext cx="1905000" cy="381000"/>
          </a:xfrm>
          <a:prstGeom prst="roundRect">
            <a:avLst>
              <a:gd name="adj" fmla="val 20000"/>
            </a:avLst>
          </a:prstGeom>
          <a:solidFill>
            <a:srgbClr val="123D76"/>
          </a:solidFill>
          <a:ln w="12383">
            <a:solidFill>
              <a:srgbClr val="58749B"/>
            </a:solidFill>
          </a:ln>
        </p:spPr>
      </p:sp>
      <p:sp>
        <p:nvSpPr>
          <p:cNvPr id="12" name="عميل نختبره">
            <a:extLst>
              <a:ext uri="{FF2B5EF4-FFF2-40B4-BE49-F238E27FC236}">
                <a16:creationId xmlns:a16="http://schemas.microsoft.com/office/drawing/2014/main" id="{0B16285C-1A16-4EC5-85E5-07AE4341FEB1}"/>
              </a:ext>
            </a:extLst>
          </p:cNvPr>
          <p:cNvSpPr>
            <a:spLocks noGrp="1"/>
          </p:cNvSpPr>
          <p:nvPr/>
        </p:nvSpPr>
        <p:spPr>
          <a:xfrm>
            <a:off x="5143500" y="2018348"/>
            <a:ext cx="1714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عميل نختبره</a:t>
            </a:r>
          </a:p>
        </p:txBody>
      </p:sp>
      <p:sp>
        <p:nvSpPr>
          <p:cNvPr id="13" name="مدرسة أو جامعة">
            <a:extLst>
              <a:ext uri="{FF2B5EF4-FFF2-40B4-BE49-F238E27FC236}">
                <a16:creationId xmlns:a16="http://schemas.microsoft.com/office/drawing/2014/main" id="{7EE3ADD8-7475-4F45-BB3B-8419699CAEB7}"/>
              </a:ext>
            </a:extLst>
          </p:cNvPr>
          <p:cNvSpPr>
            <a:spLocks noGrp="1"/>
          </p:cNvSpPr>
          <p:nvPr/>
        </p:nvSpPr>
        <p:spPr>
          <a:xfrm>
            <a:off x="4524375" y="2628900"/>
            <a:ext cx="2952750" cy="5619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FFFFFF"/>
                </a:solidFill>
                <a:latin typeface="IBM Plex Sans Arabic"/>
                <a:ea typeface="IBM Plex Sans Arabic"/>
                <a:cs typeface="IBM Plex Sans Arabic"/>
              </a:defRPr>
            </a:pPr>
            <a:r>
              <a:rPr lang="ar-JO" sz="2325" b="1" kern="0" spc="0">
                <a:solidFill>
                  <a:srgbClr val="FFFFFF"/>
                </a:solidFill>
                <a:latin typeface="IBM Plex Sans Arabic"/>
                <a:ea typeface="IBM Plex Sans Arabic"/>
                <a:cs typeface="IBM Plex Sans Arabic"/>
              </a:rPr>
              <a:t>مدرسة أو جامعة</a:t>
            </a:r>
          </a:p>
        </p:txBody>
      </p:sp>
      <p:sp>
        <p:nvSpPr>
          <p:cNvPr id="14" name="عرض مؤسسي مقترح&#10;أدوات + تقارير + دعم">
            <a:extLst>
              <a:ext uri="{FF2B5EF4-FFF2-40B4-BE49-F238E27FC236}">
                <a16:creationId xmlns:a16="http://schemas.microsoft.com/office/drawing/2014/main" id="{D700A4ED-A302-454A-92B9-9FEF09E137AE}"/>
              </a:ext>
            </a:extLst>
          </p:cNvPr>
          <p:cNvSpPr>
            <a:spLocks noGrp="1"/>
          </p:cNvSpPr>
          <p:nvPr/>
        </p:nvSpPr>
        <p:spPr>
          <a:xfrm>
            <a:off x="4572000" y="3333750"/>
            <a:ext cx="2857500"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D1DEED"/>
                </a:solidFill>
                <a:latin typeface="IBM Plex Sans Arabic"/>
                <a:ea typeface="IBM Plex Sans Arabic"/>
                <a:cs typeface="IBM Plex Sans Arabic"/>
              </a:defRPr>
            </a:pPr>
            <a:r>
              <a:rPr lang="ar-JO" sz="1875" b="1" kern="0" spc="0">
                <a:solidFill>
                  <a:srgbClr val="D1DEED"/>
                </a:solidFill>
                <a:latin typeface="IBM Plex Sans Arabic"/>
                <a:ea typeface="IBM Plex Sans Arabic"/>
                <a:cs typeface="IBM Plex Sans Arabic"/>
              </a:rPr>
              <a:t>عرض مؤسسي مقترح</a:t>
            </a:r>
          </a:p>
          <a:p>
            <a:pPr algn="ctr" rtl="1">
              <a:lnSpc>
                <a:spcPct val="116000"/>
              </a:lnSpc>
              <a:spcBef>
                <a:spcPts val="0"/>
              </a:spcBef>
              <a:spcAft>
                <a:spcPts val="0"/>
              </a:spcAft>
              <a:buNone/>
              <a:defRPr lang="ar-JO" sz="1875" b="1" kern="0" spc="0">
                <a:solidFill>
                  <a:srgbClr val="D1DEED"/>
                </a:solidFill>
                <a:latin typeface="IBM Plex Sans Arabic"/>
                <a:ea typeface="IBM Plex Sans Arabic"/>
                <a:cs typeface="IBM Plex Sans Arabic"/>
              </a:defRPr>
            </a:pPr>
            <a:r>
              <a:rPr lang="ar-JO" sz="1875" b="1" kern="0" spc="0">
                <a:solidFill>
                  <a:srgbClr val="D1DEED"/>
                </a:solidFill>
                <a:latin typeface="IBM Plex Sans Arabic"/>
                <a:ea typeface="IBM Plex Sans Arabic"/>
                <a:cs typeface="IBM Plex Sans Arabic"/>
              </a:rPr>
              <a:t>أدوات + تقارير + دعم</a:t>
            </a:r>
          </a:p>
        </p:txBody>
      </p:sp>
      <p:sp>
        <p:nvSpPr>
          <p:cNvPr id="15" name="نختبر استعداد الدفع في التجربة">
            <a:extLst>
              <a:ext uri="{FF2B5EF4-FFF2-40B4-BE49-F238E27FC236}">
                <a16:creationId xmlns:a16="http://schemas.microsoft.com/office/drawing/2014/main" id="{F3CE4818-41CF-4970-8EBD-9816D7632C13}"/>
              </a:ext>
            </a:extLst>
          </p:cNvPr>
          <p:cNvSpPr>
            <a:spLocks noGrp="1"/>
          </p:cNvSpPr>
          <p:nvPr/>
        </p:nvSpPr>
        <p:spPr>
          <a:xfrm>
            <a:off x="4562475" y="4552950"/>
            <a:ext cx="28765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نختبر استعداد الدفع في التجربة</a:t>
            </a:r>
          </a:p>
        </p:txBody>
      </p:sp>
      <p:sp>
        <p:nvSpPr>
          <p:cNvPr id="16" name="Rectangle: Rounded Corners 15">
            <a:extLst>
              <a:ext uri="{FF2B5EF4-FFF2-40B4-BE49-F238E27FC236}">
                <a16:creationId xmlns:a16="http://schemas.microsoft.com/office/drawing/2014/main" id="{1FB55F6C-FA60-45BE-A094-30399A8468FF}"/>
              </a:ext>
            </a:extLst>
          </p:cNvPr>
          <p:cNvSpPr>
            <a:spLocks noGrp="1"/>
          </p:cNvSpPr>
          <p:nvPr/>
        </p:nvSpPr>
        <p:spPr>
          <a:xfrm>
            <a:off x="523875" y="1781175"/>
            <a:ext cx="3333750" cy="3600450"/>
          </a:xfrm>
          <a:prstGeom prst="roundRect">
            <a:avLst>
              <a:gd name="adj" fmla="val 2286"/>
            </a:avLst>
          </a:prstGeom>
          <a:solidFill>
            <a:srgbClr val="FFFFFF"/>
          </a:solidFill>
          <a:ln w="12383">
            <a:solidFill>
              <a:srgbClr val="D4DEE9"/>
            </a:solidFill>
          </a:ln>
        </p:spPr>
      </p:sp>
      <p:sp>
        <p:nvSpPr>
          <p:cNvPr id="17" name="Rectangle: Rounded Corners 16">
            <a:extLst>
              <a:ext uri="{FF2B5EF4-FFF2-40B4-BE49-F238E27FC236}">
                <a16:creationId xmlns:a16="http://schemas.microsoft.com/office/drawing/2014/main" id="{33437691-C5C5-4056-8938-991B11855EC4}"/>
              </a:ext>
            </a:extLst>
          </p:cNvPr>
          <p:cNvSpPr>
            <a:spLocks noGrp="1"/>
          </p:cNvSpPr>
          <p:nvPr/>
        </p:nvSpPr>
        <p:spPr>
          <a:xfrm>
            <a:off x="1238250" y="1990725"/>
            <a:ext cx="1905000" cy="381000"/>
          </a:xfrm>
          <a:prstGeom prst="roundRect">
            <a:avLst>
              <a:gd name="adj" fmla="val 20000"/>
            </a:avLst>
          </a:prstGeom>
          <a:solidFill>
            <a:srgbClr val="E7EEF6"/>
          </a:solidFill>
          <a:ln w="12383">
            <a:solidFill>
              <a:srgbClr val="C9D5E3"/>
            </a:solidFill>
          </a:ln>
        </p:spPr>
      </p:sp>
      <p:sp>
        <p:nvSpPr>
          <p:cNvPr id="18" name="شريك تمكين مستهدف">
            <a:extLst>
              <a:ext uri="{FF2B5EF4-FFF2-40B4-BE49-F238E27FC236}">
                <a16:creationId xmlns:a16="http://schemas.microsoft.com/office/drawing/2014/main" id="{76E1AB3E-2607-4080-A920-CDBAE73B1915}"/>
              </a:ext>
            </a:extLst>
          </p:cNvPr>
          <p:cNvSpPr>
            <a:spLocks noGrp="1"/>
          </p:cNvSpPr>
          <p:nvPr/>
        </p:nvSpPr>
        <p:spPr>
          <a:xfrm>
            <a:off x="1333500" y="2018348"/>
            <a:ext cx="1714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شريك تمكين مستهدف</a:t>
            </a:r>
          </a:p>
        </p:txBody>
      </p:sp>
      <p:sp>
        <p:nvSpPr>
          <p:cNvPr id="19" name="جهة تعليمية عامة">
            <a:extLst>
              <a:ext uri="{FF2B5EF4-FFF2-40B4-BE49-F238E27FC236}">
                <a16:creationId xmlns:a16="http://schemas.microsoft.com/office/drawing/2014/main" id="{80631BAD-9AE8-493D-A03A-C5235358520B}"/>
              </a:ext>
            </a:extLst>
          </p:cNvPr>
          <p:cNvSpPr>
            <a:spLocks noGrp="1"/>
          </p:cNvSpPr>
          <p:nvPr/>
        </p:nvSpPr>
        <p:spPr>
          <a:xfrm>
            <a:off x="714375" y="2628900"/>
            <a:ext cx="2952750" cy="5619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جهة تعليمية عامة</a:t>
            </a:r>
          </a:p>
        </p:txBody>
      </p:sp>
      <p:sp>
        <p:nvSpPr>
          <p:cNvPr id="20" name="وصول للبيانات والمدارس&#10;وقياس أثر أوسع">
            <a:extLst>
              <a:ext uri="{FF2B5EF4-FFF2-40B4-BE49-F238E27FC236}">
                <a16:creationId xmlns:a16="http://schemas.microsoft.com/office/drawing/2014/main" id="{EED7940E-23D6-4A13-891E-B6214DA9135C}"/>
              </a:ext>
            </a:extLst>
          </p:cNvPr>
          <p:cNvSpPr>
            <a:spLocks noGrp="1"/>
          </p:cNvSpPr>
          <p:nvPr/>
        </p:nvSpPr>
        <p:spPr>
          <a:xfrm>
            <a:off x="762000" y="3333750"/>
            <a:ext cx="2857500"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وصول للبيانات والمدارس</a:t>
            </a:r>
          </a:p>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وقياس أثر أوسع</a:t>
            </a:r>
          </a:p>
        </p:txBody>
      </p:sp>
      <p:sp>
        <p:nvSpPr>
          <p:cNvPr id="21" name="خدمة وطنية مبنية على دليل">
            <a:extLst>
              <a:ext uri="{FF2B5EF4-FFF2-40B4-BE49-F238E27FC236}">
                <a16:creationId xmlns:a16="http://schemas.microsoft.com/office/drawing/2014/main" id="{B037C93A-EFD3-4C46-AFED-069F034ABEC6}"/>
              </a:ext>
            </a:extLst>
          </p:cNvPr>
          <p:cNvSpPr>
            <a:spLocks noGrp="1"/>
          </p:cNvSpPr>
          <p:nvPr/>
        </p:nvSpPr>
        <p:spPr>
          <a:xfrm>
            <a:off x="752475" y="4552950"/>
            <a:ext cx="28765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خدمة وطنية مبنية على دليل</a:t>
            </a:r>
          </a:p>
        </p:txBody>
      </p:sp>
      <p:sp>
        <p:nvSpPr>
          <p:cNvPr id="22" name="Rectangle: Rounded Corners 21">
            <a:extLst>
              <a:ext uri="{FF2B5EF4-FFF2-40B4-BE49-F238E27FC236}">
                <a16:creationId xmlns:a16="http://schemas.microsoft.com/office/drawing/2014/main" id="{17C77484-A85E-4F34-BA14-FABE8223254E}"/>
              </a:ext>
            </a:extLst>
          </p:cNvPr>
          <p:cNvSpPr>
            <a:spLocks noGrp="1"/>
          </p:cNvSpPr>
          <p:nvPr/>
        </p:nvSpPr>
        <p:spPr>
          <a:xfrm>
            <a:off x="1381125" y="5657850"/>
            <a:ext cx="10096500" cy="552450"/>
          </a:xfrm>
          <a:prstGeom prst="roundRect">
            <a:avLst>
              <a:gd name="adj" fmla="val 13793"/>
            </a:avLst>
          </a:prstGeom>
          <a:solidFill>
            <a:srgbClr val="013070"/>
          </a:solidFill>
          <a:ln w="12383">
            <a:solidFill>
              <a:srgbClr val="013070"/>
            </a:solidFill>
          </a:ln>
        </p:spPr>
      </p:sp>
      <p:sp>
        <p:nvSpPr>
          <p:cNvPr id="23" name="المستفيد يستخدم  ←  نختبر دفع المؤسسة  ←  الج">
            <a:extLst>
              <a:ext uri="{FF2B5EF4-FFF2-40B4-BE49-F238E27FC236}">
                <a16:creationId xmlns:a16="http://schemas.microsoft.com/office/drawing/2014/main" id="{22337B7A-DF1A-462C-A577-9674EED50E07}"/>
              </a:ext>
            </a:extLst>
          </p:cNvPr>
          <p:cNvSpPr>
            <a:spLocks noGrp="1"/>
          </p:cNvSpPr>
          <p:nvPr/>
        </p:nvSpPr>
        <p:spPr>
          <a:xfrm>
            <a:off x="1571625" y="5724525"/>
            <a:ext cx="9715500" cy="4095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المستفيد يستخدم  ←  نختبر دفع المؤسسة  ←  الجهة العامة تمكّن التوسع</a:t>
            </a:r>
          </a:p>
        </p:txBody>
      </p:sp>
    </p:spTree>
    <p:extLst>
      <p:ext uri="{BB962C8B-B14F-4D97-AF65-F5344CB8AC3E}">
        <p14:creationId xmlns:p14="http://schemas.microsoft.com/office/powerpoint/2010/main" val="1775219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6" name="Picture 25"/>
          <p:cNvPicPr>
            <a:picLocks noChangeAspect="1"/>
          </p:cNvPicPr>
          <p:nvPr/>
        </p:nvPicPr>
        <p:blipFill>
          <a:blip r:embed="rId3"/>
          <a:stretch/>
        </p:blipFill>
        <p:spPr>
          <a:xfrm>
            <a:off x="11125200" y="400050"/>
            <a:ext cx="552450" cy="552450"/>
          </a:xfrm>
          <a:prstGeom prst="rect">
            <a:avLst/>
          </a:prstGeom>
        </p:spPr>
      </p:pic>
      <p:sp>
        <p:nvSpPr>
          <p:cNvPr id="2" name="نموذج العمل ومصادر الإيراد">
            <a:extLst>
              <a:ext uri="{FF2B5EF4-FFF2-40B4-BE49-F238E27FC236}">
                <a16:creationId xmlns:a16="http://schemas.microsoft.com/office/drawing/2014/main" id="{9294C02F-907C-4538-B15C-0EEE085B5619}"/>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نموذج العمل ومصادر الإيراد</a:t>
            </a:r>
          </a:p>
        </p:txBody>
      </p:sp>
      <p:sp>
        <p:nvSpPr>
          <p:cNvPr id="3" name="08">
            <a:extLst>
              <a:ext uri="{FF2B5EF4-FFF2-40B4-BE49-F238E27FC236}">
                <a16:creationId xmlns:a16="http://schemas.microsoft.com/office/drawing/2014/main" id="{7A9B77F8-0E85-45D8-9421-AE995F41F9BD}"/>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08</a:t>
            </a:r>
          </a:p>
        </p:txBody>
      </p:sp>
      <p:sp>
        <p:nvSpPr>
          <p:cNvPr id="4" name="Rectangle: Rounded Corners 3">
            <a:extLst>
              <a:ext uri="{FF2B5EF4-FFF2-40B4-BE49-F238E27FC236}">
                <a16:creationId xmlns:a16="http://schemas.microsoft.com/office/drawing/2014/main" id="{359E088B-11A1-4228-B54B-56934CB9B2EE}"/>
              </a:ext>
            </a:extLst>
          </p:cNvPr>
          <p:cNvSpPr>
            <a:spLocks noGrp="1"/>
          </p:cNvSpPr>
          <p:nvPr/>
        </p:nvSpPr>
        <p:spPr>
          <a:xfrm>
            <a:off x="8143875" y="1724025"/>
            <a:ext cx="3333750" cy="3009900"/>
          </a:xfrm>
          <a:prstGeom prst="roundRect">
            <a:avLst>
              <a:gd name="adj" fmla="val 2532"/>
            </a:avLst>
          </a:prstGeom>
          <a:solidFill>
            <a:srgbClr val="FFFFFF"/>
          </a:solidFill>
          <a:ln w="12383">
            <a:solidFill>
              <a:srgbClr val="58749B"/>
            </a:solidFill>
          </a:ln>
        </p:spPr>
      </p:sp>
      <p:sp>
        <p:nvSpPr>
          <p:cNvPr id="5" name="Rectangle: Rounded Corners 4">
            <a:extLst>
              <a:ext uri="{FF2B5EF4-FFF2-40B4-BE49-F238E27FC236}">
                <a16:creationId xmlns:a16="http://schemas.microsoft.com/office/drawing/2014/main" id="{688E03FE-08AE-45AA-A002-D2ACB8A9F608}"/>
              </a:ext>
            </a:extLst>
          </p:cNvPr>
          <p:cNvSpPr>
            <a:spLocks noGrp="1"/>
          </p:cNvSpPr>
          <p:nvPr/>
        </p:nvSpPr>
        <p:spPr>
          <a:xfrm>
            <a:off x="8667750" y="1943100"/>
            <a:ext cx="2286000" cy="381000"/>
          </a:xfrm>
          <a:prstGeom prst="roundRect">
            <a:avLst>
              <a:gd name="adj" fmla="val 20000"/>
            </a:avLst>
          </a:prstGeom>
          <a:solidFill>
            <a:srgbClr val="E7EEF6"/>
          </a:solidFill>
          <a:ln w="12383">
            <a:solidFill>
              <a:srgbClr val="C9D5E3"/>
            </a:solidFill>
          </a:ln>
        </p:spPr>
      </p:sp>
      <p:sp>
        <p:nvSpPr>
          <p:cNvPr id="6" name="الطالب والأسرة">
            <a:extLst>
              <a:ext uri="{FF2B5EF4-FFF2-40B4-BE49-F238E27FC236}">
                <a16:creationId xmlns:a16="http://schemas.microsoft.com/office/drawing/2014/main" id="{9EB136AF-433A-4B27-B9FA-F991CA9AB0C3}"/>
              </a:ext>
            </a:extLst>
          </p:cNvPr>
          <p:cNvSpPr>
            <a:spLocks noGrp="1"/>
          </p:cNvSpPr>
          <p:nvPr/>
        </p:nvSpPr>
        <p:spPr>
          <a:xfrm>
            <a:off x="8763000" y="197072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الطالب والأسرة</a:t>
            </a:r>
          </a:p>
        </p:txBody>
      </p:sp>
      <p:sp>
        <p:nvSpPr>
          <p:cNvPr id="7" name="مجاني">
            <a:extLst>
              <a:ext uri="{FF2B5EF4-FFF2-40B4-BE49-F238E27FC236}">
                <a16:creationId xmlns:a16="http://schemas.microsoft.com/office/drawing/2014/main" id="{540D2554-E348-417D-8B6E-0943026170A2}"/>
              </a:ext>
            </a:extLst>
          </p:cNvPr>
          <p:cNvSpPr>
            <a:spLocks noGrp="1"/>
          </p:cNvSpPr>
          <p:nvPr/>
        </p:nvSpPr>
        <p:spPr>
          <a:xfrm>
            <a:off x="8334375" y="2514600"/>
            <a:ext cx="2952750" cy="819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225" b="1" kern="0" spc="0">
                <a:solidFill>
                  <a:srgbClr val="013070"/>
                </a:solidFill>
                <a:latin typeface="IBM Plex Sans Arabic"/>
                <a:ea typeface="IBM Plex Sans Arabic"/>
                <a:cs typeface="IBM Plex Sans Arabic"/>
              </a:defRPr>
            </a:pPr>
            <a:r>
              <a:rPr lang="ar-JO" sz="3225" b="1" kern="0" spc="0">
                <a:solidFill>
                  <a:srgbClr val="013070"/>
                </a:solidFill>
                <a:latin typeface="IBM Plex Sans Arabic"/>
                <a:ea typeface="IBM Plex Sans Arabic"/>
                <a:cs typeface="IBM Plex Sans Arabic"/>
              </a:rPr>
              <a:t>مجاني</a:t>
            </a:r>
          </a:p>
        </p:txBody>
      </p:sp>
      <p:sp>
        <p:nvSpPr>
          <p:cNvPr id="8" name="رحلة القرار الأساسية">
            <a:extLst>
              <a:ext uri="{FF2B5EF4-FFF2-40B4-BE49-F238E27FC236}">
                <a16:creationId xmlns:a16="http://schemas.microsoft.com/office/drawing/2014/main" id="{67EB86AD-DB58-4A27-A4E8-C060FB3BE5EC}"/>
              </a:ext>
            </a:extLst>
          </p:cNvPr>
          <p:cNvSpPr>
            <a:spLocks noGrp="1"/>
          </p:cNvSpPr>
          <p:nvPr/>
        </p:nvSpPr>
        <p:spPr>
          <a:xfrm>
            <a:off x="8382000" y="3381375"/>
            <a:ext cx="2857500" cy="4476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102C50"/>
                </a:solidFill>
                <a:latin typeface="IBM Plex Sans Arabic"/>
                <a:ea typeface="IBM Plex Sans Arabic"/>
                <a:cs typeface="IBM Plex Sans Arabic"/>
              </a:defRPr>
            </a:pPr>
            <a:r>
              <a:rPr lang="ar-JO" sz="1800" b="1" kern="0" spc="0">
                <a:solidFill>
                  <a:srgbClr val="102C50"/>
                </a:solidFill>
                <a:latin typeface="IBM Plex Sans Arabic"/>
                <a:ea typeface="IBM Plex Sans Arabic"/>
                <a:cs typeface="IBM Plex Sans Arabic"/>
              </a:rPr>
              <a:t>رحلة القرار الأساسية</a:t>
            </a:r>
          </a:p>
        </p:txBody>
      </p:sp>
      <p:sp>
        <p:nvSpPr>
          <p:cNvPr id="9" name="بلا تكلفة على المستفيد">
            <a:extLst>
              <a:ext uri="{FF2B5EF4-FFF2-40B4-BE49-F238E27FC236}">
                <a16:creationId xmlns:a16="http://schemas.microsoft.com/office/drawing/2014/main" id="{61CFD3BE-F9F9-405D-BF07-699B792EAAA5}"/>
              </a:ext>
            </a:extLst>
          </p:cNvPr>
          <p:cNvSpPr>
            <a:spLocks noGrp="1"/>
          </p:cNvSpPr>
          <p:nvPr/>
        </p:nvSpPr>
        <p:spPr>
          <a:xfrm>
            <a:off x="8382000" y="4010025"/>
            <a:ext cx="2857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بلا تكلفة على المستفيد</a:t>
            </a:r>
          </a:p>
        </p:txBody>
      </p:sp>
      <p:sp>
        <p:nvSpPr>
          <p:cNvPr id="10" name="Rectangle: Rounded Corners 9">
            <a:extLst>
              <a:ext uri="{FF2B5EF4-FFF2-40B4-BE49-F238E27FC236}">
                <a16:creationId xmlns:a16="http://schemas.microsoft.com/office/drawing/2014/main" id="{B22DC251-0C9B-47D3-88EA-02BB7A939FAE}"/>
              </a:ext>
            </a:extLst>
          </p:cNvPr>
          <p:cNvSpPr>
            <a:spLocks noGrp="1"/>
          </p:cNvSpPr>
          <p:nvPr/>
        </p:nvSpPr>
        <p:spPr>
          <a:xfrm>
            <a:off x="4333875" y="1724025"/>
            <a:ext cx="3333750" cy="3009900"/>
          </a:xfrm>
          <a:prstGeom prst="roundRect">
            <a:avLst>
              <a:gd name="adj" fmla="val 2532"/>
            </a:avLst>
          </a:prstGeom>
          <a:solidFill>
            <a:srgbClr val="F3EAD7"/>
          </a:solidFill>
          <a:ln w="12383">
            <a:solidFill>
              <a:srgbClr val="DFC98F"/>
            </a:solidFill>
          </a:ln>
        </p:spPr>
      </p:sp>
      <p:sp>
        <p:nvSpPr>
          <p:cNvPr id="11" name="Rectangle: Rounded Corners 10">
            <a:extLst>
              <a:ext uri="{FF2B5EF4-FFF2-40B4-BE49-F238E27FC236}">
                <a16:creationId xmlns:a16="http://schemas.microsoft.com/office/drawing/2014/main" id="{29A1195B-F3C4-4391-914C-E656EC3F150C}"/>
              </a:ext>
            </a:extLst>
          </p:cNvPr>
          <p:cNvSpPr>
            <a:spLocks noGrp="1"/>
          </p:cNvSpPr>
          <p:nvPr/>
        </p:nvSpPr>
        <p:spPr>
          <a:xfrm>
            <a:off x="4857750" y="1943100"/>
            <a:ext cx="2286000" cy="381000"/>
          </a:xfrm>
          <a:prstGeom prst="roundRect">
            <a:avLst>
              <a:gd name="adj" fmla="val 20000"/>
            </a:avLst>
          </a:prstGeom>
          <a:solidFill>
            <a:srgbClr val="E7EEF6"/>
          </a:solidFill>
          <a:ln w="12383">
            <a:solidFill>
              <a:srgbClr val="C9D5E3"/>
            </a:solidFill>
          </a:ln>
        </p:spPr>
      </p:sp>
      <p:sp>
        <p:nvSpPr>
          <p:cNvPr id="12" name="المؤسسة التعليمية">
            <a:extLst>
              <a:ext uri="{FF2B5EF4-FFF2-40B4-BE49-F238E27FC236}">
                <a16:creationId xmlns:a16="http://schemas.microsoft.com/office/drawing/2014/main" id="{647D5A32-406F-4E7F-9D03-08D04299BC04}"/>
              </a:ext>
            </a:extLst>
          </p:cNvPr>
          <p:cNvSpPr>
            <a:spLocks noGrp="1"/>
          </p:cNvSpPr>
          <p:nvPr/>
        </p:nvSpPr>
        <p:spPr>
          <a:xfrm>
            <a:off x="4953000" y="197072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المؤسسة التعليمية</a:t>
            </a:r>
          </a:p>
        </p:txBody>
      </p:sp>
      <p:sp>
        <p:nvSpPr>
          <p:cNvPr id="13" name="20 دينارًا">
            <a:extLst>
              <a:ext uri="{FF2B5EF4-FFF2-40B4-BE49-F238E27FC236}">
                <a16:creationId xmlns:a16="http://schemas.microsoft.com/office/drawing/2014/main" id="{C1AC0BA4-471F-4804-8192-5DFD2FD1BB3C}"/>
              </a:ext>
            </a:extLst>
          </p:cNvPr>
          <p:cNvSpPr>
            <a:spLocks noGrp="1"/>
          </p:cNvSpPr>
          <p:nvPr/>
        </p:nvSpPr>
        <p:spPr>
          <a:xfrm>
            <a:off x="4524375" y="2514600"/>
            <a:ext cx="2952750" cy="819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4050" b="1" kern="0" spc="0">
                <a:solidFill>
                  <a:srgbClr val="C8A04C"/>
                </a:solidFill>
                <a:latin typeface="IBM Plex Sans Arabic"/>
                <a:ea typeface="IBM Plex Sans Arabic"/>
                <a:cs typeface="IBM Plex Sans Arabic"/>
              </a:defRPr>
            </a:pPr>
            <a:r>
              <a:rPr lang="ar-JO" sz="4050" b="1" kern="0" spc="0">
                <a:solidFill>
                  <a:srgbClr val="C8A04C"/>
                </a:solidFill>
                <a:latin typeface="IBM Plex Sans Arabic"/>
                <a:ea typeface="IBM Plex Sans Arabic"/>
                <a:cs typeface="IBM Plex Sans Arabic"/>
              </a:rPr>
              <a:t>20 دينارًا</a:t>
            </a:r>
          </a:p>
        </p:txBody>
      </p:sp>
      <p:sp>
        <p:nvSpPr>
          <p:cNvPr id="14" name="لكل مقعد طالب ممول سنويًا">
            <a:extLst>
              <a:ext uri="{FF2B5EF4-FFF2-40B4-BE49-F238E27FC236}">
                <a16:creationId xmlns:a16="http://schemas.microsoft.com/office/drawing/2014/main" id="{C2FB08D4-EC26-4EB7-AC36-2C3E644F7CE1}"/>
              </a:ext>
            </a:extLst>
          </p:cNvPr>
          <p:cNvSpPr>
            <a:spLocks noGrp="1"/>
          </p:cNvSpPr>
          <p:nvPr/>
        </p:nvSpPr>
        <p:spPr>
          <a:xfrm>
            <a:off x="4572000" y="3381375"/>
            <a:ext cx="2857500" cy="4476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102C50"/>
                </a:solidFill>
                <a:latin typeface="IBM Plex Sans Arabic"/>
                <a:ea typeface="IBM Plex Sans Arabic"/>
                <a:cs typeface="IBM Plex Sans Arabic"/>
              </a:defRPr>
            </a:pPr>
            <a:r>
              <a:rPr lang="ar-JO" sz="1800" b="1" kern="0" spc="0">
                <a:solidFill>
                  <a:srgbClr val="102C50"/>
                </a:solidFill>
                <a:latin typeface="IBM Plex Sans Arabic"/>
                <a:ea typeface="IBM Plex Sans Arabic"/>
                <a:cs typeface="IBM Plex Sans Arabic"/>
              </a:rPr>
              <a:t>لكل مقعد طالب ممول سنويًا</a:t>
            </a:r>
          </a:p>
        </p:txBody>
      </p:sp>
      <p:sp>
        <p:nvSpPr>
          <p:cNvPr id="15" name="عرض مقترح: أدوات + تقارير + تدريب">
            <a:extLst>
              <a:ext uri="{FF2B5EF4-FFF2-40B4-BE49-F238E27FC236}">
                <a16:creationId xmlns:a16="http://schemas.microsoft.com/office/drawing/2014/main" id="{282F16E0-3E3D-42B1-9390-7E2ED9A46946}"/>
              </a:ext>
            </a:extLst>
          </p:cNvPr>
          <p:cNvSpPr>
            <a:spLocks noGrp="1"/>
          </p:cNvSpPr>
          <p:nvPr/>
        </p:nvSpPr>
        <p:spPr>
          <a:xfrm>
            <a:off x="4572000" y="4010025"/>
            <a:ext cx="2857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عرض مقترح: أدوات + تقارير + تدريب</a:t>
            </a:r>
          </a:p>
        </p:txBody>
      </p:sp>
      <p:sp>
        <p:nvSpPr>
          <p:cNvPr id="16" name="Rectangle: Rounded Corners 15">
            <a:extLst>
              <a:ext uri="{FF2B5EF4-FFF2-40B4-BE49-F238E27FC236}">
                <a16:creationId xmlns:a16="http://schemas.microsoft.com/office/drawing/2014/main" id="{C63BD0E7-E734-4EC3-ABE5-C40781E8088A}"/>
              </a:ext>
            </a:extLst>
          </p:cNvPr>
          <p:cNvSpPr>
            <a:spLocks noGrp="1"/>
          </p:cNvSpPr>
          <p:nvPr/>
        </p:nvSpPr>
        <p:spPr>
          <a:xfrm>
            <a:off x="523875" y="1724025"/>
            <a:ext cx="3333750" cy="3009900"/>
          </a:xfrm>
          <a:prstGeom prst="roundRect">
            <a:avLst>
              <a:gd name="adj" fmla="val 2532"/>
            </a:avLst>
          </a:prstGeom>
          <a:solidFill>
            <a:srgbClr val="FFFFFF"/>
          </a:solidFill>
          <a:ln w="12383">
            <a:solidFill>
              <a:srgbClr val="58749B"/>
            </a:solidFill>
          </a:ln>
        </p:spPr>
      </p:sp>
      <p:sp>
        <p:nvSpPr>
          <p:cNvPr id="17" name="Rectangle: Rounded Corners 16">
            <a:extLst>
              <a:ext uri="{FF2B5EF4-FFF2-40B4-BE49-F238E27FC236}">
                <a16:creationId xmlns:a16="http://schemas.microsoft.com/office/drawing/2014/main" id="{15679CE5-EC55-4D7B-93DC-8F84B330E12D}"/>
              </a:ext>
            </a:extLst>
          </p:cNvPr>
          <p:cNvSpPr>
            <a:spLocks noGrp="1"/>
          </p:cNvSpPr>
          <p:nvPr/>
        </p:nvSpPr>
        <p:spPr>
          <a:xfrm>
            <a:off x="1047750" y="1943100"/>
            <a:ext cx="2286000" cy="381000"/>
          </a:xfrm>
          <a:prstGeom prst="roundRect">
            <a:avLst>
              <a:gd name="adj" fmla="val 20000"/>
            </a:avLst>
          </a:prstGeom>
          <a:solidFill>
            <a:srgbClr val="E7EEF6"/>
          </a:solidFill>
          <a:ln w="12383">
            <a:solidFill>
              <a:srgbClr val="C9D5E3"/>
            </a:solidFill>
          </a:ln>
        </p:spPr>
      </p:sp>
      <p:sp>
        <p:nvSpPr>
          <p:cNvPr id="18" name="جهة تعليمية عامة">
            <a:extLst>
              <a:ext uri="{FF2B5EF4-FFF2-40B4-BE49-F238E27FC236}">
                <a16:creationId xmlns:a16="http://schemas.microsoft.com/office/drawing/2014/main" id="{C5F449AF-D10D-4CCC-A29A-FEBDBD1DC22E}"/>
              </a:ext>
            </a:extLst>
          </p:cNvPr>
          <p:cNvSpPr>
            <a:spLocks noGrp="1"/>
          </p:cNvSpPr>
          <p:nvPr/>
        </p:nvSpPr>
        <p:spPr>
          <a:xfrm>
            <a:off x="1143000" y="197072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جهة تعليمية عامة</a:t>
            </a:r>
          </a:p>
        </p:txBody>
      </p:sp>
      <p:sp>
        <p:nvSpPr>
          <p:cNvPr id="19" name="عقد سنوي">
            <a:extLst>
              <a:ext uri="{FF2B5EF4-FFF2-40B4-BE49-F238E27FC236}">
                <a16:creationId xmlns:a16="http://schemas.microsoft.com/office/drawing/2014/main" id="{A7ECD248-EC04-4115-9C65-007A2B231C63}"/>
              </a:ext>
            </a:extLst>
          </p:cNvPr>
          <p:cNvSpPr>
            <a:spLocks noGrp="1"/>
          </p:cNvSpPr>
          <p:nvPr/>
        </p:nvSpPr>
        <p:spPr>
          <a:xfrm>
            <a:off x="714375" y="2514600"/>
            <a:ext cx="2952750" cy="819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225" b="1" kern="0" spc="0">
                <a:solidFill>
                  <a:srgbClr val="013070"/>
                </a:solidFill>
                <a:latin typeface="IBM Plex Sans Arabic"/>
                <a:ea typeface="IBM Plex Sans Arabic"/>
                <a:cs typeface="IBM Plex Sans Arabic"/>
              </a:defRPr>
            </a:pPr>
            <a:r>
              <a:rPr lang="ar-JO" sz="3225" b="1" kern="0" spc="0">
                <a:solidFill>
                  <a:srgbClr val="013070"/>
                </a:solidFill>
                <a:latin typeface="IBM Plex Sans Arabic"/>
                <a:ea typeface="IBM Plex Sans Arabic"/>
                <a:cs typeface="IBM Plex Sans Arabic"/>
              </a:rPr>
              <a:t>عقد سنوي</a:t>
            </a:r>
          </a:p>
        </p:txBody>
      </p:sp>
      <p:sp>
        <p:nvSpPr>
          <p:cNvPr id="20" name="بحسب نطاق الخدمة">
            <a:extLst>
              <a:ext uri="{FF2B5EF4-FFF2-40B4-BE49-F238E27FC236}">
                <a16:creationId xmlns:a16="http://schemas.microsoft.com/office/drawing/2014/main" id="{F3344A0B-DEF2-405E-B7BD-0DC7BBA3815E}"/>
              </a:ext>
            </a:extLst>
          </p:cNvPr>
          <p:cNvSpPr>
            <a:spLocks noGrp="1"/>
          </p:cNvSpPr>
          <p:nvPr/>
        </p:nvSpPr>
        <p:spPr>
          <a:xfrm>
            <a:off x="762000" y="3381375"/>
            <a:ext cx="2857500" cy="4476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102C50"/>
                </a:solidFill>
                <a:latin typeface="IBM Plex Sans Arabic"/>
                <a:ea typeface="IBM Plex Sans Arabic"/>
                <a:cs typeface="IBM Plex Sans Arabic"/>
              </a:defRPr>
            </a:pPr>
            <a:r>
              <a:rPr lang="ar-JO" sz="1800" b="1" kern="0" spc="0">
                <a:solidFill>
                  <a:srgbClr val="102C50"/>
                </a:solidFill>
                <a:latin typeface="IBM Plex Sans Arabic"/>
                <a:ea typeface="IBM Plex Sans Arabic"/>
                <a:cs typeface="IBM Plex Sans Arabic"/>
              </a:rPr>
              <a:t>بحسب نطاق الخدمة</a:t>
            </a:r>
          </a:p>
        </p:txBody>
      </p:sp>
      <p:sp>
        <p:nvSpPr>
          <p:cNvPr id="21" name="بيانات + دعم + قياس أثر">
            <a:extLst>
              <a:ext uri="{FF2B5EF4-FFF2-40B4-BE49-F238E27FC236}">
                <a16:creationId xmlns:a16="http://schemas.microsoft.com/office/drawing/2014/main" id="{836E9FCE-1596-4E9D-841C-4E3A9FA74D0C}"/>
              </a:ext>
            </a:extLst>
          </p:cNvPr>
          <p:cNvSpPr>
            <a:spLocks noGrp="1"/>
          </p:cNvSpPr>
          <p:nvPr/>
        </p:nvSpPr>
        <p:spPr>
          <a:xfrm>
            <a:off x="762000" y="4010025"/>
            <a:ext cx="2857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بيانات + دعم + قياس أثر</a:t>
            </a:r>
          </a:p>
        </p:txBody>
      </p:sp>
      <p:sp>
        <p:nvSpPr>
          <p:cNvPr id="22" name="Rectangle: Rounded Corners 21">
            <a:extLst>
              <a:ext uri="{FF2B5EF4-FFF2-40B4-BE49-F238E27FC236}">
                <a16:creationId xmlns:a16="http://schemas.microsoft.com/office/drawing/2014/main" id="{A9750ECF-554D-4DBB-A6CF-E89A3A1D48DE}"/>
              </a:ext>
            </a:extLst>
          </p:cNvPr>
          <p:cNvSpPr>
            <a:spLocks noGrp="1"/>
          </p:cNvSpPr>
          <p:nvPr/>
        </p:nvSpPr>
        <p:spPr>
          <a:xfrm>
            <a:off x="1524000" y="4972050"/>
            <a:ext cx="9953625" cy="742950"/>
          </a:xfrm>
          <a:prstGeom prst="roundRect">
            <a:avLst>
              <a:gd name="adj" fmla="val 10256"/>
            </a:avLst>
          </a:prstGeom>
          <a:solidFill>
            <a:srgbClr val="123D76"/>
          </a:solidFill>
          <a:ln w="12383">
            <a:solidFill>
              <a:srgbClr val="58749B"/>
            </a:solidFill>
          </a:ln>
        </p:spPr>
      </p:sp>
      <p:sp>
        <p:nvSpPr>
          <p:cNvPr id="23" name="1,950 مقعد طالب ممول">
            <a:extLst>
              <a:ext uri="{FF2B5EF4-FFF2-40B4-BE49-F238E27FC236}">
                <a16:creationId xmlns:a16="http://schemas.microsoft.com/office/drawing/2014/main" id="{CE9AAD35-2C18-44DC-A461-94EAF863F651}"/>
              </a:ext>
            </a:extLst>
          </p:cNvPr>
          <p:cNvSpPr>
            <a:spLocks noGrp="1"/>
          </p:cNvSpPr>
          <p:nvPr/>
        </p:nvSpPr>
        <p:spPr>
          <a:xfrm>
            <a:off x="5953125" y="5029200"/>
            <a:ext cx="52387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FFFFFF"/>
                </a:solidFill>
                <a:latin typeface="IBM Plex Sans Arabic"/>
                <a:ea typeface="IBM Plex Sans Arabic"/>
                <a:cs typeface="IBM Plex Sans Arabic"/>
              </a:defRPr>
            </a:pPr>
            <a:r>
              <a:rPr lang="ar-JO" sz="2550" b="1" kern="0" spc="0">
                <a:solidFill>
                  <a:srgbClr val="FFFFFF"/>
                </a:solidFill>
                <a:latin typeface="IBM Plex Sans Arabic"/>
                <a:ea typeface="IBM Plex Sans Arabic"/>
                <a:cs typeface="IBM Plex Sans Arabic"/>
              </a:rPr>
              <a:t>1,950 مقعد طالب ممول</a:t>
            </a:r>
          </a:p>
        </p:txBody>
      </p:sp>
      <p:sp>
        <p:nvSpPr>
          <p:cNvPr id="24" name="نقطة تعادل مفترضة">
            <a:extLst>
              <a:ext uri="{FF2B5EF4-FFF2-40B4-BE49-F238E27FC236}">
                <a16:creationId xmlns:a16="http://schemas.microsoft.com/office/drawing/2014/main" id="{845A09E0-85EB-434F-AF21-7175A92636E8}"/>
              </a:ext>
            </a:extLst>
          </p:cNvPr>
          <p:cNvSpPr>
            <a:spLocks noGrp="1"/>
          </p:cNvSpPr>
          <p:nvPr/>
        </p:nvSpPr>
        <p:spPr>
          <a:xfrm>
            <a:off x="1809750" y="5057775"/>
            <a:ext cx="3810000" cy="457200"/>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نقطة تعادل مفترضة</a:t>
            </a:r>
          </a:p>
        </p:txBody>
      </p:sp>
      <p:sp>
        <p:nvSpPr>
          <p:cNvPr id="25" name="فرضيات للاختبار وليست مبيعات: السعر، الكلفة، ">
            <a:extLst>
              <a:ext uri="{FF2B5EF4-FFF2-40B4-BE49-F238E27FC236}">
                <a16:creationId xmlns:a16="http://schemas.microsoft.com/office/drawing/2014/main" id="{EBD65638-7EFA-442C-8F06-D9669F68194F}"/>
              </a:ext>
            </a:extLst>
          </p:cNvPr>
          <p:cNvSpPr>
            <a:spLocks noGrp="1"/>
          </p:cNvSpPr>
          <p:nvPr/>
        </p:nvSpPr>
        <p:spPr>
          <a:xfrm>
            <a:off x="1524000" y="5888355"/>
            <a:ext cx="9953625" cy="3105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فرضيات للاختبار وليست مبيعات: السعر، الكلفة، والتعادل تتغير بنتائج التجربة</a:t>
            </a:r>
          </a:p>
        </p:txBody>
      </p:sp>
    </p:spTree>
    <p:extLst>
      <p:ext uri="{BB962C8B-B14F-4D97-AF65-F5344CB8AC3E}">
        <p14:creationId xmlns:p14="http://schemas.microsoft.com/office/powerpoint/2010/main" val="448492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2" name="Picture 21"/>
          <p:cNvPicPr>
            <a:picLocks noChangeAspect="1"/>
          </p:cNvPicPr>
          <p:nvPr/>
        </p:nvPicPr>
        <p:blipFill>
          <a:blip r:embed="rId3"/>
          <a:stretch/>
        </p:blipFill>
        <p:spPr>
          <a:xfrm>
            <a:off x="11125200" y="400050"/>
            <a:ext cx="552450" cy="552450"/>
          </a:xfrm>
          <a:prstGeom prst="rect">
            <a:avLst/>
          </a:prstGeom>
        </p:spPr>
      </p:pic>
      <p:sp>
        <p:nvSpPr>
          <p:cNvPr id="2" name="الأثر: كيف نتحقق منه محليًا؟">
            <a:extLst>
              <a:ext uri="{FF2B5EF4-FFF2-40B4-BE49-F238E27FC236}">
                <a16:creationId xmlns:a16="http://schemas.microsoft.com/office/drawing/2014/main" id="{77A27C7F-7BDE-42C7-A343-FF20E69B93B2}"/>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الأثر: كيف نتحقق منه محليًا؟</a:t>
            </a:r>
          </a:p>
        </p:txBody>
      </p:sp>
      <p:sp>
        <p:nvSpPr>
          <p:cNvPr id="3" name="09">
            <a:extLst>
              <a:ext uri="{FF2B5EF4-FFF2-40B4-BE49-F238E27FC236}">
                <a16:creationId xmlns:a16="http://schemas.microsoft.com/office/drawing/2014/main" id="{3637757E-ACBD-42EF-AE1B-0F782BFD61DA}"/>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09</a:t>
            </a:r>
          </a:p>
        </p:txBody>
      </p:sp>
      <p:sp>
        <p:nvSpPr>
          <p:cNvPr id="4" name="100">
            <a:extLst>
              <a:ext uri="{FF2B5EF4-FFF2-40B4-BE49-F238E27FC236}">
                <a16:creationId xmlns:a16="http://schemas.microsoft.com/office/drawing/2014/main" id="{98190834-6815-47C8-95B1-77659E0C1C18}"/>
              </a:ext>
            </a:extLst>
          </p:cNvPr>
          <p:cNvSpPr>
            <a:spLocks noGrp="1"/>
          </p:cNvSpPr>
          <p:nvPr/>
        </p:nvSpPr>
        <p:spPr>
          <a:xfrm>
            <a:off x="8191500" y="1708785"/>
            <a:ext cx="3238500" cy="10972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5850" b="1" kern="0" spc="0">
                <a:solidFill>
                  <a:srgbClr val="013070"/>
                </a:solidFill>
                <a:latin typeface="IBM Plex Sans Arabic"/>
                <a:ea typeface="IBM Plex Sans Arabic"/>
                <a:cs typeface="IBM Plex Sans Arabic"/>
              </a:defRPr>
            </a:pPr>
            <a:r>
              <a:rPr lang="ar-JO" sz="5850" b="1" kern="0" spc="0">
                <a:solidFill>
                  <a:srgbClr val="013070"/>
                </a:solidFill>
                <a:latin typeface="IBM Plex Sans Arabic"/>
                <a:ea typeface="IBM Plex Sans Arabic"/>
                <a:cs typeface="IBM Plex Sans Arabic"/>
              </a:rPr>
              <a:t>100</a:t>
            </a:r>
          </a:p>
        </p:txBody>
      </p:sp>
      <p:sp>
        <p:nvSpPr>
          <p:cNvPr id="5" name="طالب">
            <a:extLst>
              <a:ext uri="{FF2B5EF4-FFF2-40B4-BE49-F238E27FC236}">
                <a16:creationId xmlns:a16="http://schemas.microsoft.com/office/drawing/2014/main" id="{9BB06CA4-ABAF-4663-88CB-D25E8FF7D5B8}"/>
              </a:ext>
            </a:extLst>
          </p:cNvPr>
          <p:cNvSpPr>
            <a:spLocks noGrp="1"/>
          </p:cNvSpPr>
          <p:nvPr/>
        </p:nvSpPr>
        <p:spPr>
          <a:xfrm>
            <a:off x="8191500" y="2724150"/>
            <a:ext cx="3238500" cy="4953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400" b="1" kern="0" spc="0">
                <a:solidFill>
                  <a:srgbClr val="C8A04C"/>
                </a:solidFill>
                <a:latin typeface="IBM Plex Sans Arabic"/>
                <a:ea typeface="IBM Plex Sans Arabic"/>
                <a:cs typeface="IBM Plex Sans Arabic"/>
              </a:defRPr>
            </a:pPr>
            <a:r>
              <a:rPr lang="ar-JO" sz="2400" b="1" kern="0" spc="0">
                <a:solidFill>
                  <a:srgbClr val="C8A04C"/>
                </a:solidFill>
                <a:latin typeface="IBM Plex Sans Arabic"/>
                <a:ea typeface="IBM Plex Sans Arabic"/>
                <a:cs typeface="IBM Plex Sans Arabic"/>
              </a:rPr>
              <a:t>طالب</a:t>
            </a:r>
          </a:p>
        </p:txBody>
      </p:sp>
      <p:sp>
        <p:nvSpPr>
          <p:cNvPr id="6" name="3">
            <a:extLst>
              <a:ext uri="{FF2B5EF4-FFF2-40B4-BE49-F238E27FC236}">
                <a16:creationId xmlns:a16="http://schemas.microsoft.com/office/drawing/2014/main" id="{E0C40092-7CC4-478D-8A28-65E3FF3A6873}"/>
              </a:ext>
            </a:extLst>
          </p:cNvPr>
          <p:cNvSpPr>
            <a:spLocks noGrp="1"/>
          </p:cNvSpPr>
          <p:nvPr/>
        </p:nvSpPr>
        <p:spPr>
          <a:xfrm>
            <a:off x="4429125" y="1708785"/>
            <a:ext cx="3238500" cy="10972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5850" b="1" kern="0" spc="0">
                <a:solidFill>
                  <a:srgbClr val="013070"/>
                </a:solidFill>
                <a:latin typeface="IBM Plex Sans Arabic"/>
                <a:ea typeface="IBM Plex Sans Arabic"/>
                <a:cs typeface="IBM Plex Sans Arabic"/>
              </a:defRPr>
            </a:pPr>
            <a:r>
              <a:rPr lang="ar-JO" sz="5850" b="1" kern="0" spc="0">
                <a:solidFill>
                  <a:srgbClr val="013070"/>
                </a:solidFill>
                <a:latin typeface="IBM Plex Sans Arabic"/>
                <a:ea typeface="IBM Plex Sans Arabic"/>
                <a:cs typeface="IBM Plex Sans Arabic"/>
              </a:rPr>
              <a:t>3</a:t>
            </a:r>
          </a:p>
        </p:txBody>
      </p:sp>
      <p:sp>
        <p:nvSpPr>
          <p:cNvPr id="7" name="مدارس">
            <a:extLst>
              <a:ext uri="{FF2B5EF4-FFF2-40B4-BE49-F238E27FC236}">
                <a16:creationId xmlns:a16="http://schemas.microsoft.com/office/drawing/2014/main" id="{0339865C-F375-4C54-8815-FC21C26FF4FD}"/>
              </a:ext>
            </a:extLst>
          </p:cNvPr>
          <p:cNvSpPr>
            <a:spLocks noGrp="1"/>
          </p:cNvSpPr>
          <p:nvPr/>
        </p:nvSpPr>
        <p:spPr>
          <a:xfrm>
            <a:off x="4429125" y="2724150"/>
            <a:ext cx="3238500" cy="4953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400" b="1" kern="0" spc="0">
                <a:solidFill>
                  <a:srgbClr val="C8A04C"/>
                </a:solidFill>
                <a:latin typeface="IBM Plex Sans Arabic"/>
                <a:ea typeface="IBM Plex Sans Arabic"/>
                <a:cs typeface="IBM Plex Sans Arabic"/>
              </a:defRPr>
            </a:pPr>
            <a:r>
              <a:rPr lang="ar-JO" sz="2400" b="1" kern="0" spc="0">
                <a:solidFill>
                  <a:srgbClr val="C8A04C"/>
                </a:solidFill>
                <a:latin typeface="IBM Plex Sans Arabic"/>
                <a:ea typeface="IBM Plex Sans Arabic"/>
                <a:cs typeface="IBM Plex Sans Arabic"/>
              </a:rPr>
              <a:t>مدارس</a:t>
            </a:r>
          </a:p>
        </p:txBody>
      </p:sp>
      <p:sp>
        <p:nvSpPr>
          <p:cNvPr id="8" name="6">
            <a:extLst>
              <a:ext uri="{FF2B5EF4-FFF2-40B4-BE49-F238E27FC236}">
                <a16:creationId xmlns:a16="http://schemas.microsoft.com/office/drawing/2014/main" id="{216D9994-53AB-447E-8D0E-6734F71431A1}"/>
              </a:ext>
            </a:extLst>
          </p:cNvPr>
          <p:cNvSpPr>
            <a:spLocks noGrp="1"/>
          </p:cNvSpPr>
          <p:nvPr/>
        </p:nvSpPr>
        <p:spPr>
          <a:xfrm>
            <a:off x="666750" y="1708785"/>
            <a:ext cx="3238500" cy="10972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5850" b="1" kern="0" spc="0">
                <a:solidFill>
                  <a:srgbClr val="013070"/>
                </a:solidFill>
                <a:latin typeface="IBM Plex Sans Arabic"/>
                <a:ea typeface="IBM Plex Sans Arabic"/>
                <a:cs typeface="IBM Plex Sans Arabic"/>
              </a:defRPr>
            </a:pPr>
            <a:r>
              <a:rPr lang="ar-JO" sz="5850" b="1" kern="0" spc="0">
                <a:solidFill>
                  <a:srgbClr val="013070"/>
                </a:solidFill>
                <a:latin typeface="IBM Plex Sans Arabic"/>
                <a:ea typeface="IBM Plex Sans Arabic"/>
                <a:cs typeface="IBM Plex Sans Arabic"/>
              </a:rPr>
              <a:t>6</a:t>
            </a:r>
          </a:p>
        </p:txBody>
      </p:sp>
      <p:sp>
        <p:nvSpPr>
          <p:cNvPr id="9" name="أسابيع">
            <a:extLst>
              <a:ext uri="{FF2B5EF4-FFF2-40B4-BE49-F238E27FC236}">
                <a16:creationId xmlns:a16="http://schemas.microsoft.com/office/drawing/2014/main" id="{18346EC2-3A8A-4C31-8DEF-01A40DB25A35}"/>
              </a:ext>
            </a:extLst>
          </p:cNvPr>
          <p:cNvSpPr>
            <a:spLocks noGrp="1"/>
          </p:cNvSpPr>
          <p:nvPr/>
        </p:nvSpPr>
        <p:spPr>
          <a:xfrm>
            <a:off x="666750" y="2724150"/>
            <a:ext cx="3238500" cy="4953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400" b="1" kern="0" spc="0">
                <a:solidFill>
                  <a:srgbClr val="C8A04C"/>
                </a:solidFill>
                <a:latin typeface="IBM Plex Sans Arabic"/>
                <a:ea typeface="IBM Plex Sans Arabic"/>
                <a:cs typeface="IBM Plex Sans Arabic"/>
              </a:defRPr>
            </a:pPr>
            <a:r>
              <a:rPr lang="ar-JO" sz="2400" b="1" kern="0" spc="0">
                <a:solidFill>
                  <a:srgbClr val="C8A04C"/>
                </a:solidFill>
                <a:latin typeface="IBM Plex Sans Arabic"/>
                <a:ea typeface="IBM Plex Sans Arabic"/>
                <a:cs typeface="IBM Plex Sans Arabic"/>
              </a:rPr>
              <a:t>أسابيع</a:t>
            </a:r>
          </a:p>
        </p:txBody>
      </p:sp>
      <p:sp>
        <p:nvSpPr>
          <p:cNvPr id="10" name="Rectangle: Rounded Corners 9">
            <a:extLst>
              <a:ext uri="{FF2B5EF4-FFF2-40B4-BE49-F238E27FC236}">
                <a16:creationId xmlns:a16="http://schemas.microsoft.com/office/drawing/2014/main" id="{9AE5B908-DED6-4449-BB40-0D17C0E375CD}"/>
              </a:ext>
            </a:extLst>
          </p:cNvPr>
          <p:cNvSpPr>
            <a:spLocks noGrp="1"/>
          </p:cNvSpPr>
          <p:nvPr/>
        </p:nvSpPr>
        <p:spPr>
          <a:xfrm>
            <a:off x="2667000" y="3476625"/>
            <a:ext cx="8810625" cy="552450"/>
          </a:xfrm>
          <a:prstGeom prst="roundRect">
            <a:avLst>
              <a:gd name="adj" fmla="val 13793"/>
            </a:avLst>
          </a:prstGeom>
          <a:solidFill>
            <a:srgbClr val="013070"/>
          </a:solidFill>
          <a:ln w="12383">
            <a:solidFill>
              <a:srgbClr val="013070"/>
            </a:solidFill>
          </a:ln>
        </p:spPr>
      </p:sp>
      <p:sp>
        <p:nvSpPr>
          <p:cNvPr id="11" name="نقيس قبل الاستخدام وبعده">
            <a:extLst>
              <a:ext uri="{FF2B5EF4-FFF2-40B4-BE49-F238E27FC236}">
                <a16:creationId xmlns:a16="http://schemas.microsoft.com/office/drawing/2014/main" id="{1E79C648-1F83-4C51-8A7E-CECA29EAC9C4}"/>
              </a:ext>
            </a:extLst>
          </p:cNvPr>
          <p:cNvSpPr>
            <a:spLocks noGrp="1"/>
          </p:cNvSpPr>
          <p:nvPr/>
        </p:nvSpPr>
        <p:spPr>
          <a:xfrm>
            <a:off x="2857500" y="3539490"/>
            <a:ext cx="8429625" cy="41719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FFFFFF"/>
                </a:solidFill>
                <a:latin typeface="IBM Plex Sans Arabic"/>
                <a:ea typeface="IBM Plex Sans Arabic"/>
                <a:cs typeface="IBM Plex Sans Arabic"/>
              </a:defRPr>
            </a:pPr>
            <a:r>
              <a:rPr lang="ar-JO" sz="2025" b="1" kern="0" spc="0">
                <a:solidFill>
                  <a:srgbClr val="FFFFFF"/>
                </a:solidFill>
                <a:latin typeface="IBM Plex Sans Arabic"/>
                <a:ea typeface="IBM Plex Sans Arabic"/>
                <a:cs typeface="IBM Plex Sans Arabic"/>
              </a:rPr>
              <a:t>نقيس قبل الاستخدام وبعده</a:t>
            </a:r>
          </a:p>
        </p:txBody>
      </p:sp>
      <p:sp>
        <p:nvSpPr>
          <p:cNvPr id="12" name="Rectangle: Rounded Corners 11">
            <a:extLst>
              <a:ext uri="{FF2B5EF4-FFF2-40B4-BE49-F238E27FC236}">
                <a16:creationId xmlns:a16="http://schemas.microsoft.com/office/drawing/2014/main" id="{B857F2F9-EA22-4E11-82C5-D02724523B0E}"/>
              </a:ext>
            </a:extLst>
          </p:cNvPr>
          <p:cNvSpPr>
            <a:spLocks noGrp="1"/>
          </p:cNvSpPr>
          <p:nvPr/>
        </p:nvSpPr>
        <p:spPr>
          <a:xfrm>
            <a:off x="7953375" y="4391025"/>
            <a:ext cx="3238500" cy="1200150"/>
          </a:xfrm>
          <a:prstGeom prst="roundRect">
            <a:avLst>
              <a:gd name="adj" fmla="val 6349"/>
            </a:avLst>
          </a:prstGeom>
          <a:solidFill>
            <a:srgbClr val="FFFFFF"/>
          </a:solidFill>
          <a:ln w="12383">
            <a:solidFill>
              <a:srgbClr val="D4DEE9"/>
            </a:solidFill>
          </a:ln>
        </p:spPr>
      </p:sp>
      <p:sp>
        <p:nvSpPr>
          <p:cNvPr id="13" name="70 طالبًا">
            <a:extLst>
              <a:ext uri="{FF2B5EF4-FFF2-40B4-BE49-F238E27FC236}">
                <a16:creationId xmlns:a16="http://schemas.microsoft.com/office/drawing/2014/main" id="{85A7414B-A455-485E-8C6A-BD8EFF38F5E8}"/>
              </a:ext>
            </a:extLst>
          </p:cNvPr>
          <p:cNvSpPr>
            <a:spLocks noGrp="1"/>
          </p:cNvSpPr>
          <p:nvPr/>
        </p:nvSpPr>
        <p:spPr>
          <a:xfrm>
            <a:off x="8096250" y="4504373"/>
            <a:ext cx="2952750" cy="5638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850" b="1" kern="0" spc="0">
                <a:solidFill>
                  <a:srgbClr val="013070"/>
                </a:solidFill>
                <a:latin typeface="IBM Plex Sans Arabic"/>
                <a:ea typeface="IBM Plex Sans Arabic"/>
                <a:cs typeface="IBM Plex Sans Arabic"/>
              </a:defRPr>
            </a:pPr>
            <a:r>
              <a:rPr lang="ar-JO" sz="2850" b="1" kern="0" spc="0">
                <a:solidFill>
                  <a:srgbClr val="013070"/>
                </a:solidFill>
                <a:latin typeface="IBM Plex Sans Arabic"/>
                <a:ea typeface="IBM Plex Sans Arabic"/>
                <a:cs typeface="IBM Plex Sans Arabic"/>
              </a:rPr>
              <a:t>70 طالبًا</a:t>
            </a:r>
          </a:p>
        </p:txBody>
      </p:sp>
      <p:sp>
        <p:nvSpPr>
          <p:cNvPr id="14" name="يكملون مقارنة موثقة">
            <a:extLst>
              <a:ext uri="{FF2B5EF4-FFF2-40B4-BE49-F238E27FC236}">
                <a16:creationId xmlns:a16="http://schemas.microsoft.com/office/drawing/2014/main" id="{EAE65638-F6D9-4A57-91C4-4DB9712871F4}"/>
              </a:ext>
            </a:extLst>
          </p:cNvPr>
          <p:cNvSpPr>
            <a:spLocks noGrp="1"/>
          </p:cNvSpPr>
          <p:nvPr/>
        </p:nvSpPr>
        <p:spPr>
          <a:xfrm>
            <a:off x="8124825" y="5095875"/>
            <a:ext cx="289560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يكملون مقارنة موثقة</a:t>
            </a:r>
          </a:p>
        </p:txBody>
      </p:sp>
      <p:sp>
        <p:nvSpPr>
          <p:cNvPr id="15" name="Rectangle: Rounded Corners 14">
            <a:extLst>
              <a:ext uri="{FF2B5EF4-FFF2-40B4-BE49-F238E27FC236}">
                <a16:creationId xmlns:a16="http://schemas.microsoft.com/office/drawing/2014/main" id="{7C72F107-D3F6-4A0B-8BD7-244C81B6B9E2}"/>
              </a:ext>
            </a:extLst>
          </p:cNvPr>
          <p:cNvSpPr>
            <a:spLocks noGrp="1"/>
          </p:cNvSpPr>
          <p:nvPr/>
        </p:nvSpPr>
        <p:spPr>
          <a:xfrm>
            <a:off x="4333875" y="4391025"/>
            <a:ext cx="3238500" cy="1200150"/>
          </a:xfrm>
          <a:prstGeom prst="roundRect">
            <a:avLst>
              <a:gd name="adj" fmla="val 6349"/>
            </a:avLst>
          </a:prstGeom>
          <a:solidFill>
            <a:srgbClr val="FFFFFF"/>
          </a:solidFill>
          <a:ln w="12383">
            <a:solidFill>
              <a:srgbClr val="D4DEE9"/>
            </a:solidFill>
          </a:ln>
        </p:spPr>
      </p:sp>
      <p:sp>
        <p:nvSpPr>
          <p:cNvPr id="16" name="+1 نقطة">
            <a:extLst>
              <a:ext uri="{FF2B5EF4-FFF2-40B4-BE49-F238E27FC236}">
                <a16:creationId xmlns:a16="http://schemas.microsoft.com/office/drawing/2014/main" id="{9D90F4E6-CE72-4648-9EDF-D28C48F6F933}"/>
              </a:ext>
            </a:extLst>
          </p:cNvPr>
          <p:cNvSpPr>
            <a:spLocks noGrp="1"/>
          </p:cNvSpPr>
          <p:nvPr/>
        </p:nvSpPr>
        <p:spPr>
          <a:xfrm>
            <a:off x="4476750" y="4504373"/>
            <a:ext cx="2952750" cy="5638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850" b="1" kern="0" spc="0">
                <a:solidFill>
                  <a:srgbClr val="013070"/>
                </a:solidFill>
                <a:latin typeface="IBM Plex Sans Arabic"/>
                <a:ea typeface="IBM Plex Sans Arabic"/>
                <a:cs typeface="IBM Plex Sans Arabic"/>
              </a:defRPr>
            </a:pPr>
            <a:r>
              <a:rPr lang="ar-JO" sz="2850" b="1" kern="0" spc="0">
                <a:solidFill>
                  <a:srgbClr val="013070"/>
                </a:solidFill>
                <a:latin typeface="IBM Plex Sans Arabic"/>
                <a:ea typeface="IBM Plex Sans Arabic"/>
                <a:cs typeface="IBM Plex Sans Arabic"/>
              </a:rPr>
              <a:t>+1 نقطة</a:t>
            </a:r>
          </a:p>
        </p:txBody>
      </p:sp>
      <p:sp>
        <p:nvSpPr>
          <p:cNvPr id="17" name="تحسن وضوح ذاتي">
            <a:extLst>
              <a:ext uri="{FF2B5EF4-FFF2-40B4-BE49-F238E27FC236}">
                <a16:creationId xmlns:a16="http://schemas.microsoft.com/office/drawing/2014/main" id="{FF3BC6D7-946B-4F19-881E-E8F46C3901DD}"/>
              </a:ext>
            </a:extLst>
          </p:cNvPr>
          <p:cNvSpPr>
            <a:spLocks noGrp="1"/>
          </p:cNvSpPr>
          <p:nvPr/>
        </p:nvSpPr>
        <p:spPr>
          <a:xfrm>
            <a:off x="4505325" y="5095875"/>
            <a:ext cx="289560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تحسن وضوح ذاتي</a:t>
            </a:r>
          </a:p>
        </p:txBody>
      </p:sp>
      <p:sp>
        <p:nvSpPr>
          <p:cNvPr id="18" name="Rectangle: Rounded Corners 17">
            <a:extLst>
              <a:ext uri="{FF2B5EF4-FFF2-40B4-BE49-F238E27FC236}">
                <a16:creationId xmlns:a16="http://schemas.microsoft.com/office/drawing/2014/main" id="{646BD325-BB15-49BE-8311-8ACE38D93323}"/>
              </a:ext>
            </a:extLst>
          </p:cNvPr>
          <p:cNvSpPr>
            <a:spLocks noGrp="1"/>
          </p:cNvSpPr>
          <p:nvPr/>
        </p:nvSpPr>
        <p:spPr>
          <a:xfrm>
            <a:off x="714375" y="4391025"/>
            <a:ext cx="3238500" cy="1200150"/>
          </a:xfrm>
          <a:prstGeom prst="roundRect">
            <a:avLst>
              <a:gd name="adj" fmla="val 6349"/>
            </a:avLst>
          </a:prstGeom>
          <a:solidFill>
            <a:srgbClr val="FFFFFF"/>
          </a:solidFill>
          <a:ln w="12383">
            <a:solidFill>
              <a:srgbClr val="D4DEE9"/>
            </a:solidFill>
          </a:ln>
        </p:spPr>
      </p:sp>
      <p:sp>
        <p:nvSpPr>
          <p:cNvPr id="19" name="مؤسستان">
            <a:extLst>
              <a:ext uri="{FF2B5EF4-FFF2-40B4-BE49-F238E27FC236}">
                <a16:creationId xmlns:a16="http://schemas.microsoft.com/office/drawing/2014/main" id="{44F9598C-9212-4B2C-8217-69016C606A02}"/>
              </a:ext>
            </a:extLst>
          </p:cNvPr>
          <p:cNvSpPr>
            <a:spLocks noGrp="1"/>
          </p:cNvSpPr>
          <p:nvPr/>
        </p:nvSpPr>
        <p:spPr>
          <a:xfrm>
            <a:off x="857250" y="4504373"/>
            <a:ext cx="2952750" cy="5638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850" b="1" kern="0" spc="0">
                <a:solidFill>
                  <a:srgbClr val="013070"/>
                </a:solidFill>
                <a:latin typeface="IBM Plex Sans Arabic"/>
                <a:ea typeface="IBM Plex Sans Arabic"/>
                <a:cs typeface="IBM Plex Sans Arabic"/>
              </a:defRPr>
            </a:pPr>
            <a:r>
              <a:rPr lang="ar-JO" sz="2850" b="1" kern="0" spc="0">
                <a:solidFill>
                  <a:srgbClr val="013070"/>
                </a:solidFill>
                <a:latin typeface="IBM Plex Sans Arabic"/>
                <a:ea typeface="IBM Plex Sans Arabic"/>
                <a:cs typeface="IBM Plex Sans Arabic"/>
              </a:rPr>
              <a:t>مؤسستان</a:t>
            </a:r>
          </a:p>
        </p:txBody>
      </p:sp>
      <p:sp>
        <p:nvSpPr>
          <p:cNvPr id="20" name="تبدآن تجربة مدفوعة">
            <a:extLst>
              <a:ext uri="{FF2B5EF4-FFF2-40B4-BE49-F238E27FC236}">
                <a16:creationId xmlns:a16="http://schemas.microsoft.com/office/drawing/2014/main" id="{2C397E2D-B447-4E9B-A82C-89EDE96797D9}"/>
              </a:ext>
            </a:extLst>
          </p:cNvPr>
          <p:cNvSpPr>
            <a:spLocks noGrp="1"/>
          </p:cNvSpPr>
          <p:nvPr/>
        </p:nvSpPr>
        <p:spPr>
          <a:xfrm>
            <a:off x="885825" y="5095875"/>
            <a:ext cx="289560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تبدآن تجربة مدفوعة</a:t>
            </a:r>
          </a:p>
        </p:txBody>
      </p:sp>
      <p:sp>
        <p:nvSpPr>
          <p:cNvPr id="21" name="أهداف تجربة معلنة، وليست نتائج محققة  •  إذا ">
            <a:extLst>
              <a:ext uri="{FF2B5EF4-FFF2-40B4-BE49-F238E27FC236}">
                <a16:creationId xmlns:a16="http://schemas.microsoft.com/office/drawing/2014/main" id="{8048F5F9-C27B-4535-B729-CF827D889C22}"/>
              </a:ext>
            </a:extLst>
          </p:cNvPr>
          <p:cNvSpPr>
            <a:spLocks noGrp="1"/>
          </p:cNvSpPr>
          <p:nvPr/>
        </p:nvSpPr>
        <p:spPr>
          <a:xfrm>
            <a:off x="1143000" y="5857875"/>
            <a:ext cx="10334625" cy="3238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أهداف تجربة معلنة، وليست نتائج محققة  •  إذا لم تتحقق نعدّل قبل التوسع</a:t>
            </a:r>
          </a:p>
        </p:txBody>
      </p:sp>
    </p:spTree>
    <p:extLst>
      <p:ext uri="{BB962C8B-B14F-4D97-AF65-F5344CB8AC3E}">
        <p14:creationId xmlns:p14="http://schemas.microsoft.com/office/powerpoint/2010/main" val="1750220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3" name="Picture 22"/>
          <p:cNvPicPr>
            <a:picLocks noChangeAspect="1"/>
          </p:cNvPicPr>
          <p:nvPr/>
        </p:nvPicPr>
        <p:blipFill>
          <a:blip r:embed="rId3"/>
          <a:stretch/>
        </p:blipFill>
        <p:spPr>
          <a:xfrm>
            <a:off x="11125200" y="400050"/>
            <a:ext cx="552450" cy="552450"/>
          </a:xfrm>
          <a:prstGeom prst="rect">
            <a:avLst/>
          </a:prstGeom>
        </p:spPr>
      </p:pic>
      <p:sp>
        <p:nvSpPr>
          <p:cNvPr id="2" name="من نسخة عاملة إلى خدمة قابلة للتبنّي">
            <a:extLst>
              <a:ext uri="{FF2B5EF4-FFF2-40B4-BE49-F238E27FC236}">
                <a16:creationId xmlns:a16="http://schemas.microsoft.com/office/drawing/2014/main" id="{161C417E-F521-4E51-9CC9-BE1EEDD48E7E}"/>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FFFFFF"/>
                </a:solidFill>
                <a:latin typeface="IBM Plex Sans Arabic"/>
                <a:ea typeface="IBM Plex Sans Arabic"/>
                <a:cs typeface="IBM Plex Sans Arabic"/>
              </a:defRPr>
            </a:pPr>
            <a:r>
              <a:rPr lang="ar-JO" sz="3150" b="1" kern="0" spc="0">
                <a:solidFill>
                  <a:srgbClr val="FFFFFF"/>
                </a:solidFill>
                <a:latin typeface="IBM Plex Sans Arabic"/>
                <a:ea typeface="IBM Plex Sans Arabic"/>
                <a:cs typeface="IBM Plex Sans Arabic"/>
              </a:rPr>
              <a:t>من نسخة عاملة إلى خدمة قابلة للتبنّي</a:t>
            </a:r>
          </a:p>
        </p:txBody>
      </p:sp>
      <p:sp>
        <p:nvSpPr>
          <p:cNvPr id="3" name="10">
            <a:extLst>
              <a:ext uri="{FF2B5EF4-FFF2-40B4-BE49-F238E27FC236}">
                <a16:creationId xmlns:a16="http://schemas.microsoft.com/office/drawing/2014/main" id="{34E07825-B7BA-423F-9B74-8F67056115C3}"/>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10</a:t>
            </a:r>
          </a:p>
        </p:txBody>
      </p:sp>
      <p:sp>
        <p:nvSpPr>
          <p:cNvPr id="4" name="Rectangle: Rounded Corners 3">
            <a:extLst>
              <a:ext uri="{FF2B5EF4-FFF2-40B4-BE49-F238E27FC236}">
                <a16:creationId xmlns:a16="http://schemas.microsoft.com/office/drawing/2014/main" id="{5BB4DDC0-E259-4A6B-965D-87A008D8DF04}"/>
              </a:ext>
            </a:extLst>
          </p:cNvPr>
          <p:cNvSpPr>
            <a:spLocks noGrp="1"/>
          </p:cNvSpPr>
          <p:nvPr/>
        </p:nvSpPr>
        <p:spPr>
          <a:xfrm>
            <a:off x="8143875" y="1724025"/>
            <a:ext cx="3333750" cy="3028950"/>
          </a:xfrm>
          <a:prstGeom prst="roundRect">
            <a:avLst>
              <a:gd name="adj" fmla="val 2516"/>
            </a:avLst>
          </a:prstGeom>
          <a:solidFill>
            <a:srgbClr val="123D76"/>
          </a:solidFill>
          <a:ln w="12383">
            <a:solidFill>
              <a:srgbClr val="58749B"/>
            </a:solidFill>
          </a:ln>
        </p:spPr>
      </p:sp>
      <p:sp>
        <p:nvSpPr>
          <p:cNvPr id="5" name="Rectangle: Rounded Corners 4">
            <a:extLst>
              <a:ext uri="{FF2B5EF4-FFF2-40B4-BE49-F238E27FC236}">
                <a16:creationId xmlns:a16="http://schemas.microsoft.com/office/drawing/2014/main" id="{CA996FDD-73F8-49C2-9659-65D80C6E295D}"/>
              </a:ext>
            </a:extLst>
          </p:cNvPr>
          <p:cNvSpPr>
            <a:spLocks noGrp="1"/>
          </p:cNvSpPr>
          <p:nvPr/>
        </p:nvSpPr>
        <p:spPr>
          <a:xfrm>
            <a:off x="8810625" y="1924050"/>
            <a:ext cx="2000250" cy="381000"/>
          </a:xfrm>
          <a:prstGeom prst="roundRect">
            <a:avLst>
              <a:gd name="adj" fmla="val 20000"/>
            </a:avLst>
          </a:prstGeom>
          <a:solidFill>
            <a:srgbClr val="123D76"/>
          </a:solidFill>
          <a:ln w="12383">
            <a:solidFill>
              <a:srgbClr val="58749B"/>
            </a:solidFill>
          </a:ln>
        </p:spPr>
      </p:sp>
      <p:sp>
        <p:nvSpPr>
          <p:cNvPr id="6" name="اليوم">
            <a:extLst>
              <a:ext uri="{FF2B5EF4-FFF2-40B4-BE49-F238E27FC236}">
                <a16:creationId xmlns:a16="http://schemas.microsoft.com/office/drawing/2014/main" id="{FA7E3849-8DE9-45D6-A3E0-4AFE10127781}"/>
              </a:ext>
            </a:extLst>
          </p:cNvPr>
          <p:cNvSpPr>
            <a:spLocks noGrp="1"/>
          </p:cNvSpPr>
          <p:nvPr/>
        </p:nvSpPr>
        <p:spPr>
          <a:xfrm>
            <a:off x="8905875" y="1951673"/>
            <a:ext cx="18097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اليوم</a:t>
            </a:r>
          </a:p>
        </p:txBody>
      </p:sp>
      <p:sp>
        <p:nvSpPr>
          <p:cNvPr id="7" name="نسخة ويب عاملة">
            <a:extLst>
              <a:ext uri="{FF2B5EF4-FFF2-40B4-BE49-F238E27FC236}">
                <a16:creationId xmlns:a16="http://schemas.microsoft.com/office/drawing/2014/main" id="{12211E59-9E85-4329-A923-157C9EDFC576}"/>
              </a:ext>
            </a:extLst>
          </p:cNvPr>
          <p:cNvSpPr>
            <a:spLocks noGrp="1"/>
          </p:cNvSpPr>
          <p:nvPr/>
        </p:nvSpPr>
        <p:spPr>
          <a:xfrm>
            <a:off x="8334375" y="2514600"/>
            <a:ext cx="295275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نسخة ويب عاملة</a:t>
            </a:r>
          </a:p>
        </p:txBody>
      </p:sp>
      <p:sp>
        <p:nvSpPr>
          <p:cNvPr id="8" name="عربي وإنجليزي&#10;لقطة بيانات موثقة&#10;وشاشات حقيقية">
            <a:extLst>
              <a:ext uri="{FF2B5EF4-FFF2-40B4-BE49-F238E27FC236}">
                <a16:creationId xmlns:a16="http://schemas.microsoft.com/office/drawing/2014/main" id="{4F8C8D65-CF0F-4BC0-BE69-A0144D081053}"/>
              </a:ext>
            </a:extLst>
          </p:cNvPr>
          <p:cNvSpPr>
            <a:spLocks noGrp="1"/>
          </p:cNvSpPr>
          <p:nvPr/>
        </p:nvSpPr>
        <p:spPr>
          <a:xfrm>
            <a:off x="8382000" y="3209925"/>
            <a:ext cx="2857500" cy="1200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عربي وإنجليزي</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لقطة بيانات موثقة</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وشاشات حقيقية</a:t>
            </a:r>
          </a:p>
        </p:txBody>
      </p:sp>
      <p:sp>
        <p:nvSpPr>
          <p:cNvPr id="9" name="Rectangle: Rounded Corners 8">
            <a:extLst>
              <a:ext uri="{FF2B5EF4-FFF2-40B4-BE49-F238E27FC236}">
                <a16:creationId xmlns:a16="http://schemas.microsoft.com/office/drawing/2014/main" id="{889C27C3-DA66-4C7E-8A2E-0D836882D20C}"/>
              </a:ext>
            </a:extLst>
          </p:cNvPr>
          <p:cNvSpPr>
            <a:spLocks noGrp="1"/>
          </p:cNvSpPr>
          <p:nvPr/>
        </p:nvSpPr>
        <p:spPr>
          <a:xfrm>
            <a:off x="4333875" y="1724025"/>
            <a:ext cx="3333750" cy="3028950"/>
          </a:xfrm>
          <a:prstGeom prst="roundRect">
            <a:avLst>
              <a:gd name="adj" fmla="val 2516"/>
            </a:avLst>
          </a:prstGeom>
          <a:solidFill>
            <a:srgbClr val="123D76"/>
          </a:solidFill>
          <a:ln w="12383">
            <a:solidFill>
              <a:srgbClr val="58749B"/>
            </a:solidFill>
          </a:ln>
        </p:spPr>
      </p:sp>
      <p:sp>
        <p:nvSpPr>
          <p:cNvPr id="10" name="Rectangle: Rounded Corners 9">
            <a:extLst>
              <a:ext uri="{FF2B5EF4-FFF2-40B4-BE49-F238E27FC236}">
                <a16:creationId xmlns:a16="http://schemas.microsoft.com/office/drawing/2014/main" id="{A8499C99-1711-4685-822F-BD10AC415183}"/>
              </a:ext>
            </a:extLst>
          </p:cNvPr>
          <p:cNvSpPr>
            <a:spLocks noGrp="1"/>
          </p:cNvSpPr>
          <p:nvPr/>
        </p:nvSpPr>
        <p:spPr>
          <a:xfrm>
            <a:off x="5000625" y="1924050"/>
            <a:ext cx="2000250" cy="381000"/>
          </a:xfrm>
          <a:prstGeom prst="roundRect">
            <a:avLst>
              <a:gd name="adj" fmla="val 20000"/>
            </a:avLst>
          </a:prstGeom>
          <a:solidFill>
            <a:srgbClr val="123D76"/>
          </a:solidFill>
          <a:ln w="12383">
            <a:solidFill>
              <a:srgbClr val="58749B"/>
            </a:solidFill>
          </a:ln>
        </p:spPr>
      </p:sp>
      <p:sp>
        <p:nvSpPr>
          <p:cNvPr id="11" name="خلال 90 يومًا">
            <a:extLst>
              <a:ext uri="{FF2B5EF4-FFF2-40B4-BE49-F238E27FC236}">
                <a16:creationId xmlns:a16="http://schemas.microsoft.com/office/drawing/2014/main" id="{3A14120B-FFDA-490F-A80B-B6D9A4876D4B}"/>
              </a:ext>
            </a:extLst>
          </p:cNvPr>
          <p:cNvSpPr>
            <a:spLocks noGrp="1"/>
          </p:cNvSpPr>
          <p:nvPr/>
        </p:nvSpPr>
        <p:spPr>
          <a:xfrm>
            <a:off x="5095875" y="1951673"/>
            <a:ext cx="18097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خلال 90 يومًا</a:t>
            </a:r>
          </a:p>
        </p:txBody>
      </p:sp>
      <p:sp>
        <p:nvSpPr>
          <p:cNvPr id="12" name="تجربة وقياس">
            <a:extLst>
              <a:ext uri="{FF2B5EF4-FFF2-40B4-BE49-F238E27FC236}">
                <a16:creationId xmlns:a16="http://schemas.microsoft.com/office/drawing/2014/main" id="{6A14C05D-E5D2-478F-AF67-26C78BA662F8}"/>
              </a:ext>
            </a:extLst>
          </p:cNvPr>
          <p:cNvSpPr>
            <a:spLocks noGrp="1"/>
          </p:cNvSpPr>
          <p:nvPr/>
        </p:nvSpPr>
        <p:spPr>
          <a:xfrm>
            <a:off x="4524375" y="2514600"/>
            <a:ext cx="295275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تجربة وقياس</a:t>
            </a:r>
          </a:p>
        </p:txBody>
      </p:sp>
      <p:sp>
        <p:nvSpPr>
          <p:cNvPr id="13" name="استخدام فعلي&#10;تقرير أثر&#10;واختبار استعداد الدفع">
            <a:extLst>
              <a:ext uri="{FF2B5EF4-FFF2-40B4-BE49-F238E27FC236}">
                <a16:creationId xmlns:a16="http://schemas.microsoft.com/office/drawing/2014/main" id="{D5FA5046-8D7A-4CB2-8C97-71F5F43BAD95}"/>
              </a:ext>
            </a:extLst>
          </p:cNvPr>
          <p:cNvSpPr>
            <a:spLocks noGrp="1"/>
          </p:cNvSpPr>
          <p:nvPr/>
        </p:nvSpPr>
        <p:spPr>
          <a:xfrm>
            <a:off x="4572000" y="3209925"/>
            <a:ext cx="2857500" cy="1200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استخدام فعلي</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تقرير أثر</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واختبار استعداد الدفع</a:t>
            </a:r>
          </a:p>
        </p:txBody>
      </p:sp>
      <p:sp>
        <p:nvSpPr>
          <p:cNvPr id="14" name="Rectangle: Rounded Corners 13">
            <a:extLst>
              <a:ext uri="{FF2B5EF4-FFF2-40B4-BE49-F238E27FC236}">
                <a16:creationId xmlns:a16="http://schemas.microsoft.com/office/drawing/2014/main" id="{FC19375B-431B-4B9D-8508-E41B1AE91A0D}"/>
              </a:ext>
            </a:extLst>
          </p:cNvPr>
          <p:cNvSpPr>
            <a:spLocks noGrp="1"/>
          </p:cNvSpPr>
          <p:nvPr/>
        </p:nvSpPr>
        <p:spPr>
          <a:xfrm>
            <a:off x="523875" y="1724025"/>
            <a:ext cx="3333750" cy="3028950"/>
          </a:xfrm>
          <a:prstGeom prst="roundRect">
            <a:avLst>
              <a:gd name="adj" fmla="val 2516"/>
            </a:avLst>
          </a:prstGeom>
          <a:solidFill>
            <a:srgbClr val="123D76"/>
          </a:solidFill>
          <a:ln w="12383">
            <a:solidFill>
              <a:srgbClr val="58749B"/>
            </a:solidFill>
          </a:ln>
        </p:spPr>
      </p:sp>
      <p:sp>
        <p:nvSpPr>
          <p:cNvPr id="15" name="Rectangle: Rounded Corners 14">
            <a:extLst>
              <a:ext uri="{FF2B5EF4-FFF2-40B4-BE49-F238E27FC236}">
                <a16:creationId xmlns:a16="http://schemas.microsoft.com/office/drawing/2014/main" id="{2C30B071-37FF-47A5-A8AC-5210172E6D1B}"/>
              </a:ext>
            </a:extLst>
          </p:cNvPr>
          <p:cNvSpPr>
            <a:spLocks noGrp="1"/>
          </p:cNvSpPr>
          <p:nvPr/>
        </p:nvSpPr>
        <p:spPr>
          <a:xfrm>
            <a:off x="1190625" y="1924050"/>
            <a:ext cx="2000250" cy="381000"/>
          </a:xfrm>
          <a:prstGeom prst="roundRect">
            <a:avLst>
              <a:gd name="adj" fmla="val 20000"/>
            </a:avLst>
          </a:prstGeom>
          <a:solidFill>
            <a:srgbClr val="123D76"/>
          </a:solidFill>
          <a:ln w="12383">
            <a:solidFill>
              <a:srgbClr val="58749B"/>
            </a:solidFill>
          </a:ln>
        </p:spPr>
      </p:sp>
      <p:sp>
        <p:nvSpPr>
          <p:cNvPr id="16" name="خلال 12 شهرًا">
            <a:extLst>
              <a:ext uri="{FF2B5EF4-FFF2-40B4-BE49-F238E27FC236}">
                <a16:creationId xmlns:a16="http://schemas.microsoft.com/office/drawing/2014/main" id="{DB05A443-5614-4DCD-8180-E6946E331EDC}"/>
              </a:ext>
            </a:extLst>
          </p:cNvPr>
          <p:cNvSpPr>
            <a:spLocks noGrp="1"/>
          </p:cNvSpPr>
          <p:nvPr/>
        </p:nvSpPr>
        <p:spPr>
          <a:xfrm>
            <a:off x="1285875" y="1951673"/>
            <a:ext cx="18097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خلال 12 شهرًا</a:t>
            </a:r>
          </a:p>
        </p:txBody>
      </p:sp>
      <p:sp>
        <p:nvSpPr>
          <p:cNvPr id="17" name="تعادل مفترض">
            <a:extLst>
              <a:ext uri="{FF2B5EF4-FFF2-40B4-BE49-F238E27FC236}">
                <a16:creationId xmlns:a16="http://schemas.microsoft.com/office/drawing/2014/main" id="{3D461399-DAE3-4698-AED2-47D84D08DD7C}"/>
              </a:ext>
            </a:extLst>
          </p:cNvPr>
          <p:cNvSpPr>
            <a:spLocks noGrp="1"/>
          </p:cNvSpPr>
          <p:nvPr/>
        </p:nvSpPr>
        <p:spPr>
          <a:xfrm>
            <a:off x="714375" y="2514600"/>
            <a:ext cx="295275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تعادل مفترض</a:t>
            </a:r>
          </a:p>
        </p:txBody>
      </p:sp>
      <p:sp>
        <p:nvSpPr>
          <p:cNvPr id="18" name="13 مؤسسة&#10;1,950 مقعدًا ممولًا&#10;+ 300 طالب تجارب">
            <a:extLst>
              <a:ext uri="{FF2B5EF4-FFF2-40B4-BE49-F238E27FC236}">
                <a16:creationId xmlns:a16="http://schemas.microsoft.com/office/drawing/2014/main" id="{8148A840-B2AB-4009-8B48-E2E52B59C006}"/>
              </a:ext>
            </a:extLst>
          </p:cNvPr>
          <p:cNvSpPr>
            <a:spLocks noGrp="1"/>
          </p:cNvSpPr>
          <p:nvPr/>
        </p:nvSpPr>
        <p:spPr>
          <a:xfrm>
            <a:off x="762000" y="3209925"/>
            <a:ext cx="2857500" cy="1200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13 مؤسسة</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1,950 مقعدًا ممولًا</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+ 300 طالب تجارب مجانية</a:t>
            </a:r>
          </a:p>
        </p:txBody>
      </p:sp>
      <p:sp>
        <p:nvSpPr>
          <p:cNvPr id="19" name="Rectangle: Rounded Corners 18">
            <a:extLst>
              <a:ext uri="{FF2B5EF4-FFF2-40B4-BE49-F238E27FC236}">
                <a16:creationId xmlns:a16="http://schemas.microsoft.com/office/drawing/2014/main" id="{9AE3F12D-2941-4C55-B7A3-321D87252936}"/>
              </a:ext>
            </a:extLst>
          </p:cNvPr>
          <p:cNvSpPr>
            <a:spLocks noGrp="1"/>
          </p:cNvSpPr>
          <p:nvPr/>
        </p:nvSpPr>
        <p:spPr>
          <a:xfrm>
            <a:off x="1381125" y="5105400"/>
            <a:ext cx="10096500" cy="790575"/>
          </a:xfrm>
          <a:prstGeom prst="roundRect">
            <a:avLst>
              <a:gd name="adj" fmla="val 9639"/>
            </a:avLst>
          </a:prstGeom>
          <a:solidFill>
            <a:srgbClr val="F3EAD7"/>
          </a:solidFill>
          <a:ln w="12383">
            <a:solidFill>
              <a:srgbClr val="DFC98F"/>
            </a:solidFill>
          </a:ln>
        </p:spPr>
      </p:sp>
      <p:sp>
        <p:nvSpPr>
          <p:cNvPr id="20" name="طلبنا من اللجنة">
            <a:extLst>
              <a:ext uri="{FF2B5EF4-FFF2-40B4-BE49-F238E27FC236}">
                <a16:creationId xmlns:a16="http://schemas.microsoft.com/office/drawing/2014/main" id="{288DC4E9-96A1-4A36-B14C-3AA8C23A4F84}"/>
              </a:ext>
            </a:extLst>
          </p:cNvPr>
          <p:cNvSpPr>
            <a:spLocks noGrp="1"/>
          </p:cNvSpPr>
          <p:nvPr/>
        </p:nvSpPr>
        <p:spPr>
          <a:xfrm>
            <a:off x="9048750" y="5219700"/>
            <a:ext cx="2143125" cy="4572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طلبنا من اللجنة</a:t>
            </a:r>
          </a:p>
        </p:txBody>
      </p:sp>
      <p:sp>
        <p:nvSpPr>
          <p:cNvPr id="21" name="3 مدارس ومرشدون  +  قناة بيانات تعليمية  +  ت">
            <a:extLst>
              <a:ext uri="{FF2B5EF4-FFF2-40B4-BE49-F238E27FC236}">
                <a16:creationId xmlns:a16="http://schemas.microsoft.com/office/drawing/2014/main" id="{E3ECA62C-3A0B-49E8-A946-3F828C626C6E}"/>
              </a:ext>
            </a:extLst>
          </p:cNvPr>
          <p:cNvSpPr>
            <a:spLocks noGrp="1"/>
          </p:cNvSpPr>
          <p:nvPr/>
        </p:nvSpPr>
        <p:spPr>
          <a:xfrm>
            <a:off x="1714500" y="5219700"/>
            <a:ext cx="7000875" cy="457200"/>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3 مدارس ومرشدون  +  قناة بيانات تعليمية  +  تقرير أثر</a:t>
            </a:r>
          </a:p>
        </p:txBody>
      </p:sp>
      <p:sp>
        <p:nvSpPr>
          <p:cNvPr id="22" name="الإيراد يمول تحديث البيانات ودعم المرشد وقياس">
            <a:extLst>
              <a:ext uri="{FF2B5EF4-FFF2-40B4-BE49-F238E27FC236}">
                <a16:creationId xmlns:a16="http://schemas.microsoft.com/office/drawing/2014/main" id="{6F5C1A3F-A753-4F4C-BB79-E02E24DB67FB}"/>
              </a:ext>
            </a:extLst>
          </p:cNvPr>
          <p:cNvSpPr>
            <a:spLocks noGrp="1"/>
          </p:cNvSpPr>
          <p:nvPr/>
        </p:nvSpPr>
        <p:spPr>
          <a:xfrm>
            <a:off x="1381125" y="6035993"/>
            <a:ext cx="10096500" cy="3105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الإيراد يمول تحديث البيانات ودعم المرشد وقياس الأثر</a:t>
            </a:r>
          </a:p>
        </p:txBody>
      </p:sp>
    </p:spTree>
    <p:extLst>
      <p:ext uri="{BB962C8B-B14F-4D97-AF65-F5344CB8AC3E}">
        <p14:creationId xmlns:p14="http://schemas.microsoft.com/office/powerpoint/2010/main" val="1531944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Vcoders: مسؤوليات واضحة وملكية مشتركة">
            <a:extLst>
              <a:ext uri="{FF2B5EF4-FFF2-40B4-BE49-F238E27FC236}">
                <a16:creationId xmlns:a16="http://schemas.microsoft.com/office/drawing/2014/main" id="{2FCECC98-7A2D-4B2C-9AA5-EC3E30C4DDDF}"/>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000" b="1" kern="0" spc="0">
                <a:solidFill>
                  <a:srgbClr val="013070"/>
                </a:solidFill>
                <a:latin typeface="IBM Plex Sans Arabic"/>
                <a:ea typeface="IBM Plex Sans Arabic"/>
                <a:cs typeface="IBM Plex Sans Arabic"/>
              </a:defRPr>
            </a:pPr>
            <a:r>
              <a:rPr lang="ar-JO" sz="3000" b="1" kern="0" spc="0">
                <a:solidFill>
                  <a:srgbClr val="013070"/>
                </a:solidFill>
                <a:latin typeface="IBM Plex Sans Arabic"/>
                <a:ea typeface="IBM Plex Sans Arabic"/>
                <a:cs typeface="IBM Plex Sans Arabic"/>
              </a:rPr>
              <a:t>Vcoders: مسؤوليات واضحة وملكية مشتركة</a:t>
            </a:r>
          </a:p>
        </p:txBody>
      </p:sp>
      <p:sp>
        <p:nvSpPr>
          <p:cNvPr id="3" name="11">
            <a:extLst>
              <a:ext uri="{FF2B5EF4-FFF2-40B4-BE49-F238E27FC236}">
                <a16:creationId xmlns:a16="http://schemas.microsoft.com/office/drawing/2014/main" id="{6DC3817C-CD67-4D81-B23A-01E8462298F0}"/>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11</a:t>
            </a:r>
          </a:p>
        </p:txBody>
      </p:sp>
      <p:sp>
        <p:nvSpPr>
          <p:cNvPr id="4" name="عبد الرحمن&#10;الهيموني">
            <a:extLst>
              <a:ext uri="{FF2B5EF4-FFF2-40B4-BE49-F238E27FC236}">
                <a16:creationId xmlns:a16="http://schemas.microsoft.com/office/drawing/2014/main" id="{BC00DB19-83C6-4061-BA9B-65B9DD5A4C4A}"/>
              </a:ext>
            </a:extLst>
          </p:cNvPr>
          <p:cNvSpPr>
            <a:spLocks noGrp="1"/>
          </p:cNvSpPr>
          <p:nvPr/>
        </p:nvSpPr>
        <p:spPr>
          <a:xfrm>
            <a:off x="8229600" y="200025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الهيموني</a:t>
            </a:r>
          </a:p>
        </p:txBody>
      </p:sp>
      <p:sp>
        <p:nvSpPr>
          <p:cNvPr id="5" name="قيادة الفريق">
            <a:extLst>
              <a:ext uri="{FF2B5EF4-FFF2-40B4-BE49-F238E27FC236}">
                <a16:creationId xmlns:a16="http://schemas.microsoft.com/office/drawing/2014/main" id="{4CC429B2-6347-4206-A43C-BF98A5AD6401}"/>
              </a:ext>
            </a:extLst>
          </p:cNvPr>
          <p:cNvSpPr>
            <a:spLocks noGrp="1"/>
          </p:cNvSpPr>
          <p:nvPr/>
        </p:nvSpPr>
        <p:spPr>
          <a:xfrm>
            <a:off x="8229600" y="3371850"/>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a:ext uri="{FF2B5EF4-FFF2-40B4-BE49-F238E27FC236}">
                <a16:creationId xmlns:a16="http://schemas.microsoft.com/office/drawing/2014/main" id="{5A64038E-7595-4BD6-8D92-376CBA68630E}"/>
              </a:ext>
            </a:extLst>
          </p:cNvPr>
          <p:cNvSpPr>
            <a:spLocks noGrp="1"/>
          </p:cNvSpPr>
          <p:nvPr/>
        </p:nvSpPr>
        <p:spPr>
          <a:xfrm>
            <a:off x="8229600" y="40576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منطق التطبيق والبيانات</a:t>
            </a:r>
          </a:p>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والاختبار</a:t>
            </a:r>
          </a:p>
        </p:txBody>
      </p:sp>
      <p:sp>
        <p:nvSpPr>
          <p:cNvPr id="7" name="عبد الرحمن&#10;الكردي">
            <a:extLst>
              <a:ext uri="{FF2B5EF4-FFF2-40B4-BE49-F238E27FC236}">
                <a16:creationId xmlns:a16="http://schemas.microsoft.com/office/drawing/2014/main" id="{A249D096-C747-4525-B1CA-80C8CC7B8CA7}"/>
              </a:ext>
            </a:extLst>
          </p:cNvPr>
          <p:cNvSpPr>
            <a:spLocks noGrp="1"/>
          </p:cNvSpPr>
          <p:nvPr/>
        </p:nvSpPr>
        <p:spPr>
          <a:xfrm>
            <a:off x="4429125" y="200025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الكردي</a:t>
            </a:r>
          </a:p>
        </p:txBody>
      </p:sp>
      <p:sp>
        <p:nvSpPr>
          <p:cNvPr id="8" name="تجربة المستخدم">
            <a:extLst>
              <a:ext uri="{FF2B5EF4-FFF2-40B4-BE49-F238E27FC236}">
                <a16:creationId xmlns:a16="http://schemas.microsoft.com/office/drawing/2014/main" id="{2FF07E5B-8298-4CEA-B926-0DF4BA72F9F6}"/>
              </a:ext>
            </a:extLst>
          </p:cNvPr>
          <p:cNvSpPr>
            <a:spLocks noGrp="1"/>
          </p:cNvSpPr>
          <p:nvPr/>
        </p:nvSpPr>
        <p:spPr>
          <a:xfrm>
            <a:off x="4429125" y="3371850"/>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a:ext uri="{FF2B5EF4-FFF2-40B4-BE49-F238E27FC236}">
                <a16:creationId xmlns:a16="http://schemas.microsoft.com/office/drawing/2014/main" id="{5AC3C595-31D5-4AC7-860C-3C1B89803606}"/>
              </a:ext>
            </a:extLst>
          </p:cNvPr>
          <p:cNvSpPr>
            <a:spLocks noGrp="1"/>
          </p:cNvSpPr>
          <p:nvPr/>
        </p:nvSpPr>
        <p:spPr>
          <a:xfrm>
            <a:off x="4429125" y="40576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الهوية البصرية</a:t>
            </a:r>
          </a:p>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وتنظيم رحلة الطالب</a:t>
            </a:r>
          </a:p>
        </p:txBody>
      </p:sp>
      <p:sp>
        <p:nvSpPr>
          <p:cNvPr id="10" name="زيد&#10;أبو الشعر">
            <a:extLst>
              <a:ext uri="{FF2B5EF4-FFF2-40B4-BE49-F238E27FC236}">
                <a16:creationId xmlns:a16="http://schemas.microsoft.com/office/drawing/2014/main" id="{C63120C3-249A-48CA-870A-1D4A2DAD2E93}"/>
              </a:ext>
            </a:extLst>
          </p:cNvPr>
          <p:cNvSpPr>
            <a:spLocks noGrp="1"/>
          </p:cNvSpPr>
          <p:nvPr/>
        </p:nvSpPr>
        <p:spPr>
          <a:xfrm>
            <a:off x="571500" y="200025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زيد</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أبو الشعر</a:t>
            </a:r>
          </a:p>
        </p:txBody>
      </p:sp>
      <p:sp>
        <p:nvSpPr>
          <p:cNvPr id="11" name="تنفيذ الواجهات">
            <a:extLst>
              <a:ext uri="{FF2B5EF4-FFF2-40B4-BE49-F238E27FC236}">
                <a16:creationId xmlns:a16="http://schemas.microsoft.com/office/drawing/2014/main" id="{C478EF4D-94A0-4913-B195-92C0B89811F9}"/>
              </a:ext>
            </a:extLst>
          </p:cNvPr>
          <p:cNvSpPr>
            <a:spLocks noGrp="1"/>
          </p:cNvSpPr>
          <p:nvPr/>
        </p:nvSpPr>
        <p:spPr>
          <a:xfrm>
            <a:off x="571500" y="3371850"/>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a:ext uri="{FF2B5EF4-FFF2-40B4-BE49-F238E27FC236}">
                <a16:creationId xmlns:a16="http://schemas.microsoft.com/office/drawing/2014/main" id="{8BE9368F-5500-406F-97DF-ED2F9D344BA7}"/>
              </a:ext>
            </a:extLst>
          </p:cNvPr>
          <p:cNvSpPr>
            <a:spLocks noGrp="1"/>
          </p:cNvSpPr>
          <p:nvPr/>
        </p:nvSpPr>
        <p:spPr>
          <a:xfrm>
            <a:off x="571500" y="40576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تحويل التصميم</a:t>
            </a:r>
          </a:p>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إلى تجربة قابلة للاستخدام</a:t>
            </a:r>
          </a:p>
        </p:txBody>
      </p:sp>
      <p:sp>
        <p:nvSpPr>
          <p:cNvPr id="13" name="Rectangle: Rounded Corners 12">
            <a:extLst>
              <a:ext uri="{FF2B5EF4-FFF2-40B4-BE49-F238E27FC236}">
                <a16:creationId xmlns:a16="http://schemas.microsoft.com/office/drawing/2014/main" id="{EE6D17AC-EB0A-4A40-8E09-035EB5D299FF}"/>
              </a:ext>
            </a:extLst>
          </p:cNvPr>
          <p:cNvSpPr>
            <a:spLocks noGrp="1"/>
          </p:cNvSpPr>
          <p:nvPr/>
        </p:nvSpPr>
        <p:spPr>
          <a:xfrm>
            <a:off x="1381125" y="5581650"/>
            <a:ext cx="10096500" cy="685800"/>
          </a:xfrm>
          <a:prstGeom prst="roundRect">
            <a:avLst>
              <a:gd name="adj" fmla="val 11111"/>
            </a:avLst>
          </a:prstGeom>
          <a:solidFill>
            <a:srgbClr val="F3EAD7"/>
          </a:solidFill>
          <a:ln w="12383">
            <a:solidFill>
              <a:srgbClr val="DFC98F"/>
            </a:solidFill>
          </a:ln>
        </p:spPr>
      </p:sp>
      <p:sp>
        <p:nvSpPr>
          <p:cNvPr id="14" name="مراجعة مشتركة">
            <a:extLst>
              <a:ext uri="{FF2B5EF4-FFF2-40B4-BE49-F238E27FC236}">
                <a16:creationId xmlns:a16="http://schemas.microsoft.com/office/drawing/2014/main" id="{F0C91502-EE95-4883-98D6-5CDD2209445B}"/>
              </a:ext>
            </a:extLst>
          </p:cNvPr>
          <p:cNvSpPr>
            <a:spLocks noGrp="1"/>
          </p:cNvSpPr>
          <p:nvPr/>
        </p:nvSpPr>
        <p:spPr>
          <a:xfrm>
            <a:off x="1524000" y="5705475"/>
            <a:ext cx="1809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013070"/>
                </a:solidFill>
                <a:latin typeface="IBM Plex Sans Arabic"/>
                <a:ea typeface="IBM Plex Sans Arabic"/>
                <a:cs typeface="IBM Plex Sans Arabic"/>
              </a:defRPr>
            </a:pPr>
            <a:r>
              <a:rPr lang="ar-JO" sz="1650" b="1" kern="0" spc="0">
                <a:solidFill>
                  <a:srgbClr val="013070"/>
                </a:solidFill>
                <a:latin typeface="IBM Plex Sans Arabic"/>
                <a:ea typeface="IBM Plex Sans Arabic"/>
                <a:cs typeface="IBM Plex Sans Arabic"/>
              </a:rPr>
              <a:t>مراجعة مشتركة</a:t>
            </a:r>
          </a:p>
        </p:txBody>
      </p:sp>
      <p:sp>
        <p:nvSpPr>
          <p:cNvPr id="15" name="←">
            <a:extLst>
              <a:ext uri="{FF2B5EF4-FFF2-40B4-BE49-F238E27FC236}">
                <a16:creationId xmlns:a16="http://schemas.microsoft.com/office/drawing/2014/main" id="{16C5C903-E69E-4B8C-A565-580068C4C41A}"/>
              </a:ext>
            </a:extLst>
          </p:cNvPr>
          <p:cNvSpPr>
            <a:spLocks noGrp="1"/>
          </p:cNvSpPr>
          <p:nvPr/>
        </p:nvSpPr>
        <p:spPr>
          <a:xfrm>
            <a:off x="3476625" y="5705475"/>
            <a:ext cx="476250" cy="4191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6" name="واجهة عاملة">
            <a:extLst>
              <a:ext uri="{FF2B5EF4-FFF2-40B4-BE49-F238E27FC236}">
                <a16:creationId xmlns:a16="http://schemas.microsoft.com/office/drawing/2014/main" id="{4D8999BA-3879-4FC4-B101-864DE128611C}"/>
              </a:ext>
            </a:extLst>
          </p:cNvPr>
          <p:cNvSpPr>
            <a:spLocks noGrp="1"/>
          </p:cNvSpPr>
          <p:nvPr/>
        </p:nvSpPr>
        <p:spPr>
          <a:xfrm>
            <a:off x="4095750" y="5705475"/>
            <a:ext cx="190500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013070"/>
                </a:solidFill>
                <a:latin typeface="IBM Plex Sans Arabic"/>
                <a:ea typeface="IBM Plex Sans Arabic"/>
                <a:cs typeface="IBM Plex Sans Arabic"/>
              </a:defRPr>
            </a:pPr>
            <a:r>
              <a:rPr lang="ar-JO" sz="1650" b="1" kern="0" spc="0">
                <a:solidFill>
                  <a:srgbClr val="013070"/>
                </a:solidFill>
                <a:latin typeface="IBM Plex Sans Arabic"/>
                <a:ea typeface="IBM Plex Sans Arabic"/>
                <a:cs typeface="IBM Plex Sans Arabic"/>
              </a:rPr>
              <a:t>واجهة عاملة</a:t>
            </a:r>
          </a:p>
        </p:txBody>
      </p:sp>
      <p:sp>
        <p:nvSpPr>
          <p:cNvPr id="17" name="←">
            <a:extLst>
              <a:ext uri="{FF2B5EF4-FFF2-40B4-BE49-F238E27FC236}">
                <a16:creationId xmlns:a16="http://schemas.microsoft.com/office/drawing/2014/main" id="{CC203F5A-AFFE-4CEF-9CB3-1DB349144D31}"/>
              </a:ext>
            </a:extLst>
          </p:cNvPr>
          <p:cNvSpPr>
            <a:spLocks noGrp="1"/>
          </p:cNvSpPr>
          <p:nvPr/>
        </p:nvSpPr>
        <p:spPr>
          <a:xfrm>
            <a:off x="6143625" y="5705475"/>
            <a:ext cx="476250" cy="4191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8" name="رحلة مفهومة">
            <a:extLst>
              <a:ext uri="{FF2B5EF4-FFF2-40B4-BE49-F238E27FC236}">
                <a16:creationId xmlns:a16="http://schemas.microsoft.com/office/drawing/2014/main" id="{22C750AA-55AB-43DC-A3B4-EB105A80851D}"/>
              </a:ext>
            </a:extLst>
          </p:cNvPr>
          <p:cNvSpPr>
            <a:spLocks noGrp="1"/>
          </p:cNvSpPr>
          <p:nvPr/>
        </p:nvSpPr>
        <p:spPr>
          <a:xfrm>
            <a:off x="6762750" y="5705475"/>
            <a:ext cx="190500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013070"/>
                </a:solidFill>
                <a:latin typeface="IBM Plex Sans Arabic"/>
                <a:ea typeface="IBM Plex Sans Arabic"/>
                <a:cs typeface="IBM Plex Sans Arabic"/>
              </a:defRPr>
            </a:pPr>
            <a:r>
              <a:rPr lang="ar-JO" sz="1650" b="1" kern="0" spc="0">
                <a:solidFill>
                  <a:srgbClr val="013070"/>
                </a:solidFill>
                <a:latin typeface="IBM Plex Sans Arabic"/>
                <a:ea typeface="IBM Plex Sans Arabic"/>
                <a:cs typeface="IBM Plex Sans Arabic"/>
              </a:rPr>
              <a:t>رحلة مفهومة</a:t>
            </a:r>
          </a:p>
        </p:txBody>
      </p:sp>
      <p:sp>
        <p:nvSpPr>
          <p:cNvPr id="19" name="←">
            <a:extLst>
              <a:ext uri="{FF2B5EF4-FFF2-40B4-BE49-F238E27FC236}">
                <a16:creationId xmlns:a16="http://schemas.microsoft.com/office/drawing/2014/main" id="{18A7F4C7-B9C0-456B-A301-6DF609B85F4F}"/>
              </a:ext>
            </a:extLst>
          </p:cNvPr>
          <p:cNvSpPr>
            <a:spLocks noGrp="1"/>
          </p:cNvSpPr>
          <p:nvPr/>
        </p:nvSpPr>
        <p:spPr>
          <a:xfrm>
            <a:off x="8810625" y="5705475"/>
            <a:ext cx="476250" cy="4191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20" name="بيانات صحيحة">
            <a:extLst>
              <a:ext uri="{FF2B5EF4-FFF2-40B4-BE49-F238E27FC236}">
                <a16:creationId xmlns:a16="http://schemas.microsoft.com/office/drawing/2014/main" id="{F40AD557-AD85-432D-9593-33F59FEBE74D}"/>
              </a:ext>
            </a:extLst>
          </p:cNvPr>
          <p:cNvSpPr>
            <a:spLocks noGrp="1"/>
          </p:cNvSpPr>
          <p:nvPr/>
        </p:nvSpPr>
        <p:spPr>
          <a:xfrm>
            <a:off x="9429750" y="5705475"/>
            <a:ext cx="1809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013070"/>
                </a:solidFill>
                <a:latin typeface="IBM Plex Sans Arabic"/>
                <a:ea typeface="IBM Plex Sans Arabic"/>
                <a:cs typeface="IBM Plex Sans Arabic"/>
              </a:defRPr>
            </a:pPr>
            <a:r>
              <a:rPr lang="ar-JO" sz="1650" b="1" kern="0" spc="0">
                <a:solidFill>
                  <a:srgbClr val="013070"/>
                </a:solidFill>
                <a:latin typeface="IBM Plex Sans Arabic"/>
                <a:ea typeface="IBM Plex Sans Arabic"/>
                <a:cs typeface="IBM Plex Sans Arabic"/>
              </a:rPr>
              <a:t>بيانات صحيحة</a:t>
            </a:r>
          </a:p>
        </p:txBody>
      </p:sp>
    </p:spTree>
    <p:extLst>
      <p:ext uri="{BB962C8B-B14F-4D97-AF65-F5344CB8AC3E}">
        <p14:creationId xmlns:p14="http://schemas.microsoft.com/office/powerpoint/2010/main" val="1200962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pic>
        <p:nvPicPr>
          <p:cNvPr id="10" name="Picture 9"/>
          <p:cNvPicPr>
            <a:picLocks noChangeAspect="1"/>
          </p:cNvPicPr>
          <p:nvPr/>
        </p:nvPicPr>
        <p:blipFill>
          <a:blip r:embed="rId4"/>
          <a:stretch/>
        </p:blipFill>
        <p:spPr>
          <a:xfrm>
            <a:off x="10353675" y="552450"/>
            <a:ext cx="1123950" cy="1123950"/>
          </a:xfrm>
          <a:prstGeom prst="rect">
            <a:avLst/>
          </a:prstGeom>
        </p:spPr>
      </p:pic>
      <p:sp>
        <p:nvSpPr>
          <p:cNvPr id="3" name="قبل أن يلتزم الطالب لسنوات،">
            <a:extLst>
              <a:ext uri="{FF2B5EF4-FFF2-40B4-BE49-F238E27FC236}">
                <a16:creationId xmlns:a16="http://schemas.microsoft.com/office/drawing/2014/main" id="{B6648F07-D7CA-4F06-94C3-D516065A16A3}"/>
              </a:ext>
            </a:extLst>
          </p:cNvPr>
          <p:cNvSpPr>
            <a:spLocks noGrp="1"/>
          </p:cNvSpPr>
          <p:nvPr/>
        </p:nvSpPr>
        <p:spPr>
          <a:xfrm>
            <a:off x="5572125" y="1724025"/>
            <a:ext cx="5905500" cy="5810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925" b="1" kern="0" spc="0">
                <a:solidFill>
                  <a:srgbClr val="C8A04C"/>
                </a:solidFill>
                <a:latin typeface="IBM Plex Sans Arabic"/>
                <a:ea typeface="IBM Plex Sans Arabic"/>
                <a:cs typeface="IBM Plex Sans Arabic"/>
              </a:defRPr>
            </a:pPr>
            <a:r>
              <a:rPr lang="ar-JO" sz="2925" b="1" kern="0" spc="0">
                <a:solidFill>
                  <a:srgbClr val="C8A04C"/>
                </a:solidFill>
                <a:latin typeface="IBM Plex Sans Arabic"/>
                <a:ea typeface="IBM Plex Sans Arabic"/>
                <a:cs typeface="IBM Plex Sans Arabic"/>
              </a:rPr>
              <a:t>قبل أن يلتزم الطالب لسنوات،</a:t>
            </a:r>
          </a:p>
        </p:txBody>
      </p:sp>
      <p:sp>
        <p:nvSpPr>
          <p:cNvPr id="4" name="يرى الملاءمة والقبول والكلفة والسوق&#10;في قرار و">
            <a:extLst>
              <a:ext uri="{FF2B5EF4-FFF2-40B4-BE49-F238E27FC236}">
                <a16:creationId xmlns:a16="http://schemas.microsoft.com/office/drawing/2014/main" id="{3B5BD3A6-BAB0-41DE-BBE5-17D0D310F11D}"/>
              </a:ext>
            </a:extLst>
          </p:cNvPr>
          <p:cNvSpPr>
            <a:spLocks noGrp="1"/>
          </p:cNvSpPr>
          <p:nvPr/>
        </p:nvSpPr>
        <p:spPr>
          <a:xfrm>
            <a:off x="4905375" y="2400300"/>
            <a:ext cx="6572250" cy="14668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825" b="1" kern="0" spc="0">
                <a:solidFill>
                  <a:srgbClr val="FFFFFF"/>
                </a:solidFill>
                <a:latin typeface="IBM Plex Sans Arabic"/>
                <a:ea typeface="IBM Plex Sans Arabic"/>
                <a:cs typeface="IBM Plex Sans Arabic"/>
              </a:defRPr>
            </a:pPr>
            <a:r>
              <a:rPr lang="ar-JO" sz="3825" b="1" kern="0" spc="0">
                <a:solidFill>
                  <a:srgbClr val="FFFFFF"/>
                </a:solidFill>
                <a:latin typeface="IBM Plex Sans Arabic"/>
                <a:ea typeface="IBM Plex Sans Arabic"/>
                <a:cs typeface="IBM Plex Sans Arabic"/>
              </a:rPr>
              <a:t>يرى الملاءمة والقبول والكلفة والسوق</a:t>
            </a:r>
          </a:p>
          <a:p>
            <a:pPr algn="r" rtl="1">
              <a:lnSpc>
                <a:spcPct val="116000"/>
              </a:lnSpc>
              <a:spcBef>
                <a:spcPts val="0"/>
              </a:spcBef>
              <a:spcAft>
                <a:spcPts val="0"/>
              </a:spcAft>
              <a:buNone/>
              <a:defRPr lang="ar-JO" sz="3825" b="1" kern="0" spc="0">
                <a:solidFill>
                  <a:srgbClr val="FFFFFF"/>
                </a:solidFill>
                <a:latin typeface="IBM Plex Sans Arabic"/>
                <a:ea typeface="IBM Plex Sans Arabic"/>
                <a:cs typeface="IBM Plex Sans Arabic"/>
              </a:defRPr>
            </a:pPr>
            <a:r>
              <a:rPr lang="ar-JO" sz="3825" b="1" kern="0" spc="0">
                <a:solidFill>
                  <a:srgbClr val="FFFFFF"/>
                </a:solidFill>
                <a:latin typeface="IBM Plex Sans Arabic"/>
                <a:ea typeface="IBM Plex Sans Arabic"/>
                <a:cs typeface="IBM Plex Sans Arabic"/>
              </a:rPr>
              <a:t>في قرار واحد يمكن تفسيره.</a:t>
            </a:r>
          </a:p>
        </p:txBody>
      </p:sp>
      <p:sp>
        <p:nvSpPr>
          <p:cNvPr id="5" name="Rectangle: Rounded Corners 4">
            <a:extLst>
              <a:ext uri="{FF2B5EF4-FFF2-40B4-BE49-F238E27FC236}">
                <a16:creationId xmlns:a16="http://schemas.microsoft.com/office/drawing/2014/main" id="{05E9A54F-14EF-474B-B585-C8615F7D9DF8}"/>
              </a:ext>
            </a:extLst>
          </p:cNvPr>
          <p:cNvSpPr>
            <a:spLocks noGrp="1"/>
          </p:cNvSpPr>
          <p:nvPr/>
        </p:nvSpPr>
        <p:spPr>
          <a:xfrm>
            <a:off x="6334125" y="4324350"/>
            <a:ext cx="5143500" cy="628650"/>
          </a:xfrm>
          <a:prstGeom prst="roundRect">
            <a:avLst>
              <a:gd name="adj" fmla="val 12121"/>
            </a:avLst>
          </a:prstGeom>
          <a:solidFill>
            <a:srgbClr val="F3EAD7"/>
          </a:solidFill>
          <a:ln w="12383">
            <a:solidFill>
              <a:srgbClr val="DFC98F"/>
            </a:solidFill>
          </a:ln>
        </p:spPr>
      </p:sp>
      <p:sp>
        <p:nvSpPr>
          <p:cNvPr id="6" name="هل نبدأ التجربة؟">
            <a:extLst>
              <a:ext uri="{FF2B5EF4-FFF2-40B4-BE49-F238E27FC236}">
                <a16:creationId xmlns:a16="http://schemas.microsoft.com/office/drawing/2014/main" id="{F392D957-EE55-4453-9EF5-637BF02915C1}"/>
              </a:ext>
            </a:extLst>
          </p:cNvPr>
          <p:cNvSpPr>
            <a:spLocks noGrp="1"/>
          </p:cNvSpPr>
          <p:nvPr/>
        </p:nvSpPr>
        <p:spPr>
          <a:xfrm>
            <a:off x="6524625" y="4400550"/>
            <a:ext cx="4762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013070"/>
                </a:solidFill>
                <a:latin typeface="IBM Plex Sans Arabic"/>
                <a:ea typeface="IBM Plex Sans Arabic"/>
                <a:cs typeface="IBM Plex Sans Arabic"/>
              </a:defRPr>
            </a:pPr>
            <a:r>
              <a:rPr lang="ar-JO" sz="2250" b="1" kern="0" spc="0">
                <a:solidFill>
                  <a:srgbClr val="013070"/>
                </a:solidFill>
                <a:latin typeface="IBM Plex Sans Arabic"/>
                <a:ea typeface="IBM Plex Sans Arabic"/>
                <a:cs typeface="IBM Plex Sans Arabic"/>
              </a:rPr>
              <a:t>هل نبدأ التجربة؟</a:t>
            </a:r>
          </a:p>
        </p:txBody>
      </p:sp>
      <p:sp>
        <p:nvSpPr>
          <p:cNvPr id="7" name="مُرشِدي  •  Vcoders">
            <a:extLst>
              <a:ext uri="{FF2B5EF4-FFF2-40B4-BE49-F238E27FC236}">
                <a16:creationId xmlns:a16="http://schemas.microsoft.com/office/drawing/2014/main" id="{3084EB36-20AE-4246-8D94-DA9704F9253F}"/>
              </a:ext>
            </a:extLst>
          </p:cNvPr>
          <p:cNvSpPr>
            <a:spLocks noGrp="1"/>
          </p:cNvSpPr>
          <p:nvPr/>
        </p:nvSpPr>
        <p:spPr>
          <a:xfrm>
            <a:off x="6858000" y="5391150"/>
            <a:ext cx="4619625" cy="4762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250" b="1" kern="0" spc="0">
                <a:solidFill>
                  <a:srgbClr val="D1DEED"/>
                </a:solidFill>
                <a:latin typeface="IBM Plex Sans Arabic"/>
                <a:ea typeface="IBM Plex Sans Arabic"/>
                <a:cs typeface="IBM Plex Sans Arabic"/>
              </a:defRPr>
            </a:pPr>
            <a:r>
              <a:rPr lang="ar-JO" sz="2250" b="1" kern="0" spc="0">
                <a:solidFill>
                  <a:srgbClr val="D1DEED"/>
                </a:solidFill>
                <a:latin typeface="IBM Plex Sans Arabic"/>
                <a:ea typeface="IBM Plex Sans Arabic"/>
                <a:cs typeface="IBM Plex Sans Arabic"/>
              </a:rPr>
              <a:t>مُرشِدي  •  Vcoders</a:t>
            </a:r>
          </a:p>
        </p:txBody>
      </p:sp>
      <p:sp>
        <p:nvSpPr>
          <p:cNvPr id="8" name="شكرًا لكم">
            <a:extLst>
              <a:ext uri="{FF2B5EF4-FFF2-40B4-BE49-F238E27FC236}">
                <a16:creationId xmlns:a16="http://schemas.microsoft.com/office/drawing/2014/main" id="{78A60DC9-F078-44B2-B385-76B74C3E637A}"/>
              </a:ext>
            </a:extLst>
          </p:cNvPr>
          <p:cNvSpPr>
            <a:spLocks noGrp="1"/>
          </p:cNvSpPr>
          <p:nvPr/>
        </p:nvSpPr>
        <p:spPr>
          <a:xfrm>
            <a:off x="8858250" y="5942648"/>
            <a:ext cx="2619375" cy="36385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FFFFFF"/>
                </a:solidFill>
                <a:latin typeface="IBM Plex Sans Arabic"/>
                <a:ea typeface="IBM Plex Sans Arabic"/>
                <a:cs typeface="IBM Plex Sans Arabic"/>
              </a:defRPr>
            </a:pPr>
            <a:r>
              <a:rPr lang="ar-JO" sz="1725" b="0" kern="0" spc="0">
                <a:solidFill>
                  <a:srgbClr val="FFFFFF"/>
                </a:solidFill>
                <a:latin typeface="IBM Plex Sans Arabic"/>
                <a:ea typeface="IBM Plex Sans Arabic"/>
                <a:cs typeface="IBM Plex Sans Arabic"/>
              </a:rPr>
              <a:t>شكرًا لكم</a:t>
            </a:r>
          </a:p>
        </p:txBody>
      </p:sp>
    </p:spTree>
    <p:extLst>
      <p:ext uri="{BB962C8B-B14F-4D97-AF65-F5344CB8AC3E}">
        <p14:creationId xmlns:p14="http://schemas.microsoft.com/office/powerpoint/2010/main" val="39847144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2043</Words>
  <Application>Microsoft Office PowerPoint</Application>
  <DocSecurity>0</DocSecurity>
  <PresentationFormat>Widescreen</PresentationFormat>
  <Paragraphs>235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IBM Plex Sans Arabic</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Abdalrahman AL-Haymouni</cp:lastModifiedBy>
  <cp:revision>1</cp:revision>
  <dcterms:created xsi:type="dcterms:W3CDTF">2026-09-10T22:04:14Z</dcterms:created>
  <dcterms:modified xsi:type="dcterms:W3CDTF">2026-09-10T22:04:16Z</dcterms:modified>
</cp:coreProperties>
</file>