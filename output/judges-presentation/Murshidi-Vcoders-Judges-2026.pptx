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الفكرة تبدأ من سؤال نسمعه بعد التوجيهي: شو أدرس؟ إجابتنا تجمع اهتمام الطالب، خيارات الجامعة، وكلفة الدراسة في رحلة واحدة يمكنه فهمها ومناقشتها.</a:t>
            </a:r>
          </a:p>
          <a:p>
            <a:endParaRPr/>
          </a:p>
          <a:p>
            <a:r>
              <a:t>المصادر: ملفات المشروع الأصلية؛ اسم الفريق مصحح بتوجيه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المشكلة ليست انطباعًا. في 2026 نجح مئة وستة عشر ألفًا وثلاثمئة وستة وستون طالبًا في التوجيهي. وفي العام الجامعي 2025 على 2026 خفّض مجلس التعليم العالي القبول في التخصصات الراكدة والمشبعة بنسبة ستين بالمئة. أمام الطالب مئات الخيارات، لكن عليه أن يربط الميول والقبول والكلفة وسوق العمل وحده. هنا تضيع الصورة، مع أن أثر القرار يمتد لسنوات على الطالب وأسرته.</a:t>
            </a:r>
          </a:p>
          <a:p>
            <a:endParaRPr/>
          </a:p>
          <a:p>
            <a:r>
              <a:t>المصادر: بترا عن مؤتمر وزارة التربية، 10 آب 2026: 116,366 ناجحًا. مجلس التعليم العالي، 27 آب 2025: خفض أعداد القبول في التخصصات الراكدة والمشبعة 60%. الرقمان رسميان ولا يثبتان وحدهما أثر مُرشِدي.</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يبدأ الطالب باستكشاف اهتماماته، ثم يقارن برامج فعلية في جامعات مختلفة، ويحسب كلفة تتناسب مع ظروفه. هذه شاشة حقيقية من التطبيق الذي شغّلناه. القيمة هي تحويل المعلومة إلى قرار: ما الذي يناسب اهتمامه، ما الذي يستطيع تحمّله، وما الذي يجب أن يتحقق منه قبل التقديم؟ تظهر المصادر وفترتها بوضوح، وتبقى النتيجة أداة للحوار والقرار بيد الطالب وأسرته.</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2:20 (45 ثانية)</a:t>
            </a:r>
          </a:p>
          <a:p>
            <a:endParaRPr/>
          </a:p>
          <a:p>
            <a:r>
              <a:t>لنأخذ طالبًا يفكر في علم الحاسوب. يستطيع مقارنة البرنامج بين جامعات، ويرى رسم الساعة، وشرط التقديم، والحد التنافسي السابق كلًّا على حدة. جمعنا 607 عروض برامج من دليل القبول الموحد 2026 على 2027. وآخر حدود تنافسية منشورة عند التحقق تخص 2025، لذلك تظهر كسجل سابق لا كضمان قبول. هذه الدقة تمنع خلط شرط التقديم بالقبول الفعلي، وتبني الثقة في القرار.</a:t>
            </a:r>
          </a:p>
          <a:p>
            <a:endParaRPr/>
          </a:p>
          <a:p>
            <a:r>
              <a:t>المصادر: وحدة تنسيق القبول الموحد: 607 تخصصات بكالوريوس للدورة 2026/2027، إعلان 13 آب 2026؛ جداول الحدود الدنيا المنشورة 2021–2025، تحقق 10 أيلول 2026.</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إلى 2:55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تصبح الكلفة السنوية 3,051 دينارًا. إذا تغيرت الميزانية تتغير فجوة التمويل فورًا. نفصل الرقم الرسمي عن تقديرات الأسرة، ولا ندّعي راتبًا أو عائدًا مضمونًا.</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 إلى 3:35 (40 ثانية)</a:t>
            </a:r>
          </a:p>
          <a:p>
            <a:endParaRPr/>
          </a:p>
          <a:p>
            <a:r>
              <a:t>نفصل بين حجم الحاجة وبين ما نستطيع الوصول إليه. حجم السوق الكلي السنوي هو 116,366 ناجح توجيهي في 2026. السوق القابل للخدمة عبر المدارس يبدأ من 90,326 ناجحًا نظاميًا. وعند سعر مؤسسي مفترض مقداره 20 دينارًا لكل طالب نشط سنويًا، تساوي الفرصتان 2.33 مليون و1.81 مليون دينار. هدفنا الأول 1,500 طالب مدفوع عبر عشر مؤسسات، أي 30 ألف دينار. هذه نمذجة، وليست مبيعات محققة.</a:t>
            </a:r>
          </a:p>
          <a:p>
            <a:endParaRPr/>
          </a:p>
          <a:p>
            <a:r>
              <a:t>المصادر: أعداد التوجيهي من وزارة التربية عبر بترا، 10 آب 2026. TAM/SAM/SOM والقيم المالية نمذجة عند سعر مقترح 20 د.أ/طالب نشط/سنة تدفعه المؤسسة، وليست إيرادات أو عملاء قائمين.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3:35 إلى 4:30 (55 ثانية)</a:t>
            </a:r>
          </a:p>
          <a:p>
            <a:endParaRPr/>
          </a:p>
          <a:p>
            <a:r>
              <a:t>المستفيد هو الطالب وأسرته، والعميل الدافع هو المدرسة أو الجامعة أو شبكة تعليمية. نقدم للطالب الرحلة الأساسية مجانًا، وللمؤسسة أدوات للمرشد وتقارير مجمعة وتدريبًا. التسعير المقترح عشرون دينارًا لكل طالب نشط سنويًا، بحد أدنى 2,400 دينار للمؤسسة، ثم عقود أوسع للجهات العامة. نصل عبر المرشدين والتجارب المدرسية، وتبقى أنشطتنا تحديث البيانات والتحقق وقياس الأثر ودعم المؤسسات. الإيراد لا يغيّر ترتيب التخصصات، ولا نبيع بيانات الطلبة. السعر فرضية سنختبرها بثلاثة عروض قبل اعتماده.</a:t>
            </a:r>
          </a:p>
          <a:p>
            <a:endParaRPr/>
          </a:p>
          <a:p>
            <a:r>
              <a:t>المصادر: نموذج B2B2C وتسعير مقترح للاختبار، لا عقود أو شراكات قائمة. المقترح: 12 و20 و30 د.أ/طالب نشط في تجربة سعرية؛ حد أدنى مستهدف 2,400 د.أ/مؤسسة.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 إلى 5:00 (30 ثانية)</a:t>
            </a:r>
          </a:p>
          <a:p>
            <a:endParaRPr/>
          </a:p>
          <a:p>
            <a:r>
              <a:t>لدينا اليوم 607 عروض برامج و2,360 قيمة قبول تاريخية صالحة، مع مصدر وفترة لكل مجموعة بيانات. عند الاتصال يحاول التطبيق التحديث من المصادر العامة، وعند تعذرها يعرض آخر نسخة موثقة بدل اختلاق رقم. ويظل ترتيب الخيارات مستقلاً عن الإيرادات. هذا يجمع فائدة المنتج مع انضباط البيانات في تجربة عربية واحدة، وهو أساس الثقة التي تحتاجها الأسرة والمؤسسة.</a:t>
            </a:r>
          </a:p>
          <a:p>
            <a:endParaRPr/>
          </a:p>
          <a:p>
            <a:r>
              <a:t>المصادر: أرقام مستخرجة من القبول الموحد عند التحقق في 10 أيلول 2026: 607 عروض برامج و2,360 قيمة تاريخية صالحة بعد استبعاد 3 خلايا صفرية غير منشورة. لقطات التعليم العالي والخريجين تعرض أحدث وثيقة رسمية موثقة مع سنة التغطية.</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 إلى 5:35 (35 ثانية)</a:t>
            </a:r>
          </a:p>
          <a:p>
            <a:endParaRPr/>
          </a:p>
          <a:p>
            <a:r>
              <a:t>لا نقفز من فكرة إلى توقعات. نقترح تجربة مع 100 طالب في ثلاث مدارس خلال ستة أسابيع. نعتبرها ناجحة إذا أكمل 70 بالمئة مقارنة ثلاثة برامج، وارتفع وضوح القرار إلى أربعة من خمسة، ثم تقبل مؤسستان على الأقل من خمس تجربة مدفوعة بسعر 12 دينارًا أو أكثر لكل طالب. هذه أهداف تحقق معلنة وليست نتائج سابقة؛ وإذا لم تتحقق نعدل الرحلة أو السعر قبل التوسع.</a:t>
            </a:r>
          </a:p>
          <a:p>
            <a:endParaRPr/>
          </a:p>
          <a:p>
            <a:r>
              <a:t>المصادر: تصميم تجربة وأهداف قرار مقترحة: 100 طالب، 3 مدارس، 6 أسابيع، إتمام ≥70%، وضوح ≥4/5، وقبول مدفوع ≥2 من 5 مؤسسات عند ≥12 د.أ/طالب. ليست نتائج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5:35 إلى 6:15 (40 ثانية)</a:t>
            </a:r>
          </a:p>
          <a:p>
            <a:endParaRPr/>
          </a:p>
          <a:p>
            <a:r>
              <a:t>في الفرضية الأساسية، تدفع المؤسسة 20 دينارًا لكل طالب نشط سنويًا، ونقدّر الكلفة المتغيرة بأربعة دنانير؛ أي هامش مساهمة 16 دينارًا أو 80 بالمئة. مع كلفة تشغيل ثابتة مقدرة 30 ألف دينار، ومع 300 طالب في تجارب مجانية، تكون نقطة التعادل عند 1,950 طالبًا مدفوعًا، أي نحو 13 مؤسسة بمتوسط 150 طالبًا. أخطر فرضية هي الاستعداد للدفع، ولذلك نختبر أسعار 12 و20 و30 دينارًا قبل الالتزام.</a:t>
            </a:r>
          </a:p>
          <a:p>
            <a:endParaRPr/>
          </a:p>
          <a:p>
            <a:r>
              <a:t>المصادر: افتراضات مالية للاختبار وليست نتائج: سعر 20 د.أ، كلفة متغيرة 4 د.أ، ثابتة 30,000 د.أ، 300 طالب تجارب مجانية. نقطة التعادل: [30,000+(300×4)]/(20−4)=1,950 طالبًا؛ نحو 13 مؤسسة ×150.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هذا التكامل يربط احتياج الطالب بمنتج يمكن قياسه وتحسينه.</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طلبنا هو الوصول إلى مدارس ومرشدين لتنفيذ تجربة القياس، ثم تجربة مؤسسية مدفوعة تثبت الاستعداد للدفع. لدينا منتج يعمل، وبيانات عامة موثقة، ونموذج مالي نعرف بالضبط كيف نختبره. مُرشِدي: قرار أوضح لمستقبل الطالب. شكرًا لكم.</a:t>
            </a:r>
          </a:p>
          <a:p>
            <a:endParaRPr/>
          </a:p>
          <a:p>
            <a:r>
              <a:t>المصادر: طلب تجربة ودعم مقترح؛ لا شراكات أو عقود قائمة ضمن العرض.</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21ADEAAA-FF8B-4A96-9E55-EE10A729C8BE}"/>
              </a:ext>
            </a:extLst>
          </p:cNvPr>
          <p:cNvSpPr>
            <a:spLocks noGrp="1"/>
          </p:cNvSpPr>
          <p:nvPr/>
        </p:nvSpPr>
        <p:spPr>
          <a:xfrm>
            <a:off x="6191250" y="1971675"/>
            <a:ext cx="5286375" cy="1162050"/>
          </a:xfrm>
          <a:prstGeom prst="rect">
            <a:avLst/>
          </a:prstGeom>
          <a:noFill/>
          <a:ln w="0">
            <a:noFill/>
          </a:ln>
        </p:spPr>
        <p:txBody>
          <a:bodyPr wrap="square" lIns="0" tIns="0" rIns="0" bIns="0" anchor="ctr">
            <a:noAutofit/>
          </a:bodyPr>
          <a:lstStyle/>
          <a:p>
            <a:pPr algn="r">
              <a:defRPr lang="ar-JO" sz="7200" b="1">
                <a:solidFill>
                  <a:srgbClr val="FFFFFF"/>
                </a:solidFill>
                <a:latin typeface="IBM Plex Sans Arabic"/>
                <a:ea typeface="IBM Plex Sans Arabic"/>
                <a:cs typeface="IBM Plex Sans Arabic"/>
              </a:defRPr>
            </a:pPr>
            <a:r>
              <a:rPr lang="ar-JO" sz="7200" b="1">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2D380335-EC05-4992-BCA9-5604AB5B8A7E}"/>
              </a:ext>
            </a:extLst>
          </p:cNvPr>
          <p:cNvSpPr>
            <a:spLocks noGrp="1"/>
          </p:cNvSpPr>
          <p:nvPr/>
        </p:nvSpPr>
        <p:spPr>
          <a:xfrm>
            <a:off x="6143625" y="3209925"/>
            <a:ext cx="5334000" cy="628650"/>
          </a:xfrm>
          <a:prstGeom prst="rect">
            <a:avLst/>
          </a:prstGeom>
          <a:noFill/>
          <a:ln w="0">
            <a:noFill/>
          </a:ln>
        </p:spPr>
        <p:txBody>
          <a:bodyPr wrap="square" lIns="0" tIns="0" rIns="0" bIns="0" anchor="ctr">
            <a:noAutofit/>
          </a:bodyPr>
          <a:lstStyle/>
          <a:p>
            <a:pPr algn="r">
              <a:defRPr lang="ar-JO" sz="3375" b="1">
                <a:solidFill>
                  <a:srgbClr val="C8A04C"/>
                </a:solidFill>
                <a:latin typeface="IBM Plex Sans Arabic"/>
                <a:ea typeface="IBM Plex Sans Arabic"/>
                <a:cs typeface="IBM Plex Sans Arabic"/>
              </a:defRPr>
            </a:pPr>
            <a:r>
              <a:rPr lang="ar-JO" sz="3375" b="1">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18113495-3619-440F-9E83-F75EA2AE0A89}"/>
              </a:ext>
            </a:extLst>
          </p:cNvPr>
          <p:cNvSpPr>
            <a:spLocks noGrp="1"/>
          </p:cNvSpPr>
          <p:nvPr/>
        </p:nvSpPr>
        <p:spPr>
          <a:xfrm>
            <a:off x="7286625" y="4038600"/>
            <a:ext cx="4191000" cy="476250"/>
          </a:xfrm>
          <a:prstGeom prst="rect">
            <a:avLst/>
          </a:prstGeom>
          <a:noFill/>
          <a:ln w="0">
            <a:noFill/>
          </a:ln>
        </p:spPr>
        <p:txBody>
          <a:bodyPr wrap="square" lIns="0" tIns="0" rIns="0" bIns="0" anchor="ctr">
            <a:noAutofit/>
          </a:bodyPr>
          <a:lstStyle/>
          <a:p>
            <a:pPr algn="r">
              <a:defRPr lang="ar-JO" sz="2550" b="0">
                <a:solidFill>
                  <a:srgbClr val="FFFFFF"/>
                </a:solidFill>
                <a:latin typeface="IBM Plex Sans Arabic"/>
                <a:ea typeface="IBM Plex Sans Arabic"/>
                <a:cs typeface="IBM Plex Sans Arabic"/>
              </a:defRPr>
            </a:pPr>
            <a:r>
              <a:rPr lang="ar-JO" sz="2550" b="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02CF3221-3E6C-40A1-9D76-23F15CE05BE5}"/>
              </a:ext>
            </a:extLst>
          </p:cNvPr>
          <p:cNvSpPr>
            <a:spLocks noGrp="1"/>
          </p:cNvSpPr>
          <p:nvPr/>
        </p:nvSpPr>
        <p:spPr>
          <a:xfrm>
            <a:off x="6096000" y="5534025"/>
            <a:ext cx="5381625" cy="400050"/>
          </a:xfrm>
          <a:prstGeom prst="rect">
            <a:avLst/>
          </a:prstGeom>
          <a:noFill/>
          <a:ln w="0">
            <a:noFill/>
          </a:ln>
        </p:spPr>
        <p:txBody>
          <a:bodyPr wrap="square" lIns="0" tIns="0" rIns="0" bIns="0" anchor="ctr">
            <a:noAutofit/>
          </a:bodyPr>
          <a:lstStyle/>
          <a:p>
            <a:pPr algn="r">
              <a:defRPr lang="ar-JO" sz="1875" b="0">
                <a:solidFill>
                  <a:srgbClr val="D1DEED"/>
                </a:solidFill>
                <a:latin typeface="IBM Plex Sans Arabic"/>
                <a:ea typeface="IBM Plex Sans Arabic"/>
                <a:cs typeface="IBM Plex Sans Arabic"/>
              </a:defRPr>
            </a:pPr>
            <a:r>
              <a:rPr lang="ar-JO" sz="1875" b="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26F62B68-F4AD-4797-B204-C1426136A7E2}"/>
              </a:ext>
            </a:extLst>
          </p:cNvPr>
          <p:cNvSpPr>
            <a:spLocks noGrp="1"/>
          </p:cNvSpPr>
          <p:nvPr/>
        </p:nvSpPr>
        <p:spPr>
          <a:xfrm>
            <a:off x="7429500" y="5953125"/>
            <a:ext cx="4048125" cy="333375"/>
          </a:xfrm>
          <a:prstGeom prst="rect">
            <a:avLst/>
          </a:prstGeom>
          <a:noFill/>
          <a:ln w="0">
            <a:noFill/>
          </a:ln>
        </p:spPr>
        <p:txBody>
          <a:bodyPr wrap="square" lIns="0" tIns="0" rIns="0" bIns="0" anchor="ctr">
            <a:noAutofit/>
          </a:bodyPr>
          <a:lstStyle/>
          <a:p>
            <a:pPr algn="r">
              <a:defRPr lang="ar-JO" sz="1725" b="0">
                <a:solidFill>
                  <a:srgbClr val="D1DEED"/>
                </a:solidFill>
                <a:latin typeface="IBM Plex Sans Arabic"/>
                <a:ea typeface="IBM Plex Sans Arabic"/>
                <a:cs typeface="IBM Plex Sans Arabic"/>
              </a:defRPr>
            </a:pPr>
            <a:r>
              <a:rPr lang="ar-JO" sz="1725" b="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940330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1125200" y="400050"/>
            <a:ext cx="552450" cy="552450"/>
          </a:xfrm>
          <a:prstGeom prst="rect">
            <a:avLst/>
          </a:prstGeom>
        </p:spPr>
      </p:pic>
      <p:sp>
        <p:nvSpPr>
          <p:cNvPr id="2" name="المشكلة مثبتة بالأرقام والقرار الرسمي">
            <a:extLst>
              <a:ext uri="{FF2B5EF4-FFF2-40B4-BE49-F238E27FC236}">
                <a16:creationId xmlns:a16="http://schemas.microsoft.com/office/drawing/2014/main" id="{27865379-1610-46F2-9C33-269B15BD642D}"/>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المشكلة مثبتة بالأرقام والقرار الرسمي</a:t>
            </a:r>
          </a:p>
        </p:txBody>
      </p:sp>
      <p:sp>
        <p:nvSpPr>
          <p:cNvPr id="3" name="02">
            <a:extLst>
              <a:ext uri="{FF2B5EF4-FFF2-40B4-BE49-F238E27FC236}">
                <a16:creationId xmlns:a16="http://schemas.microsoft.com/office/drawing/2014/main" id="{B4BC820A-8C31-4A55-9307-50FCA86332D5}"/>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9EABAE2E-C4D0-4488-A590-531FE1C91B80}"/>
              </a:ext>
            </a:extLst>
          </p:cNvPr>
          <p:cNvSpPr>
            <a:spLocks noGrp="1"/>
          </p:cNvSpPr>
          <p:nvPr/>
        </p:nvSpPr>
        <p:spPr>
          <a:xfrm>
            <a:off x="571500" y="1885950"/>
            <a:ext cx="5095875" cy="3209925"/>
          </a:xfrm>
          <a:prstGeom prst="roundRect">
            <a:avLst>
              <a:gd name="adj" fmla="val 2374"/>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1DC69E74-EFDE-4255-8E01-560D582B45EB}"/>
              </a:ext>
            </a:extLst>
          </p:cNvPr>
          <p:cNvSpPr>
            <a:spLocks noGrp="1"/>
          </p:cNvSpPr>
          <p:nvPr/>
        </p:nvSpPr>
        <p:spPr>
          <a:xfrm>
            <a:off x="6191250" y="1885950"/>
            <a:ext cx="5286375" cy="3209925"/>
          </a:xfrm>
          <a:prstGeom prst="roundRect">
            <a:avLst>
              <a:gd name="adj" fmla="val 2374"/>
            </a:avLst>
          </a:prstGeom>
          <a:solidFill>
            <a:srgbClr val="F3EAD7"/>
          </a:solidFill>
          <a:ln w="12383">
            <a:solidFill>
              <a:srgbClr val="DFC98F"/>
            </a:solidFill>
          </a:ln>
        </p:spPr>
      </p:sp>
      <p:sp>
        <p:nvSpPr>
          <p:cNvPr id="6" name="116,366">
            <a:extLst>
              <a:ext uri="{FF2B5EF4-FFF2-40B4-BE49-F238E27FC236}">
                <a16:creationId xmlns:a16="http://schemas.microsoft.com/office/drawing/2014/main" id="{08C1B08F-1481-46E9-998B-240192DF691C}"/>
              </a:ext>
            </a:extLst>
          </p:cNvPr>
          <p:cNvSpPr>
            <a:spLocks noGrp="1"/>
          </p:cNvSpPr>
          <p:nvPr/>
        </p:nvSpPr>
        <p:spPr>
          <a:xfrm>
            <a:off x="809625" y="2257425"/>
            <a:ext cx="4619625" cy="1047750"/>
          </a:xfrm>
          <a:prstGeom prst="rect">
            <a:avLst/>
          </a:prstGeom>
          <a:noFill/>
          <a:ln w="0">
            <a:noFill/>
          </a:ln>
        </p:spPr>
        <p:txBody>
          <a:bodyPr wrap="square" lIns="0" tIns="0" rIns="0" bIns="0" anchor="ctr">
            <a:noAutofit/>
          </a:bodyPr>
          <a:lstStyle/>
          <a:p>
            <a:pPr algn="ctr">
              <a:defRPr lang="ar-JO" sz="6450" b="1">
                <a:solidFill>
                  <a:srgbClr val="013070"/>
                </a:solidFill>
                <a:latin typeface="IBM Plex Sans Arabic"/>
                <a:ea typeface="IBM Plex Sans Arabic"/>
                <a:cs typeface="IBM Plex Sans Arabic"/>
              </a:defRPr>
            </a:pPr>
            <a:r>
              <a:rPr lang="ar-JO" sz="6450" b="1">
                <a:solidFill>
                  <a:srgbClr val="013070"/>
                </a:solidFill>
                <a:latin typeface="IBM Plex Sans Arabic"/>
                <a:ea typeface="IBM Plex Sans Arabic"/>
                <a:cs typeface="IBM Plex Sans Arabic"/>
              </a:rPr>
              <a:t>116,366</a:t>
            </a:r>
          </a:p>
        </p:txBody>
      </p:sp>
      <p:sp>
        <p:nvSpPr>
          <p:cNvPr id="7" name="ناجحًا في التوجيهي 2026">
            <a:extLst>
              <a:ext uri="{FF2B5EF4-FFF2-40B4-BE49-F238E27FC236}">
                <a16:creationId xmlns:a16="http://schemas.microsoft.com/office/drawing/2014/main" id="{3CA63123-5C09-4883-8B27-B3831CBD6155}"/>
              </a:ext>
            </a:extLst>
          </p:cNvPr>
          <p:cNvSpPr>
            <a:spLocks noGrp="1"/>
          </p:cNvSpPr>
          <p:nvPr/>
        </p:nvSpPr>
        <p:spPr>
          <a:xfrm>
            <a:off x="809625" y="3333750"/>
            <a:ext cx="4619625" cy="561975"/>
          </a:xfrm>
          <a:prstGeom prst="rect">
            <a:avLst/>
          </a:prstGeom>
          <a:noFill/>
          <a:ln w="0">
            <a:noFill/>
          </a:ln>
        </p:spPr>
        <p:txBody>
          <a:bodyPr wrap="square" lIns="0" tIns="0" rIns="0" bIns="0" anchor="ctr">
            <a:noAutofit/>
          </a:bodyPr>
          <a:lstStyle/>
          <a:p>
            <a:pPr algn="ctr">
              <a:defRPr lang="ar-JO" sz="2400" b="1">
                <a:solidFill>
                  <a:srgbClr val="013070"/>
                </a:solidFill>
                <a:latin typeface="IBM Plex Sans Arabic"/>
                <a:ea typeface="IBM Plex Sans Arabic"/>
                <a:cs typeface="IBM Plex Sans Arabic"/>
              </a:defRPr>
            </a:pPr>
            <a:r>
              <a:rPr lang="ar-JO" sz="2400" b="1">
                <a:solidFill>
                  <a:srgbClr val="013070"/>
                </a:solidFill>
                <a:latin typeface="IBM Plex Sans Arabic"/>
                <a:ea typeface="IBM Plex Sans Arabic"/>
                <a:cs typeface="IBM Plex Sans Arabic"/>
              </a:rPr>
              <a:t>ناجحًا في التوجيهي 2026</a:t>
            </a:r>
          </a:p>
        </p:txBody>
      </p:sp>
      <p:sp>
        <p:nvSpPr>
          <p:cNvPr id="8" name="حجم الحاجة السنوي — لا عدد مستخدمينا">
            <a:extLst>
              <a:ext uri="{FF2B5EF4-FFF2-40B4-BE49-F238E27FC236}">
                <a16:creationId xmlns:a16="http://schemas.microsoft.com/office/drawing/2014/main" id="{50B44AC1-142A-4851-A9A6-865F2046B95C}"/>
              </a:ext>
            </a:extLst>
          </p:cNvPr>
          <p:cNvSpPr>
            <a:spLocks noGrp="1"/>
          </p:cNvSpPr>
          <p:nvPr/>
        </p:nvSpPr>
        <p:spPr>
          <a:xfrm>
            <a:off x="809625" y="4038600"/>
            <a:ext cx="4619625" cy="609600"/>
          </a:xfrm>
          <a:prstGeom prst="rect">
            <a:avLst/>
          </a:prstGeom>
          <a:noFill/>
          <a:ln w="0">
            <a:noFill/>
          </a:ln>
        </p:spPr>
        <p:txBody>
          <a:bodyPr wrap="square" lIns="0" tIns="0" rIns="0" bIns="0" anchor="ctr">
            <a:noAutofit/>
          </a:bodyPr>
          <a:lstStyle/>
          <a:p>
            <a:pPr algn="ctr">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حجم الحاجة السنوي — لا عدد مستخدمينا</a:t>
            </a:r>
          </a:p>
        </p:txBody>
      </p:sp>
      <p:sp>
        <p:nvSpPr>
          <p:cNvPr id="9" name="60%">
            <a:extLst>
              <a:ext uri="{FF2B5EF4-FFF2-40B4-BE49-F238E27FC236}">
                <a16:creationId xmlns:a16="http://schemas.microsoft.com/office/drawing/2014/main" id="{1CC65358-E1F6-4E51-870A-11A8AC575684}"/>
              </a:ext>
            </a:extLst>
          </p:cNvPr>
          <p:cNvSpPr>
            <a:spLocks noGrp="1"/>
          </p:cNvSpPr>
          <p:nvPr/>
        </p:nvSpPr>
        <p:spPr>
          <a:xfrm>
            <a:off x="6477000" y="2257425"/>
            <a:ext cx="4714875" cy="1047750"/>
          </a:xfrm>
          <a:prstGeom prst="rect">
            <a:avLst/>
          </a:prstGeom>
          <a:noFill/>
          <a:ln w="0">
            <a:noFill/>
          </a:ln>
        </p:spPr>
        <p:txBody>
          <a:bodyPr wrap="square" lIns="0" tIns="0" rIns="0" bIns="0" anchor="ctr">
            <a:noAutofit/>
          </a:bodyPr>
          <a:lstStyle/>
          <a:p>
            <a:pPr algn="ctr">
              <a:defRPr lang="ar-JO" sz="6450" b="1">
                <a:solidFill>
                  <a:srgbClr val="C8A04C"/>
                </a:solidFill>
                <a:latin typeface="IBM Plex Sans Arabic"/>
                <a:ea typeface="IBM Plex Sans Arabic"/>
                <a:cs typeface="IBM Plex Sans Arabic"/>
              </a:defRPr>
            </a:pPr>
            <a:r>
              <a:rPr lang="ar-JO" sz="6450" b="1">
                <a:solidFill>
                  <a:srgbClr val="C8A04C"/>
                </a:solidFill>
                <a:latin typeface="IBM Plex Sans Arabic"/>
                <a:ea typeface="IBM Plex Sans Arabic"/>
                <a:cs typeface="IBM Plex Sans Arabic"/>
              </a:rPr>
              <a:t>60%</a:t>
            </a:r>
          </a:p>
        </p:txBody>
      </p:sp>
      <p:sp>
        <p:nvSpPr>
          <p:cNvPr id="10" name="خفض القبول في التخصصات الراكدة والمشبعة">
            <a:extLst>
              <a:ext uri="{FF2B5EF4-FFF2-40B4-BE49-F238E27FC236}">
                <a16:creationId xmlns:a16="http://schemas.microsoft.com/office/drawing/2014/main" id="{B94E9C5C-5842-4E92-98D0-13E8434D215D}"/>
              </a:ext>
            </a:extLst>
          </p:cNvPr>
          <p:cNvSpPr>
            <a:spLocks noGrp="1"/>
          </p:cNvSpPr>
          <p:nvPr/>
        </p:nvSpPr>
        <p:spPr>
          <a:xfrm>
            <a:off x="6572250" y="3314700"/>
            <a:ext cx="4524375" cy="866775"/>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خفض القبول في التخصصات الراكدة والمشبعة</a:t>
            </a:r>
          </a:p>
        </p:txBody>
      </p:sp>
      <p:sp>
        <p:nvSpPr>
          <p:cNvPr id="11" name="قرار مجلس التعليم العالي للعام 2025/2026">
            <a:extLst>
              <a:ext uri="{FF2B5EF4-FFF2-40B4-BE49-F238E27FC236}">
                <a16:creationId xmlns:a16="http://schemas.microsoft.com/office/drawing/2014/main" id="{058BE092-682E-4CA9-A0F5-68A7B2E08359}"/>
              </a:ext>
            </a:extLst>
          </p:cNvPr>
          <p:cNvSpPr>
            <a:spLocks noGrp="1"/>
          </p:cNvSpPr>
          <p:nvPr/>
        </p:nvSpPr>
        <p:spPr>
          <a:xfrm>
            <a:off x="6619875" y="4286250"/>
            <a:ext cx="4429125" cy="4667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قرار مجلس التعليم العالي للعام 2025/2026</a:t>
            </a:r>
          </a:p>
        </p:txBody>
      </p:sp>
      <p:sp>
        <p:nvSpPr>
          <p:cNvPr id="12" name="المصدران: وزارة التربية عبر بترا 10 آب 2026 •">
            <a:extLst>
              <a:ext uri="{FF2B5EF4-FFF2-40B4-BE49-F238E27FC236}">
                <a16:creationId xmlns:a16="http://schemas.microsoft.com/office/drawing/2014/main" id="{631BE586-902B-48E7-92EB-58B9F3153636}"/>
              </a:ext>
            </a:extLst>
          </p:cNvPr>
          <p:cNvSpPr>
            <a:spLocks noGrp="1"/>
          </p:cNvSpPr>
          <p:nvPr/>
        </p:nvSpPr>
        <p:spPr>
          <a:xfrm>
            <a:off x="714375" y="5829300"/>
            <a:ext cx="10763250" cy="428625"/>
          </a:xfrm>
          <a:prstGeom prst="rect">
            <a:avLst/>
          </a:prstGeom>
          <a:noFill/>
          <a:ln w="0">
            <a:noFill/>
          </a:ln>
        </p:spPr>
        <p:txBody>
          <a:bodyPr wrap="square" lIns="0" tIns="0" rIns="0" bIns="0" anchor="ctr">
            <a:noAutofit/>
          </a:bodyPr>
          <a:lstStyle/>
          <a:p>
            <a:pPr algn="ctr">
              <a:defRPr lang="ar-JO" sz="1500" b="0">
                <a:solidFill>
                  <a:srgbClr val="53657C"/>
                </a:solidFill>
                <a:latin typeface="IBM Plex Sans Arabic"/>
                <a:ea typeface="IBM Plex Sans Arabic"/>
                <a:cs typeface="IBM Plex Sans Arabic"/>
              </a:defRPr>
            </a:pPr>
            <a:r>
              <a:rPr lang="ar-JO" sz="1500" b="0">
                <a:solidFill>
                  <a:srgbClr val="53657C"/>
                </a:solidFill>
                <a:latin typeface="IBM Plex Sans Arabic"/>
                <a:ea typeface="IBM Plex Sans Arabic"/>
                <a:cs typeface="IBM Plex Sans Arabic"/>
              </a:rPr>
              <a:t>المصدران: وزارة التربية عبر بترا 10 آب 2026 • مجلس التعليم العالي 27 آب 2025</a:t>
            </a:r>
          </a:p>
        </p:txBody>
      </p:sp>
    </p:spTree>
    <p:extLst>
      <p:ext uri="{BB962C8B-B14F-4D97-AF65-F5344CB8AC3E}">
        <p14:creationId xmlns:p14="http://schemas.microsoft.com/office/powerpoint/2010/main" val="780044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1125200" y="400050"/>
            <a:ext cx="552450" cy="552450"/>
          </a:xfrm>
          <a:prstGeom prst="rect">
            <a:avLst/>
          </a:prstGeom>
        </p:spPr>
      </p:pic>
      <p:sp>
        <p:nvSpPr>
          <p:cNvPr id="2" name="رحلة قرار يجمعها مُرشِدي">
            <a:extLst>
              <a:ext uri="{FF2B5EF4-FFF2-40B4-BE49-F238E27FC236}">
                <a16:creationId xmlns:a16="http://schemas.microsoft.com/office/drawing/2014/main" id="{8CD460B8-C15E-48DC-9017-E341B2752F3F}"/>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رحلة قرار يجمعها مُرشِدي</a:t>
            </a:r>
          </a:p>
        </p:txBody>
      </p:sp>
      <p:sp>
        <p:nvSpPr>
          <p:cNvPr id="3" name="03">
            <a:extLst>
              <a:ext uri="{FF2B5EF4-FFF2-40B4-BE49-F238E27FC236}">
                <a16:creationId xmlns:a16="http://schemas.microsoft.com/office/drawing/2014/main" id="{B401F23A-961A-41A6-BA82-FCC537DC5A4E}"/>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03</a:t>
            </a:r>
          </a:p>
        </p:txBody>
      </p:sp>
      <p:pic>
        <p:nvPicPr>
          <p:cNvPr id="16" name="Picture 15"/>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7" name="Picture 16"/>
          <p:cNvPicPr>
            <a:picLocks noChangeAspect="1"/>
          </p:cNvPicPr>
          <p:nvPr/>
        </p:nvPicPr>
        <p:blipFill>
          <a:blip r:embed="rId5"/>
          <a:stretch/>
        </p:blipFill>
        <p:spPr>
          <a:xfrm>
            <a:off x="171450" y="1285875"/>
            <a:ext cx="3524250" cy="5286375"/>
          </a:xfrm>
          <a:prstGeom prst="rect">
            <a:avLst/>
          </a:prstGeom>
        </p:spPr>
      </p:pic>
      <p:sp>
        <p:nvSpPr>
          <p:cNvPr id="6" name="استكشف اهتمامك">
            <a:extLst>
              <a:ext uri="{FF2B5EF4-FFF2-40B4-BE49-F238E27FC236}">
                <a16:creationId xmlns:a16="http://schemas.microsoft.com/office/drawing/2014/main" id="{ACAB6B07-0AC2-495D-B997-D6B54B3A6F73}"/>
              </a:ext>
            </a:extLst>
          </p:cNvPr>
          <p:cNvSpPr>
            <a:spLocks noGrp="1"/>
          </p:cNvSpPr>
          <p:nvPr/>
        </p:nvSpPr>
        <p:spPr>
          <a:xfrm>
            <a:off x="4000500" y="1885950"/>
            <a:ext cx="7477125"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استكشف اهتمامك</a:t>
            </a:r>
          </a:p>
        </p:txBody>
      </p:sp>
      <p:sp>
        <p:nvSpPr>
          <p:cNvPr id="7" name="تمرين يساعد الطالب على بدء الحوار">
            <a:extLst>
              <a:ext uri="{FF2B5EF4-FFF2-40B4-BE49-F238E27FC236}">
                <a16:creationId xmlns:a16="http://schemas.microsoft.com/office/drawing/2014/main" id="{3D8B00FF-E37C-40B7-B2B5-D398CA4BFD19}"/>
              </a:ext>
            </a:extLst>
          </p:cNvPr>
          <p:cNvSpPr>
            <a:spLocks noGrp="1"/>
          </p:cNvSpPr>
          <p:nvPr/>
        </p:nvSpPr>
        <p:spPr>
          <a:xfrm>
            <a:off x="4000500" y="2371725"/>
            <a:ext cx="7477125"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تمرين يساعد الطالب على بدء الحوار</a:t>
            </a:r>
          </a:p>
        </p:txBody>
      </p:sp>
      <p:sp>
        <p:nvSpPr>
          <p:cNvPr id="8" name="قارن خياراتك">
            <a:extLst>
              <a:ext uri="{FF2B5EF4-FFF2-40B4-BE49-F238E27FC236}">
                <a16:creationId xmlns:a16="http://schemas.microsoft.com/office/drawing/2014/main" id="{8FF5CC5F-3242-43C9-A800-8C0D5AD12755}"/>
              </a:ext>
            </a:extLst>
          </p:cNvPr>
          <p:cNvSpPr>
            <a:spLocks noGrp="1"/>
          </p:cNvSpPr>
          <p:nvPr/>
        </p:nvSpPr>
        <p:spPr>
          <a:xfrm>
            <a:off x="4000500" y="3190875"/>
            <a:ext cx="7477125"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قارن خياراتك</a:t>
            </a:r>
          </a:p>
        </p:txBody>
      </p:sp>
      <p:sp>
        <p:nvSpPr>
          <p:cNvPr id="9" name="برامج وجامعات ببيانات عامة موثقة">
            <a:extLst>
              <a:ext uri="{FF2B5EF4-FFF2-40B4-BE49-F238E27FC236}">
                <a16:creationId xmlns:a16="http://schemas.microsoft.com/office/drawing/2014/main" id="{416B35DE-C4D2-441A-941B-2AAFBEE80D09}"/>
              </a:ext>
            </a:extLst>
          </p:cNvPr>
          <p:cNvSpPr>
            <a:spLocks noGrp="1"/>
          </p:cNvSpPr>
          <p:nvPr/>
        </p:nvSpPr>
        <p:spPr>
          <a:xfrm>
            <a:off x="4000500" y="3676650"/>
            <a:ext cx="7477125"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برامج وجامعات ببيانات عامة موثقة</a:t>
            </a:r>
          </a:p>
        </p:txBody>
      </p:sp>
      <p:sp>
        <p:nvSpPr>
          <p:cNvPr id="10" name="خطّط مع أسرتك">
            <a:extLst>
              <a:ext uri="{FF2B5EF4-FFF2-40B4-BE49-F238E27FC236}">
                <a16:creationId xmlns:a16="http://schemas.microsoft.com/office/drawing/2014/main" id="{41BE45A8-1E7F-40C1-96C4-D61DF2E17E9F}"/>
              </a:ext>
            </a:extLst>
          </p:cNvPr>
          <p:cNvSpPr>
            <a:spLocks noGrp="1"/>
          </p:cNvSpPr>
          <p:nvPr/>
        </p:nvSpPr>
        <p:spPr>
          <a:xfrm>
            <a:off x="4000500" y="4495800"/>
            <a:ext cx="7477125"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خطّط مع أسرتك</a:t>
            </a:r>
          </a:p>
        </p:txBody>
      </p:sp>
      <p:sp>
        <p:nvSpPr>
          <p:cNvPr id="11" name="كلفة واضحة بافتراضات يستطيع تعديلها">
            <a:extLst>
              <a:ext uri="{FF2B5EF4-FFF2-40B4-BE49-F238E27FC236}">
                <a16:creationId xmlns:a16="http://schemas.microsoft.com/office/drawing/2014/main" id="{90FA8006-F5D1-41CF-92BB-6466D894748D}"/>
              </a:ext>
            </a:extLst>
          </p:cNvPr>
          <p:cNvSpPr>
            <a:spLocks noGrp="1"/>
          </p:cNvSpPr>
          <p:nvPr/>
        </p:nvSpPr>
        <p:spPr>
          <a:xfrm>
            <a:off x="4000500" y="4981575"/>
            <a:ext cx="7477125"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كلفة واضحة بافتراضات يستطيع تعديلها</a:t>
            </a:r>
          </a:p>
        </p:txBody>
      </p:sp>
      <p:sp>
        <p:nvSpPr>
          <p:cNvPr id="12" name="شاشة فعلية من التطبيق">
            <a:extLst>
              <a:ext uri="{FF2B5EF4-FFF2-40B4-BE49-F238E27FC236}">
                <a16:creationId xmlns:a16="http://schemas.microsoft.com/office/drawing/2014/main" id="{AC94C8E8-3790-4D32-8CD7-3D37FBB3CA21}"/>
              </a:ext>
            </a:extLst>
          </p:cNvPr>
          <p:cNvSpPr>
            <a:spLocks noGrp="1"/>
          </p:cNvSpPr>
          <p:nvPr/>
        </p:nvSpPr>
        <p:spPr>
          <a:xfrm>
            <a:off x="552450" y="6324600"/>
            <a:ext cx="3143250" cy="266700"/>
          </a:xfrm>
          <a:prstGeom prst="rect">
            <a:avLst/>
          </a:prstGeom>
          <a:noFill/>
          <a:ln w="0">
            <a:noFill/>
          </a:ln>
        </p:spPr>
        <p:txBody>
          <a:bodyPr wrap="square" lIns="0" tIns="0" rIns="0" bIns="0" anchor="ctr">
            <a:noAutofit/>
          </a:bodyPr>
          <a:lstStyle/>
          <a:p>
            <a:pPr algn="ctr">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شاشة فعلية من التطبيق</a:t>
            </a:r>
          </a:p>
        </p:txBody>
      </p:sp>
    </p:spTree>
    <p:extLst>
      <p:ext uri="{BB962C8B-B14F-4D97-AF65-F5344CB8AC3E}">
        <p14:creationId xmlns:p14="http://schemas.microsoft.com/office/powerpoint/2010/main" val="709494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1125200" y="400050"/>
            <a:ext cx="552450" cy="552450"/>
          </a:xfrm>
          <a:prstGeom prst="rect">
            <a:avLst/>
          </a:prstGeom>
        </p:spPr>
      </p:pic>
      <p:sp>
        <p:nvSpPr>
          <p:cNvPr id="2" name="مقارنة برامج فعلية">
            <a:extLst>
              <a:ext uri="{FF2B5EF4-FFF2-40B4-BE49-F238E27FC236}">
                <a16:creationId xmlns:a16="http://schemas.microsoft.com/office/drawing/2014/main" id="{3EB070E6-08F0-4EED-A430-16F4334E00F0}"/>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مقارنة برامج فعلية</a:t>
            </a:r>
          </a:p>
        </p:txBody>
      </p:sp>
      <p:sp>
        <p:nvSpPr>
          <p:cNvPr id="3" name="04">
            <a:extLst>
              <a:ext uri="{FF2B5EF4-FFF2-40B4-BE49-F238E27FC236}">
                <a16:creationId xmlns:a16="http://schemas.microsoft.com/office/drawing/2014/main" id="{B1D04EDF-C5D8-4863-BB48-BA4178B4CB21}"/>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04</a:t>
            </a:r>
          </a:p>
        </p:txBody>
      </p:sp>
      <p:pic>
        <p:nvPicPr>
          <p:cNvPr id="15" name="Picture 14"/>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6" name="Picture 15"/>
          <p:cNvPicPr>
            <a:picLocks noChangeAspect="1"/>
          </p:cNvPicPr>
          <p:nvPr/>
        </p:nvPicPr>
        <p:blipFill>
          <a:blip r:embed="rId5"/>
          <a:stretch/>
        </p:blipFill>
        <p:spPr>
          <a:xfrm>
            <a:off x="171450" y="1285875"/>
            <a:ext cx="3524250" cy="5286375"/>
          </a:xfrm>
          <a:prstGeom prst="rect">
            <a:avLst/>
          </a:prstGeom>
        </p:spPr>
      </p:pic>
      <p:sp>
        <p:nvSpPr>
          <p:cNvPr id="6" name="607">
            <a:extLst>
              <a:ext uri="{FF2B5EF4-FFF2-40B4-BE49-F238E27FC236}">
                <a16:creationId xmlns:a16="http://schemas.microsoft.com/office/drawing/2014/main" id="{59AC52A8-734B-44AE-BFF7-5C7373977E3B}"/>
              </a:ext>
            </a:extLst>
          </p:cNvPr>
          <p:cNvSpPr>
            <a:spLocks noGrp="1"/>
          </p:cNvSpPr>
          <p:nvPr/>
        </p:nvSpPr>
        <p:spPr>
          <a:xfrm>
            <a:off x="4095750" y="1819275"/>
            <a:ext cx="7143750" cy="971550"/>
          </a:xfrm>
          <a:prstGeom prst="rect">
            <a:avLst/>
          </a:prstGeom>
          <a:noFill/>
          <a:ln w="0">
            <a:noFill/>
          </a:ln>
        </p:spPr>
        <p:txBody>
          <a:bodyPr wrap="square" lIns="0" tIns="0" rIns="0" bIns="0" anchor="ctr">
            <a:noAutofit/>
          </a:bodyPr>
          <a:lstStyle/>
          <a:p>
            <a:pPr algn="r">
              <a:defRPr lang="ar-JO" sz="6600" b="1">
                <a:solidFill>
                  <a:srgbClr val="013070"/>
                </a:solidFill>
                <a:latin typeface="IBM Plex Sans Arabic"/>
                <a:ea typeface="IBM Plex Sans Arabic"/>
                <a:cs typeface="IBM Plex Sans Arabic"/>
              </a:defRPr>
            </a:pPr>
            <a:r>
              <a:rPr lang="ar-JO" sz="6600" b="1">
                <a:solidFill>
                  <a:srgbClr val="013070"/>
                </a:solidFill>
                <a:latin typeface="IBM Plex Sans Arabic"/>
                <a:ea typeface="IBM Plex Sans Arabic"/>
                <a:cs typeface="IBM Plex Sans Arabic"/>
              </a:rPr>
              <a:t>607</a:t>
            </a:r>
          </a:p>
        </p:txBody>
      </p:sp>
      <p:sp>
        <p:nvSpPr>
          <p:cNvPr id="7" name="عروض برامج في دليل القبول الموحد">
            <a:extLst>
              <a:ext uri="{FF2B5EF4-FFF2-40B4-BE49-F238E27FC236}">
                <a16:creationId xmlns:a16="http://schemas.microsoft.com/office/drawing/2014/main" id="{589967FA-FCD1-45FC-B5A5-3A52CFC51B29}"/>
              </a:ext>
            </a:extLst>
          </p:cNvPr>
          <p:cNvSpPr>
            <a:spLocks noGrp="1"/>
          </p:cNvSpPr>
          <p:nvPr/>
        </p:nvSpPr>
        <p:spPr>
          <a:xfrm>
            <a:off x="4095750" y="2838450"/>
            <a:ext cx="7143750" cy="561975"/>
          </a:xfrm>
          <a:prstGeom prst="rect">
            <a:avLst/>
          </a:prstGeom>
          <a:noFill/>
          <a:ln w="0">
            <a:noFill/>
          </a:ln>
        </p:spPr>
        <p:txBody>
          <a:bodyPr wrap="square" lIns="0" tIns="0" rIns="0" bIns="0" anchor="ctr">
            <a:noAutofit/>
          </a:bodyPr>
          <a:lstStyle/>
          <a:p>
            <a:pPr algn="r">
              <a:defRPr lang="ar-JO" sz="2700" b="1">
                <a:solidFill>
                  <a:srgbClr val="013070"/>
                </a:solidFill>
                <a:latin typeface="IBM Plex Sans Arabic"/>
                <a:ea typeface="IBM Plex Sans Arabic"/>
                <a:cs typeface="IBM Plex Sans Arabic"/>
              </a:defRPr>
            </a:pPr>
            <a:r>
              <a:rPr lang="ar-JO" sz="2700" b="1">
                <a:solidFill>
                  <a:srgbClr val="013070"/>
                </a:solidFill>
                <a:latin typeface="IBM Plex Sans Arabic"/>
                <a:ea typeface="IBM Plex Sans Arabic"/>
                <a:cs typeface="IBM Plex Sans Arabic"/>
              </a:rPr>
              <a:t>عروض برامج في دليل القبول الموحد</a:t>
            </a:r>
          </a:p>
        </p:txBody>
      </p:sp>
      <p:sp>
        <p:nvSpPr>
          <p:cNvPr id="8" name="دليل البرامج والرسوم 2026/2027">
            <a:extLst>
              <a:ext uri="{FF2B5EF4-FFF2-40B4-BE49-F238E27FC236}">
                <a16:creationId xmlns:a16="http://schemas.microsoft.com/office/drawing/2014/main" id="{E09463DF-7E98-46A7-B07B-790CD274B4CA}"/>
              </a:ext>
            </a:extLst>
          </p:cNvPr>
          <p:cNvSpPr>
            <a:spLocks noGrp="1"/>
          </p:cNvSpPr>
          <p:nvPr/>
        </p:nvSpPr>
        <p:spPr>
          <a:xfrm>
            <a:off x="4095750" y="3609975"/>
            <a:ext cx="7143750" cy="523875"/>
          </a:xfrm>
          <a:prstGeom prst="rect">
            <a:avLst/>
          </a:prstGeom>
          <a:noFill/>
          <a:ln w="0">
            <a:noFill/>
          </a:ln>
        </p:spPr>
        <p:txBody>
          <a:bodyPr wrap="square" lIns="0" tIns="0" rIns="0" bIns="0" anchor="ctr">
            <a:noAutofit/>
          </a:bodyPr>
          <a:lstStyle/>
          <a:p>
            <a:pPr algn="r">
              <a:defRPr lang="ar-JO" sz="2250" b="0">
                <a:solidFill>
                  <a:srgbClr val="53657C"/>
                </a:solidFill>
                <a:latin typeface="IBM Plex Sans Arabic"/>
                <a:ea typeface="IBM Plex Sans Arabic"/>
                <a:cs typeface="IBM Plex Sans Arabic"/>
              </a:defRPr>
            </a:pPr>
            <a:r>
              <a:rPr lang="ar-JO" sz="2250" b="0">
                <a:solidFill>
                  <a:srgbClr val="53657C"/>
                </a:solidFill>
                <a:latin typeface="IBM Plex Sans Arabic"/>
                <a:ea typeface="IBM Plex Sans Arabic"/>
                <a:cs typeface="IBM Plex Sans Arabic"/>
              </a:rPr>
              <a:t>دليل البرامج والرسوم 2026/2027</a:t>
            </a:r>
          </a:p>
        </p:txBody>
      </p:sp>
      <p:sp>
        <p:nvSpPr>
          <p:cNvPr id="9" name="آخر حدود تنافسية منشورة: 2025">
            <a:extLst>
              <a:ext uri="{FF2B5EF4-FFF2-40B4-BE49-F238E27FC236}">
                <a16:creationId xmlns:a16="http://schemas.microsoft.com/office/drawing/2014/main" id="{B519F19A-C172-4BE6-BF56-6B606DBDDCCB}"/>
              </a:ext>
            </a:extLst>
          </p:cNvPr>
          <p:cNvSpPr>
            <a:spLocks noGrp="1"/>
          </p:cNvSpPr>
          <p:nvPr/>
        </p:nvSpPr>
        <p:spPr>
          <a:xfrm>
            <a:off x="4095750" y="4276725"/>
            <a:ext cx="7143750" cy="523875"/>
          </a:xfrm>
          <a:prstGeom prst="rect">
            <a:avLst/>
          </a:prstGeom>
          <a:noFill/>
          <a:ln w="0">
            <a:noFill/>
          </a:ln>
        </p:spPr>
        <p:txBody>
          <a:bodyPr wrap="square" lIns="0" tIns="0" rIns="0" bIns="0" anchor="ctr">
            <a:noAutofit/>
          </a:bodyPr>
          <a:lstStyle/>
          <a:p>
            <a:pPr algn="r">
              <a:defRPr lang="ar-JO" sz="2250" b="0">
                <a:solidFill>
                  <a:srgbClr val="53657C"/>
                </a:solidFill>
                <a:latin typeface="IBM Plex Sans Arabic"/>
                <a:ea typeface="IBM Plex Sans Arabic"/>
                <a:cs typeface="IBM Plex Sans Arabic"/>
              </a:defRPr>
            </a:pPr>
            <a:r>
              <a:rPr lang="ar-JO" sz="2250" b="0">
                <a:solidFill>
                  <a:srgbClr val="53657C"/>
                </a:solidFill>
                <a:latin typeface="IBM Plex Sans Arabic"/>
                <a:ea typeface="IBM Plex Sans Arabic"/>
                <a:cs typeface="IBM Plex Sans Arabic"/>
              </a:rPr>
              <a:t>آخر حدود تنافسية منشورة: 2025</a:t>
            </a:r>
          </a:p>
        </p:txBody>
      </p:sp>
      <p:sp>
        <p:nvSpPr>
          <p:cNvPr id="10" name="شرط التقديم ≠ ضمان القبول">
            <a:extLst>
              <a:ext uri="{FF2B5EF4-FFF2-40B4-BE49-F238E27FC236}">
                <a16:creationId xmlns:a16="http://schemas.microsoft.com/office/drawing/2014/main" id="{62C82E97-F71A-4E11-B289-31DCA765C40A}"/>
              </a:ext>
            </a:extLst>
          </p:cNvPr>
          <p:cNvSpPr>
            <a:spLocks noGrp="1"/>
          </p:cNvSpPr>
          <p:nvPr/>
        </p:nvSpPr>
        <p:spPr>
          <a:xfrm>
            <a:off x="4095750" y="5057775"/>
            <a:ext cx="7143750" cy="581025"/>
          </a:xfrm>
          <a:prstGeom prst="rect">
            <a:avLst/>
          </a:prstGeom>
          <a:noFill/>
          <a:ln w="0">
            <a:noFill/>
          </a:ln>
        </p:spPr>
        <p:txBody>
          <a:bodyPr wrap="square" lIns="0" tIns="0" rIns="0" bIns="0" anchor="ctr">
            <a:noAutofit/>
          </a:bodyPr>
          <a:lstStyle/>
          <a:p>
            <a:pPr algn="r">
              <a:defRPr lang="ar-JO" sz="2625" b="1">
                <a:solidFill>
                  <a:srgbClr val="013070"/>
                </a:solidFill>
                <a:latin typeface="IBM Plex Sans Arabic"/>
                <a:ea typeface="IBM Plex Sans Arabic"/>
                <a:cs typeface="IBM Plex Sans Arabic"/>
              </a:defRPr>
            </a:pPr>
            <a:r>
              <a:rPr lang="ar-JO" sz="2625" b="1">
                <a:solidFill>
                  <a:srgbClr val="013070"/>
                </a:solidFill>
                <a:latin typeface="IBM Plex Sans Arabic"/>
                <a:ea typeface="IBM Plex Sans Arabic"/>
                <a:cs typeface="IBM Plex Sans Arabic"/>
              </a:rPr>
              <a:t>شرط التقديم ≠ ضمان القبول</a:t>
            </a:r>
          </a:p>
        </p:txBody>
      </p:sp>
      <p:sp>
        <p:nvSpPr>
          <p:cNvPr id="11" name="المصدر: القبول الموحد، تحقق 10 أيلول 2026؛ دل">
            <a:extLst>
              <a:ext uri="{FF2B5EF4-FFF2-40B4-BE49-F238E27FC236}">
                <a16:creationId xmlns:a16="http://schemas.microsoft.com/office/drawing/2014/main" id="{7047C856-1B31-400C-8903-49B773B0C170}"/>
              </a:ext>
            </a:extLst>
          </p:cNvPr>
          <p:cNvSpPr>
            <a:spLocks noGrp="1"/>
          </p:cNvSpPr>
          <p:nvPr/>
        </p:nvSpPr>
        <p:spPr>
          <a:xfrm>
            <a:off x="4048125" y="5943600"/>
            <a:ext cx="7429500" cy="409575"/>
          </a:xfrm>
          <a:prstGeom prst="rect">
            <a:avLst/>
          </a:prstGeom>
          <a:noFill/>
          <a:ln w="0">
            <a:noFill/>
          </a:ln>
        </p:spPr>
        <p:txBody>
          <a:bodyPr wrap="square" lIns="0" tIns="0" rIns="0" bIns="0" anchor="ctr">
            <a:noAutofit/>
          </a:bodyPr>
          <a:lstStyle/>
          <a:p>
            <a:pPr algn="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المصدر: القبول الموحد، تحقق 10 أيلول 2026؛ دليل الفرع العلمي</a:t>
            </a:r>
          </a:p>
        </p:txBody>
      </p:sp>
    </p:spTree>
    <p:extLst>
      <p:ext uri="{BB962C8B-B14F-4D97-AF65-F5344CB8AC3E}">
        <p14:creationId xmlns:p14="http://schemas.microsoft.com/office/powerpoint/2010/main" val="1803840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1125200" y="400050"/>
            <a:ext cx="552450" cy="552450"/>
          </a:xfrm>
          <a:prstGeom prst="rect">
            <a:avLst/>
          </a:prstGeom>
        </p:spPr>
      </p:pic>
      <p:sp>
        <p:nvSpPr>
          <p:cNvPr id="2" name="خطة تستطيع الأسرة مناقشتها">
            <a:extLst>
              <a:ext uri="{FF2B5EF4-FFF2-40B4-BE49-F238E27FC236}">
                <a16:creationId xmlns:a16="http://schemas.microsoft.com/office/drawing/2014/main" id="{B82E0D00-3C86-43B1-813A-413370BEE642}"/>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خطة تستطيع الأسرة مناقشتها</a:t>
            </a:r>
          </a:p>
        </p:txBody>
      </p:sp>
      <p:sp>
        <p:nvSpPr>
          <p:cNvPr id="3" name="05">
            <a:extLst>
              <a:ext uri="{FF2B5EF4-FFF2-40B4-BE49-F238E27FC236}">
                <a16:creationId xmlns:a16="http://schemas.microsoft.com/office/drawing/2014/main" id="{0895977E-5EE9-4E70-A70F-79C54F782657}"/>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05</a:t>
            </a:r>
          </a:p>
        </p:txBody>
      </p:sp>
      <p:pic>
        <p:nvPicPr>
          <p:cNvPr id="15" name="Picture 14"/>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6" name="Picture 15"/>
          <p:cNvPicPr>
            <a:picLocks noChangeAspect="1"/>
          </p:cNvPicPr>
          <p:nvPr/>
        </p:nvPicPr>
        <p:blipFill>
          <a:blip r:embed="rId5"/>
          <a:stretch/>
        </p:blipFill>
        <p:spPr>
          <a:xfrm>
            <a:off x="171450" y="1285875"/>
            <a:ext cx="3524250" cy="5286375"/>
          </a:xfrm>
          <a:prstGeom prst="rect">
            <a:avLst/>
          </a:prstGeom>
        </p:spPr>
      </p:pic>
      <p:sp>
        <p:nvSpPr>
          <p:cNvPr id="6" name="3,051">
            <a:extLst>
              <a:ext uri="{FF2B5EF4-FFF2-40B4-BE49-F238E27FC236}">
                <a16:creationId xmlns:a16="http://schemas.microsoft.com/office/drawing/2014/main" id="{F90BA37E-C1EE-44CB-A379-BC668E572E10}"/>
              </a:ext>
            </a:extLst>
          </p:cNvPr>
          <p:cNvSpPr>
            <a:spLocks noGrp="1"/>
          </p:cNvSpPr>
          <p:nvPr/>
        </p:nvSpPr>
        <p:spPr>
          <a:xfrm>
            <a:off x="4143375" y="1752600"/>
            <a:ext cx="7048500" cy="1123950"/>
          </a:xfrm>
          <a:prstGeom prst="rect">
            <a:avLst/>
          </a:prstGeom>
          <a:noFill/>
          <a:ln w="0">
            <a:noFill/>
          </a:ln>
        </p:spPr>
        <p:txBody>
          <a:bodyPr wrap="square" lIns="0" tIns="0" rIns="0" bIns="0" anchor="ctr">
            <a:noAutofit/>
          </a:bodyPr>
          <a:lstStyle/>
          <a:p>
            <a:pPr algn="r">
              <a:defRPr lang="ar-JO" sz="6750" b="1">
                <a:solidFill>
                  <a:srgbClr val="FFFFFF"/>
                </a:solidFill>
                <a:latin typeface="IBM Plex Sans Arabic"/>
                <a:ea typeface="IBM Plex Sans Arabic"/>
                <a:cs typeface="IBM Plex Sans Arabic"/>
              </a:defRPr>
            </a:pPr>
            <a:r>
              <a:rPr lang="ar-JO" sz="6750" b="1">
                <a:solidFill>
                  <a:srgbClr val="FFFFFF"/>
                </a:solidFill>
                <a:latin typeface="IBM Plex Sans Arabic"/>
                <a:ea typeface="IBM Plex Sans Arabic"/>
                <a:cs typeface="IBM Plex Sans Arabic"/>
              </a:rPr>
              <a:t>3,051</a:t>
            </a:r>
          </a:p>
        </p:txBody>
      </p:sp>
      <p:sp>
        <p:nvSpPr>
          <p:cNvPr id="7" name="دينارًا سنويًا في هذا المثال">
            <a:extLst>
              <a:ext uri="{FF2B5EF4-FFF2-40B4-BE49-F238E27FC236}">
                <a16:creationId xmlns:a16="http://schemas.microsoft.com/office/drawing/2014/main" id="{DACCC9C1-C1A7-41D4-A80F-01433E6CC8C8}"/>
              </a:ext>
            </a:extLst>
          </p:cNvPr>
          <p:cNvSpPr>
            <a:spLocks noGrp="1"/>
          </p:cNvSpPr>
          <p:nvPr/>
        </p:nvSpPr>
        <p:spPr>
          <a:xfrm>
            <a:off x="4048125" y="2886075"/>
            <a:ext cx="7429500" cy="552450"/>
          </a:xfrm>
          <a:prstGeom prst="rect">
            <a:avLst/>
          </a:prstGeom>
          <a:noFill/>
          <a:ln w="0">
            <a:noFill/>
          </a:ln>
        </p:spPr>
        <p:txBody>
          <a:bodyPr wrap="square" lIns="0" tIns="0" rIns="0" bIns="0" anchor="ctr">
            <a:noAutofit/>
          </a:bodyPr>
          <a:lstStyle/>
          <a:p>
            <a:pPr algn="r">
              <a:defRPr lang="ar-JO" sz="2775" b="1">
                <a:solidFill>
                  <a:srgbClr val="C8A04C"/>
                </a:solidFill>
                <a:latin typeface="IBM Plex Sans Arabic"/>
                <a:ea typeface="IBM Plex Sans Arabic"/>
                <a:cs typeface="IBM Plex Sans Arabic"/>
              </a:defRPr>
            </a:pPr>
            <a:r>
              <a:rPr lang="ar-JO" sz="2775" b="1">
                <a:solidFill>
                  <a:srgbClr val="C8A04C"/>
                </a:solidFill>
                <a:latin typeface="IBM Plex Sans Arabic"/>
                <a:ea typeface="IBM Plex Sans Arabic"/>
                <a:cs typeface="IBM Plex Sans Arabic"/>
              </a:rPr>
              <a:t>دينارًا سنويًا في هذا المثال</a:t>
            </a:r>
          </a:p>
        </p:txBody>
      </p:sp>
      <p:sp>
        <p:nvSpPr>
          <p:cNvPr id="8" name="رسم رسمي: 47 د.أ للساعة">
            <a:extLst>
              <a:ext uri="{FF2B5EF4-FFF2-40B4-BE49-F238E27FC236}">
                <a16:creationId xmlns:a16="http://schemas.microsoft.com/office/drawing/2014/main" id="{DC6E41C3-2092-43F2-9F42-F3DC1D3E010F}"/>
              </a:ext>
            </a:extLst>
          </p:cNvPr>
          <p:cNvSpPr>
            <a:spLocks noGrp="1"/>
          </p:cNvSpPr>
          <p:nvPr/>
        </p:nvSpPr>
        <p:spPr>
          <a:xfrm>
            <a:off x="4143375" y="3695700"/>
            <a:ext cx="7334250" cy="466725"/>
          </a:xfrm>
          <a:prstGeom prst="rect">
            <a:avLst/>
          </a:prstGeom>
          <a:noFill/>
          <a:ln w="0">
            <a:noFill/>
          </a:ln>
        </p:spPr>
        <p:txBody>
          <a:bodyPr wrap="square" lIns="0" tIns="0" rIns="0" bIns="0" anchor="ctr">
            <a:noAutofit/>
          </a:bodyPr>
          <a:lstStyle/>
          <a:p>
            <a:pPr algn="r">
              <a:defRPr lang="ar-JO" sz="2250" b="1">
                <a:solidFill>
                  <a:srgbClr val="FFFFFF"/>
                </a:solidFill>
                <a:latin typeface="IBM Plex Sans Arabic"/>
                <a:ea typeface="IBM Plex Sans Arabic"/>
                <a:cs typeface="IBM Plex Sans Arabic"/>
              </a:defRPr>
            </a:pPr>
            <a:r>
              <a:rPr lang="ar-JO" sz="2250" b="1">
                <a:solidFill>
                  <a:srgbClr val="FFFFFF"/>
                </a:solidFill>
                <a:latin typeface="IBM Plex Sans Arabic"/>
                <a:ea typeface="IBM Plex Sans Arabic"/>
                <a:cs typeface="IBM Plex Sans Arabic"/>
              </a:rPr>
              <a:t>رسم رسمي: 47 د.أ للساعة</a:t>
            </a:r>
          </a:p>
        </p:txBody>
      </p:sp>
      <p:sp>
        <p:nvSpPr>
          <p:cNvPr id="9" name="افتراضات الأسرة: الساعات، المدة، والرسوم والم">
            <a:extLst>
              <a:ext uri="{FF2B5EF4-FFF2-40B4-BE49-F238E27FC236}">
                <a16:creationId xmlns:a16="http://schemas.microsoft.com/office/drawing/2014/main" id="{9D8C173F-2935-4985-BEB6-68769692A8CB}"/>
              </a:ext>
            </a:extLst>
          </p:cNvPr>
          <p:cNvSpPr>
            <a:spLocks noGrp="1"/>
          </p:cNvSpPr>
          <p:nvPr/>
        </p:nvSpPr>
        <p:spPr>
          <a:xfrm>
            <a:off x="3857625" y="4295775"/>
            <a:ext cx="7620000" cy="838200"/>
          </a:xfrm>
          <a:prstGeom prst="rect">
            <a:avLst/>
          </a:prstGeom>
          <a:noFill/>
          <a:ln w="0">
            <a:noFill/>
          </a:ln>
        </p:spPr>
        <p:txBody>
          <a:bodyPr wrap="square" lIns="0" tIns="0" rIns="0" bIns="0" anchor="ctr">
            <a:noAutofit/>
          </a:bodyPr>
          <a:lstStyle/>
          <a:p>
            <a:pPr algn="r">
              <a:defRPr lang="ar-JO" sz="2175" b="0">
                <a:solidFill>
                  <a:srgbClr val="D1DEED"/>
                </a:solidFill>
                <a:latin typeface="IBM Plex Sans Arabic"/>
                <a:ea typeface="IBM Plex Sans Arabic"/>
                <a:cs typeface="IBM Plex Sans Arabic"/>
              </a:defRPr>
            </a:pPr>
            <a:r>
              <a:rPr lang="ar-JO" sz="2175" b="0">
                <a:solidFill>
                  <a:srgbClr val="D1DEED"/>
                </a:solidFill>
                <a:latin typeface="IBM Plex Sans Arabic"/>
                <a:ea typeface="IBM Plex Sans Arabic"/>
                <a:cs typeface="IBM Plex Sans Arabic"/>
              </a:rPr>
              <a:t>افتراضات الأسرة: الساعات، المدة، والرسوم والمعيشة</a:t>
            </a:r>
          </a:p>
        </p:txBody>
      </p:sp>
      <p:sp>
        <p:nvSpPr>
          <p:cNvPr id="10" name="تغيير الميزانية يغيّر فجوة التمويل">
            <a:extLst>
              <a:ext uri="{FF2B5EF4-FFF2-40B4-BE49-F238E27FC236}">
                <a16:creationId xmlns:a16="http://schemas.microsoft.com/office/drawing/2014/main" id="{642D316D-1429-4AAC-BF70-70FB355A60C6}"/>
              </a:ext>
            </a:extLst>
          </p:cNvPr>
          <p:cNvSpPr>
            <a:spLocks noGrp="1"/>
          </p:cNvSpPr>
          <p:nvPr/>
        </p:nvSpPr>
        <p:spPr>
          <a:xfrm>
            <a:off x="3952875" y="5248275"/>
            <a:ext cx="7524750" cy="51435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تغيير الميزانية يغيّر فجوة التمويل</a:t>
            </a:r>
          </a:p>
        </p:txBody>
      </p:sp>
      <p:sp>
        <p:nvSpPr>
          <p:cNvPr id="11" name="مثال علم الحاسوب، الأردنية؛ افتراضات قابلة لل">
            <a:extLst>
              <a:ext uri="{FF2B5EF4-FFF2-40B4-BE49-F238E27FC236}">
                <a16:creationId xmlns:a16="http://schemas.microsoft.com/office/drawing/2014/main" id="{6B8C85F8-1B4C-44D3-8765-70AB5ADE7CB7}"/>
              </a:ext>
            </a:extLst>
          </p:cNvPr>
          <p:cNvSpPr>
            <a:spLocks noGrp="1"/>
          </p:cNvSpPr>
          <p:nvPr/>
        </p:nvSpPr>
        <p:spPr>
          <a:xfrm>
            <a:off x="4000500" y="5972175"/>
            <a:ext cx="7524750" cy="381000"/>
          </a:xfrm>
          <a:prstGeom prst="rect">
            <a:avLst/>
          </a:prstGeom>
          <a:noFill/>
          <a:ln w="0">
            <a:noFill/>
          </a:ln>
        </p:spPr>
        <p:txBody>
          <a:bodyPr wrap="square" lIns="0" tIns="0" rIns="0" bIns="0" anchor="ctr">
            <a:noAutofit/>
          </a:bodyPr>
          <a:lstStyle/>
          <a:p>
            <a:pPr algn="r">
              <a:defRPr lang="ar-JO" sz="1500" b="0">
                <a:solidFill>
                  <a:srgbClr val="D1DEED"/>
                </a:solidFill>
                <a:latin typeface="IBM Plex Sans Arabic"/>
                <a:ea typeface="IBM Plex Sans Arabic"/>
                <a:cs typeface="IBM Plex Sans Arabic"/>
              </a:defRPr>
            </a:pPr>
            <a:r>
              <a:rPr lang="ar-JO" sz="1500" b="0">
                <a:solidFill>
                  <a:srgbClr val="D1DEED"/>
                </a:solidFill>
                <a:latin typeface="IBM Plex Sans Arabic"/>
                <a:ea typeface="IBM Plex Sans Arabic"/>
                <a:cs typeface="IBM Plex Sans Arabic"/>
              </a:rPr>
              <a:t>مثال علم الحاسوب، الأردنية؛ افتراضات قابلة للتعديل، لا توقع دخل</a:t>
            </a:r>
          </a:p>
        </p:txBody>
      </p:sp>
    </p:spTree>
    <p:extLst>
      <p:ext uri="{BB962C8B-B14F-4D97-AF65-F5344CB8AC3E}">
        <p14:creationId xmlns:p14="http://schemas.microsoft.com/office/powerpoint/2010/main" val="1276852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سوق كبير… ودخول يبدأ صغيرًا">
            <a:extLst>
              <a:ext uri="{FF2B5EF4-FFF2-40B4-BE49-F238E27FC236}">
                <a16:creationId xmlns:a16="http://schemas.microsoft.com/office/drawing/2014/main" id="{06C7BE21-4C04-4CE2-91D3-AD12C12C8292}"/>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سوق كبير… ودخول يبدأ صغيرًا</a:t>
            </a:r>
          </a:p>
        </p:txBody>
      </p:sp>
      <p:sp>
        <p:nvSpPr>
          <p:cNvPr id="3" name="06">
            <a:extLst>
              <a:ext uri="{FF2B5EF4-FFF2-40B4-BE49-F238E27FC236}">
                <a16:creationId xmlns:a16="http://schemas.microsoft.com/office/drawing/2014/main" id="{F09D6B96-4667-402F-B90A-D3384F7C8838}"/>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B3A21E66-656F-4D4A-B94B-31E4BDA504BD}"/>
              </a:ext>
            </a:extLst>
          </p:cNvPr>
          <p:cNvSpPr>
            <a:spLocks noGrp="1"/>
          </p:cNvSpPr>
          <p:nvPr/>
        </p:nvSpPr>
        <p:spPr>
          <a:xfrm>
            <a:off x="8143875" y="1809750"/>
            <a:ext cx="3333750" cy="3333750"/>
          </a:xfrm>
          <a:prstGeom prst="roundRect">
            <a:avLst>
              <a:gd name="adj" fmla="val 2286"/>
            </a:avLst>
          </a:prstGeom>
          <a:solidFill>
            <a:srgbClr val="FFFFFF"/>
          </a:solidFill>
          <a:ln w="12383">
            <a:solidFill>
              <a:srgbClr val="D4DEE9"/>
            </a:solidFill>
          </a:ln>
        </p:spPr>
      </p:sp>
      <p:sp>
        <p:nvSpPr>
          <p:cNvPr id="5" name="TAM">
            <a:extLst>
              <a:ext uri="{FF2B5EF4-FFF2-40B4-BE49-F238E27FC236}">
                <a16:creationId xmlns:a16="http://schemas.microsoft.com/office/drawing/2014/main" id="{CE47DB0C-959A-4936-9B0F-B104D2DC016D}"/>
              </a:ext>
            </a:extLst>
          </p:cNvPr>
          <p:cNvSpPr>
            <a:spLocks noGrp="1"/>
          </p:cNvSpPr>
          <p:nvPr/>
        </p:nvSpPr>
        <p:spPr>
          <a:xfrm>
            <a:off x="838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TAM</a:t>
            </a:r>
          </a:p>
        </p:txBody>
      </p:sp>
      <p:sp>
        <p:nvSpPr>
          <p:cNvPr id="6" name="116,366">
            <a:extLst>
              <a:ext uri="{FF2B5EF4-FFF2-40B4-BE49-F238E27FC236}">
                <a16:creationId xmlns:a16="http://schemas.microsoft.com/office/drawing/2014/main" id="{6057AED9-E9EA-413D-ADFF-F15B70B81030}"/>
              </a:ext>
            </a:extLst>
          </p:cNvPr>
          <p:cNvSpPr>
            <a:spLocks noGrp="1"/>
          </p:cNvSpPr>
          <p:nvPr/>
        </p:nvSpPr>
        <p:spPr>
          <a:xfrm>
            <a:off x="833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116,366</a:t>
            </a:r>
          </a:p>
        </p:txBody>
      </p:sp>
      <p:sp>
        <p:nvSpPr>
          <p:cNvPr id="7" name="ناجح توجيهي 2026">
            <a:extLst>
              <a:ext uri="{FF2B5EF4-FFF2-40B4-BE49-F238E27FC236}">
                <a16:creationId xmlns:a16="http://schemas.microsoft.com/office/drawing/2014/main" id="{538D611F-6DCF-478F-AC89-D86163EA06F0}"/>
              </a:ext>
            </a:extLst>
          </p:cNvPr>
          <p:cNvSpPr>
            <a:spLocks noGrp="1"/>
          </p:cNvSpPr>
          <p:nvPr/>
        </p:nvSpPr>
        <p:spPr>
          <a:xfrm>
            <a:off x="838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ناجح توجيهي 2026</a:t>
            </a:r>
          </a:p>
        </p:txBody>
      </p:sp>
      <p:sp>
        <p:nvSpPr>
          <p:cNvPr id="8" name="2.33 مليون د.أ">
            <a:extLst>
              <a:ext uri="{FF2B5EF4-FFF2-40B4-BE49-F238E27FC236}">
                <a16:creationId xmlns:a16="http://schemas.microsoft.com/office/drawing/2014/main" id="{E9B45D04-2585-47D1-A7FF-6A22F5CCBA38}"/>
              </a:ext>
            </a:extLst>
          </p:cNvPr>
          <p:cNvSpPr>
            <a:spLocks noGrp="1"/>
          </p:cNvSpPr>
          <p:nvPr/>
        </p:nvSpPr>
        <p:spPr>
          <a:xfrm>
            <a:off x="838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2.33 مليون د.أ</a:t>
            </a:r>
          </a:p>
        </p:txBody>
      </p:sp>
      <p:sp>
        <p:nvSpPr>
          <p:cNvPr id="9" name="Rectangle: Rounded Corners 8">
            <a:extLst>
              <a:ext uri="{FF2B5EF4-FFF2-40B4-BE49-F238E27FC236}">
                <a16:creationId xmlns:a16="http://schemas.microsoft.com/office/drawing/2014/main" id="{EF3DE05D-3B77-416B-B6CE-FBAE45C8E603}"/>
              </a:ext>
            </a:extLst>
          </p:cNvPr>
          <p:cNvSpPr>
            <a:spLocks noGrp="1"/>
          </p:cNvSpPr>
          <p:nvPr/>
        </p:nvSpPr>
        <p:spPr>
          <a:xfrm>
            <a:off x="4333875" y="1809750"/>
            <a:ext cx="3333750" cy="3333750"/>
          </a:xfrm>
          <a:prstGeom prst="roundRect">
            <a:avLst>
              <a:gd name="adj" fmla="val 2286"/>
            </a:avLst>
          </a:prstGeom>
          <a:solidFill>
            <a:srgbClr val="FFFFFF"/>
          </a:solidFill>
          <a:ln w="12383">
            <a:solidFill>
              <a:srgbClr val="D4DEE9"/>
            </a:solidFill>
          </a:ln>
        </p:spPr>
      </p:sp>
      <p:sp>
        <p:nvSpPr>
          <p:cNvPr id="10" name="SAM">
            <a:extLst>
              <a:ext uri="{FF2B5EF4-FFF2-40B4-BE49-F238E27FC236}">
                <a16:creationId xmlns:a16="http://schemas.microsoft.com/office/drawing/2014/main" id="{13CE3AD0-4283-41B2-8A53-2670F988F3E9}"/>
              </a:ext>
            </a:extLst>
          </p:cNvPr>
          <p:cNvSpPr>
            <a:spLocks noGrp="1"/>
          </p:cNvSpPr>
          <p:nvPr/>
        </p:nvSpPr>
        <p:spPr>
          <a:xfrm>
            <a:off x="457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SAM</a:t>
            </a:r>
          </a:p>
        </p:txBody>
      </p:sp>
      <p:sp>
        <p:nvSpPr>
          <p:cNvPr id="11" name="90,326">
            <a:extLst>
              <a:ext uri="{FF2B5EF4-FFF2-40B4-BE49-F238E27FC236}">
                <a16:creationId xmlns:a16="http://schemas.microsoft.com/office/drawing/2014/main" id="{67A5E189-36B4-4646-9745-B05CAA2BF5EE}"/>
              </a:ext>
            </a:extLst>
          </p:cNvPr>
          <p:cNvSpPr>
            <a:spLocks noGrp="1"/>
          </p:cNvSpPr>
          <p:nvPr/>
        </p:nvSpPr>
        <p:spPr>
          <a:xfrm>
            <a:off x="452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90,326</a:t>
            </a:r>
          </a:p>
        </p:txBody>
      </p:sp>
      <p:sp>
        <p:nvSpPr>
          <p:cNvPr id="12" name="ناجحًا نظاميًا">
            <a:extLst>
              <a:ext uri="{FF2B5EF4-FFF2-40B4-BE49-F238E27FC236}">
                <a16:creationId xmlns:a16="http://schemas.microsoft.com/office/drawing/2014/main" id="{41685384-F719-4725-A84A-8539E78C7F5C}"/>
              </a:ext>
            </a:extLst>
          </p:cNvPr>
          <p:cNvSpPr>
            <a:spLocks noGrp="1"/>
          </p:cNvSpPr>
          <p:nvPr/>
        </p:nvSpPr>
        <p:spPr>
          <a:xfrm>
            <a:off x="457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ناجحًا نظاميًا</a:t>
            </a:r>
          </a:p>
        </p:txBody>
      </p:sp>
      <p:sp>
        <p:nvSpPr>
          <p:cNvPr id="13" name="1.81 مليون د.أ">
            <a:extLst>
              <a:ext uri="{FF2B5EF4-FFF2-40B4-BE49-F238E27FC236}">
                <a16:creationId xmlns:a16="http://schemas.microsoft.com/office/drawing/2014/main" id="{CA6803C7-1814-4468-9567-D846F669C119}"/>
              </a:ext>
            </a:extLst>
          </p:cNvPr>
          <p:cNvSpPr>
            <a:spLocks noGrp="1"/>
          </p:cNvSpPr>
          <p:nvPr/>
        </p:nvSpPr>
        <p:spPr>
          <a:xfrm>
            <a:off x="457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1.81 مليون د.أ</a:t>
            </a:r>
          </a:p>
        </p:txBody>
      </p:sp>
      <p:sp>
        <p:nvSpPr>
          <p:cNvPr id="14" name="Rectangle: Rounded Corners 13">
            <a:extLst>
              <a:ext uri="{FF2B5EF4-FFF2-40B4-BE49-F238E27FC236}">
                <a16:creationId xmlns:a16="http://schemas.microsoft.com/office/drawing/2014/main" id="{CC21C843-9755-4D91-BBFC-46AB02820704}"/>
              </a:ext>
            </a:extLst>
          </p:cNvPr>
          <p:cNvSpPr>
            <a:spLocks noGrp="1"/>
          </p:cNvSpPr>
          <p:nvPr/>
        </p:nvSpPr>
        <p:spPr>
          <a:xfrm>
            <a:off x="523875" y="1809750"/>
            <a:ext cx="3333750" cy="3333750"/>
          </a:xfrm>
          <a:prstGeom prst="roundRect">
            <a:avLst>
              <a:gd name="adj" fmla="val 2286"/>
            </a:avLst>
          </a:prstGeom>
          <a:solidFill>
            <a:srgbClr val="F3EAD7"/>
          </a:solidFill>
          <a:ln w="12383">
            <a:solidFill>
              <a:srgbClr val="DFC98F"/>
            </a:solidFill>
          </a:ln>
        </p:spPr>
      </p:sp>
      <p:sp>
        <p:nvSpPr>
          <p:cNvPr id="15" name="SOM">
            <a:extLst>
              <a:ext uri="{FF2B5EF4-FFF2-40B4-BE49-F238E27FC236}">
                <a16:creationId xmlns:a16="http://schemas.microsoft.com/office/drawing/2014/main" id="{4C9A8A44-098D-44B8-AD7E-95C3F6369D38}"/>
              </a:ext>
            </a:extLst>
          </p:cNvPr>
          <p:cNvSpPr>
            <a:spLocks noGrp="1"/>
          </p:cNvSpPr>
          <p:nvPr/>
        </p:nvSpPr>
        <p:spPr>
          <a:xfrm>
            <a:off x="76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SOM</a:t>
            </a:r>
          </a:p>
        </p:txBody>
      </p:sp>
      <p:sp>
        <p:nvSpPr>
          <p:cNvPr id="16" name="1,500">
            <a:extLst>
              <a:ext uri="{FF2B5EF4-FFF2-40B4-BE49-F238E27FC236}">
                <a16:creationId xmlns:a16="http://schemas.microsoft.com/office/drawing/2014/main" id="{EB331C1E-0C22-42D2-9629-3056D961EF4E}"/>
              </a:ext>
            </a:extLst>
          </p:cNvPr>
          <p:cNvSpPr>
            <a:spLocks noGrp="1"/>
          </p:cNvSpPr>
          <p:nvPr/>
        </p:nvSpPr>
        <p:spPr>
          <a:xfrm>
            <a:off x="71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1,500</a:t>
            </a:r>
          </a:p>
        </p:txBody>
      </p:sp>
      <p:sp>
        <p:nvSpPr>
          <p:cNvPr id="17" name="طالب مدفوع / 10 مؤسسات">
            <a:extLst>
              <a:ext uri="{FF2B5EF4-FFF2-40B4-BE49-F238E27FC236}">
                <a16:creationId xmlns:a16="http://schemas.microsoft.com/office/drawing/2014/main" id="{BD97FEB0-4B31-45DF-953B-221AF7BA3AA4}"/>
              </a:ext>
            </a:extLst>
          </p:cNvPr>
          <p:cNvSpPr>
            <a:spLocks noGrp="1"/>
          </p:cNvSpPr>
          <p:nvPr/>
        </p:nvSpPr>
        <p:spPr>
          <a:xfrm>
            <a:off x="76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طالب مدفوع / 10 مؤسسات</a:t>
            </a:r>
          </a:p>
        </p:txBody>
      </p:sp>
      <p:sp>
        <p:nvSpPr>
          <p:cNvPr id="18" name="30 ألف د.أ">
            <a:extLst>
              <a:ext uri="{FF2B5EF4-FFF2-40B4-BE49-F238E27FC236}">
                <a16:creationId xmlns:a16="http://schemas.microsoft.com/office/drawing/2014/main" id="{7327203E-5CB0-4CF7-AAEE-3F3A5FCA893E}"/>
              </a:ext>
            </a:extLst>
          </p:cNvPr>
          <p:cNvSpPr>
            <a:spLocks noGrp="1"/>
          </p:cNvSpPr>
          <p:nvPr/>
        </p:nvSpPr>
        <p:spPr>
          <a:xfrm>
            <a:off x="76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30 ألف د.أ</a:t>
            </a:r>
          </a:p>
        </p:txBody>
      </p:sp>
      <p:sp>
        <p:nvSpPr>
          <p:cNvPr id="19" name="نمذجة عند 20 د.أ لكل طالب نشط سنويًا تدفعها ا">
            <a:extLst>
              <a:ext uri="{FF2B5EF4-FFF2-40B4-BE49-F238E27FC236}">
                <a16:creationId xmlns:a16="http://schemas.microsoft.com/office/drawing/2014/main" id="{17FE66F1-381E-49B0-A502-249BD63A1351}"/>
              </a:ext>
            </a:extLst>
          </p:cNvPr>
          <p:cNvSpPr>
            <a:spLocks noGrp="1"/>
          </p:cNvSpPr>
          <p:nvPr/>
        </p:nvSpPr>
        <p:spPr>
          <a:xfrm>
            <a:off x="666750" y="5429250"/>
            <a:ext cx="10810875" cy="400050"/>
          </a:xfrm>
          <a:prstGeom prst="rect">
            <a:avLst/>
          </a:prstGeom>
          <a:noFill/>
          <a:ln w="0">
            <a:noFill/>
          </a:ln>
        </p:spPr>
        <p:txBody>
          <a:bodyPr wrap="square" lIns="0" tIns="0" rIns="0" bIns="0" anchor="ctr">
            <a:noAutofit/>
          </a:bodyPr>
          <a:lstStyle/>
          <a:p>
            <a:pPr algn="ct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نمذجة عند 20 د.أ لكل طالب نشط سنويًا تدفعها المؤسسة • الطالب مجانًا</a:t>
            </a:r>
          </a:p>
        </p:txBody>
      </p:sp>
      <p:sp>
        <p:nvSpPr>
          <p:cNvPr id="20" name="الأعداد الرسمية: نتائج التوجيهي 2026 • القيم ">
            <a:extLst>
              <a:ext uri="{FF2B5EF4-FFF2-40B4-BE49-F238E27FC236}">
                <a16:creationId xmlns:a16="http://schemas.microsoft.com/office/drawing/2014/main" id="{4ECE9A9F-439E-4219-814A-43C6EF1F258B}"/>
              </a:ext>
            </a:extLst>
          </p:cNvPr>
          <p:cNvSpPr>
            <a:spLocks noGrp="1"/>
          </p:cNvSpPr>
          <p:nvPr/>
        </p:nvSpPr>
        <p:spPr>
          <a:xfrm>
            <a:off x="762000" y="5953125"/>
            <a:ext cx="10668000" cy="323850"/>
          </a:xfrm>
          <a:prstGeom prst="rect">
            <a:avLst/>
          </a:prstGeom>
          <a:noFill/>
          <a:ln w="0">
            <a:noFill/>
          </a:ln>
        </p:spPr>
        <p:txBody>
          <a:bodyPr wrap="square" lIns="0" tIns="0" rIns="0" bIns="0" anchor="ctr">
            <a:noAutofit/>
          </a:bodyPr>
          <a:lstStyle/>
          <a:p>
            <a:pPr algn="ctr">
              <a:defRPr lang="ar-JO" sz="1425" b="0">
                <a:solidFill>
                  <a:srgbClr val="53657C"/>
                </a:solidFill>
                <a:latin typeface="IBM Plex Sans Arabic"/>
                <a:ea typeface="IBM Plex Sans Arabic"/>
                <a:cs typeface="IBM Plex Sans Arabic"/>
              </a:defRPr>
            </a:pPr>
            <a:r>
              <a:rPr lang="ar-JO" sz="1425" b="0">
                <a:solidFill>
                  <a:srgbClr val="53657C"/>
                </a:solidFill>
                <a:latin typeface="IBM Plex Sans Arabic"/>
                <a:ea typeface="IBM Plex Sans Arabic"/>
                <a:cs typeface="IBM Plex Sans Arabic"/>
              </a:rPr>
              <a:t>الأعداد الرسمية: نتائج التوجيهي 2026 • القيم المالية وSOM فرضيات اختبار وليست مبيعات</a:t>
            </a:r>
          </a:p>
        </p:txBody>
      </p:sp>
    </p:spTree>
    <p:extLst>
      <p:ext uri="{BB962C8B-B14F-4D97-AF65-F5344CB8AC3E}">
        <p14:creationId xmlns:p14="http://schemas.microsoft.com/office/powerpoint/2010/main" val="1468829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p:blipFill>
        <p:spPr>
          <a:xfrm>
            <a:off x="11125200" y="400050"/>
            <a:ext cx="552450" cy="552450"/>
          </a:xfrm>
          <a:prstGeom prst="rect">
            <a:avLst/>
          </a:prstGeom>
        </p:spPr>
      </p:pic>
      <p:sp>
        <p:nvSpPr>
          <p:cNvPr id="2" name="لوحة نموذج العمل">
            <a:extLst>
              <a:ext uri="{FF2B5EF4-FFF2-40B4-BE49-F238E27FC236}">
                <a16:creationId xmlns:a16="http://schemas.microsoft.com/office/drawing/2014/main" id="{139F85A6-A18D-4035-B1F6-4ED29A7A07C6}"/>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لوحة نموذج العمل</a:t>
            </a:r>
          </a:p>
        </p:txBody>
      </p:sp>
      <p:sp>
        <p:nvSpPr>
          <p:cNvPr id="3" name="07">
            <a:extLst>
              <a:ext uri="{FF2B5EF4-FFF2-40B4-BE49-F238E27FC236}">
                <a16:creationId xmlns:a16="http://schemas.microsoft.com/office/drawing/2014/main" id="{B426F02A-2AC5-4A44-A178-32E521DABA99}"/>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07</a:t>
            </a:r>
          </a:p>
        </p:txBody>
      </p:sp>
      <p:sp>
        <p:nvSpPr>
          <p:cNvPr id="4" name="Business Model Canvas">
            <a:extLst>
              <a:ext uri="{FF2B5EF4-FFF2-40B4-BE49-F238E27FC236}">
                <a16:creationId xmlns:a16="http://schemas.microsoft.com/office/drawing/2014/main" id="{746DCCC7-3FC4-4171-B0BD-B969A2ED97D6}"/>
              </a:ext>
            </a:extLst>
          </p:cNvPr>
          <p:cNvSpPr>
            <a:spLocks noGrp="1"/>
          </p:cNvSpPr>
          <p:nvPr/>
        </p:nvSpPr>
        <p:spPr>
          <a:xfrm>
            <a:off x="571500" y="1219200"/>
            <a:ext cx="6096000" cy="400050"/>
          </a:xfrm>
          <a:prstGeom prst="rect">
            <a:avLst/>
          </a:prstGeom>
          <a:noFill/>
          <a:ln w="0">
            <a:noFill/>
          </a:ln>
        </p:spPr>
        <p:txBody>
          <a:bodyPr wrap="square" lIns="0" tIns="0" rIns="0" bIns="0" anchor="ctr">
            <a:noAutofit/>
          </a:bodyPr>
          <a:lstStyle/>
          <a:p>
            <a:pPr algn="l">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Business Model Canvas</a:t>
            </a:r>
          </a:p>
        </p:txBody>
      </p:sp>
      <p:sp>
        <p:nvSpPr>
          <p:cNvPr id="5" name="نموذج مقترح للاختبار">
            <a:extLst>
              <a:ext uri="{FF2B5EF4-FFF2-40B4-BE49-F238E27FC236}">
                <a16:creationId xmlns:a16="http://schemas.microsoft.com/office/drawing/2014/main" id="{89163C44-57DA-48D5-9AB4-EE98091FBFE3}"/>
              </a:ext>
            </a:extLst>
          </p:cNvPr>
          <p:cNvSpPr>
            <a:spLocks noGrp="1"/>
          </p:cNvSpPr>
          <p:nvPr/>
        </p:nvSpPr>
        <p:spPr>
          <a:xfrm>
            <a:off x="6858000" y="1219200"/>
            <a:ext cx="4667250" cy="400050"/>
          </a:xfrm>
          <a:prstGeom prst="rect">
            <a:avLst/>
          </a:prstGeom>
          <a:noFill/>
          <a:ln w="0">
            <a:noFill/>
          </a:ln>
        </p:spPr>
        <p:txBody>
          <a:bodyPr wrap="square" lIns="0" tIns="0" rIns="0" bIns="0" anchor="ctr">
            <a:noAutofit/>
          </a:bodyPr>
          <a:lstStyle/>
          <a:p>
            <a:pPr algn="r">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نموذج مقترح للاختبار</a:t>
            </a:r>
          </a:p>
        </p:txBody>
      </p:sp>
      <p:graphicFrame>
        <p:nvGraphicFramePr>
          <p:cNvPr id="13" name="Table 12"/>
          <p:cNvGraphicFramePr/>
          <p:nvPr/>
        </p:nvGraphicFramePr>
        <p:xfrm>
          <a:off x="571500" y="1790700"/>
          <a:ext cx="11049000" cy="4152900"/>
        </p:xfrm>
        <a:graphic>
          <a:graphicData uri="http://schemas.openxmlformats.org/drawingml/2006/table">
            <a:tbl>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104900">
                  <a:extLst>
                    <a:ext uri="{9D8B030D-6E8A-4147-A177-3AD203B41FA5}">
                      <a16:colId xmlns:a16="http://schemas.microsoft.com/office/drawing/2014/main" val="20002"/>
                    </a:ext>
                  </a:extLst>
                </a:gridCol>
                <a:gridCol w="1104900">
                  <a:extLst>
                    <a:ext uri="{9D8B030D-6E8A-4147-A177-3AD203B41FA5}">
                      <a16:colId xmlns:a16="http://schemas.microsoft.com/office/drawing/2014/main" val="20003"/>
                    </a:ext>
                  </a:extLst>
                </a:gridCol>
                <a:gridCol w="1104900">
                  <a:extLst>
                    <a:ext uri="{9D8B030D-6E8A-4147-A177-3AD203B41FA5}">
                      <a16:colId xmlns:a16="http://schemas.microsoft.com/office/drawing/2014/main" val="20004"/>
                    </a:ext>
                  </a:extLst>
                </a:gridCol>
                <a:gridCol w="1104900">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104900">
                  <a:extLst>
                    <a:ext uri="{9D8B030D-6E8A-4147-A177-3AD203B41FA5}">
                      <a16:colId xmlns:a16="http://schemas.microsoft.com/office/drawing/2014/main" val="20007"/>
                    </a:ext>
                  </a:extLst>
                </a:gridCol>
                <a:gridCol w="1104900">
                  <a:extLst>
                    <a:ext uri="{9D8B030D-6E8A-4147-A177-3AD203B41FA5}">
                      <a16:colId xmlns:a16="http://schemas.microsoft.com/office/drawing/2014/main" val="20008"/>
                    </a:ext>
                  </a:extLst>
                </a:gridCol>
                <a:gridCol w="1104900">
                  <a:extLst>
                    <a:ext uri="{9D8B030D-6E8A-4147-A177-3AD203B41FA5}">
                      <a16:colId xmlns:a16="http://schemas.microsoft.com/office/drawing/2014/main" val="20009"/>
                    </a:ext>
                  </a:extLst>
                </a:gridCol>
              </a:tblGrid>
              <a:tr h="1447800">
                <a:tc rowSpan="2" gridSpan="2">
                  <a:txBody>
                    <a:bodyPr/>
                    <a:lstStyle/>
                    <a:p>
                      <a:pPr algn="r" rtl="1"/>
                      <a:r>
                        <a:rPr lang="ar-JO" sz="1763">
                          <a:solidFill>
                            <a:srgbClr val="102C50"/>
                          </a:solidFill>
                          <a:latin typeface="IBM Plex Sans Arabic"/>
                          <a:ea typeface="IBM Plex Sans Arabic"/>
                          <a:cs typeface="IBM Plex Sans Arabic"/>
                        </a:rPr>
                        <a:t>الشركاء المحتملون</a:t>
                      </a:r>
                    </a:p>
                    <a:p>
                      <a:endParaRPr lang="ar-JO" sz="1763">
                        <a:solidFill>
                          <a:srgbClr val="102C50"/>
                        </a:solidFill>
                        <a:latin typeface="IBM Plex Sans Arabic"/>
                        <a:ea typeface="IBM Plex Sans Arabic"/>
                        <a:cs typeface="IBM Plex Sans Arabic"/>
                      </a:endParaRPr>
                    </a:p>
                    <a:p>
                      <a:pPr algn="r" rtl="1"/>
                      <a:r>
                        <a:rPr lang="ar-JO" sz="1763">
                          <a:solidFill>
                            <a:srgbClr val="102C50"/>
                          </a:solidFill>
                          <a:latin typeface="IBM Plex Sans Arabic"/>
                          <a:ea typeface="IBM Plex Sans Arabic"/>
                          <a:cs typeface="IBM Plex Sans Arabic"/>
                        </a:rPr>
                        <a:t>مدارس وجامعات</a:t>
                      </a:r>
                    </a:p>
                    <a:p>
                      <a:pPr algn="r" rtl="1"/>
                      <a:r>
                        <a:rPr lang="ar-JO" sz="1763">
                          <a:solidFill>
                            <a:srgbClr val="102C50"/>
                          </a:solidFill>
                          <a:latin typeface="IBM Plex Sans Arabic"/>
                          <a:ea typeface="IBM Plex Sans Arabic"/>
                          <a:cs typeface="IBM Plex Sans Arabic"/>
                        </a:rPr>
                        <a:t>ومرشدون</a:t>
                      </a:r>
                    </a:p>
                  </a:txBody>
                  <a:tcPr anchor="ctr">
                    <a:solidFill>
                      <a:srgbClr val="FFFFFF"/>
                    </a:solidFill>
                  </a:tcPr>
                </a:tc>
                <a:tc rowSpan="2" hMerge="1">
                  <a:txBody>
                    <a:bodyPr/>
                    <a:lstStyle/>
                    <a:p>
                      <a:endParaRPr/>
                    </a:p>
                  </a:txBody>
                  <a:tcPr anchor="ctr">
                    <a:solidFill>
                      <a:srgbClr val="FFFFFF"/>
                    </a:solidFill>
                  </a:tcPr>
                </a:tc>
                <a:tc gridSpan="2">
                  <a:txBody>
                    <a:bodyPr/>
                    <a:lstStyle/>
                    <a:p>
                      <a:pPr algn="r" rtl="1"/>
                      <a:r>
                        <a:rPr lang="ar-JO" sz="1763">
                          <a:solidFill>
                            <a:srgbClr val="102C50"/>
                          </a:solidFill>
                          <a:latin typeface="IBM Plex Sans Arabic"/>
                          <a:ea typeface="IBM Plex Sans Arabic"/>
                          <a:cs typeface="IBM Plex Sans Arabic"/>
                        </a:rPr>
                        <a:t>الأنشطة الرئيسية</a:t>
                      </a:r>
                    </a:p>
                    <a:p>
                      <a:pPr algn="r" rtl="1"/>
                      <a:r>
                        <a:rPr lang="ar-JO" sz="1763">
                          <a:solidFill>
                            <a:srgbClr val="102C50"/>
                          </a:solidFill>
                          <a:latin typeface="IBM Plex Sans Arabic"/>
                          <a:ea typeface="IBM Plex Sans Arabic"/>
                          <a:cs typeface="IBM Plex Sans Arabic"/>
                        </a:rPr>
                        <a:t>تطوير وتحديث</a:t>
                      </a:r>
                    </a:p>
                    <a:p>
                      <a:pPr algn="r" rtl="1"/>
                      <a:r>
                        <a:rPr lang="ar-JO" sz="1763">
                          <a:solidFill>
                            <a:srgbClr val="102C50"/>
                          </a:solidFill>
                          <a:latin typeface="IBM Plex Sans Arabic"/>
                          <a:ea typeface="IBM Plex Sans Arabic"/>
                          <a:cs typeface="IBM Plex Sans Arabic"/>
                        </a:rPr>
                        <a:t>وتحقق وقياس</a:t>
                      </a:r>
                    </a:p>
                  </a:txBody>
                  <a:tcPr anchor="ctr">
                    <a:solidFill>
                      <a:srgbClr val="FFFFFF"/>
                    </a:solidFill>
                  </a:tcPr>
                </a:tc>
                <a:tc hMerge="1">
                  <a:txBody>
                    <a:bodyPr/>
                    <a:lstStyle/>
                    <a:p>
                      <a:endParaRPr/>
                    </a:p>
                  </a:txBody>
                  <a:tcPr anchor="ctr">
                    <a:solidFill>
                      <a:srgbClr val="FFFFFF"/>
                    </a:solidFill>
                  </a:tcPr>
                </a:tc>
                <a:tc rowSpan="2" gridSpan="2">
                  <a:txBody>
                    <a:bodyPr/>
                    <a:lstStyle/>
                    <a:p>
                      <a:pPr algn="r" rtl="1"/>
                      <a:r>
                        <a:rPr lang="ar-JO" sz="1763" b="1">
                          <a:solidFill>
                            <a:srgbClr val="FFFFFF"/>
                          </a:solidFill>
                          <a:latin typeface="IBM Plex Sans Arabic"/>
                          <a:ea typeface="IBM Plex Sans Arabic"/>
                          <a:cs typeface="IBM Plex Sans Arabic"/>
                        </a:rPr>
                        <a:t>القيمة المقترحة</a:t>
                      </a:r>
                    </a:p>
                    <a:p>
                      <a:endParaRPr lang="ar-JO" sz="1763" b="1">
                        <a:solidFill>
                          <a:srgbClr val="FFFFFF"/>
                        </a:solidFill>
                        <a:latin typeface="IBM Plex Sans Arabic"/>
                        <a:ea typeface="IBM Plex Sans Arabic"/>
                        <a:cs typeface="IBM Plex Sans Arabic"/>
                      </a:endParaRPr>
                    </a:p>
                    <a:p>
                      <a:pPr algn="r" rtl="1"/>
                      <a:r>
                        <a:rPr lang="ar-JO" sz="1763" b="1">
                          <a:solidFill>
                            <a:srgbClr val="FFFFFF"/>
                          </a:solidFill>
                          <a:latin typeface="IBM Plex Sans Arabic"/>
                          <a:ea typeface="IBM Plex Sans Arabic"/>
                          <a:cs typeface="IBM Plex Sans Arabic"/>
                        </a:rPr>
                        <a:t>ميول ومقارنة وكلفة</a:t>
                      </a:r>
                    </a:p>
                    <a:p>
                      <a:pPr algn="r" rtl="1"/>
                      <a:r>
                        <a:rPr lang="ar-JO" sz="1763" b="1">
                          <a:solidFill>
                            <a:srgbClr val="FFFFFF"/>
                          </a:solidFill>
                          <a:latin typeface="IBM Plex Sans Arabic"/>
                          <a:ea typeface="IBM Plex Sans Arabic"/>
                          <a:cs typeface="IBM Plex Sans Arabic"/>
                        </a:rPr>
                        <a:t>في قرار واضح</a:t>
                      </a:r>
                    </a:p>
                    <a:p>
                      <a:pPr algn="r" rtl="1"/>
                      <a:r>
                        <a:rPr lang="ar-JO" sz="1763" b="1">
                          <a:solidFill>
                            <a:srgbClr val="FFFFFF"/>
                          </a:solidFill>
                          <a:latin typeface="IBM Plex Sans Arabic"/>
                          <a:ea typeface="IBM Plex Sans Arabic"/>
                          <a:cs typeface="IBM Plex Sans Arabic"/>
                        </a:rPr>
                        <a:t>بمصادر مؤرخة</a:t>
                      </a:r>
                    </a:p>
                  </a:txBody>
                  <a:tcPr anchor="ctr">
                    <a:solidFill>
                      <a:srgbClr val="013070"/>
                    </a:solidFill>
                  </a:tcPr>
                </a:tc>
                <a:tc rowSpan="2" hMerge="1">
                  <a:txBody>
                    <a:bodyPr/>
                    <a:lstStyle/>
                    <a:p>
                      <a:endParaRPr/>
                    </a:p>
                  </a:txBody>
                  <a:tcPr anchor="ctr">
                    <a:solidFill>
                      <a:srgbClr val="FFFFFF"/>
                    </a:solidFill>
                  </a:tcPr>
                </a:tc>
                <a:tc gridSpan="2">
                  <a:txBody>
                    <a:bodyPr/>
                    <a:lstStyle/>
                    <a:p>
                      <a:pPr algn="r" rtl="1"/>
                      <a:r>
                        <a:rPr lang="ar-JO" sz="1763">
                          <a:solidFill>
                            <a:srgbClr val="102C50"/>
                          </a:solidFill>
                          <a:latin typeface="IBM Plex Sans Arabic"/>
                          <a:ea typeface="IBM Plex Sans Arabic"/>
                          <a:cs typeface="IBM Plex Sans Arabic"/>
                        </a:rPr>
                        <a:t>علاقة المستفيد</a:t>
                      </a:r>
                    </a:p>
                    <a:p>
                      <a:pPr algn="r" rtl="1"/>
                      <a:r>
                        <a:rPr lang="ar-JO" sz="1763">
                          <a:solidFill>
                            <a:srgbClr val="102C50"/>
                          </a:solidFill>
                          <a:latin typeface="IBM Plex Sans Arabic"/>
                          <a:ea typeface="IBM Plex Sans Arabic"/>
                          <a:cs typeface="IBM Plex Sans Arabic"/>
                        </a:rPr>
                        <a:t>تجربة سهلة</a:t>
                      </a:r>
                    </a:p>
                    <a:p>
                      <a:pPr algn="r" rtl="1"/>
                      <a:r>
                        <a:rPr lang="ar-JO" sz="1763">
                          <a:solidFill>
                            <a:srgbClr val="102C50"/>
                          </a:solidFill>
                          <a:latin typeface="IBM Plex Sans Arabic"/>
                          <a:ea typeface="IBM Plex Sans Arabic"/>
                          <a:cs typeface="IBM Plex Sans Arabic"/>
                        </a:rPr>
                        <a:t>ودعم للمرشدين</a:t>
                      </a:r>
                    </a:p>
                  </a:txBody>
                  <a:tcPr anchor="ctr">
                    <a:solidFill>
                      <a:srgbClr val="FFFFFF"/>
                    </a:solidFill>
                  </a:tcPr>
                </a:tc>
                <a:tc hMerge="1">
                  <a:txBody>
                    <a:bodyPr/>
                    <a:lstStyle/>
                    <a:p>
                      <a:endParaRPr/>
                    </a:p>
                  </a:txBody>
                  <a:tcPr anchor="ctr">
                    <a:solidFill>
                      <a:srgbClr val="FFFFFF"/>
                    </a:solidFill>
                  </a:tcPr>
                </a:tc>
                <a:tc rowSpan="2" gridSpan="2">
                  <a:txBody>
                    <a:bodyPr/>
                    <a:lstStyle/>
                    <a:p>
                      <a:pPr algn="r" rtl="1"/>
                      <a:r>
                        <a:rPr lang="ar-JO" sz="1763">
                          <a:solidFill>
                            <a:srgbClr val="102C50"/>
                          </a:solidFill>
                          <a:latin typeface="IBM Plex Sans Arabic"/>
                          <a:ea typeface="IBM Plex Sans Arabic"/>
                          <a:cs typeface="IBM Plex Sans Arabic"/>
                        </a:rPr>
                        <a:t>شرائح العملاء</a:t>
                      </a:r>
                    </a:p>
                    <a:p>
                      <a:endParaRPr lang="ar-JO" sz="1763">
                        <a:solidFill>
                          <a:srgbClr val="102C50"/>
                        </a:solidFill>
                        <a:latin typeface="IBM Plex Sans Arabic"/>
                        <a:ea typeface="IBM Plex Sans Arabic"/>
                        <a:cs typeface="IBM Plex Sans Arabic"/>
                      </a:endParaRPr>
                    </a:p>
                    <a:p>
                      <a:pPr algn="r" rtl="1"/>
                      <a:r>
                        <a:rPr lang="ar-JO" sz="1763">
                          <a:solidFill>
                            <a:srgbClr val="102C50"/>
                          </a:solidFill>
                          <a:latin typeface="IBM Plex Sans Arabic"/>
                          <a:ea typeface="IBM Plex Sans Arabic"/>
                          <a:cs typeface="IBM Plex Sans Arabic"/>
                        </a:rPr>
                        <a:t>طلبة وأهل مستفيدون</a:t>
                      </a:r>
                    </a:p>
                    <a:p>
                      <a:pPr algn="r" rtl="1"/>
                      <a:r>
                        <a:rPr lang="ar-JO" sz="1763">
                          <a:solidFill>
                            <a:srgbClr val="102C50"/>
                          </a:solidFill>
                          <a:latin typeface="IBM Plex Sans Arabic"/>
                          <a:ea typeface="IBM Plex Sans Arabic"/>
                          <a:cs typeface="IBM Plex Sans Arabic"/>
                        </a:rPr>
                        <a:t>ومؤسسات دافعة</a:t>
                      </a:r>
                    </a:p>
                  </a:txBody>
                  <a:tcPr anchor="ctr">
                    <a:solidFill>
                      <a:srgbClr val="FFFFFF"/>
                    </a:solidFill>
                  </a:tcPr>
                </a:tc>
                <a:tc rowSpan="2" hMerge="1">
                  <a:txBody>
                    <a:bodyPr/>
                    <a:lstStyle/>
                    <a:p>
                      <a:endParaRPr/>
                    </a:p>
                  </a:txBody>
                  <a:tcPr anchor="ctr">
                    <a:solidFill>
                      <a:srgbClr val="FFFFFF"/>
                    </a:solidFill>
                  </a:tcPr>
                </a:tc>
                <a:extLst>
                  <a:ext uri="{0D108BD9-81ED-4DB2-BD59-A6C34878D82A}">
                    <a16:rowId xmlns:a16="http://schemas.microsoft.com/office/drawing/2014/main" val="10000"/>
                  </a:ext>
                </a:extLst>
              </a:tr>
              <a:tr h="1447800">
                <a:tc gridSpan="2" vMerge="1">
                  <a:txBody>
                    <a:bodyPr/>
                    <a:lstStyle/>
                    <a:p>
                      <a:endParaRPr/>
                    </a:p>
                  </a:txBody>
                  <a:tcPr anchor="ctr">
                    <a:solidFill>
                      <a:srgbClr val="FFFFFF"/>
                    </a:solidFill>
                  </a:tcPr>
                </a:tc>
                <a:tc hMerge="1" vMerge="1">
                  <a:txBody>
                    <a:bodyPr/>
                    <a:lstStyle/>
                    <a:p>
                      <a:endParaRPr/>
                    </a:p>
                  </a:txBody>
                  <a:tcPr anchor="ctr">
                    <a:solidFill>
                      <a:srgbClr val="FFFFFF"/>
                    </a:solidFill>
                  </a:tcPr>
                </a:tc>
                <a:tc gridSpan="2">
                  <a:txBody>
                    <a:bodyPr/>
                    <a:lstStyle/>
                    <a:p>
                      <a:pPr algn="r" rtl="1"/>
                      <a:r>
                        <a:rPr lang="ar-JO" sz="1763">
                          <a:solidFill>
                            <a:srgbClr val="102C50"/>
                          </a:solidFill>
                          <a:latin typeface="IBM Plex Sans Arabic"/>
                          <a:ea typeface="IBM Plex Sans Arabic"/>
                          <a:cs typeface="IBM Plex Sans Arabic"/>
                        </a:rPr>
                        <a:t>الموارد الرئيسية</a:t>
                      </a:r>
                    </a:p>
                    <a:p>
                      <a:pPr algn="r" rtl="1"/>
                      <a:r>
                        <a:rPr lang="ar-JO" sz="1763">
                          <a:solidFill>
                            <a:srgbClr val="102C50"/>
                          </a:solidFill>
                          <a:latin typeface="IBM Plex Sans Arabic"/>
                          <a:ea typeface="IBM Plex Sans Arabic"/>
                          <a:cs typeface="IBM Plex Sans Arabic"/>
                        </a:rPr>
                        <a:t>الفريق والمنتج</a:t>
                      </a:r>
                    </a:p>
                    <a:p>
                      <a:pPr algn="r" rtl="1"/>
                      <a:r>
                        <a:rPr lang="ar-JO" sz="1763">
                          <a:solidFill>
                            <a:srgbClr val="102C50"/>
                          </a:solidFill>
                          <a:latin typeface="IBM Plex Sans Arabic"/>
                          <a:ea typeface="IBM Plex Sans Arabic"/>
                          <a:cs typeface="IBM Plex Sans Arabic"/>
                        </a:rPr>
                        <a:t>وبيانات عامة</a:t>
                      </a:r>
                    </a:p>
                  </a:txBody>
                  <a:tcPr anchor="ctr">
                    <a:solidFill>
                      <a:srgbClr val="FFFFFF"/>
                    </a:solidFill>
                  </a:tcPr>
                </a:tc>
                <a:tc hMerge="1">
                  <a:txBody>
                    <a:bodyPr/>
                    <a:lstStyle/>
                    <a:p>
                      <a:endParaRPr/>
                    </a:p>
                  </a:txBody>
                  <a:tcPr anchor="ctr">
                    <a:solidFill>
                      <a:srgbClr val="FFFFFF"/>
                    </a:solidFill>
                  </a:tcPr>
                </a:tc>
                <a:tc gridSpan="2" vMerge="1">
                  <a:txBody>
                    <a:bodyPr/>
                    <a:lstStyle/>
                    <a:p>
                      <a:endParaRPr/>
                    </a:p>
                  </a:txBody>
                  <a:tcPr anchor="ctr">
                    <a:solidFill>
                      <a:srgbClr val="FFFFFF"/>
                    </a:solidFill>
                  </a:tcPr>
                </a:tc>
                <a:tc hMerge="1" vMerge="1">
                  <a:txBody>
                    <a:bodyPr/>
                    <a:lstStyle/>
                    <a:p>
                      <a:endParaRPr/>
                    </a:p>
                  </a:txBody>
                  <a:tcPr anchor="ctr">
                    <a:solidFill>
                      <a:srgbClr val="FFFFFF"/>
                    </a:solidFill>
                  </a:tcPr>
                </a:tc>
                <a:tc gridSpan="2">
                  <a:txBody>
                    <a:bodyPr/>
                    <a:lstStyle/>
                    <a:p>
                      <a:pPr algn="r" rtl="1"/>
                      <a:r>
                        <a:rPr lang="ar-JO" sz="1763">
                          <a:solidFill>
                            <a:srgbClr val="102C50"/>
                          </a:solidFill>
                          <a:latin typeface="IBM Plex Sans Arabic"/>
                          <a:ea typeface="IBM Plex Sans Arabic"/>
                          <a:cs typeface="IBM Plex Sans Arabic"/>
                        </a:rPr>
                        <a:t>قنوات الوصول</a:t>
                      </a:r>
                    </a:p>
                    <a:p>
                      <a:pPr algn="r" rtl="1"/>
                      <a:r>
                        <a:rPr lang="ar-JO" sz="1763">
                          <a:solidFill>
                            <a:srgbClr val="102C50"/>
                          </a:solidFill>
                          <a:latin typeface="IBM Plex Sans Arabic"/>
                          <a:ea typeface="IBM Plex Sans Arabic"/>
                          <a:cs typeface="IBM Plex Sans Arabic"/>
                        </a:rPr>
                        <a:t>مدارس وجامعات</a:t>
                      </a:r>
                    </a:p>
                    <a:p>
                      <a:pPr algn="r" rtl="1"/>
                      <a:r>
                        <a:rPr lang="ar-JO" sz="1763">
                          <a:solidFill>
                            <a:srgbClr val="102C50"/>
                          </a:solidFill>
                          <a:latin typeface="IBM Plex Sans Arabic"/>
                          <a:ea typeface="IBM Plex Sans Arabic"/>
                          <a:cs typeface="IBM Plex Sans Arabic"/>
                        </a:rPr>
                        <a:t>وأنشطة إرشاد</a:t>
                      </a:r>
                    </a:p>
                  </a:txBody>
                  <a:tcPr anchor="ctr">
                    <a:solidFill>
                      <a:srgbClr val="FFFFFF"/>
                    </a:solidFill>
                  </a:tcPr>
                </a:tc>
                <a:tc hMerge="1">
                  <a:txBody>
                    <a:bodyPr/>
                    <a:lstStyle/>
                    <a:p>
                      <a:endParaRPr/>
                    </a:p>
                  </a:txBody>
                  <a:tcPr anchor="ctr">
                    <a:solidFill>
                      <a:srgbClr val="FFFFFF"/>
                    </a:solidFill>
                  </a:tcPr>
                </a:tc>
                <a:tc gridSpan="2" vMerge="1">
                  <a:txBody>
                    <a:bodyPr/>
                    <a:lstStyle/>
                    <a:p>
                      <a:endParaRPr/>
                    </a:p>
                  </a:txBody>
                  <a:tcPr anchor="ctr">
                    <a:solidFill>
                      <a:srgbClr val="FFFFFF"/>
                    </a:solidFill>
                  </a:tcPr>
                </a:tc>
                <a:tc hMerge="1" vMerge="1">
                  <a:txBody>
                    <a:bodyPr/>
                    <a:lstStyle/>
                    <a:p>
                      <a:endParaRPr/>
                    </a:p>
                  </a:txBody>
                  <a:tcPr anchor="ctr">
                    <a:solidFill>
                      <a:srgbClr val="FFFFFF"/>
                    </a:solidFill>
                  </a:tcPr>
                </a:tc>
                <a:extLst>
                  <a:ext uri="{0D108BD9-81ED-4DB2-BD59-A6C34878D82A}">
                    <a16:rowId xmlns:a16="http://schemas.microsoft.com/office/drawing/2014/main" val="10001"/>
                  </a:ext>
                </a:extLst>
              </a:tr>
              <a:tr h="1257300">
                <a:tc gridSpan="5">
                  <a:txBody>
                    <a:bodyPr/>
                    <a:lstStyle/>
                    <a:p>
                      <a:pPr algn="r" rtl="1"/>
                      <a:r>
                        <a:rPr lang="ar-JO" sz="1763">
                          <a:solidFill>
                            <a:srgbClr val="102C50"/>
                          </a:solidFill>
                          <a:latin typeface="IBM Plex Sans Arabic"/>
                          <a:ea typeface="IBM Plex Sans Arabic"/>
                          <a:cs typeface="IBM Plex Sans Arabic"/>
                        </a:rPr>
                        <a:t>هيكل التكاليف</a:t>
                      </a:r>
                    </a:p>
                    <a:p>
                      <a:pPr algn="r" rtl="1"/>
                      <a:r>
                        <a:rPr lang="ar-JO" sz="1763">
                          <a:solidFill>
                            <a:srgbClr val="102C50"/>
                          </a:solidFill>
                          <a:latin typeface="IBM Plex Sans Arabic"/>
                          <a:ea typeface="IBM Plex Sans Arabic"/>
                          <a:cs typeface="IBM Plex Sans Arabic"/>
                        </a:rPr>
                        <a:t>تطوير وتشغيل وتحقق من البيانات ودعم</a:t>
                      </a:r>
                    </a:p>
                  </a:txBody>
                  <a:tcPr anchor="ctr">
                    <a:solidFill>
                      <a:srgbClr val="FFFFFF"/>
                    </a:solidFill>
                  </a:tcPr>
                </a:tc>
                <a:tc hMerge="1">
                  <a:txBody>
                    <a:bodyPr/>
                    <a:lstStyle/>
                    <a:p>
                      <a:endParaRPr/>
                    </a:p>
                  </a:txBody>
                  <a:tcPr anchor="ctr">
                    <a:solidFill>
                      <a:srgbClr val="FFFFFF"/>
                    </a:solidFill>
                  </a:tcPr>
                </a:tc>
                <a:tc hMerge="1">
                  <a:txBody>
                    <a:bodyPr/>
                    <a:lstStyle/>
                    <a:p>
                      <a:endParaRPr/>
                    </a:p>
                  </a:txBody>
                  <a:tcPr anchor="ctr">
                    <a:solidFill>
                      <a:srgbClr val="FFFFFF"/>
                    </a:solidFill>
                  </a:tcPr>
                </a:tc>
                <a:tc hMerge="1">
                  <a:txBody>
                    <a:bodyPr/>
                    <a:lstStyle/>
                    <a:p>
                      <a:endParaRPr/>
                    </a:p>
                  </a:txBody>
                  <a:tcPr anchor="ctr">
                    <a:solidFill>
                      <a:srgbClr val="FFFFFF"/>
                    </a:solidFill>
                  </a:tcPr>
                </a:tc>
                <a:tc hMerge="1">
                  <a:txBody>
                    <a:bodyPr/>
                    <a:lstStyle/>
                    <a:p>
                      <a:endParaRPr/>
                    </a:p>
                  </a:txBody>
                  <a:tcPr anchor="ctr">
                    <a:solidFill>
                      <a:srgbClr val="FFFFFF"/>
                    </a:solidFill>
                  </a:tcPr>
                </a:tc>
                <a:tc gridSpan="5">
                  <a:txBody>
                    <a:bodyPr/>
                    <a:lstStyle/>
                    <a:p>
                      <a:pPr algn="r" rtl="1"/>
                      <a:r>
                        <a:rPr lang="ar-JO" sz="1613" b="1">
                          <a:solidFill>
                            <a:srgbClr val="102C50"/>
                          </a:solidFill>
                          <a:latin typeface="IBM Plex Sans Arabic"/>
                          <a:ea typeface="IBM Plex Sans Arabic"/>
                          <a:cs typeface="IBM Plex Sans Arabic"/>
                        </a:rPr>
                        <a:t>الإيراد — فرضية اختبار</a:t>
                      </a:r>
                    </a:p>
                    <a:p>
                      <a:pPr algn="r" rtl="1"/>
                      <a:r>
                        <a:rPr lang="ar-JO" sz="1613" b="1">
                          <a:solidFill>
                            <a:srgbClr val="102C50"/>
                          </a:solidFill>
                          <a:latin typeface="IBM Plex Sans Arabic"/>
                          <a:ea typeface="IBM Plex Sans Arabic"/>
                          <a:cs typeface="IBM Plex Sans Arabic"/>
                        </a:rPr>
                        <a:t>20 د.أ/طالب نشط/سنة</a:t>
                      </a:r>
                    </a:p>
                    <a:p>
                      <a:pPr algn="r" rtl="1"/>
                      <a:r>
                        <a:rPr lang="ar-JO" sz="1613" b="1">
                          <a:solidFill>
                            <a:srgbClr val="102C50"/>
                          </a:solidFill>
                          <a:latin typeface="IBM Plex Sans Arabic"/>
                          <a:ea typeface="IBM Plex Sans Arabic"/>
                          <a:cs typeface="IBM Plex Sans Arabic"/>
                        </a:rPr>
                        <a:t>حد أدنى 2,400 د.أ/مؤسسة</a:t>
                      </a:r>
                    </a:p>
                  </a:txBody>
                  <a:tcPr anchor="ctr">
                    <a:solidFill>
                      <a:srgbClr val="F3EAD7"/>
                    </a:solidFill>
                  </a:tcPr>
                </a:tc>
                <a:tc hMerge="1">
                  <a:txBody>
                    <a:bodyPr/>
                    <a:lstStyle/>
                    <a:p>
                      <a:endParaRPr/>
                    </a:p>
                  </a:txBody>
                  <a:tcPr anchor="ctr">
                    <a:solidFill>
                      <a:srgbClr val="FFFFFF"/>
                    </a:solidFill>
                  </a:tcPr>
                </a:tc>
                <a:tc hMerge="1">
                  <a:txBody>
                    <a:bodyPr/>
                    <a:lstStyle/>
                    <a:p>
                      <a:endParaRPr/>
                    </a:p>
                  </a:txBody>
                  <a:tcPr anchor="ctr">
                    <a:solidFill>
                      <a:srgbClr val="FFFFFF"/>
                    </a:solidFill>
                  </a:tcPr>
                </a:tc>
                <a:tc hMerge="1">
                  <a:txBody>
                    <a:bodyPr/>
                    <a:lstStyle/>
                    <a:p>
                      <a:endParaRPr/>
                    </a:p>
                  </a:txBody>
                  <a:tcPr anchor="ctr">
                    <a:solidFill>
                      <a:srgbClr val="FFFFFF"/>
                    </a:solidFill>
                  </a:tcPr>
                </a:tc>
                <a:tc hMerge="1">
                  <a:txBody>
                    <a:bodyPr/>
                    <a:lstStyle/>
                    <a:p>
                      <a:endParaRPr/>
                    </a:p>
                  </a:txBody>
                  <a:tcPr anchor="ctr">
                    <a:solidFill>
                      <a:srgbClr val="FFFFFF"/>
                    </a:solidFill>
                  </a:tcPr>
                </a:tc>
                <a:extLst>
                  <a:ext uri="{0D108BD9-81ED-4DB2-BD59-A6C34878D82A}">
                    <a16:rowId xmlns:a16="http://schemas.microsoft.com/office/drawing/2014/main" val="10002"/>
                  </a:ext>
                </a:extLst>
              </a:tr>
            </a:tbl>
          </a:graphicData>
        </a:graphic>
      </p:graphicFrame>
      <p:sp>
        <p:nvSpPr>
          <p:cNvPr id="7" name="الطالب مجانًا  •  لا بيع لبيانات الطلبة  •  ل">
            <a:extLst>
              <a:ext uri="{FF2B5EF4-FFF2-40B4-BE49-F238E27FC236}">
                <a16:creationId xmlns:a16="http://schemas.microsoft.com/office/drawing/2014/main" id="{F86A835F-AEF7-4A60-8144-CE09966229AC}"/>
              </a:ext>
            </a:extLst>
          </p:cNvPr>
          <p:cNvSpPr>
            <a:spLocks noGrp="1"/>
          </p:cNvSpPr>
          <p:nvPr/>
        </p:nvSpPr>
        <p:spPr>
          <a:xfrm>
            <a:off x="619125" y="6086475"/>
            <a:ext cx="10906125" cy="419100"/>
          </a:xfrm>
          <a:prstGeom prst="rect">
            <a:avLst/>
          </a:prstGeom>
          <a:noFill/>
          <a:ln w="0">
            <a:noFill/>
          </a:ln>
        </p:spPr>
        <p:txBody>
          <a:bodyPr wrap="square" lIns="0" tIns="0" rIns="0" bIns="0" anchor="ctr">
            <a:noAutofit/>
          </a:bodyPr>
          <a:lstStyle/>
          <a:p>
            <a:pPr algn="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الطالب مجانًا  •  لا بيع لبيانات الطلبة  •  لا دفع لرفع ترتيب تخصص</a:t>
            </a:r>
          </a:p>
        </p:txBody>
      </p:sp>
    </p:spTree>
    <p:extLst>
      <p:ext uri="{BB962C8B-B14F-4D97-AF65-F5344CB8AC3E}">
        <p14:creationId xmlns:p14="http://schemas.microsoft.com/office/powerpoint/2010/main" val="1818212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1125200" y="400050"/>
            <a:ext cx="552450" cy="552450"/>
          </a:xfrm>
          <a:prstGeom prst="rect">
            <a:avLst/>
          </a:prstGeom>
        </p:spPr>
      </p:pic>
      <p:sp>
        <p:nvSpPr>
          <p:cNvPr id="2" name="الميزة التنافسية: ثقة قابلة للتحقق">
            <a:extLst>
              <a:ext uri="{FF2B5EF4-FFF2-40B4-BE49-F238E27FC236}">
                <a16:creationId xmlns:a16="http://schemas.microsoft.com/office/drawing/2014/main" id="{0F9EDD89-DED0-45F8-A6F1-3A30F9348F46}"/>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الميزة التنافسية: ثقة قابلة للتحقق</a:t>
            </a:r>
          </a:p>
        </p:txBody>
      </p:sp>
      <p:sp>
        <p:nvSpPr>
          <p:cNvPr id="3" name="08">
            <a:extLst>
              <a:ext uri="{FF2B5EF4-FFF2-40B4-BE49-F238E27FC236}">
                <a16:creationId xmlns:a16="http://schemas.microsoft.com/office/drawing/2014/main" id="{5ECB4A19-9B1E-4A01-A21F-F578FB7CA0BB}"/>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08</a:t>
            </a:r>
          </a:p>
        </p:txBody>
      </p:sp>
      <p:pic>
        <p:nvPicPr>
          <p:cNvPr id="15" name="Picture 14"/>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6" name="Picture 15"/>
          <p:cNvPicPr>
            <a:picLocks noChangeAspect="1"/>
          </p:cNvPicPr>
          <p:nvPr/>
        </p:nvPicPr>
        <p:blipFill>
          <a:blip r:embed="rId5"/>
          <a:stretch/>
        </p:blipFill>
        <p:spPr>
          <a:xfrm>
            <a:off x="171450" y="1285875"/>
            <a:ext cx="3524250" cy="5286375"/>
          </a:xfrm>
          <a:prstGeom prst="rect">
            <a:avLst/>
          </a:prstGeom>
        </p:spPr>
      </p:pic>
      <p:sp>
        <p:nvSpPr>
          <p:cNvPr id="6" name="607 عرض برنامج">
            <a:extLst>
              <a:ext uri="{FF2B5EF4-FFF2-40B4-BE49-F238E27FC236}">
                <a16:creationId xmlns:a16="http://schemas.microsoft.com/office/drawing/2014/main" id="{F4A48FF7-E2A3-4918-8786-21F555E18ECE}"/>
              </a:ext>
            </a:extLst>
          </p:cNvPr>
          <p:cNvSpPr>
            <a:spLocks noGrp="1"/>
          </p:cNvSpPr>
          <p:nvPr/>
        </p:nvSpPr>
        <p:spPr>
          <a:xfrm>
            <a:off x="4048125" y="1809750"/>
            <a:ext cx="7429500"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607 عرض برنامج</a:t>
            </a:r>
          </a:p>
        </p:txBody>
      </p:sp>
      <p:sp>
        <p:nvSpPr>
          <p:cNvPr id="7" name="دليل القبول الموحد 2026/2027">
            <a:extLst>
              <a:ext uri="{FF2B5EF4-FFF2-40B4-BE49-F238E27FC236}">
                <a16:creationId xmlns:a16="http://schemas.microsoft.com/office/drawing/2014/main" id="{C1E35976-DB73-445E-981F-4CE32E7A335D}"/>
              </a:ext>
            </a:extLst>
          </p:cNvPr>
          <p:cNvSpPr>
            <a:spLocks noGrp="1"/>
          </p:cNvSpPr>
          <p:nvPr/>
        </p:nvSpPr>
        <p:spPr>
          <a:xfrm>
            <a:off x="4048125" y="2295525"/>
            <a:ext cx="7429500"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دليل القبول الموحد 2026/2027</a:t>
            </a:r>
          </a:p>
        </p:txBody>
      </p:sp>
      <p:sp>
        <p:nvSpPr>
          <p:cNvPr id="8" name="2,360 قيمة قبول تاريخية">
            <a:extLst>
              <a:ext uri="{FF2B5EF4-FFF2-40B4-BE49-F238E27FC236}">
                <a16:creationId xmlns:a16="http://schemas.microsoft.com/office/drawing/2014/main" id="{7E65DC58-B1C4-4D08-8EDA-3F0C585FFF14}"/>
              </a:ext>
            </a:extLst>
          </p:cNvPr>
          <p:cNvSpPr>
            <a:spLocks noGrp="1"/>
          </p:cNvSpPr>
          <p:nvPr/>
        </p:nvSpPr>
        <p:spPr>
          <a:xfrm>
            <a:off x="4048125" y="3171825"/>
            <a:ext cx="7429500"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2,360 قيمة قبول تاريخية</a:t>
            </a:r>
          </a:p>
        </p:txBody>
      </p:sp>
      <p:sp>
        <p:nvSpPr>
          <p:cNvPr id="9" name="بعد استبعاد خلايا الصفر غير المنشورة">
            <a:extLst>
              <a:ext uri="{FF2B5EF4-FFF2-40B4-BE49-F238E27FC236}">
                <a16:creationId xmlns:a16="http://schemas.microsoft.com/office/drawing/2014/main" id="{2AC403BA-A7D0-48D7-90C1-276D0490EBEC}"/>
              </a:ext>
            </a:extLst>
          </p:cNvPr>
          <p:cNvSpPr>
            <a:spLocks noGrp="1"/>
          </p:cNvSpPr>
          <p:nvPr/>
        </p:nvSpPr>
        <p:spPr>
          <a:xfrm>
            <a:off x="4048125" y="3657600"/>
            <a:ext cx="7429500"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بعد استبعاد خلايا الصفر غير المنشورة</a:t>
            </a:r>
          </a:p>
        </p:txBody>
      </p:sp>
      <p:sp>
        <p:nvSpPr>
          <p:cNvPr id="10" name="مصدر + فترة + نسخة موثقة">
            <a:extLst>
              <a:ext uri="{FF2B5EF4-FFF2-40B4-BE49-F238E27FC236}">
                <a16:creationId xmlns:a16="http://schemas.microsoft.com/office/drawing/2014/main" id="{ED109BCB-1D4D-43B0-895D-183199FF6782}"/>
              </a:ext>
            </a:extLst>
          </p:cNvPr>
          <p:cNvSpPr>
            <a:spLocks noGrp="1"/>
          </p:cNvSpPr>
          <p:nvPr/>
        </p:nvSpPr>
        <p:spPr>
          <a:xfrm>
            <a:off x="4048125" y="4533900"/>
            <a:ext cx="7429500"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مصدر + فترة + نسخة موثقة</a:t>
            </a:r>
          </a:p>
        </p:txBody>
      </p:sp>
      <p:sp>
        <p:nvSpPr>
          <p:cNvPr id="11" name="تحديث عند الاتصال واستقلال عن الإيراد">
            <a:extLst>
              <a:ext uri="{FF2B5EF4-FFF2-40B4-BE49-F238E27FC236}">
                <a16:creationId xmlns:a16="http://schemas.microsoft.com/office/drawing/2014/main" id="{529A9A03-84B1-4545-80E9-A600F7BE5734}"/>
              </a:ext>
            </a:extLst>
          </p:cNvPr>
          <p:cNvSpPr>
            <a:spLocks noGrp="1"/>
          </p:cNvSpPr>
          <p:nvPr/>
        </p:nvSpPr>
        <p:spPr>
          <a:xfrm>
            <a:off x="4048125" y="5019675"/>
            <a:ext cx="7429500"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تحديث عند الاتصال واستقلال عن الإيراد</a:t>
            </a:r>
          </a:p>
        </p:txBody>
      </p:sp>
    </p:spTree>
    <p:extLst>
      <p:ext uri="{BB962C8B-B14F-4D97-AF65-F5344CB8AC3E}">
        <p14:creationId xmlns:p14="http://schemas.microsoft.com/office/powerpoint/2010/main" val="1707438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إثبات قبل التوسّع">
            <a:extLst>
              <a:ext uri="{FF2B5EF4-FFF2-40B4-BE49-F238E27FC236}">
                <a16:creationId xmlns:a16="http://schemas.microsoft.com/office/drawing/2014/main" id="{678DF6FD-C3E7-4013-8CB1-C3B5709E06AE}"/>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إثبات قبل التوسّع</a:t>
            </a:r>
          </a:p>
        </p:txBody>
      </p:sp>
      <p:sp>
        <p:nvSpPr>
          <p:cNvPr id="3" name="09">
            <a:extLst>
              <a:ext uri="{FF2B5EF4-FFF2-40B4-BE49-F238E27FC236}">
                <a16:creationId xmlns:a16="http://schemas.microsoft.com/office/drawing/2014/main" id="{B5042574-F52A-4898-9672-90DF4227B657}"/>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F2C48F7D-BD5C-4D70-9F1B-E6A007934423}"/>
              </a:ext>
            </a:extLst>
          </p:cNvPr>
          <p:cNvSpPr>
            <a:spLocks noGrp="1"/>
          </p:cNvSpPr>
          <p:nvPr/>
        </p:nvSpPr>
        <p:spPr>
          <a:xfrm>
            <a:off x="8191500"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F70BC564-6FA4-4A2D-8A2B-43E626A0E9CA}"/>
              </a:ext>
            </a:extLst>
          </p:cNvPr>
          <p:cNvSpPr>
            <a:spLocks noGrp="1"/>
          </p:cNvSpPr>
          <p:nvPr/>
        </p:nvSpPr>
        <p:spPr>
          <a:xfrm>
            <a:off x="8191500"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55CBCF6C-5A62-4E70-8B57-0E4873EABD50}"/>
              </a:ext>
            </a:extLst>
          </p:cNvPr>
          <p:cNvSpPr>
            <a:spLocks noGrp="1"/>
          </p:cNvSpPr>
          <p:nvPr/>
        </p:nvSpPr>
        <p:spPr>
          <a:xfrm>
            <a:off x="4429125"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ACE89479-FADF-48D4-A692-2A4F0E24A21B}"/>
              </a:ext>
            </a:extLst>
          </p:cNvPr>
          <p:cNvSpPr>
            <a:spLocks noGrp="1"/>
          </p:cNvSpPr>
          <p:nvPr/>
        </p:nvSpPr>
        <p:spPr>
          <a:xfrm>
            <a:off x="4429125"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3BA0FAAD-E662-40E4-A724-8DC7E3DB986C}"/>
              </a:ext>
            </a:extLst>
          </p:cNvPr>
          <p:cNvSpPr>
            <a:spLocks noGrp="1"/>
          </p:cNvSpPr>
          <p:nvPr/>
        </p:nvSpPr>
        <p:spPr>
          <a:xfrm>
            <a:off x="666750"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1B451CFD-C465-4141-A1EE-57C53E76BE8A}"/>
              </a:ext>
            </a:extLst>
          </p:cNvPr>
          <p:cNvSpPr>
            <a:spLocks noGrp="1"/>
          </p:cNvSpPr>
          <p:nvPr/>
        </p:nvSpPr>
        <p:spPr>
          <a:xfrm>
            <a:off x="666750"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أسابيع</a:t>
            </a:r>
          </a:p>
        </p:txBody>
      </p:sp>
      <p:sp>
        <p:nvSpPr>
          <p:cNvPr id="10" name="تجربة مقترحة">
            <a:extLst>
              <a:ext uri="{FF2B5EF4-FFF2-40B4-BE49-F238E27FC236}">
                <a16:creationId xmlns:a16="http://schemas.microsoft.com/office/drawing/2014/main" id="{14DD9B78-045C-441A-84AB-CCE01C314494}"/>
              </a:ext>
            </a:extLst>
          </p:cNvPr>
          <p:cNvSpPr>
            <a:spLocks noGrp="1"/>
          </p:cNvSpPr>
          <p:nvPr/>
        </p:nvSpPr>
        <p:spPr>
          <a:xfrm>
            <a:off x="571500" y="3686175"/>
            <a:ext cx="10906125" cy="438150"/>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تجربة مقترحة</a:t>
            </a:r>
          </a:p>
        </p:txBody>
      </p:sp>
      <p:sp>
        <p:nvSpPr>
          <p:cNvPr id="11" name="Rectangle: Rounded Corners 10">
            <a:extLst>
              <a:ext uri="{FF2B5EF4-FFF2-40B4-BE49-F238E27FC236}">
                <a16:creationId xmlns:a16="http://schemas.microsoft.com/office/drawing/2014/main" id="{5F1A8BCD-4384-4993-B94B-81FF2B59F3F0}"/>
              </a:ext>
            </a:extLst>
          </p:cNvPr>
          <p:cNvSpPr>
            <a:spLocks noGrp="1"/>
          </p:cNvSpPr>
          <p:nvPr/>
        </p:nvSpPr>
        <p:spPr>
          <a:xfrm>
            <a:off x="7953375" y="4410075"/>
            <a:ext cx="3238500" cy="1200150"/>
          </a:xfrm>
          <a:prstGeom prst="roundRect">
            <a:avLst>
              <a:gd name="adj" fmla="val 6349"/>
            </a:avLst>
          </a:prstGeom>
          <a:solidFill>
            <a:srgbClr val="F8FAFC"/>
          </a:solidFill>
          <a:ln w="12383">
            <a:solidFill>
              <a:srgbClr val="D4DEE9"/>
            </a:solidFill>
          </a:ln>
        </p:spPr>
      </p:sp>
      <p:sp>
        <p:nvSpPr>
          <p:cNvPr id="12" name="70%">
            <a:extLst>
              <a:ext uri="{FF2B5EF4-FFF2-40B4-BE49-F238E27FC236}">
                <a16:creationId xmlns:a16="http://schemas.microsoft.com/office/drawing/2014/main" id="{B31C85CA-8787-4988-A071-A68553AB063B}"/>
              </a:ext>
            </a:extLst>
          </p:cNvPr>
          <p:cNvSpPr>
            <a:spLocks noGrp="1"/>
          </p:cNvSpPr>
          <p:nvPr/>
        </p:nvSpPr>
        <p:spPr>
          <a:xfrm>
            <a:off x="80962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70%</a:t>
            </a:r>
          </a:p>
        </p:txBody>
      </p:sp>
      <p:sp>
        <p:nvSpPr>
          <p:cNvPr id="13" name="إكمال مقارنة 3 برامج">
            <a:extLst>
              <a:ext uri="{FF2B5EF4-FFF2-40B4-BE49-F238E27FC236}">
                <a16:creationId xmlns:a16="http://schemas.microsoft.com/office/drawing/2014/main" id="{1C2565E8-157C-4682-B20F-C17D4EF702D5}"/>
              </a:ext>
            </a:extLst>
          </p:cNvPr>
          <p:cNvSpPr>
            <a:spLocks noGrp="1"/>
          </p:cNvSpPr>
          <p:nvPr/>
        </p:nvSpPr>
        <p:spPr>
          <a:xfrm>
            <a:off x="81248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إكمال مقارنة 3 برامج</a:t>
            </a:r>
          </a:p>
        </p:txBody>
      </p:sp>
      <p:sp>
        <p:nvSpPr>
          <p:cNvPr id="14" name="Rectangle: Rounded Corners 13">
            <a:extLst>
              <a:ext uri="{FF2B5EF4-FFF2-40B4-BE49-F238E27FC236}">
                <a16:creationId xmlns:a16="http://schemas.microsoft.com/office/drawing/2014/main" id="{7A402871-E463-44C0-9A0E-5949D7DF5274}"/>
              </a:ext>
            </a:extLst>
          </p:cNvPr>
          <p:cNvSpPr>
            <a:spLocks noGrp="1"/>
          </p:cNvSpPr>
          <p:nvPr/>
        </p:nvSpPr>
        <p:spPr>
          <a:xfrm>
            <a:off x="4333875" y="4410075"/>
            <a:ext cx="3238500" cy="1200150"/>
          </a:xfrm>
          <a:prstGeom prst="roundRect">
            <a:avLst>
              <a:gd name="adj" fmla="val 6349"/>
            </a:avLst>
          </a:prstGeom>
          <a:solidFill>
            <a:srgbClr val="F8FAFC"/>
          </a:solidFill>
          <a:ln w="12383">
            <a:solidFill>
              <a:srgbClr val="D4DEE9"/>
            </a:solidFill>
          </a:ln>
        </p:spPr>
      </p:sp>
      <p:sp>
        <p:nvSpPr>
          <p:cNvPr id="15" name="4 من 5">
            <a:extLst>
              <a:ext uri="{FF2B5EF4-FFF2-40B4-BE49-F238E27FC236}">
                <a16:creationId xmlns:a16="http://schemas.microsoft.com/office/drawing/2014/main" id="{53F2CE00-6C94-418A-8CC0-06553C7DA0A3}"/>
              </a:ext>
            </a:extLst>
          </p:cNvPr>
          <p:cNvSpPr>
            <a:spLocks noGrp="1"/>
          </p:cNvSpPr>
          <p:nvPr/>
        </p:nvSpPr>
        <p:spPr>
          <a:xfrm>
            <a:off x="44767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4 من 5</a:t>
            </a:r>
          </a:p>
        </p:txBody>
      </p:sp>
      <p:sp>
        <p:nvSpPr>
          <p:cNvPr id="16" name="وضوح القرار">
            <a:extLst>
              <a:ext uri="{FF2B5EF4-FFF2-40B4-BE49-F238E27FC236}">
                <a16:creationId xmlns:a16="http://schemas.microsoft.com/office/drawing/2014/main" id="{79991547-B4F3-4324-B73E-D2405362E3BC}"/>
              </a:ext>
            </a:extLst>
          </p:cNvPr>
          <p:cNvSpPr>
            <a:spLocks noGrp="1"/>
          </p:cNvSpPr>
          <p:nvPr/>
        </p:nvSpPr>
        <p:spPr>
          <a:xfrm>
            <a:off x="45053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وضوح القرار</a:t>
            </a:r>
          </a:p>
        </p:txBody>
      </p:sp>
      <p:sp>
        <p:nvSpPr>
          <p:cNvPr id="17" name="Rectangle: Rounded Corners 16">
            <a:extLst>
              <a:ext uri="{FF2B5EF4-FFF2-40B4-BE49-F238E27FC236}">
                <a16:creationId xmlns:a16="http://schemas.microsoft.com/office/drawing/2014/main" id="{09559261-D51C-4C17-A740-12E7DE7A02B9}"/>
              </a:ext>
            </a:extLst>
          </p:cNvPr>
          <p:cNvSpPr>
            <a:spLocks noGrp="1"/>
          </p:cNvSpPr>
          <p:nvPr/>
        </p:nvSpPr>
        <p:spPr>
          <a:xfrm>
            <a:off x="714375" y="4410075"/>
            <a:ext cx="3238500" cy="1200150"/>
          </a:xfrm>
          <a:prstGeom prst="roundRect">
            <a:avLst>
              <a:gd name="adj" fmla="val 6349"/>
            </a:avLst>
          </a:prstGeom>
          <a:solidFill>
            <a:srgbClr val="F8FAFC"/>
          </a:solidFill>
          <a:ln w="12383">
            <a:solidFill>
              <a:srgbClr val="D4DEE9"/>
            </a:solidFill>
          </a:ln>
        </p:spPr>
      </p:sp>
      <p:sp>
        <p:nvSpPr>
          <p:cNvPr id="18" name="2 من 5">
            <a:extLst>
              <a:ext uri="{FF2B5EF4-FFF2-40B4-BE49-F238E27FC236}">
                <a16:creationId xmlns:a16="http://schemas.microsoft.com/office/drawing/2014/main" id="{7230FB66-750C-4168-A59B-2265A5D8F322}"/>
              </a:ext>
            </a:extLst>
          </p:cNvPr>
          <p:cNvSpPr>
            <a:spLocks noGrp="1"/>
          </p:cNvSpPr>
          <p:nvPr/>
        </p:nvSpPr>
        <p:spPr>
          <a:xfrm>
            <a:off x="8572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2 من 5</a:t>
            </a:r>
          </a:p>
        </p:txBody>
      </p:sp>
      <p:sp>
        <p:nvSpPr>
          <p:cNvPr id="19" name="قبول تجربة مدفوعة">
            <a:extLst>
              <a:ext uri="{FF2B5EF4-FFF2-40B4-BE49-F238E27FC236}">
                <a16:creationId xmlns:a16="http://schemas.microsoft.com/office/drawing/2014/main" id="{40C3E8AF-D644-4714-9F7B-6780D818E097}"/>
              </a:ext>
            </a:extLst>
          </p:cNvPr>
          <p:cNvSpPr>
            <a:spLocks noGrp="1"/>
          </p:cNvSpPr>
          <p:nvPr/>
        </p:nvSpPr>
        <p:spPr>
          <a:xfrm>
            <a:off x="8858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قبول تجربة مدفوعة</a:t>
            </a:r>
          </a:p>
        </p:txBody>
      </p:sp>
      <p:sp>
        <p:nvSpPr>
          <p:cNvPr id="20" name="أهداف قرار معلنة — وليست نتائج محققة">
            <a:extLst>
              <a:ext uri="{FF2B5EF4-FFF2-40B4-BE49-F238E27FC236}">
                <a16:creationId xmlns:a16="http://schemas.microsoft.com/office/drawing/2014/main" id="{91911ADF-7FFC-4841-98C6-55B71814EB7F}"/>
              </a:ext>
            </a:extLst>
          </p:cNvPr>
          <p:cNvSpPr>
            <a:spLocks noGrp="1"/>
          </p:cNvSpPr>
          <p:nvPr/>
        </p:nvSpPr>
        <p:spPr>
          <a:xfrm>
            <a:off x="1476375" y="5848350"/>
            <a:ext cx="10001250" cy="333375"/>
          </a:xfrm>
          <a:prstGeom prst="rect">
            <a:avLst/>
          </a:prstGeom>
          <a:noFill/>
          <a:ln w="0">
            <a:noFill/>
          </a:ln>
        </p:spPr>
        <p:txBody>
          <a:bodyPr wrap="square" lIns="0" tIns="0" rIns="0" bIns="0" anchor="ctr">
            <a:noAutofit/>
          </a:bodyPr>
          <a:lstStyle/>
          <a:p>
            <a:pPr algn="ctr">
              <a:defRPr lang="ar-JO" sz="1500" b="0">
                <a:solidFill>
                  <a:srgbClr val="53657C"/>
                </a:solidFill>
                <a:latin typeface="IBM Plex Sans Arabic"/>
                <a:ea typeface="IBM Plex Sans Arabic"/>
                <a:cs typeface="IBM Plex Sans Arabic"/>
              </a:defRPr>
            </a:pPr>
            <a:r>
              <a:rPr lang="ar-JO" sz="1500" b="0">
                <a:solidFill>
                  <a:srgbClr val="53657C"/>
                </a:solidFill>
                <a:latin typeface="IBM Plex Sans Arabic"/>
                <a:ea typeface="IBM Plex Sans Arabic"/>
                <a:cs typeface="IBM Plex Sans Arabic"/>
              </a:rPr>
              <a:t>أهداف قرار معلنة — وليست نتائج محققة</a:t>
            </a:r>
          </a:p>
        </p:txBody>
      </p:sp>
    </p:spTree>
    <p:extLst>
      <p:ext uri="{BB962C8B-B14F-4D97-AF65-F5344CB8AC3E}">
        <p14:creationId xmlns:p14="http://schemas.microsoft.com/office/powerpoint/2010/main" val="1634040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1125200" y="400050"/>
            <a:ext cx="552450" cy="552450"/>
          </a:xfrm>
          <a:prstGeom prst="rect">
            <a:avLst/>
          </a:prstGeom>
        </p:spPr>
      </p:pic>
      <p:sp>
        <p:nvSpPr>
          <p:cNvPr id="2" name="اقتصاديات وحدة قابلة للاختبار">
            <a:extLst>
              <a:ext uri="{FF2B5EF4-FFF2-40B4-BE49-F238E27FC236}">
                <a16:creationId xmlns:a16="http://schemas.microsoft.com/office/drawing/2014/main" id="{06B5DBFA-0C21-41D0-A40B-457DC4EC7656}"/>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اقتصاديات وحدة قابلة للاختبار</a:t>
            </a:r>
          </a:p>
        </p:txBody>
      </p:sp>
      <p:sp>
        <p:nvSpPr>
          <p:cNvPr id="3" name="10">
            <a:extLst>
              <a:ext uri="{FF2B5EF4-FFF2-40B4-BE49-F238E27FC236}">
                <a16:creationId xmlns:a16="http://schemas.microsoft.com/office/drawing/2014/main" id="{19F8E8DD-BFA2-474D-A9B6-EF927EDF2D89}"/>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ADD456D5-6B84-4122-8020-EECDD81E3AA5}"/>
              </a:ext>
            </a:extLst>
          </p:cNvPr>
          <p:cNvSpPr>
            <a:spLocks noGrp="1"/>
          </p:cNvSpPr>
          <p:nvPr/>
        </p:nvSpPr>
        <p:spPr>
          <a:xfrm>
            <a:off x="619125" y="1771650"/>
            <a:ext cx="2524125" cy="1362075"/>
          </a:xfrm>
          <a:prstGeom prst="roundRect">
            <a:avLst>
              <a:gd name="adj" fmla="val 5594"/>
            </a:avLst>
          </a:prstGeom>
          <a:solidFill>
            <a:srgbClr val="FFFFFF"/>
          </a:solidFill>
          <a:ln w="12383">
            <a:solidFill>
              <a:srgbClr val="58749B"/>
            </a:solidFill>
          </a:ln>
        </p:spPr>
      </p:sp>
      <p:sp>
        <p:nvSpPr>
          <p:cNvPr id="5" name="80%">
            <a:extLst>
              <a:ext uri="{FF2B5EF4-FFF2-40B4-BE49-F238E27FC236}">
                <a16:creationId xmlns:a16="http://schemas.microsoft.com/office/drawing/2014/main" id="{857B6FA2-A978-4847-BA26-0FA4D3CB0412}"/>
              </a:ext>
            </a:extLst>
          </p:cNvPr>
          <p:cNvSpPr>
            <a:spLocks noGrp="1"/>
          </p:cNvSpPr>
          <p:nvPr/>
        </p:nvSpPr>
        <p:spPr>
          <a:xfrm>
            <a:off x="7620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80%</a:t>
            </a:r>
          </a:p>
        </p:txBody>
      </p:sp>
      <p:sp>
        <p:nvSpPr>
          <p:cNvPr id="6" name="هامش مساهمة">
            <a:extLst>
              <a:ext uri="{FF2B5EF4-FFF2-40B4-BE49-F238E27FC236}">
                <a16:creationId xmlns:a16="http://schemas.microsoft.com/office/drawing/2014/main" id="{F15D2EE8-82F0-4A9A-A90A-0875F72FFB4F}"/>
              </a:ext>
            </a:extLst>
          </p:cNvPr>
          <p:cNvSpPr>
            <a:spLocks noGrp="1"/>
          </p:cNvSpPr>
          <p:nvPr/>
        </p:nvSpPr>
        <p:spPr>
          <a:xfrm>
            <a:off x="7620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هامش مساهمة</a:t>
            </a:r>
          </a:p>
        </p:txBody>
      </p:sp>
      <p:sp>
        <p:nvSpPr>
          <p:cNvPr id="7" name="Rectangle: Rounded Corners 6">
            <a:extLst>
              <a:ext uri="{FF2B5EF4-FFF2-40B4-BE49-F238E27FC236}">
                <a16:creationId xmlns:a16="http://schemas.microsoft.com/office/drawing/2014/main" id="{8362B693-3682-4AC8-A6E1-FD8483CC7575}"/>
              </a:ext>
            </a:extLst>
          </p:cNvPr>
          <p:cNvSpPr>
            <a:spLocks noGrp="1"/>
          </p:cNvSpPr>
          <p:nvPr/>
        </p:nvSpPr>
        <p:spPr>
          <a:xfrm>
            <a:off x="3476625" y="1771650"/>
            <a:ext cx="2524125" cy="1362075"/>
          </a:xfrm>
          <a:prstGeom prst="roundRect">
            <a:avLst>
              <a:gd name="adj" fmla="val 5594"/>
            </a:avLst>
          </a:prstGeom>
          <a:solidFill>
            <a:srgbClr val="FFFFFF"/>
          </a:solidFill>
          <a:ln w="12383">
            <a:solidFill>
              <a:srgbClr val="58749B"/>
            </a:solidFill>
          </a:ln>
        </p:spPr>
      </p:sp>
      <p:sp>
        <p:nvSpPr>
          <p:cNvPr id="8" name="16 د.أ">
            <a:extLst>
              <a:ext uri="{FF2B5EF4-FFF2-40B4-BE49-F238E27FC236}">
                <a16:creationId xmlns:a16="http://schemas.microsoft.com/office/drawing/2014/main" id="{6513A74C-A6B3-4BEA-B210-CD8395C99D3B}"/>
              </a:ext>
            </a:extLst>
          </p:cNvPr>
          <p:cNvSpPr>
            <a:spLocks noGrp="1"/>
          </p:cNvSpPr>
          <p:nvPr/>
        </p:nvSpPr>
        <p:spPr>
          <a:xfrm>
            <a:off x="36195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16 د.أ</a:t>
            </a:r>
          </a:p>
        </p:txBody>
      </p:sp>
      <p:sp>
        <p:nvSpPr>
          <p:cNvPr id="9" name="هامش / طالب">
            <a:extLst>
              <a:ext uri="{FF2B5EF4-FFF2-40B4-BE49-F238E27FC236}">
                <a16:creationId xmlns:a16="http://schemas.microsoft.com/office/drawing/2014/main" id="{8735214A-1E0B-42D3-8A18-C2F9A7928AF5}"/>
              </a:ext>
            </a:extLst>
          </p:cNvPr>
          <p:cNvSpPr>
            <a:spLocks noGrp="1"/>
          </p:cNvSpPr>
          <p:nvPr/>
        </p:nvSpPr>
        <p:spPr>
          <a:xfrm>
            <a:off x="36195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هامش / طالب</a:t>
            </a:r>
          </a:p>
        </p:txBody>
      </p:sp>
      <p:sp>
        <p:nvSpPr>
          <p:cNvPr id="10" name="Rectangle: Rounded Corners 9">
            <a:extLst>
              <a:ext uri="{FF2B5EF4-FFF2-40B4-BE49-F238E27FC236}">
                <a16:creationId xmlns:a16="http://schemas.microsoft.com/office/drawing/2014/main" id="{3B0C66A5-10DF-4619-92C4-73E9D901ED0E}"/>
              </a:ext>
            </a:extLst>
          </p:cNvPr>
          <p:cNvSpPr>
            <a:spLocks noGrp="1"/>
          </p:cNvSpPr>
          <p:nvPr/>
        </p:nvSpPr>
        <p:spPr>
          <a:xfrm>
            <a:off x="6334125" y="1771650"/>
            <a:ext cx="2524125" cy="1362075"/>
          </a:xfrm>
          <a:prstGeom prst="roundRect">
            <a:avLst>
              <a:gd name="adj" fmla="val 5594"/>
            </a:avLst>
          </a:prstGeom>
          <a:solidFill>
            <a:srgbClr val="FFFFFF"/>
          </a:solidFill>
          <a:ln w="12383">
            <a:solidFill>
              <a:srgbClr val="58749B"/>
            </a:solidFill>
          </a:ln>
        </p:spPr>
      </p:sp>
      <p:sp>
        <p:nvSpPr>
          <p:cNvPr id="11" name="4 د.أ">
            <a:extLst>
              <a:ext uri="{FF2B5EF4-FFF2-40B4-BE49-F238E27FC236}">
                <a16:creationId xmlns:a16="http://schemas.microsoft.com/office/drawing/2014/main" id="{165F24FB-44E8-4C5F-BA14-62916BBF947D}"/>
              </a:ext>
            </a:extLst>
          </p:cNvPr>
          <p:cNvSpPr>
            <a:spLocks noGrp="1"/>
          </p:cNvSpPr>
          <p:nvPr/>
        </p:nvSpPr>
        <p:spPr>
          <a:xfrm>
            <a:off x="64770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4 د.أ</a:t>
            </a:r>
          </a:p>
        </p:txBody>
      </p:sp>
      <p:sp>
        <p:nvSpPr>
          <p:cNvPr id="12" name="كلفة متغيرة">
            <a:extLst>
              <a:ext uri="{FF2B5EF4-FFF2-40B4-BE49-F238E27FC236}">
                <a16:creationId xmlns:a16="http://schemas.microsoft.com/office/drawing/2014/main" id="{B544EE13-F603-4A7E-A529-104BC08F2ADB}"/>
              </a:ext>
            </a:extLst>
          </p:cNvPr>
          <p:cNvSpPr>
            <a:spLocks noGrp="1"/>
          </p:cNvSpPr>
          <p:nvPr/>
        </p:nvSpPr>
        <p:spPr>
          <a:xfrm>
            <a:off x="64770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كلفة متغيرة</a:t>
            </a:r>
          </a:p>
        </p:txBody>
      </p:sp>
      <p:sp>
        <p:nvSpPr>
          <p:cNvPr id="13" name="Rectangle: Rounded Corners 12">
            <a:extLst>
              <a:ext uri="{FF2B5EF4-FFF2-40B4-BE49-F238E27FC236}">
                <a16:creationId xmlns:a16="http://schemas.microsoft.com/office/drawing/2014/main" id="{CFC47F2A-E187-4B30-B447-469E96E6566D}"/>
              </a:ext>
            </a:extLst>
          </p:cNvPr>
          <p:cNvSpPr>
            <a:spLocks noGrp="1"/>
          </p:cNvSpPr>
          <p:nvPr/>
        </p:nvSpPr>
        <p:spPr>
          <a:xfrm>
            <a:off x="9191625" y="1771650"/>
            <a:ext cx="2524125" cy="1362075"/>
          </a:xfrm>
          <a:prstGeom prst="roundRect">
            <a:avLst>
              <a:gd name="adj" fmla="val 5594"/>
            </a:avLst>
          </a:prstGeom>
          <a:solidFill>
            <a:srgbClr val="FFFFFF"/>
          </a:solidFill>
          <a:ln w="12383">
            <a:solidFill>
              <a:srgbClr val="58749B"/>
            </a:solidFill>
          </a:ln>
        </p:spPr>
      </p:sp>
      <p:sp>
        <p:nvSpPr>
          <p:cNvPr id="14" name="20 د.أ">
            <a:extLst>
              <a:ext uri="{FF2B5EF4-FFF2-40B4-BE49-F238E27FC236}">
                <a16:creationId xmlns:a16="http://schemas.microsoft.com/office/drawing/2014/main" id="{6EC70381-3116-46C9-9C06-A2D2CA0EBCFD}"/>
              </a:ext>
            </a:extLst>
          </p:cNvPr>
          <p:cNvSpPr>
            <a:spLocks noGrp="1"/>
          </p:cNvSpPr>
          <p:nvPr/>
        </p:nvSpPr>
        <p:spPr>
          <a:xfrm>
            <a:off x="93345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20 د.أ</a:t>
            </a:r>
          </a:p>
        </p:txBody>
      </p:sp>
      <p:sp>
        <p:nvSpPr>
          <p:cNvPr id="15" name="إيراد / طالب">
            <a:extLst>
              <a:ext uri="{FF2B5EF4-FFF2-40B4-BE49-F238E27FC236}">
                <a16:creationId xmlns:a16="http://schemas.microsoft.com/office/drawing/2014/main" id="{CA845A7E-D0AD-4871-B5D2-5C8E8D51A221}"/>
              </a:ext>
            </a:extLst>
          </p:cNvPr>
          <p:cNvSpPr>
            <a:spLocks noGrp="1"/>
          </p:cNvSpPr>
          <p:nvPr/>
        </p:nvSpPr>
        <p:spPr>
          <a:xfrm>
            <a:off x="93345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إيراد / طالب</a:t>
            </a:r>
          </a:p>
        </p:txBody>
      </p:sp>
      <p:sp>
        <p:nvSpPr>
          <p:cNvPr id="16" name="1,950">
            <a:extLst>
              <a:ext uri="{FF2B5EF4-FFF2-40B4-BE49-F238E27FC236}">
                <a16:creationId xmlns:a16="http://schemas.microsoft.com/office/drawing/2014/main" id="{6E3F47E3-2B5F-45A6-BB4B-78140420875B}"/>
              </a:ext>
            </a:extLst>
          </p:cNvPr>
          <p:cNvSpPr>
            <a:spLocks noGrp="1"/>
          </p:cNvSpPr>
          <p:nvPr/>
        </p:nvSpPr>
        <p:spPr>
          <a:xfrm>
            <a:off x="571500" y="3514725"/>
            <a:ext cx="11049000" cy="933450"/>
          </a:xfrm>
          <a:prstGeom prst="rect">
            <a:avLst/>
          </a:prstGeom>
          <a:noFill/>
          <a:ln w="0">
            <a:noFill/>
          </a:ln>
        </p:spPr>
        <p:txBody>
          <a:bodyPr wrap="square" lIns="0" tIns="0" rIns="0" bIns="0" anchor="ctr">
            <a:noAutofit/>
          </a:bodyPr>
          <a:lstStyle/>
          <a:p>
            <a:pPr algn="ctr">
              <a:defRPr lang="ar-JO" sz="6150" b="1">
                <a:solidFill>
                  <a:srgbClr val="FFFFFF"/>
                </a:solidFill>
                <a:latin typeface="IBM Plex Sans Arabic"/>
                <a:ea typeface="IBM Plex Sans Arabic"/>
                <a:cs typeface="IBM Plex Sans Arabic"/>
              </a:defRPr>
            </a:pPr>
            <a:r>
              <a:rPr lang="ar-JO" sz="6150" b="1">
                <a:solidFill>
                  <a:srgbClr val="FFFFFF"/>
                </a:solidFill>
                <a:latin typeface="IBM Plex Sans Arabic"/>
                <a:ea typeface="IBM Plex Sans Arabic"/>
                <a:cs typeface="IBM Plex Sans Arabic"/>
              </a:rPr>
              <a:t>1,950</a:t>
            </a:r>
          </a:p>
        </p:txBody>
      </p:sp>
      <p:sp>
        <p:nvSpPr>
          <p:cNvPr id="17" name="طالبًا مدفوعًا للوصول إلى نقطة التعادل">
            <a:extLst>
              <a:ext uri="{FF2B5EF4-FFF2-40B4-BE49-F238E27FC236}">
                <a16:creationId xmlns:a16="http://schemas.microsoft.com/office/drawing/2014/main" id="{9377296E-0DBA-4A71-9D9F-CEE0E8658B5C}"/>
              </a:ext>
            </a:extLst>
          </p:cNvPr>
          <p:cNvSpPr>
            <a:spLocks noGrp="1"/>
          </p:cNvSpPr>
          <p:nvPr/>
        </p:nvSpPr>
        <p:spPr>
          <a:xfrm>
            <a:off x="1143000" y="4457700"/>
            <a:ext cx="9906000" cy="514350"/>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طالبًا مدفوعًا للوصول إلى نقطة التعادل</a:t>
            </a:r>
          </a:p>
        </p:txBody>
      </p:sp>
      <p:sp>
        <p:nvSpPr>
          <p:cNvPr id="18" name="≈ 13 مؤسسة × 150 طالبًا نشطًا">
            <a:extLst>
              <a:ext uri="{FF2B5EF4-FFF2-40B4-BE49-F238E27FC236}">
                <a16:creationId xmlns:a16="http://schemas.microsoft.com/office/drawing/2014/main" id="{26F15382-53CF-41FB-B449-C44434EED303}"/>
              </a:ext>
            </a:extLst>
          </p:cNvPr>
          <p:cNvSpPr>
            <a:spLocks noGrp="1"/>
          </p:cNvSpPr>
          <p:nvPr/>
        </p:nvSpPr>
        <p:spPr>
          <a:xfrm>
            <a:off x="1428750" y="5048250"/>
            <a:ext cx="9334500" cy="466725"/>
          </a:xfrm>
          <a:prstGeom prst="rect">
            <a:avLst/>
          </a:prstGeom>
          <a:noFill/>
          <a:ln w="0">
            <a:noFill/>
          </a:ln>
        </p:spPr>
        <p:txBody>
          <a:bodyPr wrap="square" lIns="0" tIns="0" rIns="0" bIns="0" anchor="ctr">
            <a:noAutofit/>
          </a:bodyPr>
          <a:lstStyle/>
          <a:p>
            <a:pPr algn="ctr">
              <a:defRPr lang="ar-JO" sz="2175" b="1">
                <a:solidFill>
                  <a:srgbClr val="FFFFFF"/>
                </a:solidFill>
                <a:latin typeface="IBM Plex Sans Arabic"/>
                <a:ea typeface="IBM Plex Sans Arabic"/>
                <a:cs typeface="IBM Plex Sans Arabic"/>
              </a:defRPr>
            </a:pPr>
            <a:r>
              <a:rPr lang="ar-JO" sz="2175" b="1">
                <a:solidFill>
                  <a:srgbClr val="FFFFFF"/>
                </a:solidFill>
                <a:latin typeface="IBM Plex Sans Arabic"/>
                <a:ea typeface="IBM Plex Sans Arabic"/>
                <a:cs typeface="IBM Plex Sans Arabic"/>
              </a:rPr>
              <a:t>≈ 13 مؤسسة × 150 طالبًا نشطًا</a:t>
            </a:r>
          </a:p>
        </p:txBody>
      </p:sp>
      <p:sp>
        <p:nvSpPr>
          <p:cNvPr id="19" name="افتراضات الاختبار: 30 ألف د.أ ثابتة + 300 طال">
            <a:extLst>
              <a:ext uri="{FF2B5EF4-FFF2-40B4-BE49-F238E27FC236}">
                <a16:creationId xmlns:a16="http://schemas.microsoft.com/office/drawing/2014/main" id="{286BDF0E-AF08-4AC6-8B0C-FA48B03E3CDF}"/>
              </a:ext>
            </a:extLst>
          </p:cNvPr>
          <p:cNvSpPr>
            <a:spLocks noGrp="1"/>
          </p:cNvSpPr>
          <p:nvPr/>
        </p:nvSpPr>
        <p:spPr>
          <a:xfrm>
            <a:off x="809625" y="5972175"/>
            <a:ext cx="10572750" cy="361950"/>
          </a:xfrm>
          <a:prstGeom prst="rect">
            <a:avLst/>
          </a:prstGeom>
          <a:noFill/>
          <a:ln w="0">
            <a:noFill/>
          </a:ln>
        </p:spPr>
        <p:txBody>
          <a:bodyPr wrap="square" lIns="0" tIns="0" rIns="0" bIns="0" anchor="ctr">
            <a:noAutofit/>
          </a:bodyPr>
          <a:lstStyle/>
          <a:p>
            <a:pPr algn="ctr">
              <a:defRPr lang="ar-JO" sz="1500" b="0">
                <a:solidFill>
                  <a:srgbClr val="D1DEED"/>
                </a:solidFill>
                <a:latin typeface="IBM Plex Sans Arabic"/>
                <a:ea typeface="IBM Plex Sans Arabic"/>
                <a:cs typeface="IBM Plex Sans Arabic"/>
              </a:defRPr>
            </a:pPr>
            <a:r>
              <a:rPr lang="ar-JO" sz="1500" b="0">
                <a:solidFill>
                  <a:srgbClr val="D1DEED"/>
                </a:solidFill>
                <a:latin typeface="IBM Plex Sans Arabic"/>
                <a:ea typeface="IBM Plex Sans Arabic"/>
                <a:cs typeface="IBM Plex Sans Arabic"/>
              </a:rPr>
              <a:t>افتراضات الاختبار: 30 ألف د.أ ثابتة + 300 طالب تجارب مجانية • نختبر 12، 20، و30 د.أ</a:t>
            </a:r>
          </a:p>
        </p:txBody>
      </p:sp>
    </p:spTree>
    <p:extLst>
      <p:ext uri="{BB962C8B-B14F-4D97-AF65-F5344CB8AC3E}">
        <p14:creationId xmlns:p14="http://schemas.microsoft.com/office/powerpoint/2010/main" val="286039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Vcoders">
            <a:extLst>
              <a:ext uri="{FF2B5EF4-FFF2-40B4-BE49-F238E27FC236}">
                <a16:creationId xmlns:a16="http://schemas.microsoft.com/office/drawing/2014/main" id="{93D6D89D-D1E9-49FD-AA65-4F50DE7D23CF}"/>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Vcoders</a:t>
            </a:r>
          </a:p>
        </p:txBody>
      </p:sp>
      <p:sp>
        <p:nvSpPr>
          <p:cNvPr id="3" name="11">
            <a:extLst>
              <a:ext uri="{FF2B5EF4-FFF2-40B4-BE49-F238E27FC236}">
                <a16:creationId xmlns:a16="http://schemas.microsoft.com/office/drawing/2014/main" id="{ED1FAC06-2C24-481E-938E-D11C51816D3A}"/>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7D9420C4-725B-4EA6-97F7-17056DB71061}"/>
              </a:ext>
            </a:extLst>
          </p:cNvPr>
          <p:cNvSpPr>
            <a:spLocks noGrp="1"/>
          </p:cNvSpPr>
          <p:nvPr/>
        </p:nvSpPr>
        <p:spPr>
          <a:xfrm>
            <a:off x="8229600"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عبد الرحمن</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94A63AA9-95C6-42AD-BA8C-916A0CF36E85}"/>
              </a:ext>
            </a:extLst>
          </p:cNvPr>
          <p:cNvSpPr>
            <a:spLocks noGrp="1"/>
          </p:cNvSpPr>
          <p:nvPr/>
        </p:nvSpPr>
        <p:spPr>
          <a:xfrm>
            <a:off x="8229600"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E5FA592A-03D2-4B13-B705-58255D036440}"/>
              </a:ext>
            </a:extLst>
          </p:cNvPr>
          <p:cNvSpPr>
            <a:spLocks noGrp="1"/>
          </p:cNvSpPr>
          <p:nvPr/>
        </p:nvSpPr>
        <p:spPr>
          <a:xfrm>
            <a:off x="8229600"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منطق التطبيق والبيانات</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7F2BC503-0A11-4301-AF75-33B78BF059A9}"/>
              </a:ext>
            </a:extLst>
          </p:cNvPr>
          <p:cNvSpPr>
            <a:spLocks noGrp="1"/>
          </p:cNvSpPr>
          <p:nvPr/>
        </p:nvSpPr>
        <p:spPr>
          <a:xfrm>
            <a:off x="4429125"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عبد الرحمن</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3EEC5E08-624F-49BF-B03A-EB7B7DC1957D}"/>
              </a:ext>
            </a:extLst>
          </p:cNvPr>
          <p:cNvSpPr>
            <a:spLocks noGrp="1"/>
          </p:cNvSpPr>
          <p:nvPr/>
        </p:nvSpPr>
        <p:spPr>
          <a:xfrm>
            <a:off x="4429125"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7090D2D4-DB5C-409D-AA16-FCD5C7BC6377}"/>
              </a:ext>
            </a:extLst>
          </p:cNvPr>
          <p:cNvSpPr>
            <a:spLocks noGrp="1"/>
          </p:cNvSpPr>
          <p:nvPr/>
        </p:nvSpPr>
        <p:spPr>
          <a:xfrm>
            <a:off x="4429125"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الهوية البصرية</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51AFAD3B-B38B-475A-A8AA-0963D30BA2C7}"/>
              </a:ext>
            </a:extLst>
          </p:cNvPr>
          <p:cNvSpPr>
            <a:spLocks noGrp="1"/>
          </p:cNvSpPr>
          <p:nvPr/>
        </p:nvSpPr>
        <p:spPr>
          <a:xfrm>
            <a:off x="571500"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زيد</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52EC5088-4EE5-4DE8-A168-F64985015925}"/>
              </a:ext>
            </a:extLst>
          </p:cNvPr>
          <p:cNvSpPr>
            <a:spLocks noGrp="1"/>
          </p:cNvSpPr>
          <p:nvPr/>
        </p:nvSpPr>
        <p:spPr>
          <a:xfrm>
            <a:off x="571500"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774C9A95-D7C1-42E9-877C-F4B104B3AB12}"/>
              </a:ext>
            </a:extLst>
          </p:cNvPr>
          <p:cNvSpPr>
            <a:spLocks noGrp="1"/>
          </p:cNvSpPr>
          <p:nvPr/>
        </p:nvSpPr>
        <p:spPr>
          <a:xfrm>
            <a:off x="571500"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تحويل التصميم</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إلى تجربة قابلة للاستخدام</a:t>
            </a:r>
          </a:p>
        </p:txBody>
      </p:sp>
      <p:sp>
        <p:nvSpPr>
          <p:cNvPr id="13" name="أدوار متكاملة لبناء مُرشِدي وتطويره">
            <a:extLst>
              <a:ext uri="{FF2B5EF4-FFF2-40B4-BE49-F238E27FC236}">
                <a16:creationId xmlns:a16="http://schemas.microsoft.com/office/drawing/2014/main" id="{5F767B98-330D-48CE-9AF9-6EF06B5B58BE}"/>
              </a:ext>
            </a:extLst>
          </p:cNvPr>
          <p:cNvSpPr>
            <a:spLocks noGrp="1"/>
          </p:cNvSpPr>
          <p:nvPr/>
        </p:nvSpPr>
        <p:spPr>
          <a:xfrm>
            <a:off x="1428750" y="5762625"/>
            <a:ext cx="10001250" cy="571500"/>
          </a:xfrm>
          <a:prstGeom prst="rect">
            <a:avLst/>
          </a:prstGeom>
          <a:noFill/>
          <a:ln w="0">
            <a:noFill/>
          </a:ln>
        </p:spPr>
        <p:txBody>
          <a:bodyPr wrap="square" lIns="0" tIns="0" rIns="0" bIns="0" anchor="ctr">
            <a:noAutofit/>
          </a:bodyPr>
          <a:lstStyle/>
          <a:p>
            <a:pPr algn="ctr">
              <a:defRPr lang="ar-JO" sz="2550" b="1">
                <a:solidFill>
                  <a:srgbClr val="013070"/>
                </a:solidFill>
                <a:latin typeface="IBM Plex Sans Arabic"/>
                <a:ea typeface="IBM Plex Sans Arabic"/>
                <a:cs typeface="IBM Plex Sans Arabic"/>
              </a:defRPr>
            </a:pPr>
            <a:r>
              <a:rPr lang="ar-JO" sz="2550" b="1">
                <a:solidFill>
                  <a:srgbClr val="013070"/>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986201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pic>
        <p:nvPicPr>
          <p:cNvPr id="8" name="Picture 7"/>
          <p:cNvPicPr>
            <a:picLocks noChangeAspect="1"/>
          </p:cNvPicPr>
          <p:nvPr/>
        </p:nvPicPr>
        <p:blipFill>
          <a:blip r:embed="rId4"/>
          <a:stretch/>
        </p:blipFill>
        <p:spPr>
          <a:xfrm>
            <a:off x="10572750" y="523875"/>
            <a:ext cx="933450" cy="933450"/>
          </a:xfrm>
          <a:prstGeom prst="rect">
            <a:avLst/>
          </a:prstGeom>
        </p:spPr>
      </p:pic>
      <p:sp>
        <p:nvSpPr>
          <p:cNvPr id="3" name="خطوتنا القادمة">
            <a:extLst>
              <a:ext uri="{FF2B5EF4-FFF2-40B4-BE49-F238E27FC236}">
                <a16:creationId xmlns:a16="http://schemas.microsoft.com/office/drawing/2014/main" id="{8C128E42-4EA2-491F-B4F1-DF4C2CDB045E}"/>
              </a:ext>
            </a:extLst>
          </p:cNvPr>
          <p:cNvSpPr>
            <a:spLocks noGrp="1"/>
          </p:cNvSpPr>
          <p:nvPr/>
        </p:nvSpPr>
        <p:spPr>
          <a:xfrm>
            <a:off x="6191250" y="1933575"/>
            <a:ext cx="5286375" cy="666750"/>
          </a:xfrm>
          <a:prstGeom prst="rect">
            <a:avLst/>
          </a:prstGeom>
          <a:noFill/>
          <a:ln w="0">
            <a:noFill/>
          </a:ln>
        </p:spPr>
        <p:txBody>
          <a:bodyPr wrap="square" lIns="0" tIns="0" rIns="0" bIns="0" anchor="ctr">
            <a:noAutofit/>
          </a:bodyPr>
          <a:lstStyle/>
          <a:p>
            <a:pPr algn="r">
              <a:defRPr lang="ar-JO" sz="3600" b="1">
                <a:solidFill>
                  <a:srgbClr val="C8A04C"/>
                </a:solidFill>
                <a:latin typeface="IBM Plex Sans Arabic"/>
                <a:ea typeface="IBM Plex Sans Arabic"/>
                <a:cs typeface="IBM Plex Sans Arabic"/>
              </a:defRPr>
            </a:pPr>
            <a:r>
              <a:rPr lang="ar-JO" sz="3600" b="1">
                <a:solidFill>
                  <a:srgbClr val="C8A04C"/>
                </a:solidFill>
                <a:latin typeface="IBM Plex Sans Arabic"/>
                <a:ea typeface="IBM Plex Sans Arabic"/>
                <a:cs typeface="IBM Plex Sans Arabic"/>
              </a:rPr>
              <a:t>خطوتنا القادمة</a:t>
            </a:r>
          </a:p>
        </p:txBody>
      </p:sp>
      <p:sp>
        <p:nvSpPr>
          <p:cNvPr id="4" name="فرصة لتجربة مُرشِدي&#10;مع مؤسسات تعليمية">
            <a:extLst>
              <a:ext uri="{FF2B5EF4-FFF2-40B4-BE49-F238E27FC236}">
                <a16:creationId xmlns:a16="http://schemas.microsoft.com/office/drawing/2014/main" id="{B0171382-2DD5-454C-AC64-8356233C248F}"/>
              </a:ext>
            </a:extLst>
          </p:cNvPr>
          <p:cNvSpPr>
            <a:spLocks noGrp="1"/>
          </p:cNvSpPr>
          <p:nvPr/>
        </p:nvSpPr>
        <p:spPr>
          <a:xfrm>
            <a:off x="5381625" y="2886075"/>
            <a:ext cx="6096000" cy="1495425"/>
          </a:xfrm>
          <a:prstGeom prst="rect">
            <a:avLst/>
          </a:prstGeom>
          <a:noFill/>
          <a:ln w="0">
            <a:noFill/>
          </a:ln>
        </p:spPr>
        <p:txBody>
          <a:bodyPr wrap="square" lIns="0" tIns="0" rIns="0" bIns="0" anchor="ctr">
            <a:noAutofit/>
          </a:bodyPr>
          <a:lstStyle/>
          <a:p>
            <a:pPr algn="r">
              <a:defRPr lang="ar-JO" sz="3975" b="1">
                <a:solidFill>
                  <a:srgbClr val="FFFFFF"/>
                </a:solidFill>
                <a:latin typeface="IBM Plex Sans Arabic"/>
                <a:ea typeface="IBM Plex Sans Arabic"/>
                <a:cs typeface="IBM Plex Sans Arabic"/>
              </a:defRPr>
            </a:pPr>
            <a:r>
              <a:rPr lang="ar-JO" sz="3975" b="1">
                <a:solidFill>
                  <a:srgbClr val="FFFFFF"/>
                </a:solidFill>
                <a:latin typeface="IBM Plex Sans Arabic"/>
                <a:ea typeface="IBM Plex Sans Arabic"/>
                <a:cs typeface="IBM Plex Sans Arabic"/>
              </a:rPr>
              <a:t>فرصة لتجربة مُرشِدي</a:t>
            </a:r>
          </a:p>
          <a:p>
            <a:pPr algn="r">
              <a:defRPr lang="ar-JO" sz="3975" b="1">
                <a:solidFill>
                  <a:srgbClr val="FFFFFF"/>
                </a:solidFill>
                <a:latin typeface="IBM Plex Sans Arabic"/>
                <a:ea typeface="IBM Plex Sans Arabic"/>
                <a:cs typeface="IBM Plex Sans Arabic"/>
              </a:defRPr>
            </a:pPr>
            <a:r>
              <a:rPr lang="ar-JO" sz="3975" b="1">
                <a:solidFill>
                  <a:srgbClr val="FFFFFF"/>
                </a:solidFill>
                <a:latin typeface="IBM Plex Sans Arabic"/>
                <a:ea typeface="IBM Plex Sans Arabic"/>
                <a:cs typeface="IBM Plex Sans Arabic"/>
              </a:rPr>
              <a:t>مع مؤسسات تعليمية</a:t>
            </a:r>
          </a:p>
        </p:txBody>
      </p:sp>
      <p:sp>
        <p:nvSpPr>
          <p:cNvPr id="5" name="شركاء للتجربة وتوجيه لاختبار نموذج العمل">
            <a:extLst>
              <a:ext uri="{FF2B5EF4-FFF2-40B4-BE49-F238E27FC236}">
                <a16:creationId xmlns:a16="http://schemas.microsoft.com/office/drawing/2014/main" id="{E941445C-C0F6-4253-BBB6-E6B2062F8C88}"/>
              </a:ext>
            </a:extLst>
          </p:cNvPr>
          <p:cNvSpPr>
            <a:spLocks noGrp="1"/>
          </p:cNvSpPr>
          <p:nvPr/>
        </p:nvSpPr>
        <p:spPr>
          <a:xfrm>
            <a:off x="4619625" y="4752975"/>
            <a:ext cx="6858000" cy="609600"/>
          </a:xfrm>
          <a:prstGeom prst="rect">
            <a:avLst/>
          </a:prstGeom>
          <a:noFill/>
          <a:ln w="0">
            <a:noFill/>
          </a:ln>
        </p:spPr>
        <p:txBody>
          <a:bodyPr wrap="square" lIns="0" tIns="0" rIns="0" bIns="0" anchor="ctr">
            <a:noAutofit/>
          </a:bodyPr>
          <a:lstStyle/>
          <a:p>
            <a:pPr algn="r">
              <a:defRPr lang="ar-JO" sz="2250" b="0">
                <a:solidFill>
                  <a:srgbClr val="D1DEED"/>
                </a:solidFill>
                <a:latin typeface="IBM Plex Sans Arabic"/>
                <a:ea typeface="IBM Plex Sans Arabic"/>
                <a:cs typeface="IBM Plex Sans Arabic"/>
              </a:defRPr>
            </a:pPr>
            <a:r>
              <a:rPr lang="ar-JO" sz="2250" b="0">
                <a:solidFill>
                  <a:srgbClr val="D1DEED"/>
                </a:solidFill>
                <a:latin typeface="IBM Plex Sans Arabic"/>
                <a:ea typeface="IBM Plex Sans Arabic"/>
                <a:cs typeface="IBM Plex Sans Arabic"/>
              </a:rPr>
              <a:t>شركاء للتجربة وتوجيه لاختبار نموذج العمل</a:t>
            </a:r>
          </a:p>
        </p:txBody>
      </p:sp>
      <p:sp>
        <p:nvSpPr>
          <p:cNvPr id="6" name="قرار أوضح لمستقبل الطالب">
            <a:extLst>
              <a:ext uri="{FF2B5EF4-FFF2-40B4-BE49-F238E27FC236}">
                <a16:creationId xmlns:a16="http://schemas.microsoft.com/office/drawing/2014/main" id="{61ADA8B4-85E5-4B63-9313-A01317D84324}"/>
              </a:ext>
            </a:extLst>
          </p:cNvPr>
          <p:cNvSpPr>
            <a:spLocks noGrp="1"/>
          </p:cNvSpPr>
          <p:nvPr/>
        </p:nvSpPr>
        <p:spPr>
          <a:xfrm>
            <a:off x="5762625" y="5772150"/>
            <a:ext cx="5715000" cy="571500"/>
          </a:xfrm>
          <a:prstGeom prst="rect">
            <a:avLst/>
          </a:prstGeom>
          <a:noFill/>
          <a:ln w="0">
            <a:noFill/>
          </a:ln>
        </p:spPr>
        <p:txBody>
          <a:bodyPr wrap="square" lIns="0" tIns="0" rIns="0" bIns="0" anchor="ctr">
            <a:noAutofit/>
          </a:bodyPr>
          <a:lstStyle/>
          <a:p>
            <a:pPr algn="r">
              <a:defRPr lang="ar-JO" sz="2850" b="1">
                <a:solidFill>
                  <a:srgbClr val="FFFFFF"/>
                </a:solidFill>
                <a:latin typeface="IBM Plex Sans Arabic"/>
                <a:ea typeface="IBM Plex Sans Arabic"/>
                <a:cs typeface="IBM Plex Sans Arabic"/>
              </a:defRPr>
            </a:pPr>
            <a:r>
              <a:rPr lang="ar-JO" sz="2850" b="1">
                <a:solidFill>
                  <a:srgbClr val="FFFFFF"/>
                </a:solidFill>
                <a:latin typeface="IBM Plex Sans Arabic"/>
                <a:ea typeface="IBM Plex Sans Arabic"/>
                <a:cs typeface="IBM Plex Sans Arabic"/>
              </a:rPr>
              <a:t>قرار أوضح لمستقبل الطالب</a:t>
            </a:r>
          </a:p>
        </p:txBody>
      </p:sp>
    </p:spTree>
    <p:extLst>
      <p:ext uri="{BB962C8B-B14F-4D97-AF65-F5344CB8AC3E}">
        <p14:creationId xmlns:p14="http://schemas.microsoft.com/office/powerpoint/2010/main" val="76335130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1848</Words>
  <Application>Microsoft Office PowerPoint</Application>
  <DocSecurity>0</DocSecurity>
  <PresentationFormat>Widescreen</PresentationFormat>
  <Paragraphs>215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Calibri</vt:lpstr>
      <vt:lpstr>IBM Plex Sans Arabic</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2026-09-10T19:02:02Z</dcterms:created>
  <dcterms:modified xsi:type="dcterms:W3CDTF">2026-09-10T19:02:04Z</dcterms:modified>
</cp:coreProperties>
</file>