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نبدأ من السؤال الذي يأتي بعد التوجيهي مباشرة: شو أدرس؟ ونحوّله من بحث مشتّت إلى قرار يجمع الملاءمة والقبول والكلفة والسوق في رحلة واحدة.</a:t>
            </a:r>
          </a:p>
          <a:p>
            <a:endParaRPr/>
          </a:p>
          <a:p>
            <a:r>
              <a:t>المصادر: ملفات المشروع الأصلية؛ اسم الفريق Vcoders حسب 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تخيّل طالبًا أنهى التوجيهي اليوم. يريد جوابًا عن ثلاثة أسئلة: هل التخصص يناسبني؟ هل أستطيع التقديم؟ وهل تستطيع أسرته تحمّل كلفته؟ في 2026 نجح 116,366 طالبًا، وأعلنت وحدة القبول الموحد طرح 607 تخصصات في طلب البكالوريوس عبر الجامعات الرسمية المشمولة. المعلومات موجودة، لكنها موزعة بين القبول والجامعات وإحصاءات العمل. لذلك يجمع الطالب وأسرته والمرشد القرار يدويًا، وهنا تبدأ المشكلة التي يحلها مُرشِدي.</a:t>
            </a:r>
          </a:p>
          <a:p>
            <a:endParaRPr/>
          </a:p>
          <a:p>
            <a:r>
              <a:t>المصادر: وكالة الأنباء الأردنية بترا نقلًا عن وزارة التربية والتعليم، 10 آب 2026: نجح 116,366 طالبًا في امتحان الثانوية العامة، ويشمل العدد النظاميين وطلبة الدراسة الخاصة. وزارة التعليم العالي ووحدة تنسيق القبول الموحد، 13 آب 2026: 607 تخصصات مطروحة للقبول في الدورة الصيفية لمرحلة البكالوريوس 2026/2027 عبر تسع جامعات حكومية وجامعة العلوم الإسلامية العالمية. الرابط الرسمي: https://mohe.gov.jo/AR/NewsDetails/وحدة_تنسيق_القبول_الموحد_في_وزارة_التربية_والتعليم_وتنمية_الموارد_البشرية_تطلق_موقعها_الإلكتروني_محدثاً_بالبيانات_اللازمة_لتنفيذ_عملية_القبول_الموحد_للدورة_الصيفية_20262027</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1:34 (34 ثانية)</a:t>
            </a:r>
          </a:p>
          <a:p>
            <a:endParaRPr/>
          </a:p>
          <a:p>
            <a:r>
              <a:t>يجمع مُرشِدي رحلة القرار في ثلاث خطوات. يبدأ الطالب بأسئلة استكشاف ذاتي تبني نقطة انطلاق، ثم يقارن التخصصات وفق القبول والرسوم والكلفة، ويطّلع بصورة منفصلة على مؤشرات سوق العمل العامة. بعدها يبني قائمة قصيرة وخطة كلفة مستندة إلى بيانات مؤرخة. هذه شاشة حقيقية من تطبيق جاهز للاستخدام. النتيجة قرار مبرر يناقشه الطالب مع أسرته والمرشد قبل التقديم.</a:t>
            </a:r>
          </a:p>
          <a:p>
            <a:endParaRPr/>
          </a:p>
          <a:p>
            <a:r>
              <a:t>المصادر: تحقق محلي من وجود تطبيق جاهز للاستخدام وحزمة المصدر. الشاشة المعروضة لقطة فعلية من التطبيق.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 إلى 2:14 (40 ثانية)</a:t>
            </a:r>
          </a:p>
          <a:p>
            <a:endParaRPr/>
          </a:p>
          <a:p>
            <a:r>
              <a:t>لنأخذ طالبًا يفكر في علم الحاسوب. في شاشة واحدة يقارن البرامج، ويفهم الفرق بين شرط التقديم والحد التنافسي السابق، ويرى رسم الساعة ومصدر مجموعة البيانات وفترتها. شرط التقديم يجيب: هل يحق لي التقديم؟ أما الحد السابق فهو مرجع تاريخي، وليس وعد قبول. بهذه الدقة لا نعرض رقمًا بلا معناه ولا نخلط سنة بسنة، فيبني الطالب قائمة قصيرة يستطيع الدفاع عنها أمام أسرته والمرشد.</a:t>
            </a:r>
          </a:p>
          <a:p>
            <a:endParaRPr/>
          </a:p>
          <a:p>
            <a:r>
              <a:t>المصادر: وحدة تنسيق القبول الموحد: دليل البرامج والرسوم 2026/2027؛ جداول الحدود الدنيا المنشورة 2021–2025، تحقق 10 أيلول 2026. آخر حد تنافسي منشور يظهر كسجل سابق لا كضمان قبول.</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2:14 إلى 2:49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تظهر كلفة سنوية مقدارها 3,051 دينارًا. إذا تغيّرت الميزانية تتغيّر فجوة التمويل فورًا. هكذا تنتقل الأسرة من سؤال عام عن القدرة إلى خطة واضحة، مع فصل الرقم الرسمي عن افتراضاتها الخاصة.</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 لا توقع دخل أو عائد مضمون.</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2:49 إلى 3:21 (32 ثانية)</a:t>
            </a:r>
          </a:p>
          <a:p>
            <a:endParaRPr/>
          </a:p>
          <a:p>
            <a:r>
              <a:t>القبول الموحد يوضح التخصصات والشروط، والجامعات تنشر الرسوم، وإحصاءات العمل تصف السوق. مُرشِدي يجمع هذه الأجزاء حول الطالب نفسه، فيضيف اهتماماته وميزانية أسرته، ويشرح معنى كل رقم ومصدره وسنته. النتيجة قائمة قصيرة مع سبب واضح لكل اختيار. وهذا ينسجم مع الاستراتيجية الوطنية للإرشاد المهني والوظيفي 2024 إلى 2033، التي تهدف إلى تمكين قرارات التعليم والتدريب والعمل ومواءمتها مع سوق العمل. أما أثر مُرشِدي نفسه فنثبته محليًا بقياس قبلي وبعدي.</a:t>
            </a:r>
          </a:p>
          <a:p>
            <a:endParaRPr/>
          </a:p>
          <a:p>
            <a:r>
              <a:t>المصادر: وكالة الأنباء الأردنية بترا، 16 تموز 2024، إطلاق الاستراتيجية الوطنية للإرشاد المهني والوظيفي 2024-2033 بمشاركة 50 جهة عامة وخاصة. تنص الاستراتيجية على تمكين الأفراد من قرارات التعليم أو التدريب أو التشغيل، وتوفير المعلومات، وقياس القدرات والميول، ومواءمة مخرجات التعليم والتدريب مع متطلبات سوق العمل. المصدر: https://petra.gov.jo/ar/news/تنمية-المهارات-تطلق-استراتيجية-الإرشاد-المهني-والوظيفي-2024-2033. هذا يثبت أولوية وطنية ولا يثبت أثر مُرشِدي.</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3:21 إلى 3:56 (35 ثانية)</a:t>
            </a:r>
          </a:p>
          <a:p>
            <a:endParaRPr/>
          </a:p>
          <a:p>
            <a:r>
              <a:t>المستفيد المباشر هو الطالب وأسرته؛ يحصلان على رحلة القرار الأساسية مجانًا. العميل الذي سنختبر استعداده للدفع هو مدرسة أو جامعة أو شبكة تعليمية. سنقدّم لها عرضًا مؤسسيًا مقترحًا يضم أدوات للمرشد وتقارير مجمعة ودعمًا. ونستهدف الجهة التعليمية العامة كشريك تمكين وتوسع يسهّل الوصول إلى البيانات والمدارس وقياس الأثر. فصل المستفيد عن العميل يجعل النموذج قابلًا للتبني من دون وضع تكلفة القرار على الطالب.</a:t>
            </a:r>
          </a:p>
          <a:p>
            <a:endParaRPr/>
          </a:p>
          <a:p>
            <a:r>
              <a:t>المصادر: نموذج B2B2C مقترح: الطالب والأسرة مستفيدان، والمؤسسة التعليمية عميل دافع، والجهة العامة شريك تمكين وتوسع. لا عملاء أو عقود أو شراكات حكومية قائمة حتى 11 أيلول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3:56 إلى 4:41 (45 ثانية)</a:t>
            </a:r>
          </a:p>
          <a:p>
            <a:endParaRPr/>
          </a:p>
          <a:p>
            <a:r>
              <a:t>لدينا ثلاث طبقات واضحة. الطالب والأسرة يستخدمان الرحلة الأساسية مجانًا. نفترض أن المؤسسة التعليمية تدفع 20 دينارًا سنويًا عن كل مقعد طالب ممول مقابل طبقة مؤسسية نقترحها: أدوات للمرشد، وتقارير مجمعة، وتدريب ودعم. وعلى نطاق وطني يمكن أن يكون الإيراد عقدًا سنويًا بحسب حجم الخدمة وقياس الأثر. وفق افتراضاتنا الحالية، نصل إلى التعادل عند 1,950 مقعد طالب ممول بعقود مؤسسية. سنختبر هذه الفرضيات بعروض سعر وتجارب مدفوعة؛ وهي ليست إيرادًا محققًا.</a:t>
            </a:r>
          </a:p>
          <a:p>
            <a:endParaRPr/>
          </a:p>
          <a:p>
            <a:r>
              <a:t>المصادر: فرضية تسعير للاختبار وليست مبيعات: 20 د.أ/مقعد طالب ممول/سنة للمؤسسة. افتراض كلفة متغيرة 4 د.أ سنويًا لكل طالب نشط، كلفة ثابتة 30,000 د.أ سنويًا، و300 طالب تجارب مجانية خارج المقاعد الممولة. التعادل: [30,000+(300×4)]/(20−4)=1,950 مقعد طالب ممول. لا سعر مفترض للعقد العام قبل تحديد النطاق.</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4:41 إلى 5:26 (45 ثانية)</a:t>
            </a:r>
          </a:p>
          <a:p>
            <a:endParaRPr/>
          </a:p>
          <a:p>
            <a:r>
              <a:t>نختبر التطبيق مع 100 طالب في ثلاث مدارس خلال ستة أسابيع. قبل الاستخدام، نطلب من كل طالب مقارنة ثلاثة تخصصات، ونقيس الوقت، وستة أسئلة عن القبول والكلفة، ووضوح القرار من خمس نقاط. بعد استخدام مُرشِدي، نكرر المهمة والأسئلة نفسها للطالب نفسه. ثم نعلن عدد الطلبة الذين تحسنوا، وليس متوسطًا عامًا فقط. هدف التجربة أن يكمل 70 طالبًا مقارنة موثقة، وأن يحسن 60 طالبًا إجابة واحدة على الأقل من ست، وأن يرفع 60 طالبًا وضوح قراره نقطة واحدة على الأقل. هذه أهداف مسبقة وليست نتائج محققة.</a:t>
            </a:r>
          </a:p>
          <a:p>
            <a:endParaRPr/>
          </a:p>
          <a:p>
            <a:r>
              <a:t>المصادر: تصميم تجربة وأهداف مقترحة وليست نتائج محققة: 100 طالب، 3 مدارس، 6 أسابيع. قياس قبلي وبعدي للطالب نفسه في وقت إنجاز مقارنة ثلاثة تخصصات، واختبار معرفة من 6 أسئلة، ووضوح القرار من 1 إلى 5. أهداف الاستمرار: 70 طالبًا يكملون مقارنة موثقة، و60 طالبًا يتحسنون بإجابة واحدة صحيحة على الأقل، و60 طالبًا يتحسن وضوح قرارهم بنقطة واحدة على الأقل. دليل الجائزة ص29-30 يطلب أثرًا قابلًا للقياس.</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5:26 إلى 6:09 (43 ثانية)</a:t>
            </a:r>
          </a:p>
          <a:p>
            <a:endParaRPr/>
          </a:p>
          <a:p>
            <a:r>
              <a:t>اليوم لدينا تطبيق جاهز للاستخدام، ونعرض أمامكم شاشاته الحقيقية وبيانات عامة موثقة بسنة ومصدر. خلال تسعين يومًا ننفذ التجربة المحلية، ونصدر تقرير الأثر، ونختبر استعداد المؤسسات للدفع. وخلال اثني عشر شهرًا نستهدف 13 مؤسسة و1,950 مقعد طالب ممول للوصول إلى نقطة التعادل المفترضة، مع 300 طالب في تجارب مجانية. الإيراد يمول تحديث البيانات ودعم المرشدين وقياس الأثر. وطلبنا من اللجنة هو ربطنا بثلاث مدارس ومرشدين وقناة بيانات تعليمية لبدء التجربة.</a:t>
            </a:r>
          </a:p>
          <a:p>
            <a:endParaRPr/>
          </a:p>
          <a:p>
            <a:r>
              <a:t>المصادر: تحقق محلي من وجود تطبيق جاهز للاستخدام، مع شاشات فعلية ولقطة بيانات مؤرخة. الخطة والأهداف مستقبلية: 90 يومًا للتجربة والتقرير، و12 شهرًا لهدف 13 مؤسسة و1,950 مقعد طالب ممول، إضافة إلى 300 طالب تجارب مجانية. لا تنسيق حكومي رسمي قائم؛ الربط بثلاث مدارس وجهة بيانات هو الطلب المقترح.</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6:09 إلى 6:34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نراجع كل قرار معًا حتى تظهر النتيجة كمنتج واحد: بيانات صحيحة، ورحلة مفهومة، وواجهة تعمل.</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6:34 إلى 6:50 (16 ثانية)</a:t>
            </a:r>
          </a:p>
          <a:p>
            <a:endParaRPr/>
          </a:p>
          <a:p>
            <a:r>
              <a:t>قبل أن يلتزم الطالب لسنوات، يستحق أن يرى الملاءمة والقبول والكلفة والسوق في قرار واحد يمكن تفسيره. مُرشِدي يحوّل البيانات العامة إلى خطوة عملية. لدينا منتج يعمل وخطة قياس واضحة. هل نبدأ التجربة؟ شكرًا لكم.</a:t>
            </a:r>
          </a:p>
          <a:p>
            <a:endParaRPr/>
          </a:p>
          <a:p>
            <a:r>
              <a:t>المصادر: خاتمة العرض؛ لا تتضمن ادعاء شراكة أو نتيجة أثر غير محققة.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01BA98B9-C9E3-4767-8B66-487C4FF60D48}"/>
              </a:ext>
            </a:extLst>
          </p:cNvPr>
          <p:cNvSpPr>
            <a:spLocks noGrp="1"/>
          </p:cNvSpPr>
          <p:nvPr/>
        </p:nvSpPr>
        <p:spPr>
          <a:xfrm>
            <a:off x="6191250" y="1884045"/>
            <a:ext cx="5286375" cy="133731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7200" b="1" kern="0" spc="0">
                <a:solidFill>
                  <a:srgbClr val="FFFFFF"/>
                </a:solidFill>
                <a:latin typeface="IBM Plex Sans Arabic"/>
                <a:ea typeface="IBM Plex Sans Arabic"/>
                <a:cs typeface="IBM Plex Sans Arabic"/>
              </a:defRPr>
            </a:pPr>
            <a:r>
              <a:rPr lang="ar-JO" sz="7200" b="1" kern="0" spc="0">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508F6FC3-CCAB-4138-8D36-F8FBC169FA7C}"/>
              </a:ext>
            </a:extLst>
          </p:cNvPr>
          <p:cNvSpPr>
            <a:spLocks noGrp="1"/>
          </p:cNvSpPr>
          <p:nvPr/>
        </p:nvSpPr>
        <p:spPr>
          <a:xfrm>
            <a:off x="6143625" y="3195638"/>
            <a:ext cx="5334000" cy="6572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75" b="1" kern="0" spc="0">
                <a:solidFill>
                  <a:srgbClr val="C8A04C"/>
                </a:solidFill>
                <a:latin typeface="IBM Plex Sans Arabic"/>
                <a:ea typeface="IBM Plex Sans Arabic"/>
                <a:cs typeface="IBM Plex Sans Arabic"/>
              </a:defRPr>
            </a:pPr>
            <a:r>
              <a:rPr lang="ar-JO" sz="3375" b="1" kern="0" spc="0">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72F93779-7AAF-4D13-B773-E88427D4483F}"/>
              </a:ext>
            </a:extLst>
          </p:cNvPr>
          <p:cNvSpPr>
            <a:spLocks noGrp="1"/>
          </p:cNvSpPr>
          <p:nvPr/>
        </p:nvSpPr>
        <p:spPr>
          <a:xfrm>
            <a:off x="7286625" y="4021455"/>
            <a:ext cx="4191000" cy="51054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2550" b="0" kern="0" spc="0">
                <a:solidFill>
                  <a:srgbClr val="FFFFFF"/>
                </a:solidFill>
                <a:latin typeface="IBM Plex Sans Arabic"/>
                <a:ea typeface="IBM Plex Sans Arabic"/>
                <a:cs typeface="IBM Plex Sans Arabic"/>
              </a:defRPr>
            </a:pPr>
            <a:r>
              <a:rPr lang="ar-JO" sz="2550" b="0" kern="0" spc="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01CB000D-4C3E-4A22-866A-51B4BD7DD4DF}"/>
              </a:ext>
            </a:extLst>
          </p:cNvPr>
          <p:cNvSpPr>
            <a:spLocks noGrp="1"/>
          </p:cNvSpPr>
          <p:nvPr/>
        </p:nvSpPr>
        <p:spPr>
          <a:xfrm>
            <a:off x="6096000" y="5534025"/>
            <a:ext cx="5381625" cy="4000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0" kern="0" spc="0">
                <a:solidFill>
                  <a:srgbClr val="D1DEED"/>
                </a:solidFill>
                <a:latin typeface="IBM Plex Sans Arabic"/>
                <a:ea typeface="IBM Plex Sans Arabic"/>
                <a:cs typeface="IBM Plex Sans Arabic"/>
              </a:defRPr>
            </a:pPr>
            <a:r>
              <a:rPr lang="ar-JO" sz="1875" b="0" kern="0" spc="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1424BE9F-7DE6-42D3-A9EC-B3B67CE359FC}"/>
              </a:ext>
            </a:extLst>
          </p:cNvPr>
          <p:cNvSpPr>
            <a:spLocks noGrp="1"/>
          </p:cNvSpPr>
          <p:nvPr/>
        </p:nvSpPr>
        <p:spPr>
          <a:xfrm>
            <a:off x="7429500" y="5937885"/>
            <a:ext cx="404812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D1DEED"/>
                </a:solidFill>
                <a:latin typeface="IBM Plex Sans Arabic"/>
                <a:ea typeface="IBM Plex Sans Arabic"/>
                <a:cs typeface="IBM Plex Sans Arabic"/>
              </a:defRPr>
            </a:pPr>
            <a:r>
              <a:rPr lang="ar-JO" sz="1725" b="0" kern="0" spc="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335312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p:blipFill>
        <p:spPr>
          <a:xfrm>
            <a:off x="11125200" y="400050"/>
            <a:ext cx="552450" cy="552450"/>
          </a:xfrm>
          <a:prstGeom prst="rect">
            <a:avLst/>
          </a:prstGeom>
        </p:spPr>
      </p:pic>
      <p:sp>
        <p:nvSpPr>
          <p:cNvPr id="2" name="كيف يختار الطالب تخصصه من بين 607 تخصصًا مطرو">
            <a:extLst>
              <a:ext uri="{FF2B5EF4-FFF2-40B4-BE49-F238E27FC236}">
                <a16:creationId xmlns:a16="http://schemas.microsoft.com/office/drawing/2014/main" id="{D7D962AA-2733-44E3-8A21-CF541D84A8C1}"/>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كيف يختار الطالب تخصصه من بين 607 تخصصًا مطروحًا للبكالوريوس؟</a:t>
            </a:r>
          </a:p>
        </p:txBody>
      </p:sp>
      <p:sp>
        <p:nvSpPr>
          <p:cNvPr id="3" name="02">
            <a:extLst>
              <a:ext uri="{FF2B5EF4-FFF2-40B4-BE49-F238E27FC236}">
                <a16:creationId xmlns:a16="http://schemas.microsoft.com/office/drawing/2014/main" id="{31B7B49F-7236-40DD-8BA9-2A2648D3EB96}"/>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263424FA-1510-405D-9237-E8ED83B99870}"/>
              </a:ext>
            </a:extLst>
          </p:cNvPr>
          <p:cNvSpPr>
            <a:spLocks noGrp="1"/>
          </p:cNvSpPr>
          <p:nvPr/>
        </p:nvSpPr>
        <p:spPr>
          <a:xfrm>
            <a:off x="6191250" y="1581150"/>
            <a:ext cx="5286375" cy="3257550"/>
          </a:xfrm>
          <a:prstGeom prst="roundRect">
            <a:avLst>
              <a:gd name="adj" fmla="val 2339"/>
            </a:avLst>
          </a:prstGeom>
          <a:solidFill>
            <a:srgbClr val="FFFFFF"/>
          </a:solidFill>
          <a:ln w="12383">
            <a:solidFill>
              <a:srgbClr val="D4DEE9"/>
            </a:solidFill>
          </a:ln>
        </p:spPr>
      </p:sp>
      <p:sp>
        <p:nvSpPr>
          <p:cNvPr id="5" name="Rectangle: Rounded Corners 4">
            <a:extLst>
              <a:ext uri="{FF2B5EF4-FFF2-40B4-BE49-F238E27FC236}">
                <a16:creationId xmlns:a16="http://schemas.microsoft.com/office/drawing/2014/main" id="{62A34B8B-449A-4540-B297-232AFFBA2F4E}"/>
              </a:ext>
            </a:extLst>
          </p:cNvPr>
          <p:cNvSpPr>
            <a:spLocks noGrp="1"/>
          </p:cNvSpPr>
          <p:nvPr/>
        </p:nvSpPr>
        <p:spPr>
          <a:xfrm>
            <a:off x="9144000" y="1781175"/>
            <a:ext cx="2095500" cy="381000"/>
          </a:xfrm>
          <a:prstGeom prst="roundRect">
            <a:avLst>
              <a:gd name="adj" fmla="val 20000"/>
            </a:avLst>
          </a:prstGeom>
          <a:solidFill>
            <a:srgbClr val="E7EEF6"/>
          </a:solidFill>
          <a:ln w="12383">
            <a:solidFill>
              <a:srgbClr val="C9D5E3"/>
            </a:solidFill>
          </a:ln>
        </p:spPr>
      </p:sp>
      <p:sp>
        <p:nvSpPr>
          <p:cNvPr id="6" name="لحظة الطالب">
            <a:extLst>
              <a:ext uri="{FF2B5EF4-FFF2-40B4-BE49-F238E27FC236}">
                <a16:creationId xmlns:a16="http://schemas.microsoft.com/office/drawing/2014/main" id="{34CDBAEC-B7F9-4452-9276-EAF8DED336BF}"/>
              </a:ext>
            </a:extLst>
          </p:cNvPr>
          <p:cNvSpPr>
            <a:spLocks noGrp="1"/>
          </p:cNvSpPr>
          <p:nvPr/>
        </p:nvSpPr>
        <p:spPr>
          <a:xfrm>
            <a:off x="9239250" y="1808798"/>
            <a:ext cx="19050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لحظة الطالب</a:t>
            </a:r>
          </a:p>
        </p:txBody>
      </p:sp>
      <p:sp>
        <p:nvSpPr>
          <p:cNvPr id="7" name="بعد التوجيهي يريد جوابًا واضحًا:">
            <a:extLst>
              <a:ext uri="{FF2B5EF4-FFF2-40B4-BE49-F238E27FC236}">
                <a16:creationId xmlns:a16="http://schemas.microsoft.com/office/drawing/2014/main" id="{346C0BD8-EF65-4C85-A029-8A275560210C}"/>
              </a:ext>
            </a:extLst>
          </p:cNvPr>
          <p:cNvSpPr>
            <a:spLocks noGrp="1"/>
          </p:cNvSpPr>
          <p:nvPr/>
        </p:nvSpPr>
        <p:spPr>
          <a:xfrm>
            <a:off x="6477000" y="2266950"/>
            <a:ext cx="4714875" cy="457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75" b="1" kern="0" spc="0">
                <a:solidFill>
                  <a:srgbClr val="013070"/>
                </a:solidFill>
                <a:latin typeface="IBM Plex Sans Arabic"/>
                <a:ea typeface="IBM Plex Sans Arabic"/>
                <a:cs typeface="IBM Plex Sans Arabic"/>
              </a:defRPr>
            </a:pPr>
            <a:r>
              <a:rPr lang="ar-JO" sz="2175" b="1" kern="0" spc="0">
                <a:solidFill>
                  <a:srgbClr val="013070"/>
                </a:solidFill>
                <a:latin typeface="IBM Plex Sans Arabic"/>
                <a:ea typeface="IBM Plex Sans Arabic"/>
                <a:cs typeface="IBM Plex Sans Arabic"/>
              </a:rPr>
              <a:t>بعد التوجيهي يريد جوابًا واضحًا:</a:t>
            </a:r>
          </a:p>
        </p:txBody>
      </p:sp>
      <p:sp>
        <p:nvSpPr>
          <p:cNvPr id="8" name="Rectangle: Rounded Corners 7">
            <a:extLst>
              <a:ext uri="{FF2B5EF4-FFF2-40B4-BE49-F238E27FC236}">
                <a16:creationId xmlns:a16="http://schemas.microsoft.com/office/drawing/2014/main" id="{5BDDC36C-6B6B-45AE-B29C-40CF665D3D22}"/>
              </a:ext>
            </a:extLst>
          </p:cNvPr>
          <p:cNvSpPr>
            <a:spLocks noGrp="1"/>
          </p:cNvSpPr>
          <p:nvPr/>
        </p:nvSpPr>
        <p:spPr>
          <a:xfrm>
            <a:off x="6486525" y="2838450"/>
            <a:ext cx="4705350" cy="514350"/>
          </a:xfrm>
          <a:prstGeom prst="roundRect">
            <a:avLst>
              <a:gd name="adj" fmla="val 14815"/>
            </a:avLst>
          </a:prstGeom>
          <a:solidFill>
            <a:srgbClr val="F3EAD7"/>
          </a:solidFill>
          <a:ln w="12383">
            <a:solidFill>
              <a:srgbClr val="DFC98F"/>
            </a:solidFill>
          </a:ln>
        </p:spPr>
      </p:sp>
      <p:sp>
        <p:nvSpPr>
          <p:cNvPr id="9" name="يناسبني؟">
            <a:extLst>
              <a:ext uri="{FF2B5EF4-FFF2-40B4-BE49-F238E27FC236}">
                <a16:creationId xmlns:a16="http://schemas.microsoft.com/office/drawing/2014/main" id="{34D639F4-F0D6-4CE1-A23D-331560EA4400}"/>
              </a:ext>
            </a:extLst>
          </p:cNvPr>
          <p:cNvSpPr>
            <a:spLocks noGrp="1"/>
          </p:cNvSpPr>
          <p:nvPr/>
        </p:nvSpPr>
        <p:spPr>
          <a:xfrm>
            <a:off x="8858250" y="289560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يناسبني؟</a:t>
            </a:r>
          </a:p>
        </p:txBody>
      </p:sp>
      <p:sp>
        <p:nvSpPr>
          <p:cNvPr id="10" name="الميول والاهتمامات">
            <a:extLst>
              <a:ext uri="{FF2B5EF4-FFF2-40B4-BE49-F238E27FC236}">
                <a16:creationId xmlns:a16="http://schemas.microsoft.com/office/drawing/2014/main" id="{ADECF673-9777-41BF-86B0-6858087131F7}"/>
              </a:ext>
            </a:extLst>
          </p:cNvPr>
          <p:cNvSpPr>
            <a:spLocks noGrp="1"/>
          </p:cNvSpPr>
          <p:nvPr/>
        </p:nvSpPr>
        <p:spPr>
          <a:xfrm>
            <a:off x="6677025" y="289560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الميول والاهتمامات</a:t>
            </a:r>
          </a:p>
        </p:txBody>
      </p:sp>
      <p:sp>
        <p:nvSpPr>
          <p:cNvPr id="11" name="Rectangle: Rounded Corners 10">
            <a:extLst>
              <a:ext uri="{FF2B5EF4-FFF2-40B4-BE49-F238E27FC236}">
                <a16:creationId xmlns:a16="http://schemas.microsoft.com/office/drawing/2014/main" id="{38EEF9F6-A9DB-4CA5-9722-ECB64BA4E5E2}"/>
              </a:ext>
            </a:extLst>
          </p:cNvPr>
          <p:cNvSpPr>
            <a:spLocks noGrp="1"/>
          </p:cNvSpPr>
          <p:nvPr/>
        </p:nvSpPr>
        <p:spPr>
          <a:xfrm>
            <a:off x="6486525" y="3467100"/>
            <a:ext cx="4705350" cy="514350"/>
          </a:xfrm>
          <a:prstGeom prst="roundRect">
            <a:avLst>
              <a:gd name="adj" fmla="val 14815"/>
            </a:avLst>
          </a:prstGeom>
          <a:solidFill>
            <a:srgbClr val="EEF3F8"/>
          </a:solidFill>
          <a:ln w="12383">
            <a:solidFill>
              <a:srgbClr val="D4DEE9"/>
            </a:solidFill>
          </a:ln>
        </p:spPr>
      </p:sp>
      <p:sp>
        <p:nvSpPr>
          <p:cNvPr id="12" name="أستطيع التقديم؟">
            <a:extLst>
              <a:ext uri="{FF2B5EF4-FFF2-40B4-BE49-F238E27FC236}">
                <a16:creationId xmlns:a16="http://schemas.microsoft.com/office/drawing/2014/main" id="{7D131704-892C-4EF7-BC56-3F72367B4404}"/>
              </a:ext>
            </a:extLst>
          </p:cNvPr>
          <p:cNvSpPr>
            <a:spLocks noGrp="1"/>
          </p:cNvSpPr>
          <p:nvPr/>
        </p:nvSpPr>
        <p:spPr>
          <a:xfrm>
            <a:off x="8858250" y="352425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أستطيع التقديم؟</a:t>
            </a:r>
          </a:p>
        </p:txBody>
      </p:sp>
      <p:sp>
        <p:nvSpPr>
          <p:cNvPr id="13" name="الشروط والقبول">
            <a:extLst>
              <a:ext uri="{FF2B5EF4-FFF2-40B4-BE49-F238E27FC236}">
                <a16:creationId xmlns:a16="http://schemas.microsoft.com/office/drawing/2014/main" id="{42F0BF17-AC13-458E-AD95-A188B5F03D5A}"/>
              </a:ext>
            </a:extLst>
          </p:cNvPr>
          <p:cNvSpPr>
            <a:spLocks noGrp="1"/>
          </p:cNvSpPr>
          <p:nvPr/>
        </p:nvSpPr>
        <p:spPr>
          <a:xfrm>
            <a:off x="6677025" y="352425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الشروط والقبول</a:t>
            </a:r>
          </a:p>
        </p:txBody>
      </p:sp>
      <p:sp>
        <p:nvSpPr>
          <p:cNvPr id="14" name="Rectangle: Rounded Corners 13">
            <a:extLst>
              <a:ext uri="{FF2B5EF4-FFF2-40B4-BE49-F238E27FC236}">
                <a16:creationId xmlns:a16="http://schemas.microsoft.com/office/drawing/2014/main" id="{C511B586-DECB-4DCA-826E-84DEF3AA8237}"/>
              </a:ext>
            </a:extLst>
          </p:cNvPr>
          <p:cNvSpPr>
            <a:spLocks noGrp="1"/>
          </p:cNvSpPr>
          <p:nvPr/>
        </p:nvSpPr>
        <p:spPr>
          <a:xfrm>
            <a:off x="6486525" y="4095750"/>
            <a:ext cx="4705350" cy="514350"/>
          </a:xfrm>
          <a:prstGeom prst="roundRect">
            <a:avLst>
              <a:gd name="adj" fmla="val 14815"/>
            </a:avLst>
          </a:prstGeom>
          <a:solidFill>
            <a:srgbClr val="EEF3F8"/>
          </a:solidFill>
          <a:ln w="12383">
            <a:solidFill>
              <a:srgbClr val="D4DEE9"/>
            </a:solidFill>
          </a:ln>
        </p:spPr>
      </p:sp>
      <p:sp>
        <p:nvSpPr>
          <p:cNvPr id="15" name="تستطيع أسرتي تحمّله؟">
            <a:extLst>
              <a:ext uri="{FF2B5EF4-FFF2-40B4-BE49-F238E27FC236}">
                <a16:creationId xmlns:a16="http://schemas.microsoft.com/office/drawing/2014/main" id="{7D663996-605B-4678-B472-1863E54192E1}"/>
              </a:ext>
            </a:extLst>
          </p:cNvPr>
          <p:cNvSpPr>
            <a:spLocks noGrp="1"/>
          </p:cNvSpPr>
          <p:nvPr/>
        </p:nvSpPr>
        <p:spPr>
          <a:xfrm>
            <a:off x="8858250" y="415290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تستطيع أسرتي تحمّله؟</a:t>
            </a:r>
          </a:p>
        </p:txBody>
      </p:sp>
      <p:sp>
        <p:nvSpPr>
          <p:cNvPr id="16" name="الرسوم والكلفة">
            <a:extLst>
              <a:ext uri="{FF2B5EF4-FFF2-40B4-BE49-F238E27FC236}">
                <a16:creationId xmlns:a16="http://schemas.microsoft.com/office/drawing/2014/main" id="{2C6DBF45-0245-4721-AD1E-14EA5B0DD41D}"/>
              </a:ext>
            </a:extLst>
          </p:cNvPr>
          <p:cNvSpPr>
            <a:spLocks noGrp="1"/>
          </p:cNvSpPr>
          <p:nvPr/>
        </p:nvSpPr>
        <p:spPr>
          <a:xfrm>
            <a:off x="6677025" y="415290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الرسوم والكلفة</a:t>
            </a:r>
          </a:p>
        </p:txBody>
      </p:sp>
      <p:sp>
        <p:nvSpPr>
          <p:cNvPr id="17" name="Rectangle: Rounded Corners 16">
            <a:extLst>
              <a:ext uri="{FF2B5EF4-FFF2-40B4-BE49-F238E27FC236}">
                <a16:creationId xmlns:a16="http://schemas.microsoft.com/office/drawing/2014/main" id="{31051432-A22F-4860-A3D6-6F8B18E5384E}"/>
              </a:ext>
            </a:extLst>
          </p:cNvPr>
          <p:cNvSpPr>
            <a:spLocks noGrp="1"/>
          </p:cNvSpPr>
          <p:nvPr/>
        </p:nvSpPr>
        <p:spPr>
          <a:xfrm>
            <a:off x="571500" y="1581150"/>
            <a:ext cx="5095875" cy="1495425"/>
          </a:xfrm>
          <a:prstGeom prst="roundRect">
            <a:avLst>
              <a:gd name="adj" fmla="val 5096"/>
            </a:avLst>
          </a:prstGeom>
          <a:solidFill>
            <a:srgbClr val="FFFFFF"/>
          </a:solidFill>
          <a:ln w="12383">
            <a:solidFill>
              <a:srgbClr val="D4DEE9"/>
            </a:solidFill>
          </a:ln>
        </p:spPr>
      </p:sp>
      <p:sp>
        <p:nvSpPr>
          <p:cNvPr id="18" name="116,366">
            <a:extLst>
              <a:ext uri="{FF2B5EF4-FFF2-40B4-BE49-F238E27FC236}">
                <a16:creationId xmlns:a16="http://schemas.microsoft.com/office/drawing/2014/main" id="{C59FB660-0072-4081-8E1E-F4684D438CA1}"/>
              </a:ext>
            </a:extLst>
          </p:cNvPr>
          <p:cNvSpPr>
            <a:spLocks noGrp="1"/>
          </p:cNvSpPr>
          <p:nvPr/>
        </p:nvSpPr>
        <p:spPr>
          <a:xfrm>
            <a:off x="809625" y="1677353"/>
            <a:ext cx="4619625" cy="81724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275" b="1" kern="0" spc="0">
                <a:solidFill>
                  <a:srgbClr val="013070"/>
                </a:solidFill>
                <a:latin typeface="IBM Plex Sans Arabic"/>
                <a:ea typeface="IBM Plex Sans Arabic"/>
                <a:cs typeface="IBM Plex Sans Arabic"/>
              </a:defRPr>
            </a:pPr>
            <a:r>
              <a:rPr lang="ar-JO" sz="4275" b="1" kern="0" spc="0">
                <a:solidFill>
                  <a:srgbClr val="013070"/>
                </a:solidFill>
                <a:latin typeface="IBM Plex Sans Arabic"/>
                <a:ea typeface="IBM Plex Sans Arabic"/>
                <a:cs typeface="IBM Plex Sans Arabic"/>
              </a:rPr>
              <a:t>116,366</a:t>
            </a:r>
          </a:p>
        </p:txBody>
      </p:sp>
      <p:sp>
        <p:nvSpPr>
          <p:cNvPr id="19" name="ناجحًا في التوجيهي 2026">
            <a:extLst>
              <a:ext uri="{FF2B5EF4-FFF2-40B4-BE49-F238E27FC236}">
                <a16:creationId xmlns:a16="http://schemas.microsoft.com/office/drawing/2014/main" id="{875B42FA-6A34-4CB3-9E09-884B0E19F9E6}"/>
              </a:ext>
            </a:extLst>
          </p:cNvPr>
          <p:cNvSpPr>
            <a:spLocks noGrp="1"/>
          </p:cNvSpPr>
          <p:nvPr/>
        </p:nvSpPr>
        <p:spPr>
          <a:xfrm>
            <a:off x="809625" y="2447925"/>
            <a:ext cx="4619625" cy="4095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53657C"/>
                </a:solidFill>
                <a:latin typeface="IBM Plex Sans Arabic"/>
                <a:ea typeface="IBM Plex Sans Arabic"/>
                <a:cs typeface="IBM Plex Sans Arabic"/>
              </a:defRPr>
            </a:pPr>
            <a:r>
              <a:rPr lang="ar-JO" sz="1800" b="1" kern="0" spc="0">
                <a:solidFill>
                  <a:srgbClr val="53657C"/>
                </a:solidFill>
                <a:latin typeface="IBM Plex Sans Arabic"/>
                <a:ea typeface="IBM Plex Sans Arabic"/>
                <a:cs typeface="IBM Plex Sans Arabic"/>
              </a:rPr>
              <a:t>ناجحًا في التوجيهي 2026</a:t>
            </a:r>
          </a:p>
        </p:txBody>
      </p:sp>
      <p:sp>
        <p:nvSpPr>
          <p:cNvPr id="20" name="Rectangle: Rounded Corners 19">
            <a:extLst>
              <a:ext uri="{FF2B5EF4-FFF2-40B4-BE49-F238E27FC236}">
                <a16:creationId xmlns:a16="http://schemas.microsoft.com/office/drawing/2014/main" id="{FE27BE5C-9419-431A-813F-EA9C035311F0}"/>
              </a:ext>
            </a:extLst>
          </p:cNvPr>
          <p:cNvSpPr>
            <a:spLocks noGrp="1"/>
          </p:cNvSpPr>
          <p:nvPr/>
        </p:nvSpPr>
        <p:spPr>
          <a:xfrm>
            <a:off x="571500" y="3238500"/>
            <a:ext cx="5095875" cy="1600200"/>
          </a:xfrm>
          <a:prstGeom prst="roundRect">
            <a:avLst>
              <a:gd name="adj" fmla="val 4762"/>
            </a:avLst>
          </a:prstGeom>
          <a:solidFill>
            <a:srgbClr val="F3EAD7"/>
          </a:solidFill>
          <a:ln w="12383">
            <a:solidFill>
              <a:srgbClr val="DFC98F"/>
            </a:solidFill>
          </a:ln>
        </p:spPr>
      </p:sp>
      <p:sp>
        <p:nvSpPr>
          <p:cNvPr id="21" name="607">
            <a:extLst>
              <a:ext uri="{FF2B5EF4-FFF2-40B4-BE49-F238E27FC236}">
                <a16:creationId xmlns:a16="http://schemas.microsoft.com/office/drawing/2014/main" id="{7D1749CE-6DF3-4DE7-9D4F-387493C75902}"/>
              </a:ext>
            </a:extLst>
          </p:cNvPr>
          <p:cNvSpPr>
            <a:spLocks noGrp="1"/>
          </p:cNvSpPr>
          <p:nvPr/>
        </p:nvSpPr>
        <p:spPr>
          <a:xfrm>
            <a:off x="809625" y="3295650"/>
            <a:ext cx="4619625" cy="9906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250" b="1" kern="0" spc="0">
                <a:solidFill>
                  <a:srgbClr val="C8A04C"/>
                </a:solidFill>
                <a:latin typeface="IBM Plex Sans Arabic"/>
                <a:ea typeface="IBM Plex Sans Arabic"/>
                <a:cs typeface="IBM Plex Sans Arabic"/>
              </a:defRPr>
            </a:pPr>
            <a:r>
              <a:rPr lang="ar-JO" sz="5250" b="1" kern="0" spc="0">
                <a:solidFill>
                  <a:srgbClr val="C8A04C"/>
                </a:solidFill>
                <a:latin typeface="IBM Plex Sans Arabic"/>
                <a:ea typeface="IBM Plex Sans Arabic"/>
                <a:cs typeface="IBM Plex Sans Arabic"/>
              </a:rPr>
              <a:t>607</a:t>
            </a:r>
          </a:p>
        </p:txBody>
      </p:sp>
      <p:sp>
        <p:nvSpPr>
          <p:cNvPr id="22" name="تخصصًا مطروحًا لمرحلة البكالوريوس">
            <a:extLst>
              <a:ext uri="{FF2B5EF4-FFF2-40B4-BE49-F238E27FC236}">
                <a16:creationId xmlns:a16="http://schemas.microsoft.com/office/drawing/2014/main" id="{75FC2820-28FA-4383-82A6-3A1B2B2DEED8}"/>
              </a:ext>
            </a:extLst>
          </p:cNvPr>
          <p:cNvSpPr>
            <a:spLocks noGrp="1"/>
          </p:cNvSpPr>
          <p:nvPr/>
        </p:nvSpPr>
        <p:spPr>
          <a:xfrm>
            <a:off x="809625" y="4133850"/>
            <a:ext cx="4619625"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تخصصًا مطروحًا لمرحلة البكالوريوس</a:t>
            </a:r>
          </a:p>
        </p:txBody>
      </p:sp>
      <p:sp>
        <p:nvSpPr>
          <p:cNvPr id="23" name="Rectangle: Rounded Corners 22">
            <a:extLst>
              <a:ext uri="{FF2B5EF4-FFF2-40B4-BE49-F238E27FC236}">
                <a16:creationId xmlns:a16="http://schemas.microsoft.com/office/drawing/2014/main" id="{6ED68503-C528-4BB1-9CA6-22D21D8CFAFC}"/>
              </a:ext>
            </a:extLst>
          </p:cNvPr>
          <p:cNvSpPr>
            <a:spLocks noGrp="1"/>
          </p:cNvSpPr>
          <p:nvPr/>
        </p:nvSpPr>
        <p:spPr>
          <a:xfrm>
            <a:off x="666750" y="5105400"/>
            <a:ext cx="10810875" cy="666750"/>
          </a:xfrm>
          <a:prstGeom prst="roundRect">
            <a:avLst>
              <a:gd name="adj" fmla="val 11429"/>
            </a:avLst>
          </a:prstGeom>
          <a:solidFill>
            <a:srgbClr val="013070"/>
          </a:solidFill>
          <a:ln w="12383">
            <a:solidFill>
              <a:srgbClr val="013070"/>
            </a:solidFill>
          </a:ln>
        </p:spPr>
      </p:sp>
      <p:sp>
        <p:nvSpPr>
          <p:cNvPr id="24" name="المشكلة: القبول والرسوم والكلفة والسوق لا تجت">
            <a:extLst>
              <a:ext uri="{FF2B5EF4-FFF2-40B4-BE49-F238E27FC236}">
                <a16:creationId xmlns:a16="http://schemas.microsoft.com/office/drawing/2014/main" id="{65348E2E-93B7-4A28-8429-8299D7F0B69E}"/>
              </a:ext>
            </a:extLst>
          </p:cNvPr>
          <p:cNvSpPr>
            <a:spLocks noGrp="1"/>
          </p:cNvSpPr>
          <p:nvPr/>
        </p:nvSpPr>
        <p:spPr>
          <a:xfrm>
            <a:off x="876300" y="5200650"/>
            <a:ext cx="10391775"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FFFFFF"/>
                </a:solidFill>
                <a:latin typeface="IBM Plex Sans Arabic"/>
                <a:ea typeface="IBM Plex Sans Arabic"/>
                <a:cs typeface="IBM Plex Sans Arabic"/>
              </a:defRPr>
            </a:pPr>
            <a:r>
              <a:rPr lang="ar-JO" sz="1950" b="1" kern="0" spc="0">
                <a:solidFill>
                  <a:srgbClr val="FFFFFF"/>
                </a:solidFill>
                <a:latin typeface="IBM Plex Sans Arabic"/>
                <a:ea typeface="IBM Plex Sans Arabic"/>
                <a:cs typeface="IBM Plex Sans Arabic"/>
              </a:rPr>
              <a:t>المشكلة: القبول والرسوم والكلفة والسوق لا تجتمع حول الطالب في قرار واحد</a:t>
            </a:r>
          </a:p>
        </p:txBody>
      </p:sp>
      <p:sp>
        <p:nvSpPr>
          <p:cNvPr id="25" name="المصدر: وزارة التربية والتعليم • وحدة تنسيق ا">
            <a:extLst>
              <a:ext uri="{FF2B5EF4-FFF2-40B4-BE49-F238E27FC236}">
                <a16:creationId xmlns:a16="http://schemas.microsoft.com/office/drawing/2014/main" id="{2E202B72-0A61-4F05-BFCA-EE571C471D99}"/>
              </a:ext>
            </a:extLst>
          </p:cNvPr>
          <p:cNvSpPr>
            <a:spLocks noGrp="1"/>
          </p:cNvSpPr>
          <p:nvPr/>
        </p:nvSpPr>
        <p:spPr>
          <a:xfrm>
            <a:off x="762000" y="5966460"/>
            <a:ext cx="106680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المصدر: وزارة التربية والتعليم • وحدة تنسيق القبول الموحد، آب 2026</a:t>
            </a:r>
          </a:p>
        </p:txBody>
      </p:sp>
    </p:spTree>
    <p:extLst>
      <p:ext uri="{BB962C8B-B14F-4D97-AF65-F5344CB8AC3E}">
        <p14:creationId xmlns:p14="http://schemas.microsoft.com/office/powerpoint/2010/main" val="927043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1125200" y="400050"/>
            <a:ext cx="552450" cy="552450"/>
          </a:xfrm>
          <a:prstGeom prst="rect">
            <a:avLst/>
          </a:prstGeom>
        </p:spPr>
      </p:pic>
      <p:sp>
        <p:nvSpPr>
          <p:cNvPr id="2" name="الحل: تطبيق جاهز يحوّل الاهتمام إلى قرار">
            <a:extLst>
              <a:ext uri="{FF2B5EF4-FFF2-40B4-BE49-F238E27FC236}">
                <a16:creationId xmlns:a16="http://schemas.microsoft.com/office/drawing/2014/main" id="{C3FC53AD-F7A8-42BA-9B30-EF41D611998E}"/>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FFFFFF"/>
                </a:solidFill>
                <a:latin typeface="IBM Plex Sans Arabic"/>
                <a:ea typeface="IBM Plex Sans Arabic"/>
                <a:cs typeface="IBM Plex Sans Arabic"/>
              </a:defRPr>
            </a:pPr>
            <a:r>
              <a:rPr lang="ar-JO" sz="3150" b="1" kern="0" spc="0">
                <a:solidFill>
                  <a:srgbClr val="FFFFFF"/>
                </a:solidFill>
                <a:latin typeface="IBM Plex Sans Arabic"/>
                <a:ea typeface="IBM Plex Sans Arabic"/>
                <a:cs typeface="IBM Plex Sans Arabic"/>
              </a:rPr>
              <a:t>الحل: تطبيق جاهز يحوّل الاهتمام إلى قرار</a:t>
            </a:r>
          </a:p>
        </p:txBody>
      </p:sp>
      <p:sp>
        <p:nvSpPr>
          <p:cNvPr id="3" name="03">
            <a:extLst>
              <a:ext uri="{FF2B5EF4-FFF2-40B4-BE49-F238E27FC236}">
                <a16:creationId xmlns:a16="http://schemas.microsoft.com/office/drawing/2014/main" id="{6AF0A7D7-6708-4947-9F7A-8DF1284E4A3E}"/>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03</a:t>
            </a:r>
          </a:p>
        </p:txBody>
      </p:sp>
      <p:pic>
        <p:nvPicPr>
          <p:cNvPr id="18" name="Picture 17"/>
          <p:cNvPicPr>
            <a:picLocks noChangeAspect="1"/>
          </p:cNvPicPr>
          <p:nvPr/>
        </p:nvPicPr>
        <p:blipFill>
          <a:blip r:embed="rId4"/>
          <a:stretch/>
        </p:blipFill>
        <p:spPr>
          <a:xfrm>
            <a:off x="76200" y="57150"/>
            <a:ext cx="4178300" cy="6267450"/>
          </a:xfrm>
          <a:prstGeom prst="rect">
            <a:avLst/>
          </a:prstGeom>
        </p:spPr>
      </p:pic>
      <p:sp>
        <p:nvSpPr>
          <p:cNvPr id="5" name="Rectangle: Rounded Corners 4">
            <a:extLst>
              <a:ext uri="{FF2B5EF4-FFF2-40B4-BE49-F238E27FC236}">
                <a16:creationId xmlns:a16="http://schemas.microsoft.com/office/drawing/2014/main" id="{67618893-D81F-46FB-A7D4-333A3030910F}"/>
              </a:ext>
            </a:extLst>
          </p:cNvPr>
          <p:cNvSpPr>
            <a:spLocks noGrp="1"/>
          </p:cNvSpPr>
          <p:nvPr/>
        </p:nvSpPr>
        <p:spPr>
          <a:xfrm>
            <a:off x="7905750" y="1381125"/>
            <a:ext cx="3571875" cy="381000"/>
          </a:xfrm>
          <a:prstGeom prst="roundRect">
            <a:avLst>
              <a:gd name="adj" fmla="val 20000"/>
            </a:avLst>
          </a:prstGeom>
          <a:solidFill>
            <a:srgbClr val="123D76"/>
          </a:solidFill>
          <a:ln w="12383">
            <a:solidFill>
              <a:srgbClr val="58749B"/>
            </a:solidFill>
          </a:ln>
        </p:spPr>
      </p:sp>
      <p:sp>
        <p:nvSpPr>
          <p:cNvPr id="6" name="تطبيق جاهز للاستخدام">
            <a:extLst>
              <a:ext uri="{FF2B5EF4-FFF2-40B4-BE49-F238E27FC236}">
                <a16:creationId xmlns:a16="http://schemas.microsoft.com/office/drawing/2014/main" id="{46F33DBA-6B42-4326-95A5-0C6CFFC1A67C}"/>
              </a:ext>
            </a:extLst>
          </p:cNvPr>
          <p:cNvSpPr>
            <a:spLocks noGrp="1"/>
          </p:cNvSpPr>
          <p:nvPr/>
        </p:nvSpPr>
        <p:spPr>
          <a:xfrm>
            <a:off x="8001000" y="1408748"/>
            <a:ext cx="338137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تطبيق جاهز للاستخدام</a:t>
            </a:r>
          </a:p>
        </p:txBody>
      </p:sp>
      <p:sp>
        <p:nvSpPr>
          <p:cNvPr id="7" name="1  اكتشف نقطة البداية">
            <a:extLst>
              <a:ext uri="{FF2B5EF4-FFF2-40B4-BE49-F238E27FC236}">
                <a16:creationId xmlns:a16="http://schemas.microsoft.com/office/drawing/2014/main" id="{E7D4AF0A-56D7-48D3-B35F-9377B0ECA388}"/>
              </a:ext>
            </a:extLst>
          </p:cNvPr>
          <p:cNvSpPr>
            <a:spLocks noGrp="1"/>
          </p:cNvSpPr>
          <p:nvPr/>
        </p:nvSpPr>
        <p:spPr>
          <a:xfrm>
            <a:off x="4524375" y="19526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1  اكتشف نقطة البداية</a:t>
            </a:r>
          </a:p>
        </p:txBody>
      </p:sp>
      <p:sp>
        <p:nvSpPr>
          <p:cNvPr id="8" name="أسئلة استكشاف ذاتي تبني قائمة أولية">
            <a:extLst>
              <a:ext uri="{FF2B5EF4-FFF2-40B4-BE49-F238E27FC236}">
                <a16:creationId xmlns:a16="http://schemas.microsoft.com/office/drawing/2014/main" id="{71106C32-29BF-4F08-9F36-1263196BE884}"/>
              </a:ext>
            </a:extLst>
          </p:cNvPr>
          <p:cNvSpPr>
            <a:spLocks noGrp="1"/>
          </p:cNvSpPr>
          <p:nvPr/>
        </p:nvSpPr>
        <p:spPr>
          <a:xfrm>
            <a:off x="4524375" y="25431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أسئلة استكشاف ذاتي تبني قائمة أولية</a:t>
            </a:r>
          </a:p>
        </p:txBody>
      </p:sp>
      <p:sp>
        <p:nvSpPr>
          <p:cNvPr id="9" name="2  قارن ما يهم القرار">
            <a:extLst>
              <a:ext uri="{FF2B5EF4-FFF2-40B4-BE49-F238E27FC236}">
                <a16:creationId xmlns:a16="http://schemas.microsoft.com/office/drawing/2014/main" id="{C697FDA1-D3D9-4118-9CCF-2A8E83A6D35C}"/>
              </a:ext>
            </a:extLst>
          </p:cNvPr>
          <p:cNvSpPr>
            <a:spLocks noGrp="1"/>
          </p:cNvSpPr>
          <p:nvPr/>
        </p:nvSpPr>
        <p:spPr>
          <a:xfrm>
            <a:off x="4524375" y="31718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2  قارن ما يهم القرار</a:t>
            </a:r>
          </a:p>
        </p:txBody>
      </p:sp>
      <p:sp>
        <p:nvSpPr>
          <p:cNvPr id="10" name="قبول ورسوم وكلفة، ثم مؤشرات سوق عامة">
            <a:extLst>
              <a:ext uri="{FF2B5EF4-FFF2-40B4-BE49-F238E27FC236}">
                <a16:creationId xmlns:a16="http://schemas.microsoft.com/office/drawing/2014/main" id="{6CC55AC7-0644-43BE-9510-EBB7C0F77961}"/>
              </a:ext>
            </a:extLst>
          </p:cNvPr>
          <p:cNvSpPr>
            <a:spLocks noGrp="1"/>
          </p:cNvSpPr>
          <p:nvPr/>
        </p:nvSpPr>
        <p:spPr>
          <a:xfrm>
            <a:off x="4524375" y="37623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قبول ورسوم وكلفة، ثم مؤشرات سوق عامة</a:t>
            </a:r>
          </a:p>
        </p:txBody>
      </p:sp>
      <p:sp>
        <p:nvSpPr>
          <p:cNvPr id="11" name="3  ابنِ قائمة مبرّرة">
            <a:extLst>
              <a:ext uri="{FF2B5EF4-FFF2-40B4-BE49-F238E27FC236}">
                <a16:creationId xmlns:a16="http://schemas.microsoft.com/office/drawing/2014/main" id="{9D5B6DE0-EE43-4293-9DE5-264D59E3132F}"/>
              </a:ext>
            </a:extLst>
          </p:cNvPr>
          <p:cNvSpPr>
            <a:spLocks noGrp="1"/>
          </p:cNvSpPr>
          <p:nvPr/>
        </p:nvSpPr>
        <p:spPr>
          <a:xfrm>
            <a:off x="4524375" y="43910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3  ابنِ قائمة مبرّرة</a:t>
            </a:r>
          </a:p>
        </p:txBody>
      </p:sp>
      <p:sp>
        <p:nvSpPr>
          <p:cNvPr id="12" name="خيارات قصيرة وخطة كلفة وبيانات مؤرخة">
            <a:extLst>
              <a:ext uri="{FF2B5EF4-FFF2-40B4-BE49-F238E27FC236}">
                <a16:creationId xmlns:a16="http://schemas.microsoft.com/office/drawing/2014/main" id="{3A53AEC9-6803-48A8-BEAD-E4C2273C006D}"/>
              </a:ext>
            </a:extLst>
          </p:cNvPr>
          <p:cNvSpPr>
            <a:spLocks noGrp="1"/>
          </p:cNvSpPr>
          <p:nvPr/>
        </p:nvSpPr>
        <p:spPr>
          <a:xfrm>
            <a:off x="4524375" y="49815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خيارات قصيرة وخطة كلفة وبيانات مؤرخة</a:t>
            </a:r>
          </a:p>
        </p:txBody>
      </p:sp>
      <p:sp>
        <p:nvSpPr>
          <p:cNvPr id="13" name="Rectangle: Rounded Corners 12">
            <a:extLst>
              <a:ext uri="{FF2B5EF4-FFF2-40B4-BE49-F238E27FC236}">
                <a16:creationId xmlns:a16="http://schemas.microsoft.com/office/drawing/2014/main" id="{DFDD938C-9B47-406E-9F16-31CEF97B83E8}"/>
              </a:ext>
            </a:extLst>
          </p:cNvPr>
          <p:cNvSpPr>
            <a:spLocks noGrp="1"/>
          </p:cNvSpPr>
          <p:nvPr/>
        </p:nvSpPr>
        <p:spPr>
          <a:xfrm>
            <a:off x="4524375" y="5553075"/>
            <a:ext cx="6953250" cy="619125"/>
          </a:xfrm>
          <a:prstGeom prst="roundRect">
            <a:avLst>
              <a:gd name="adj" fmla="val 12308"/>
            </a:avLst>
          </a:prstGeom>
          <a:solidFill>
            <a:srgbClr val="F3EAD7"/>
          </a:solidFill>
          <a:ln w="12383">
            <a:solidFill>
              <a:srgbClr val="DFC98F"/>
            </a:solidFill>
          </a:ln>
        </p:spPr>
      </p:sp>
      <p:sp>
        <p:nvSpPr>
          <p:cNvPr id="14" name="النتيجة: قرار يناقشه الطالب مع أسرته والمرشد">
            <a:extLst>
              <a:ext uri="{FF2B5EF4-FFF2-40B4-BE49-F238E27FC236}">
                <a16:creationId xmlns:a16="http://schemas.microsoft.com/office/drawing/2014/main" id="{9D49F69D-DB27-43CC-AFC2-B09299C4AC73}"/>
              </a:ext>
            </a:extLst>
          </p:cNvPr>
          <p:cNvSpPr>
            <a:spLocks noGrp="1"/>
          </p:cNvSpPr>
          <p:nvPr/>
        </p:nvSpPr>
        <p:spPr>
          <a:xfrm>
            <a:off x="4714875" y="5619750"/>
            <a:ext cx="65722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النتيجة: قرار يناقشه الطالب مع أسرته والمرشد</a:t>
            </a:r>
          </a:p>
        </p:txBody>
      </p:sp>
    </p:spTree>
    <p:extLst>
      <p:ext uri="{BB962C8B-B14F-4D97-AF65-F5344CB8AC3E}">
        <p14:creationId xmlns:p14="http://schemas.microsoft.com/office/powerpoint/2010/main" val="14867967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3"/>
          <a:stretch/>
        </p:blipFill>
        <p:spPr>
          <a:xfrm>
            <a:off x="11125200" y="400050"/>
            <a:ext cx="552450" cy="552450"/>
          </a:xfrm>
          <a:prstGeom prst="rect">
            <a:avLst/>
          </a:prstGeom>
        </p:spPr>
      </p:pic>
      <p:sp>
        <p:nvSpPr>
          <p:cNvPr id="2" name="لحظة القرار: رقم ومعنى ومصدر">
            <a:extLst>
              <a:ext uri="{FF2B5EF4-FFF2-40B4-BE49-F238E27FC236}">
                <a16:creationId xmlns:a16="http://schemas.microsoft.com/office/drawing/2014/main" id="{F01E8550-5133-4589-AD5A-EC7C04EFB6EC}"/>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لحظة القرار: رقم ومعنى ومصدر</a:t>
            </a:r>
          </a:p>
        </p:txBody>
      </p:sp>
      <p:sp>
        <p:nvSpPr>
          <p:cNvPr id="3" name="04">
            <a:extLst>
              <a:ext uri="{FF2B5EF4-FFF2-40B4-BE49-F238E27FC236}">
                <a16:creationId xmlns:a16="http://schemas.microsoft.com/office/drawing/2014/main" id="{802A8921-A18C-4B87-9AF6-AF5C9578873D}"/>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04</a:t>
            </a:r>
          </a:p>
        </p:txBody>
      </p:sp>
      <p:pic>
        <p:nvPicPr>
          <p:cNvPr id="21" name="Picture 20"/>
          <p:cNvPicPr>
            <a:picLocks noChangeAspect="1"/>
          </p:cNvPicPr>
          <p:nvPr/>
        </p:nvPicPr>
        <p:blipFill>
          <a:blip r:embed="rId4"/>
          <a:stretch/>
        </p:blipFill>
        <p:spPr>
          <a:xfrm>
            <a:off x="76200" y="57150"/>
            <a:ext cx="4178300" cy="6267450"/>
          </a:xfrm>
          <a:prstGeom prst="rect">
            <a:avLst/>
          </a:prstGeom>
        </p:spPr>
      </p:pic>
      <p:sp>
        <p:nvSpPr>
          <p:cNvPr id="5" name="مقارنة واحدة، ثلاثة أسئلة دقيقة">
            <a:extLst>
              <a:ext uri="{FF2B5EF4-FFF2-40B4-BE49-F238E27FC236}">
                <a16:creationId xmlns:a16="http://schemas.microsoft.com/office/drawing/2014/main" id="{EB5B6DB0-AF29-4711-8F4F-FFADD105EED5}"/>
              </a:ext>
            </a:extLst>
          </p:cNvPr>
          <p:cNvSpPr>
            <a:spLocks noGrp="1"/>
          </p:cNvSpPr>
          <p:nvPr/>
        </p:nvSpPr>
        <p:spPr>
          <a:xfrm>
            <a:off x="4429125" y="1523048"/>
            <a:ext cx="7048500" cy="49720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75" b="1" kern="0" spc="0">
                <a:solidFill>
                  <a:srgbClr val="013070"/>
                </a:solidFill>
                <a:latin typeface="IBM Plex Sans Arabic"/>
                <a:ea typeface="IBM Plex Sans Arabic"/>
                <a:cs typeface="IBM Plex Sans Arabic"/>
              </a:defRPr>
            </a:pPr>
            <a:r>
              <a:rPr lang="ar-JO" sz="2475" b="1" kern="0" spc="0">
                <a:solidFill>
                  <a:srgbClr val="013070"/>
                </a:solidFill>
                <a:latin typeface="IBM Plex Sans Arabic"/>
                <a:ea typeface="IBM Plex Sans Arabic"/>
                <a:cs typeface="IBM Plex Sans Arabic"/>
              </a:rPr>
              <a:t>مقارنة واحدة، ثلاثة أسئلة دقيقة</a:t>
            </a:r>
          </a:p>
        </p:txBody>
      </p:sp>
      <p:sp>
        <p:nvSpPr>
          <p:cNvPr id="6" name="Rectangle: Rounded Corners 5">
            <a:extLst>
              <a:ext uri="{FF2B5EF4-FFF2-40B4-BE49-F238E27FC236}">
                <a16:creationId xmlns:a16="http://schemas.microsoft.com/office/drawing/2014/main" id="{62CBBF40-E463-480C-93C8-B0BCDE1305E0}"/>
              </a:ext>
            </a:extLst>
          </p:cNvPr>
          <p:cNvSpPr>
            <a:spLocks noGrp="1"/>
          </p:cNvSpPr>
          <p:nvPr/>
        </p:nvSpPr>
        <p:spPr>
          <a:xfrm>
            <a:off x="4524375" y="2200275"/>
            <a:ext cx="6953250" cy="781050"/>
          </a:xfrm>
          <a:prstGeom prst="roundRect">
            <a:avLst>
              <a:gd name="adj" fmla="val 9756"/>
            </a:avLst>
          </a:prstGeom>
          <a:solidFill>
            <a:srgbClr val="FFFFFF"/>
          </a:solidFill>
          <a:ln w="12383">
            <a:solidFill>
              <a:srgbClr val="D4DEE9"/>
            </a:solidFill>
          </a:ln>
        </p:spPr>
      </p:sp>
      <p:sp>
        <p:nvSpPr>
          <p:cNvPr id="7" name="شرط التقديم">
            <a:extLst>
              <a:ext uri="{FF2B5EF4-FFF2-40B4-BE49-F238E27FC236}">
                <a16:creationId xmlns:a16="http://schemas.microsoft.com/office/drawing/2014/main" id="{D44D3137-1F1E-4BD8-82AF-91DBB7B14349}"/>
              </a:ext>
            </a:extLst>
          </p:cNvPr>
          <p:cNvSpPr>
            <a:spLocks noGrp="1"/>
          </p:cNvSpPr>
          <p:nvPr/>
        </p:nvSpPr>
        <p:spPr>
          <a:xfrm>
            <a:off x="8629650" y="2295525"/>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شرط التقديم</a:t>
            </a:r>
          </a:p>
        </p:txBody>
      </p:sp>
      <p:sp>
        <p:nvSpPr>
          <p:cNvPr id="8" name="هل يحق لي التقديم؟">
            <a:extLst>
              <a:ext uri="{FF2B5EF4-FFF2-40B4-BE49-F238E27FC236}">
                <a16:creationId xmlns:a16="http://schemas.microsoft.com/office/drawing/2014/main" id="{0AA1C854-8D1B-4A6B-BCF7-5F9F859727B3}"/>
              </a:ext>
            </a:extLst>
          </p:cNvPr>
          <p:cNvSpPr>
            <a:spLocks noGrp="1"/>
          </p:cNvSpPr>
          <p:nvPr/>
        </p:nvSpPr>
        <p:spPr>
          <a:xfrm>
            <a:off x="4762500" y="2295525"/>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هل يحق لي التقديم؟</a:t>
            </a:r>
          </a:p>
        </p:txBody>
      </p:sp>
      <p:sp>
        <p:nvSpPr>
          <p:cNvPr id="9" name="Rectangle: Rounded Corners 8">
            <a:extLst>
              <a:ext uri="{FF2B5EF4-FFF2-40B4-BE49-F238E27FC236}">
                <a16:creationId xmlns:a16="http://schemas.microsoft.com/office/drawing/2014/main" id="{113DE340-06A2-4B92-8D5C-50B9466CE91E}"/>
              </a:ext>
            </a:extLst>
          </p:cNvPr>
          <p:cNvSpPr>
            <a:spLocks noGrp="1"/>
          </p:cNvSpPr>
          <p:nvPr/>
        </p:nvSpPr>
        <p:spPr>
          <a:xfrm>
            <a:off x="4524375" y="3181350"/>
            <a:ext cx="6953250" cy="781050"/>
          </a:xfrm>
          <a:prstGeom prst="roundRect">
            <a:avLst>
              <a:gd name="adj" fmla="val 9756"/>
            </a:avLst>
          </a:prstGeom>
          <a:solidFill>
            <a:srgbClr val="F3EAD7"/>
          </a:solidFill>
          <a:ln w="12383">
            <a:solidFill>
              <a:srgbClr val="DFC98F"/>
            </a:solidFill>
          </a:ln>
        </p:spPr>
      </p:sp>
      <p:sp>
        <p:nvSpPr>
          <p:cNvPr id="10" name="حد تنافسي سابق">
            <a:extLst>
              <a:ext uri="{FF2B5EF4-FFF2-40B4-BE49-F238E27FC236}">
                <a16:creationId xmlns:a16="http://schemas.microsoft.com/office/drawing/2014/main" id="{9EBB96F6-5D1D-4006-9ACB-F83A66AF8A5D}"/>
              </a:ext>
            </a:extLst>
          </p:cNvPr>
          <p:cNvSpPr>
            <a:spLocks noGrp="1"/>
          </p:cNvSpPr>
          <p:nvPr/>
        </p:nvSpPr>
        <p:spPr>
          <a:xfrm>
            <a:off x="8629650" y="3276600"/>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حد تنافسي سابق</a:t>
            </a:r>
          </a:p>
        </p:txBody>
      </p:sp>
      <p:sp>
        <p:nvSpPr>
          <p:cNvPr id="11" name="مرجع تاريخي، وليس وعد قبول">
            <a:extLst>
              <a:ext uri="{FF2B5EF4-FFF2-40B4-BE49-F238E27FC236}">
                <a16:creationId xmlns:a16="http://schemas.microsoft.com/office/drawing/2014/main" id="{CCD7E24B-FEA9-4635-A192-DCDA46160FD7}"/>
              </a:ext>
            </a:extLst>
          </p:cNvPr>
          <p:cNvSpPr>
            <a:spLocks noGrp="1"/>
          </p:cNvSpPr>
          <p:nvPr/>
        </p:nvSpPr>
        <p:spPr>
          <a:xfrm>
            <a:off x="4762500" y="3276600"/>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مرجع تاريخي، وليس وعد قبول</a:t>
            </a:r>
          </a:p>
        </p:txBody>
      </p:sp>
      <p:sp>
        <p:nvSpPr>
          <p:cNvPr id="12" name="Rectangle: Rounded Corners 11">
            <a:extLst>
              <a:ext uri="{FF2B5EF4-FFF2-40B4-BE49-F238E27FC236}">
                <a16:creationId xmlns:a16="http://schemas.microsoft.com/office/drawing/2014/main" id="{47AE073F-ADA9-4690-91E6-C09849DD2AC8}"/>
              </a:ext>
            </a:extLst>
          </p:cNvPr>
          <p:cNvSpPr>
            <a:spLocks noGrp="1"/>
          </p:cNvSpPr>
          <p:nvPr/>
        </p:nvSpPr>
        <p:spPr>
          <a:xfrm>
            <a:off x="4524375" y="4162425"/>
            <a:ext cx="6953250" cy="781050"/>
          </a:xfrm>
          <a:prstGeom prst="roundRect">
            <a:avLst>
              <a:gd name="adj" fmla="val 9756"/>
            </a:avLst>
          </a:prstGeom>
          <a:solidFill>
            <a:srgbClr val="FFFFFF"/>
          </a:solidFill>
          <a:ln w="12383">
            <a:solidFill>
              <a:srgbClr val="D4DEE9"/>
            </a:solidFill>
          </a:ln>
        </p:spPr>
      </p:sp>
      <p:sp>
        <p:nvSpPr>
          <p:cNvPr id="13" name="رسم رسمي">
            <a:extLst>
              <a:ext uri="{FF2B5EF4-FFF2-40B4-BE49-F238E27FC236}">
                <a16:creationId xmlns:a16="http://schemas.microsoft.com/office/drawing/2014/main" id="{FE4953C9-5F6A-43BB-9E09-F4899F587402}"/>
              </a:ext>
            </a:extLst>
          </p:cNvPr>
          <p:cNvSpPr>
            <a:spLocks noGrp="1"/>
          </p:cNvSpPr>
          <p:nvPr/>
        </p:nvSpPr>
        <p:spPr>
          <a:xfrm>
            <a:off x="8629650" y="4257675"/>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رسم رسمي</a:t>
            </a:r>
          </a:p>
        </p:txBody>
      </p:sp>
      <p:sp>
        <p:nvSpPr>
          <p:cNvPr id="14" name="كم تدفع الأسرة؟ ومن أي سنة؟">
            <a:extLst>
              <a:ext uri="{FF2B5EF4-FFF2-40B4-BE49-F238E27FC236}">
                <a16:creationId xmlns:a16="http://schemas.microsoft.com/office/drawing/2014/main" id="{4D8888B9-751A-4248-81F7-CBBABF5D1E46}"/>
              </a:ext>
            </a:extLst>
          </p:cNvPr>
          <p:cNvSpPr>
            <a:spLocks noGrp="1"/>
          </p:cNvSpPr>
          <p:nvPr/>
        </p:nvSpPr>
        <p:spPr>
          <a:xfrm>
            <a:off x="4762500" y="4257675"/>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كم تدفع الأسرة؟ ومن أي سنة؟</a:t>
            </a:r>
          </a:p>
        </p:txBody>
      </p:sp>
      <p:sp>
        <p:nvSpPr>
          <p:cNvPr id="15" name="Rectangle: Rounded Corners 14">
            <a:extLst>
              <a:ext uri="{FF2B5EF4-FFF2-40B4-BE49-F238E27FC236}">
                <a16:creationId xmlns:a16="http://schemas.microsoft.com/office/drawing/2014/main" id="{942713FB-2A02-4A59-B5BF-100B1FC3E804}"/>
              </a:ext>
            </a:extLst>
          </p:cNvPr>
          <p:cNvSpPr>
            <a:spLocks noGrp="1"/>
          </p:cNvSpPr>
          <p:nvPr/>
        </p:nvSpPr>
        <p:spPr>
          <a:xfrm>
            <a:off x="4524375" y="5305425"/>
            <a:ext cx="6953250" cy="638175"/>
          </a:xfrm>
          <a:prstGeom prst="roundRect">
            <a:avLst>
              <a:gd name="adj" fmla="val 11940"/>
            </a:avLst>
          </a:prstGeom>
          <a:solidFill>
            <a:srgbClr val="013070"/>
          </a:solidFill>
          <a:ln w="12383">
            <a:solidFill>
              <a:srgbClr val="013070"/>
            </a:solidFill>
          </a:ln>
        </p:spPr>
      </p:sp>
      <p:sp>
        <p:nvSpPr>
          <p:cNvPr id="16" name="قائمة قصيرة يمكن تفسيرها والدفاع عنها">
            <a:extLst>
              <a:ext uri="{FF2B5EF4-FFF2-40B4-BE49-F238E27FC236}">
                <a16:creationId xmlns:a16="http://schemas.microsoft.com/office/drawing/2014/main" id="{8979A9CA-833F-47F7-B061-FEA17B5F394E}"/>
              </a:ext>
            </a:extLst>
          </p:cNvPr>
          <p:cNvSpPr>
            <a:spLocks noGrp="1"/>
          </p:cNvSpPr>
          <p:nvPr/>
        </p:nvSpPr>
        <p:spPr>
          <a:xfrm>
            <a:off x="4762500" y="5381625"/>
            <a:ext cx="6477000"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قائمة قصيرة يمكن تفسيرها والدفاع عنها</a:t>
            </a:r>
          </a:p>
        </p:txBody>
      </p:sp>
      <p:sp>
        <p:nvSpPr>
          <p:cNvPr id="17" name="دليل 2026/2027 • الحدود السابقة معروضة بسنتها">
            <a:extLst>
              <a:ext uri="{FF2B5EF4-FFF2-40B4-BE49-F238E27FC236}">
                <a16:creationId xmlns:a16="http://schemas.microsoft.com/office/drawing/2014/main" id="{F4187843-C0CF-41AE-B5EE-2D3AA37589DD}"/>
              </a:ext>
            </a:extLst>
          </p:cNvPr>
          <p:cNvSpPr>
            <a:spLocks noGrp="1"/>
          </p:cNvSpPr>
          <p:nvPr/>
        </p:nvSpPr>
        <p:spPr>
          <a:xfrm>
            <a:off x="4524375" y="6033135"/>
            <a:ext cx="69532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دليل 2026/2027 • الحدود السابقة معروضة بسنتها • تحقق 10 أيلول 2026</a:t>
            </a:r>
          </a:p>
        </p:txBody>
      </p:sp>
    </p:spTree>
    <p:extLst>
      <p:ext uri="{BB962C8B-B14F-4D97-AF65-F5344CB8AC3E}">
        <p14:creationId xmlns:p14="http://schemas.microsoft.com/office/powerpoint/2010/main" val="1998006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حظة القرار: كلفة تناقشها الأسرة">
            <a:extLst>
              <a:ext uri="{FF2B5EF4-FFF2-40B4-BE49-F238E27FC236}">
                <a16:creationId xmlns:a16="http://schemas.microsoft.com/office/drawing/2014/main" id="{F5594DC5-F128-465D-ADEF-EF9D05DF46A2}"/>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لحظة القرار: كلفة تناقشها الأسرة</a:t>
            </a:r>
          </a:p>
        </p:txBody>
      </p:sp>
      <p:sp>
        <p:nvSpPr>
          <p:cNvPr id="3" name="05">
            <a:extLst>
              <a:ext uri="{FF2B5EF4-FFF2-40B4-BE49-F238E27FC236}">
                <a16:creationId xmlns:a16="http://schemas.microsoft.com/office/drawing/2014/main" id="{260B0A65-4D32-4F57-8565-216E15299941}"/>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05</a:t>
            </a:r>
          </a:p>
        </p:txBody>
      </p:sp>
      <p:pic>
        <p:nvPicPr>
          <p:cNvPr id="19" name="Picture 18"/>
          <p:cNvPicPr>
            <a:picLocks noChangeAspect="1"/>
          </p:cNvPicPr>
          <p:nvPr/>
        </p:nvPicPr>
        <p:blipFill>
          <a:blip r:embed="rId4"/>
          <a:stretch/>
        </p:blipFill>
        <p:spPr>
          <a:xfrm>
            <a:off x="76200" y="57150"/>
            <a:ext cx="4178300" cy="6267450"/>
          </a:xfrm>
          <a:prstGeom prst="rect">
            <a:avLst/>
          </a:prstGeom>
        </p:spPr>
      </p:pic>
      <p:sp>
        <p:nvSpPr>
          <p:cNvPr id="5" name="Rectangle: Rounded Corners 4">
            <a:extLst>
              <a:ext uri="{FF2B5EF4-FFF2-40B4-BE49-F238E27FC236}">
                <a16:creationId xmlns:a16="http://schemas.microsoft.com/office/drawing/2014/main" id="{3AAEB9E1-FEA5-4D26-808C-F3ADABE3926E}"/>
              </a:ext>
            </a:extLst>
          </p:cNvPr>
          <p:cNvSpPr>
            <a:spLocks noGrp="1"/>
          </p:cNvSpPr>
          <p:nvPr/>
        </p:nvSpPr>
        <p:spPr>
          <a:xfrm>
            <a:off x="9448800" y="1457325"/>
            <a:ext cx="2028825" cy="381000"/>
          </a:xfrm>
          <a:prstGeom prst="roundRect">
            <a:avLst>
              <a:gd name="adj" fmla="val 20000"/>
            </a:avLst>
          </a:prstGeom>
          <a:solidFill>
            <a:srgbClr val="123D76"/>
          </a:solidFill>
          <a:ln w="12383">
            <a:solidFill>
              <a:srgbClr val="58749B"/>
            </a:solidFill>
          </a:ln>
        </p:spPr>
      </p:sp>
      <p:sp>
        <p:nvSpPr>
          <p:cNvPr id="6" name="مثال قابل للتعديل">
            <a:extLst>
              <a:ext uri="{FF2B5EF4-FFF2-40B4-BE49-F238E27FC236}">
                <a16:creationId xmlns:a16="http://schemas.microsoft.com/office/drawing/2014/main" id="{8F1A45AA-23B0-4CAD-A578-6684B2F0D3D4}"/>
              </a:ext>
            </a:extLst>
          </p:cNvPr>
          <p:cNvSpPr>
            <a:spLocks noGrp="1"/>
          </p:cNvSpPr>
          <p:nvPr/>
        </p:nvSpPr>
        <p:spPr>
          <a:xfrm>
            <a:off x="9544050" y="1484948"/>
            <a:ext cx="183832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مثال قابل للتعديل</a:t>
            </a:r>
          </a:p>
        </p:txBody>
      </p:sp>
      <p:sp>
        <p:nvSpPr>
          <p:cNvPr id="7" name="3,051">
            <a:extLst>
              <a:ext uri="{FF2B5EF4-FFF2-40B4-BE49-F238E27FC236}">
                <a16:creationId xmlns:a16="http://schemas.microsoft.com/office/drawing/2014/main" id="{C55CD978-6696-437B-B938-4C46596546A5}"/>
              </a:ext>
            </a:extLst>
          </p:cNvPr>
          <p:cNvSpPr>
            <a:spLocks noGrp="1"/>
          </p:cNvSpPr>
          <p:nvPr/>
        </p:nvSpPr>
        <p:spPr>
          <a:xfrm>
            <a:off x="4524375" y="1765935"/>
            <a:ext cx="6953250" cy="123063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600" b="1" kern="0" spc="0">
                <a:solidFill>
                  <a:srgbClr val="FFFFFF"/>
                </a:solidFill>
                <a:latin typeface="IBM Plex Sans Arabic"/>
                <a:ea typeface="IBM Plex Sans Arabic"/>
                <a:cs typeface="IBM Plex Sans Arabic"/>
              </a:defRPr>
            </a:pPr>
            <a:r>
              <a:rPr lang="ar-JO" sz="6600" b="1" kern="0" spc="0">
                <a:solidFill>
                  <a:srgbClr val="FFFFFF"/>
                </a:solidFill>
                <a:latin typeface="IBM Plex Sans Arabic"/>
                <a:ea typeface="IBM Plex Sans Arabic"/>
                <a:cs typeface="IBM Plex Sans Arabic"/>
              </a:rPr>
              <a:t>3,051</a:t>
            </a:r>
          </a:p>
        </p:txBody>
      </p:sp>
      <p:sp>
        <p:nvSpPr>
          <p:cNvPr id="8" name="دينارًا سنويًا في هذا المثال">
            <a:extLst>
              <a:ext uri="{FF2B5EF4-FFF2-40B4-BE49-F238E27FC236}">
                <a16:creationId xmlns:a16="http://schemas.microsoft.com/office/drawing/2014/main" id="{261D4289-FA66-4D8D-A09C-6E14C4259778}"/>
              </a:ext>
            </a:extLst>
          </p:cNvPr>
          <p:cNvSpPr>
            <a:spLocks noGrp="1"/>
          </p:cNvSpPr>
          <p:nvPr/>
        </p:nvSpPr>
        <p:spPr>
          <a:xfrm>
            <a:off x="4429125" y="2889885"/>
            <a:ext cx="7048500" cy="56388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C8A04C"/>
                </a:solidFill>
                <a:latin typeface="IBM Plex Sans Arabic"/>
                <a:ea typeface="IBM Plex Sans Arabic"/>
                <a:cs typeface="IBM Plex Sans Arabic"/>
              </a:defRPr>
            </a:pPr>
            <a:r>
              <a:rPr lang="ar-JO" sz="2850" b="1" kern="0" spc="0">
                <a:solidFill>
                  <a:srgbClr val="C8A04C"/>
                </a:solidFill>
                <a:latin typeface="IBM Plex Sans Arabic"/>
                <a:ea typeface="IBM Plex Sans Arabic"/>
                <a:cs typeface="IBM Plex Sans Arabic"/>
              </a:rPr>
              <a:t>دينارًا سنويًا في هذا المثال</a:t>
            </a:r>
          </a:p>
        </p:txBody>
      </p:sp>
      <p:sp>
        <p:nvSpPr>
          <p:cNvPr id="9" name="Rectangle: Rounded Corners 8">
            <a:extLst>
              <a:ext uri="{FF2B5EF4-FFF2-40B4-BE49-F238E27FC236}">
                <a16:creationId xmlns:a16="http://schemas.microsoft.com/office/drawing/2014/main" id="{FD3E565C-6567-40CA-850D-12112A379ADC}"/>
              </a:ext>
            </a:extLst>
          </p:cNvPr>
          <p:cNvSpPr>
            <a:spLocks noGrp="1"/>
          </p:cNvSpPr>
          <p:nvPr/>
        </p:nvSpPr>
        <p:spPr>
          <a:xfrm>
            <a:off x="4524375" y="3667125"/>
            <a:ext cx="6953250" cy="1028700"/>
          </a:xfrm>
          <a:prstGeom prst="roundRect">
            <a:avLst>
              <a:gd name="adj" fmla="val 7407"/>
            </a:avLst>
          </a:prstGeom>
          <a:solidFill>
            <a:srgbClr val="123D76"/>
          </a:solidFill>
          <a:ln w="12383">
            <a:solidFill>
              <a:srgbClr val="58749B"/>
            </a:solidFill>
          </a:ln>
        </p:spPr>
      </p:sp>
      <p:sp>
        <p:nvSpPr>
          <p:cNvPr id="10" name="47 د.أ للساعة">
            <a:extLst>
              <a:ext uri="{FF2B5EF4-FFF2-40B4-BE49-F238E27FC236}">
                <a16:creationId xmlns:a16="http://schemas.microsoft.com/office/drawing/2014/main" id="{AFA4B34D-D798-47C3-A2E3-6FD8D6FB7E74}"/>
              </a:ext>
            </a:extLst>
          </p:cNvPr>
          <p:cNvSpPr>
            <a:spLocks noGrp="1"/>
          </p:cNvSpPr>
          <p:nvPr/>
        </p:nvSpPr>
        <p:spPr>
          <a:xfrm>
            <a:off x="8096250" y="3764280"/>
            <a:ext cx="3095625" cy="44386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75" b="1" kern="0" spc="0">
                <a:solidFill>
                  <a:srgbClr val="FFFFFF"/>
                </a:solidFill>
                <a:latin typeface="IBM Plex Sans Arabic"/>
                <a:ea typeface="IBM Plex Sans Arabic"/>
                <a:cs typeface="IBM Plex Sans Arabic"/>
              </a:defRPr>
            </a:pPr>
            <a:r>
              <a:rPr lang="ar-JO" sz="2175" b="1" kern="0" spc="0">
                <a:solidFill>
                  <a:srgbClr val="FFFFFF"/>
                </a:solidFill>
                <a:latin typeface="IBM Plex Sans Arabic"/>
                <a:ea typeface="IBM Plex Sans Arabic"/>
                <a:cs typeface="IBM Plex Sans Arabic"/>
              </a:rPr>
              <a:t>47 د.أ للساعة</a:t>
            </a:r>
          </a:p>
        </p:txBody>
      </p:sp>
      <p:sp>
        <p:nvSpPr>
          <p:cNvPr id="11" name="رقم رسمي">
            <a:extLst>
              <a:ext uri="{FF2B5EF4-FFF2-40B4-BE49-F238E27FC236}">
                <a16:creationId xmlns:a16="http://schemas.microsoft.com/office/drawing/2014/main" id="{C72A5ECA-4D05-4FFB-B386-7F0C92F331E4}"/>
              </a:ext>
            </a:extLst>
          </p:cNvPr>
          <p:cNvSpPr>
            <a:spLocks noGrp="1"/>
          </p:cNvSpPr>
          <p:nvPr/>
        </p:nvSpPr>
        <p:spPr>
          <a:xfrm>
            <a:off x="8096250" y="4192905"/>
            <a:ext cx="3095625" cy="31051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رقم رسمي</a:t>
            </a:r>
          </a:p>
        </p:txBody>
      </p:sp>
      <p:sp>
        <p:nvSpPr>
          <p:cNvPr id="12" name="الساعات والمعيشة السنوية">
            <a:extLst>
              <a:ext uri="{FF2B5EF4-FFF2-40B4-BE49-F238E27FC236}">
                <a16:creationId xmlns:a16="http://schemas.microsoft.com/office/drawing/2014/main" id="{9B92F1B9-17FC-45F7-98A4-4D6F21A9E7FA}"/>
              </a:ext>
            </a:extLst>
          </p:cNvPr>
          <p:cNvSpPr>
            <a:spLocks noGrp="1"/>
          </p:cNvSpPr>
          <p:nvPr/>
        </p:nvSpPr>
        <p:spPr>
          <a:xfrm>
            <a:off x="4762500" y="3781425"/>
            <a:ext cx="3095625" cy="4095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FFFFFF"/>
                </a:solidFill>
                <a:latin typeface="IBM Plex Sans Arabic"/>
                <a:ea typeface="IBM Plex Sans Arabic"/>
                <a:cs typeface="IBM Plex Sans Arabic"/>
              </a:defRPr>
            </a:pPr>
            <a:r>
              <a:rPr lang="ar-JO" sz="1875" b="1" kern="0" spc="0">
                <a:solidFill>
                  <a:srgbClr val="FFFFFF"/>
                </a:solidFill>
                <a:latin typeface="IBM Plex Sans Arabic"/>
                <a:ea typeface="IBM Plex Sans Arabic"/>
                <a:cs typeface="IBM Plex Sans Arabic"/>
              </a:rPr>
              <a:t>الساعات والمعيشة السنوية</a:t>
            </a:r>
          </a:p>
        </p:txBody>
      </p:sp>
      <p:sp>
        <p:nvSpPr>
          <p:cNvPr id="13" name="افتراضات الأسرة">
            <a:extLst>
              <a:ext uri="{FF2B5EF4-FFF2-40B4-BE49-F238E27FC236}">
                <a16:creationId xmlns:a16="http://schemas.microsoft.com/office/drawing/2014/main" id="{7EA55474-8314-4544-A572-FE9AAF6442C0}"/>
              </a:ext>
            </a:extLst>
          </p:cNvPr>
          <p:cNvSpPr>
            <a:spLocks noGrp="1"/>
          </p:cNvSpPr>
          <p:nvPr/>
        </p:nvSpPr>
        <p:spPr>
          <a:xfrm>
            <a:off x="4762500" y="4192905"/>
            <a:ext cx="3095625" cy="31051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افتراضات الأسرة</a:t>
            </a:r>
          </a:p>
        </p:txBody>
      </p:sp>
      <p:sp>
        <p:nvSpPr>
          <p:cNvPr id="14" name="تغيير الميزانية يغيّر فجوة التمويل فورًا">
            <a:extLst>
              <a:ext uri="{FF2B5EF4-FFF2-40B4-BE49-F238E27FC236}">
                <a16:creationId xmlns:a16="http://schemas.microsoft.com/office/drawing/2014/main" id="{E87A2096-BD52-49DF-B1D1-6B62085A4464}"/>
              </a:ext>
            </a:extLst>
          </p:cNvPr>
          <p:cNvSpPr>
            <a:spLocks noGrp="1"/>
          </p:cNvSpPr>
          <p:nvPr/>
        </p:nvSpPr>
        <p:spPr>
          <a:xfrm>
            <a:off x="4429125" y="5010150"/>
            <a:ext cx="7048500" cy="5429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تغيير الميزانية يغيّر فجوة التمويل فورًا</a:t>
            </a:r>
          </a:p>
        </p:txBody>
      </p:sp>
      <p:sp>
        <p:nvSpPr>
          <p:cNvPr id="15" name="مثال علم الحاسوب، الجامعة الأردنية • لا توقع ">
            <a:extLst>
              <a:ext uri="{FF2B5EF4-FFF2-40B4-BE49-F238E27FC236}">
                <a16:creationId xmlns:a16="http://schemas.microsoft.com/office/drawing/2014/main" id="{47C4C3A0-DCC5-4C2A-B9BD-81247FE812B8}"/>
              </a:ext>
            </a:extLst>
          </p:cNvPr>
          <p:cNvSpPr>
            <a:spLocks noGrp="1"/>
          </p:cNvSpPr>
          <p:nvPr/>
        </p:nvSpPr>
        <p:spPr>
          <a:xfrm>
            <a:off x="4429125" y="5938838"/>
            <a:ext cx="7048500" cy="3238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500" b="0" kern="0" spc="0">
                <a:solidFill>
                  <a:srgbClr val="D1DEED"/>
                </a:solidFill>
                <a:latin typeface="IBM Plex Sans Arabic"/>
                <a:ea typeface="IBM Plex Sans Arabic"/>
                <a:cs typeface="IBM Plex Sans Arabic"/>
              </a:defRPr>
            </a:pPr>
            <a:r>
              <a:rPr lang="ar-JO" sz="1500" b="0" kern="0" spc="0">
                <a:solidFill>
                  <a:srgbClr val="D1DEED"/>
                </a:solidFill>
                <a:latin typeface="IBM Plex Sans Arabic"/>
                <a:ea typeface="IBM Plex Sans Arabic"/>
                <a:cs typeface="IBM Plex Sans Arabic"/>
              </a:rPr>
              <a:t>مثال علم الحاسوب، الجامعة الأردنية • لا توقع دخل أو عائد مضمون</a:t>
            </a:r>
          </a:p>
        </p:txBody>
      </p:sp>
    </p:spTree>
    <p:extLst>
      <p:ext uri="{BB962C8B-B14F-4D97-AF65-F5344CB8AC3E}">
        <p14:creationId xmlns:p14="http://schemas.microsoft.com/office/powerpoint/2010/main" val="1998435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5" name="Picture 24"/>
          <p:cNvPicPr>
            <a:picLocks noChangeAspect="1"/>
          </p:cNvPicPr>
          <p:nvPr/>
        </p:nvPicPr>
        <p:blipFill>
          <a:blip r:embed="rId3"/>
          <a:stretch/>
        </p:blipFill>
        <p:spPr>
          <a:xfrm>
            <a:off x="11125200" y="400050"/>
            <a:ext cx="552450" cy="552450"/>
          </a:xfrm>
          <a:prstGeom prst="rect">
            <a:avLst/>
          </a:prstGeom>
        </p:spPr>
      </p:pic>
      <p:sp>
        <p:nvSpPr>
          <p:cNvPr id="2" name="القيمة: البيانات تصبح قرارًا شخصيًا">
            <a:extLst>
              <a:ext uri="{FF2B5EF4-FFF2-40B4-BE49-F238E27FC236}">
                <a16:creationId xmlns:a16="http://schemas.microsoft.com/office/drawing/2014/main" id="{31FE363B-D406-4F7F-BD19-C54D6C8744E0}"/>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FFFFFF"/>
                </a:solidFill>
                <a:latin typeface="IBM Plex Sans Arabic"/>
                <a:ea typeface="IBM Plex Sans Arabic"/>
                <a:cs typeface="IBM Plex Sans Arabic"/>
              </a:defRPr>
            </a:pPr>
            <a:r>
              <a:rPr lang="ar-JO" sz="3150" b="1" kern="0" spc="0">
                <a:solidFill>
                  <a:srgbClr val="FFFFFF"/>
                </a:solidFill>
                <a:latin typeface="IBM Plex Sans Arabic"/>
                <a:ea typeface="IBM Plex Sans Arabic"/>
                <a:cs typeface="IBM Plex Sans Arabic"/>
              </a:rPr>
              <a:t>القيمة: البيانات تصبح قرارًا شخصيًا</a:t>
            </a:r>
          </a:p>
        </p:txBody>
      </p:sp>
      <p:sp>
        <p:nvSpPr>
          <p:cNvPr id="3" name="06">
            <a:extLst>
              <a:ext uri="{FF2B5EF4-FFF2-40B4-BE49-F238E27FC236}">
                <a16:creationId xmlns:a16="http://schemas.microsoft.com/office/drawing/2014/main" id="{A3977760-78C9-4726-ACB3-1EA485CC95AB}"/>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85631EBC-9228-44C8-9ECC-97DEBDD96AD6}"/>
              </a:ext>
            </a:extLst>
          </p:cNvPr>
          <p:cNvSpPr>
            <a:spLocks noGrp="1"/>
          </p:cNvSpPr>
          <p:nvPr/>
        </p:nvSpPr>
        <p:spPr>
          <a:xfrm>
            <a:off x="8143875" y="1695450"/>
            <a:ext cx="3333750" cy="1352550"/>
          </a:xfrm>
          <a:prstGeom prst="roundRect">
            <a:avLst>
              <a:gd name="adj" fmla="val 5634"/>
            </a:avLst>
          </a:prstGeom>
          <a:solidFill>
            <a:srgbClr val="FFFFFF"/>
          </a:solidFill>
          <a:ln w="12383">
            <a:solidFill>
              <a:srgbClr val="D4DEE9"/>
            </a:solidFill>
          </a:ln>
        </p:spPr>
      </p:sp>
      <p:sp>
        <p:nvSpPr>
          <p:cNvPr id="5" name="القبول الموحد">
            <a:extLst>
              <a:ext uri="{FF2B5EF4-FFF2-40B4-BE49-F238E27FC236}">
                <a16:creationId xmlns:a16="http://schemas.microsoft.com/office/drawing/2014/main" id="{DF865903-52A4-48D0-9628-FAB21030CACE}"/>
              </a:ext>
            </a:extLst>
          </p:cNvPr>
          <p:cNvSpPr>
            <a:spLocks noGrp="1"/>
          </p:cNvSpPr>
          <p:nvPr/>
        </p:nvSpPr>
        <p:spPr>
          <a:xfrm>
            <a:off x="833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القبول الموحد</a:t>
            </a:r>
          </a:p>
        </p:txBody>
      </p:sp>
      <p:sp>
        <p:nvSpPr>
          <p:cNvPr id="6" name="برامج وشروط&#10;بلا ميزانية أسرة">
            <a:extLst>
              <a:ext uri="{FF2B5EF4-FFF2-40B4-BE49-F238E27FC236}">
                <a16:creationId xmlns:a16="http://schemas.microsoft.com/office/drawing/2014/main" id="{762F8E1B-436E-42EB-8E90-7523E6D35662}"/>
              </a:ext>
            </a:extLst>
          </p:cNvPr>
          <p:cNvSpPr>
            <a:spLocks noGrp="1"/>
          </p:cNvSpPr>
          <p:nvPr/>
        </p:nvSpPr>
        <p:spPr>
          <a:xfrm>
            <a:off x="835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برامج وشروط</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ميزانية أسرة</a:t>
            </a:r>
          </a:p>
        </p:txBody>
      </p:sp>
      <p:sp>
        <p:nvSpPr>
          <p:cNvPr id="7" name="↓">
            <a:extLst>
              <a:ext uri="{FF2B5EF4-FFF2-40B4-BE49-F238E27FC236}">
                <a16:creationId xmlns:a16="http://schemas.microsoft.com/office/drawing/2014/main" id="{4F2C956B-9357-4805-9992-80FEB9066DBB}"/>
              </a:ext>
            </a:extLst>
          </p:cNvPr>
          <p:cNvSpPr>
            <a:spLocks noGrp="1"/>
          </p:cNvSpPr>
          <p:nvPr/>
        </p:nvSpPr>
        <p:spPr>
          <a:xfrm>
            <a:off x="950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8" name="Rectangle: Rounded Corners 7">
            <a:extLst>
              <a:ext uri="{FF2B5EF4-FFF2-40B4-BE49-F238E27FC236}">
                <a16:creationId xmlns:a16="http://schemas.microsoft.com/office/drawing/2014/main" id="{F67E897A-15B3-48AB-AFB7-B3F5887ABD6D}"/>
              </a:ext>
            </a:extLst>
          </p:cNvPr>
          <p:cNvSpPr>
            <a:spLocks noGrp="1"/>
          </p:cNvSpPr>
          <p:nvPr/>
        </p:nvSpPr>
        <p:spPr>
          <a:xfrm>
            <a:off x="4333875" y="1695450"/>
            <a:ext cx="3333750" cy="1352550"/>
          </a:xfrm>
          <a:prstGeom prst="roundRect">
            <a:avLst>
              <a:gd name="adj" fmla="val 5634"/>
            </a:avLst>
          </a:prstGeom>
          <a:solidFill>
            <a:srgbClr val="FFFFFF"/>
          </a:solidFill>
          <a:ln w="12383">
            <a:solidFill>
              <a:srgbClr val="D4DEE9"/>
            </a:solidFill>
          </a:ln>
        </p:spPr>
      </p:sp>
      <p:sp>
        <p:nvSpPr>
          <p:cNvPr id="9" name="مواقع الجامعات">
            <a:extLst>
              <a:ext uri="{FF2B5EF4-FFF2-40B4-BE49-F238E27FC236}">
                <a16:creationId xmlns:a16="http://schemas.microsoft.com/office/drawing/2014/main" id="{9A676E57-4713-496A-9FB6-201DD3210F01}"/>
              </a:ext>
            </a:extLst>
          </p:cNvPr>
          <p:cNvSpPr>
            <a:spLocks noGrp="1"/>
          </p:cNvSpPr>
          <p:nvPr/>
        </p:nvSpPr>
        <p:spPr>
          <a:xfrm>
            <a:off x="452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مواقع الجامعات</a:t>
            </a:r>
          </a:p>
        </p:txBody>
      </p:sp>
      <p:sp>
        <p:nvSpPr>
          <p:cNvPr id="10" name="رسوم منفصلة&#10;بلا مقارنة موحّدة">
            <a:extLst>
              <a:ext uri="{FF2B5EF4-FFF2-40B4-BE49-F238E27FC236}">
                <a16:creationId xmlns:a16="http://schemas.microsoft.com/office/drawing/2014/main" id="{E8837D8C-B294-4718-A55E-E508324E623B}"/>
              </a:ext>
            </a:extLst>
          </p:cNvPr>
          <p:cNvSpPr>
            <a:spLocks noGrp="1"/>
          </p:cNvSpPr>
          <p:nvPr/>
        </p:nvSpPr>
        <p:spPr>
          <a:xfrm>
            <a:off x="454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رسوم منفصلة</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مقارنة موحّدة</a:t>
            </a:r>
          </a:p>
        </p:txBody>
      </p:sp>
      <p:sp>
        <p:nvSpPr>
          <p:cNvPr id="11" name="↓">
            <a:extLst>
              <a:ext uri="{FF2B5EF4-FFF2-40B4-BE49-F238E27FC236}">
                <a16:creationId xmlns:a16="http://schemas.microsoft.com/office/drawing/2014/main" id="{26D0788A-4446-4D6F-B3BD-F93A107A80C8}"/>
              </a:ext>
            </a:extLst>
          </p:cNvPr>
          <p:cNvSpPr>
            <a:spLocks noGrp="1"/>
          </p:cNvSpPr>
          <p:nvPr/>
        </p:nvSpPr>
        <p:spPr>
          <a:xfrm>
            <a:off x="569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2" name="Rectangle: Rounded Corners 11">
            <a:extLst>
              <a:ext uri="{FF2B5EF4-FFF2-40B4-BE49-F238E27FC236}">
                <a16:creationId xmlns:a16="http://schemas.microsoft.com/office/drawing/2014/main" id="{8851A556-04F4-4A9F-97DA-0295A7D10B99}"/>
              </a:ext>
            </a:extLst>
          </p:cNvPr>
          <p:cNvSpPr>
            <a:spLocks noGrp="1"/>
          </p:cNvSpPr>
          <p:nvPr/>
        </p:nvSpPr>
        <p:spPr>
          <a:xfrm>
            <a:off x="523875" y="1695450"/>
            <a:ext cx="3333750" cy="1352550"/>
          </a:xfrm>
          <a:prstGeom prst="roundRect">
            <a:avLst>
              <a:gd name="adj" fmla="val 5634"/>
            </a:avLst>
          </a:prstGeom>
          <a:solidFill>
            <a:srgbClr val="FFFFFF"/>
          </a:solidFill>
          <a:ln w="12383">
            <a:solidFill>
              <a:srgbClr val="D4DEE9"/>
            </a:solidFill>
          </a:ln>
        </p:spPr>
      </p:sp>
      <p:sp>
        <p:nvSpPr>
          <p:cNvPr id="13" name="إحصاءات العمل">
            <a:extLst>
              <a:ext uri="{FF2B5EF4-FFF2-40B4-BE49-F238E27FC236}">
                <a16:creationId xmlns:a16="http://schemas.microsoft.com/office/drawing/2014/main" id="{C06AE0A7-C208-492B-96BE-13F21AEC7F43}"/>
              </a:ext>
            </a:extLst>
          </p:cNvPr>
          <p:cNvSpPr>
            <a:spLocks noGrp="1"/>
          </p:cNvSpPr>
          <p:nvPr/>
        </p:nvSpPr>
        <p:spPr>
          <a:xfrm>
            <a:off x="71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إحصاءات العمل</a:t>
            </a:r>
          </a:p>
        </p:txBody>
      </p:sp>
      <p:sp>
        <p:nvSpPr>
          <p:cNvPr id="14" name="مؤشرات سوق&#10;بلا ربط بخيار الطالب">
            <a:extLst>
              <a:ext uri="{FF2B5EF4-FFF2-40B4-BE49-F238E27FC236}">
                <a16:creationId xmlns:a16="http://schemas.microsoft.com/office/drawing/2014/main" id="{22E829D1-FA62-4A4C-AC34-8F145AFDAA70}"/>
              </a:ext>
            </a:extLst>
          </p:cNvPr>
          <p:cNvSpPr>
            <a:spLocks noGrp="1"/>
          </p:cNvSpPr>
          <p:nvPr/>
        </p:nvSpPr>
        <p:spPr>
          <a:xfrm>
            <a:off x="73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مؤشرات سوق</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ربط بخيار الطالب</a:t>
            </a:r>
          </a:p>
        </p:txBody>
      </p:sp>
      <p:sp>
        <p:nvSpPr>
          <p:cNvPr id="15" name="↓">
            <a:extLst>
              <a:ext uri="{FF2B5EF4-FFF2-40B4-BE49-F238E27FC236}">
                <a16:creationId xmlns:a16="http://schemas.microsoft.com/office/drawing/2014/main" id="{879C3968-90F5-474C-B150-66334A9BCD51}"/>
              </a:ext>
            </a:extLst>
          </p:cNvPr>
          <p:cNvSpPr>
            <a:spLocks noGrp="1"/>
          </p:cNvSpPr>
          <p:nvPr/>
        </p:nvSpPr>
        <p:spPr>
          <a:xfrm>
            <a:off x="188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6" name="Rectangle: Rounded Corners 15">
            <a:extLst>
              <a:ext uri="{FF2B5EF4-FFF2-40B4-BE49-F238E27FC236}">
                <a16:creationId xmlns:a16="http://schemas.microsoft.com/office/drawing/2014/main" id="{8543482D-73A7-4243-936C-75035089A738}"/>
              </a:ext>
            </a:extLst>
          </p:cNvPr>
          <p:cNvSpPr>
            <a:spLocks noGrp="1"/>
          </p:cNvSpPr>
          <p:nvPr/>
        </p:nvSpPr>
        <p:spPr>
          <a:xfrm>
            <a:off x="1524000" y="3457575"/>
            <a:ext cx="9953625" cy="990600"/>
          </a:xfrm>
          <a:prstGeom prst="roundRect">
            <a:avLst>
              <a:gd name="adj" fmla="val 7692"/>
            </a:avLst>
          </a:prstGeom>
          <a:solidFill>
            <a:srgbClr val="F3EAD7"/>
          </a:solidFill>
          <a:ln w="12383">
            <a:solidFill>
              <a:srgbClr val="DFC98F"/>
            </a:solidFill>
          </a:ln>
        </p:spPr>
      </p:sp>
      <p:sp>
        <p:nvSpPr>
          <p:cNvPr id="17" name="مُرشِدي يضيف سياق الطالب">
            <a:extLst>
              <a:ext uri="{FF2B5EF4-FFF2-40B4-BE49-F238E27FC236}">
                <a16:creationId xmlns:a16="http://schemas.microsoft.com/office/drawing/2014/main" id="{43A9C028-06F6-4857-8EE5-1F0558037147}"/>
              </a:ext>
            </a:extLst>
          </p:cNvPr>
          <p:cNvSpPr>
            <a:spLocks noGrp="1"/>
          </p:cNvSpPr>
          <p:nvPr/>
        </p:nvSpPr>
        <p:spPr>
          <a:xfrm>
            <a:off x="1809750" y="3527108"/>
            <a:ext cx="9382125" cy="47053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مُرشِدي يضيف سياق الطالب</a:t>
            </a:r>
          </a:p>
        </p:txBody>
      </p:sp>
      <p:sp>
        <p:nvSpPr>
          <p:cNvPr id="18" name="اهتمامات الطالب، ميزانية الأسرة، مقارنة موحّد">
            <a:extLst>
              <a:ext uri="{FF2B5EF4-FFF2-40B4-BE49-F238E27FC236}">
                <a16:creationId xmlns:a16="http://schemas.microsoft.com/office/drawing/2014/main" id="{79D30C32-560B-47EA-8A49-5EA6A2979490}"/>
              </a:ext>
            </a:extLst>
          </p:cNvPr>
          <p:cNvSpPr>
            <a:spLocks noGrp="1"/>
          </p:cNvSpPr>
          <p:nvPr/>
        </p:nvSpPr>
        <p:spPr>
          <a:xfrm>
            <a:off x="1809750" y="3968115"/>
            <a:ext cx="9382125" cy="3505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اهتمامات الطالب، ميزانية الأسرة، مقارنة موحّدة، ومصدر مؤرّخ</a:t>
            </a:r>
          </a:p>
        </p:txBody>
      </p:sp>
      <p:sp>
        <p:nvSpPr>
          <p:cNvPr id="19" name="Rectangle: Rounded Corners 18">
            <a:extLst>
              <a:ext uri="{FF2B5EF4-FFF2-40B4-BE49-F238E27FC236}">
                <a16:creationId xmlns:a16="http://schemas.microsoft.com/office/drawing/2014/main" id="{A5236D89-389F-4E41-A123-ABF907F98985}"/>
              </a:ext>
            </a:extLst>
          </p:cNvPr>
          <p:cNvSpPr>
            <a:spLocks noGrp="1"/>
          </p:cNvSpPr>
          <p:nvPr/>
        </p:nvSpPr>
        <p:spPr>
          <a:xfrm>
            <a:off x="1524000" y="4638675"/>
            <a:ext cx="9953625" cy="638175"/>
          </a:xfrm>
          <a:prstGeom prst="roundRect">
            <a:avLst>
              <a:gd name="adj" fmla="val 11940"/>
            </a:avLst>
          </a:prstGeom>
          <a:solidFill>
            <a:srgbClr val="123D76"/>
          </a:solidFill>
          <a:ln w="12383">
            <a:solidFill>
              <a:srgbClr val="58749B"/>
            </a:solidFill>
          </a:ln>
        </p:spPr>
      </p:sp>
      <p:sp>
        <p:nvSpPr>
          <p:cNvPr id="20" name="النتيجة: قائمة قصيرة مع سبب واضح لكل اختيار">
            <a:extLst>
              <a:ext uri="{FF2B5EF4-FFF2-40B4-BE49-F238E27FC236}">
                <a16:creationId xmlns:a16="http://schemas.microsoft.com/office/drawing/2014/main" id="{10D15638-5C20-476D-93D8-EADD6AF75C4F}"/>
              </a:ext>
            </a:extLst>
          </p:cNvPr>
          <p:cNvSpPr>
            <a:spLocks noGrp="1"/>
          </p:cNvSpPr>
          <p:nvPr/>
        </p:nvSpPr>
        <p:spPr>
          <a:xfrm>
            <a:off x="1809750" y="4724400"/>
            <a:ext cx="9382125"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النتيجة: قائمة قصيرة مع سبب واضح لكل اختيار</a:t>
            </a:r>
          </a:p>
        </p:txBody>
      </p:sp>
      <p:sp>
        <p:nvSpPr>
          <p:cNvPr id="21" name="Rectangle: Rounded Corners 20">
            <a:extLst>
              <a:ext uri="{FF2B5EF4-FFF2-40B4-BE49-F238E27FC236}">
                <a16:creationId xmlns:a16="http://schemas.microsoft.com/office/drawing/2014/main" id="{B1797D71-47CF-463F-8AF9-ED995E860A98}"/>
              </a:ext>
            </a:extLst>
          </p:cNvPr>
          <p:cNvSpPr>
            <a:spLocks noGrp="1"/>
          </p:cNvSpPr>
          <p:nvPr/>
        </p:nvSpPr>
        <p:spPr>
          <a:xfrm>
            <a:off x="1524000" y="5476875"/>
            <a:ext cx="9953625" cy="628650"/>
          </a:xfrm>
          <a:prstGeom prst="roundRect">
            <a:avLst>
              <a:gd name="adj" fmla="val 12121"/>
            </a:avLst>
          </a:prstGeom>
          <a:solidFill>
            <a:srgbClr val="0A2D61"/>
          </a:solidFill>
          <a:ln w="12383">
            <a:solidFill>
              <a:srgbClr val="58749B"/>
            </a:solidFill>
          </a:ln>
        </p:spPr>
      </p:sp>
      <p:sp>
        <p:nvSpPr>
          <p:cNvPr id="22" name="الاستراتيجية الوطنية للإرشاد المهني والوظيفي،">
            <a:extLst>
              <a:ext uri="{FF2B5EF4-FFF2-40B4-BE49-F238E27FC236}">
                <a16:creationId xmlns:a16="http://schemas.microsoft.com/office/drawing/2014/main" id="{4ACD6221-777A-4033-AE2A-3B8BCFE61D78}"/>
              </a:ext>
            </a:extLst>
          </p:cNvPr>
          <p:cNvSpPr>
            <a:spLocks noGrp="1"/>
          </p:cNvSpPr>
          <p:nvPr/>
        </p:nvSpPr>
        <p:spPr>
          <a:xfrm>
            <a:off x="1733550" y="5508308"/>
            <a:ext cx="9534525" cy="33718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1" kern="0" spc="0">
                <a:solidFill>
                  <a:srgbClr val="D1DEED"/>
                </a:solidFill>
                <a:latin typeface="IBM Plex Sans Arabic"/>
                <a:ea typeface="IBM Plex Sans Arabic"/>
                <a:cs typeface="IBM Plex Sans Arabic"/>
              </a:defRPr>
            </a:pPr>
            <a:r>
              <a:rPr lang="ar-JO" sz="1575" b="1" kern="0" spc="0">
                <a:solidFill>
                  <a:srgbClr val="D1DEED"/>
                </a:solidFill>
                <a:latin typeface="IBM Plex Sans Arabic"/>
                <a:ea typeface="IBM Plex Sans Arabic"/>
                <a:cs typeface="IBM Plex Sans Arabic"/>
              </a:rPr>
              <a:t>الاستراتيجية الوطنية للإرشاد المهني والوظيفي، 2024 إلى 2033</a:t>
            </a:r>
          </a:p>
        </p:txBody>
      </p:sp>
      <p:sp>
        <p:nvSpPr>
          <p:cNvPr id="23" name="المصدر: وكالة الأنباء الأردنية (بترا) • 16 تم">
            <a:extLst>
              <a:ext uri="{FF2B5EF4-FFF2-40B4-BE49-F238E27FC236}">
                <a16:creationId xmlns:a16="http://schemas.microsoft.com/office/drawing/2014/main" id="{91C06395-A53F-4718-83AB-C0F7AC248130}"/>
              </a:ext>
            </a:extLst>
          </p:cNvPr>
          <p:cNvSpPr>
            <a:spLocks noGrp="1"/>
          </p:cNvSpPr>
          <p:nvPr/>
        </p:nvSpPr>
        <p:spPr>
          <a:xfrm>
            <a:off x="1733550" y="5794058"/>
            <a:ext cx="9534525" cy="27051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200" b="0" kern="0" spc="0">
                <a:solidFill>
                  <a:srgbClr val="D1DEED"/>
                </a:solidFill>
                <a:latin typeface="IBM Plex Sans Arabic"/>
                <a:ea typeface="IBM Plex Sans Arabic"/>
                <a:cs typeface="IBM Plex Sans Arabic"/>
              </a:defRPr>
            </a:pPr>
            <a:r>
              <a:rPr lang="ar-JO" sz="1200" b="0" kern="0" spc="0">
                <a:solidFill>
                  <a:srgbClr val="D1DEED"/>
                </a:solidFill>
                <a:latin typeface="IBM Plex Sans Arabic"/>
                <a:ea typeface="IBM Plex Sans Arabic"/>
                <a:cs typeface="IBM Plex Sans Arabic"/>
              </a:rPr>
              <a:t>المصدر: وكالة الأنباء الأردنية (بترا) • 16 تموز 2024</a:t>
            </a:r>
          </a:p>
        </p:txBody>
      </p:sp>
      <p:pic>
        <p:nvPicPr>
          <p:cNvPr id="48" name="Picture 47"/>
          <p:cNvPicPr>
            <a:picLocks noChangeAspect="1"/>
          </p:cNvPicPr>
          <p:nvPr/>
        </p:nvPicPr>
        <p:blipFill>
          <a:blip r:embed="rId3"/>
          <a:stretch/>
        </p:blipFill>
        <p:spPr>
          <a:xfrm>
            <a:off x="11125200" y="400050"/>
            <a:ext cx="552450" cy="552450"/>
          </a:xfrm>
          <a:prstGeom prst="rect">
            <a:avLst/>
          </a:prstGeom>
        </p:spPr>
      </p:pic>
    </p:spTree>
    <p:extLst>
      <p:ext uri="{BB962C8B-B14F-4D97-AF65-F5344CB8AC3E}">
        <p14:creationId xmlns:p14="http://schemas.microsoft.com/office/powerpoint/2010/main" val="1389692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4" name="Picture 23"/>
          <p:cNvPicPr>
            <a:picLocks noChangeAspect="1"/>
          </p:cNvPicPr>
          <p:nvPr/>
        </p:nvPicPr>
        <p:blipFill>
          <a:blip r:embed="rId3"/>
          <a:stretch/>
        </p:blipFill>
        <p:spPr>
          <a:xfrm>
            <a:off x="11125200" y="400050"/>
            <a:ext cx="552450" cy="552450"/>
          </a:xfrm>
          <a:prstGeom prst="rect">
            <a:avLst/>
          </a:prstGeom>
        </p:spPr>
      </p:pic>
      <p:sp>
        <p:nvSpPr>
          <p:cNvPr id="2" name="لمن؟ ومن يدفع؟">
            <a:extLst>
              <a:ext uri="{FF2B5EF4-FFF2-40B4-BE49-F238E27FC236}">
                <a16:creationId xmlns:a16="http://schemas.microsoft.com/office/drawing/2014/main" id="{991B5840-0656-497A-B5DB-E926A828D004}"/>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لمن؟ ومن يدفع؟</a:t>
            </a:r>
          </a:p>
        </p:txBody>
      </p:sp>
      <p:sp>
        <p:nvSpPr>
          <p:cNvPr id="3" name="07">
            <a:extLst>
              <a:ext uri="{FF2B5EF4-FFF2-40B4-BE49-F238E27FC236}">
                <a16:creationId xmlns:a16="http://schemas.microsoft.com/office/drawing/2014/main" id="{718D827E-EEE8-4489-82D7-AFCDBD3EAB8B}"/>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07</a:t>
            </a:r>
          </a:p>
        </p:txBody>
      </p:sp>
      <p:sp>
        <p:nvSpPr>
          <p:cNvPr id="4" name="Rectangle: Rounded Corners 3">
            <a:extLst>
              <a:ext uri="{FF2B5EF4-FFF2-40B4-BE49-F238E27FC236}">
                <a16:creationId xmlns:a16="http://schemas.microsoft.com/office/drawing/2014/main" id="{0BA8BE44-2E70-4EA9-A116-F68FBAB17C26}"/>
              </a:ext>
            </a:extLst>
          </p:cNvPr>
          <p:cNvSpPr>
            <a:spLocks noGrp="1"/>
          </p:cNvSpPr>
          <p:nvPr/>
        </p:nvSpPr>
        <p:spPr>
          <a:xfrm>
            <a:off x="8143875" y="1781175"/>
            <a:ext cx="3333750" cy="3600450"/>
          </a:xfrm>
          <a:prstGeom prst="roundRect">
            <a:avLst>
              <a:gd name="adj" fmla="val 2286"/>
            </a:avLst>
          </a:prstGeom>
          <a:solidFill>
            <a:srgbClr val="F3EAD7"/>
          </a:solidFill>
          <a:ln w="12383">
            <a:solidFill>
              <a:srgbClr val="DFC98F"/>
            </a:solidFill>
          </a:ln>
        </p:spPr>
      </p:sp>
      <p:sp>
        <p:nvSpPr>
          <p:cNvPr id="5" name="Rectangle: Rounded Corners 4">
            <a:extLst>
              <a:ext uri="{FF2B5EF4-FFF2-40B4-BE49-F238E27FC236}">
                <a16:creationId xmlns:a16="http://schemas.microsoft.com/office/drawing/2014/main" id="{618250C4-3AAF-4BA6-9D04-F2E5F206F2D7}"/>
              </a:ext>
            </a:extLst>
          </p:cNvPr>
          <p:cNvSpPr>
            <a:spLocks noGrp="1"/>
          </p:cNvSpPr>
          <p:nvPr/>
        </p:nvSpPr>
        <p:spPr>
          <a:xfrm>
            <a:off x="8858250" y="1990725"/>
            <a:ext cx="1905000" cy="381000"/>
          </a:xfrm>
          <a:prstGeom prst="roundRect">
            <a:avLst>
              <a:gd name="adj" fmla="val 20000"/>
            </a:avLst>
          </a:prstGeom>
          <a:solidFill>
            <a:srgbClr val="E7EEF6"/>
          </a:solidFill>
          <a:ln w="12383">
            <a:solidFill>
              <a:srgbClr val="C9D5E3"/>
            </a:solidFill>
          </a:ln>
        </p:spPr>
      </p:sp>
      <p:sp>
        <p:nvSpPr>
          <p:cNvPr id="6" name="المستفيد">
            <a:extLst>
              <a:ext uri="{FF2B5EF4-FFF2-40B4-BE49-F238E27FC236}">
                <a16:creationId xmlns:a16="http://schemas.microsoft.com/office/drawing/2014/main" id="{3D09EFD2-CC5C-4F58-BFD9-6307D531D757}"/>
              </a:ext>
            </a:extLst>
          </p:cNvPr>
          <p:cNvSpPr>
            <a:spLocks noGrp="1"/>
          </p:cNvSpPr>
          <p:nvPr/>
        </p:nvSpPr>
        <p:spPr>
          <a:xfrm>
            <a:off x="895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المستفيد</a:t>
            </a:r>
          </a:p>
        </p:txBody>
      </p:sp>
      <p:sp>
        <p:nvSpPr>
          <p:cNvPr id="7" name="الطالب والأسرة">
            <a:extLst>
              <a:ext uri="{FF2B5EF4-FFF2-40B4-BE49-F238E27FC236}">
                <a16:creationId xmlns:a16="http://schemas.microsoft.com/office/drawing/2014/main" id="{99E3C0A6-DCA1-4DE7-B318-5F3C2450480C}"/>
              </a:ext>
            </a:extLst>
          </p:cNvPr>
          <p:cNvSpPr>
            <a:spLocks noGrp="1"/>
          </p:cNvSpPr>
          <p:nvPr/>
        </p:nvSpPr>
        <p:spPr>
          <a:xfrm>
            <a:off x="833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الطالب والأسرة</a:t>
            </a:r>
          </a:p>
        </p:txBody>
      </p:sp>
      <p:sp>
        <p:nvSpPr>
          <p:cNvPr id="8" name="رحلة القرار الأساسية&#10;مجانية">
            <a:extLst>
              <a:ext uri="{FF2B5EF4-FFF2-40B4-BE49-F238E27FC236}">
                <a16:creationId xmlns:a16="http://schemas.microsoft.com/office/drawing/2014/main" id="{A0191D7F-957D-4C45-8797-2A65B00CF1E4}"/>
              </a:ext>
            </a:extLst>
          </p:cNvPr>
          <p:cNvSpPr>
            <a:spLocks noGrp="1"/>
          </p:cNvSpPr>
          <p:nvPr/>
        </p:nvSpPr>
        <p:spPr>
          <a:xfrm>
            <a:off x="838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رحلة القرار الأساسية</a:t>
            </a:r>
          </a:p>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مجانية</a:t>
            </a:r>
          </a:p>
        </p:txBody>
      </p:sp>
      <p:sp>
        <p:nvSpPr>
          <p:cNvPr id="9" name="قرار أوضح بلا تكلفة على الطالب">
            <a:extLst>
              <a:ext uri="{FF2B5EF4-FFF2-40B4-BE49-F238E27FC236}">
                <a16:creationId xmlns:a16="http://schemas.microsoft.com/office/drawing/2014/main" id="{4F4C9498-CD7C-45BC-9C50-5ED0F5AAD815}"/>
              </a:ext>
            </a:extLst>
          </p:cNvPr>
          <p:cNvSpPr>
            <a:spLocks noGrp="1"/>
          </p:cNvSpPr>
          <p:nvPr/>
        </p:nvSpPr>
        <p:spPr>
          <a:xfrm>
            <a:off x="837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قرار أوضح بلا تكلفة على الطالب</a:t>
            </a:r>
          </a:p>
        </p:txBody>
      </p:sp>
      <p:sp>
        <p:nvSpPr>
          <p:cNvPr id="10" name="Rectangle: Rounded Corners 9">
            <a:extLst>
              <a:ext uri="{FF2B5EF4-FFF2-40B4-BE49-F238E27FC236}">
                <a16:creationId xmlns:a16="http://schemas.microsoft.com/office/drawing/2014/main" id="{449A5B07-A7FD-45E1-AA18-8F87BED6F123}"/>
              </a:ext>
            </a:extLst>
          </p:cNvPr>
          <p:cNvSpPr>
            <a:spLocks noGrp="1"/>
          </p:cNvSpPr>
          <p:nvPr/>
        </p:nvSpPr>
        <p:spPr>
          <a:xfrm>
            <a:off x="4333875" y="1781175"/>
            <a:ext cx="3333750" cy="3600450"/>
          </a:xfrm>
          <a:prstGeom prst="roundRect">
            <a:avLst>
              <a:gd name="adj" fmla="val 2286"/>
            </a:avLst>
          </a:prstGeom>
          <a:solidFill>
            <a:srgbClr val="013070"/>
          </a:solidFill>
          <a:ln w="12383">
            <a:solidFill>
              <a:srgbClr val="013070"/>
            </a:solidFill>
          </a:ln>
        </p:spPr>
      </p:sp>
      <p:sp>
        <p:nvSpPr>
          <p:cNvPr id="11" name="Rectangle: Rounded Corners 10">
            <a:extLst>
              <a:ext uri="{FF2B5EF4-FFF2-40B4-BE49-F238E27FC236}">
                <a16:creationId xmlns:a16="http://schemas.microsoft.com/office/drawing/2014/main" id="{C02A3C11-7884-4DC3-A226-49E331F6B50F}"/>
              </a:ext>
            </a:extLst>
          </p:cNvPr>
          <p:cNvSpPr>
            <a:spLocks noGrp="1"/>
          </p:cNvSpPr>
          <p:nvPr/>
        </p:nvSpPr>
        <p:spPr>
          <a:xfrm>
            <a:off x="5048250" y="1990725"/>
            <a:ext cx="1905000" cy="381000"/>
          </a:xfrm>
          <a:prstGeom prst="roundRect">
            <a:avLst>
              <a:gd name="adj" fmla="val 20000"/>
            </a:avLst>
          </a:prstGeom>
          <a:solidFill>
            <a:srgbClr val="123D76"/>
          </a:solidFill>
          <a:ln w="12383">
            <a:solidFill>
              <a:srgbClr val="58749B"/>
            </a:solidFill>
          </a:ln>
        </p:spPr>
      </p:sp>
      <p:sp>
        <p:nvSpPr>
          <p:cNvPr id="12" name="عميل نختبره">
            <a:extLst>
              <a:ext uri="{FF2B5EF4-FFF2-40B4-BE49-F238E27FC236}">
                <a16:creationId xmlns:a16="http://schemas.microsoft.com/office/drawing/2014/main" id="{5D751E1C-36CE-4BDF-970C-9F250EC6C447}"/>
              </a:ext>
            </a:extLst>
          </p:cNvPr>
          <p:cNvSpPr>
            <a:spLocks noGrp="1"/>
          </p:cNvSpPr>
          <p:nvPr/>
        </p:nvSpPr>
        <p:spPr>
          <a:xfrm>
            <a:off x="514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عميل نختبره</a:t>
            </a:r>
          </a:p>
        </p:txBody>
      </p:sp>
      <p:sp>
        <p:nvSpPr>
          <p:cNvPr id="13" name="مدرسة أو جامعة">
            <a:extLst>
              <a:ext uri="{FF2B5EF4-FFF2-40B4-BE49-F238E27FC236}">
                <a16:creationId xmlns:a16="http://schemas.microsoft.com/office/drawing/2014/main" id="{ECD12D36-F061-47C5-901D-6F77BADDB380}"/>
              </a:ext>
            </a:extLst>
          </p:cNvPr>
          <p:cNvSpPr>
            <a:spLocks noGrp="1"/>
          </p:cNvSpPr>
          <p:nvPr/>
        </p:nvSpPr>
        <p:spPr>
          <a:xfrm>
            <a:off x="452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FFFFFF"/>
                </a:solidFill>
                <a:latin typeface="IBM Plex Sans Arabic"/>
                <a:ea typeface="IBM Plex Sans Arabic"/>
                <a:cs typeface="IBM Plex Sans Arabic"/>
              </a:defRPr>
            </a:pPr>
            <a:r>
              <a:rPr lang="ar-JO" sz="2325" b="1" kern="0" spc="0">
                <a:solidFill>
                  <a:srgbClr val="FFFFFF"/>
                </a:solidFill>
                <a:latin typeface="IBM Plex Sans Arabic"/>
                <a:ea typeface="IBM Plex Sans Arabic"/>
                <a:cs typeface="IBM Plex Sans Arabic"/>
              </a:rPr>
              <a:t>مدرسة أو جامعة</a:t>
            </a:r>
          </a:p>
        </p:txBody>
      </p:sp>
      <p:sp>
        <p:nvSpPr>
          <p:cNvPr id="14" name="عرض مؤسسي مقترح&#10;أدوات + تقارير + دعم">
            <a:extLst>
              <a:ext uri="{FF2B5EF4-FFF2-40B4-BE49-F238E27FC236}">
                <a16:creationId xmlns:a16="http://schemas.microsoft.com/office/drawing/2014/main" id="{83BB7229-4ED4-49DF-A5D9-9E2E1600AC59}"/>
              </a:ext>
            </a:extLst>
          </p:cNvPr>
          <p:cNvSpPr>
            <a:spLocks noGrp="1"/>
          </p:cNvSpPr>
          <p:nvPr/>
        </p:nvSpPr>
        <p:spPr>
          <a:xfrm>
            <a:off x="457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D1DEED"/>
                </a:solidFill>
                <a:latin typeface="IBM Plex Sans Arabic"/>
                <a:ea typeface="IBM Plex Sans Arabic"/>
                <a:cs typeface="IBM Plex Sans Arabic"/>
              </a:defRPr>
            </a:pPr>
            <a:r>
              <a:rPr lang="ar-JO" sz="1875" b="1" kern="0" spc="0">
                <a:solidFill>
                  <a:srgbClr val="D1DEED"/>
                </a:solidFill>
                <a:latin typeface="IBM Plex Sans Arabic"/>
                <a:ea typeface="IBM Plex Sans Arabic"/>
                <a:cs typeface="IBM Plex Sans Arabic"/>
              </a:rPr>
              <a:t>عرض مؤسسي مقترح</a:t>
            </a:r>
          </a:p>
          <a:p>
            <a:pPr algn="ctr" rtl="1">
              <a:lnSpc>
                <a:spcPct val="116000"/>
              </a:lnSpc>
              <a:spcBef>
                <a:spcPts val="0"/>
              </a:spcBef>
              <a:spcAft>
                <a:spcPts val="0"/>
              </a:spcAft>
              <a:buNone/>
              <a:defRPr lang="ar-JO" sz="1875" b="1" kern="0" spc="0">
                <a:solidFill>
                  <a:srgbClr val="D1DEED"/>
                </a:solidFill>
                <a:latin typeface="IBM Plex Sans Arabic"/>
                <a:ea typeface="IBM Plex Sans Arabic"/>
                <a:cs typeface="IBM Plex Sans Arabic"/>
              </a:defRPr>
            </a:pPr>
            <a:r>
              <a:rPr lang="ar-JO" sz="1875" b="1" kern="0" spc="0">
                <a:solidFill>
                  <a:srgbClr val="D1DEED"/>
                </a:solidFill>
                <a:latin typeface="IBM Plex Sans Arabic"/>
                <a:ea typeface="IBM Plex Sans Arabic"/>
                <a:cs typeface="IBM Plex Sans Arabic"/>
              </a:rPr>
              <a:t>أدوات + تقارير + دعم</a:t>
            </a:r>
          </a:p>
        </p:txBody>
      </p:sp>
      <p:sp>
        <p:nvSpPr>
          <p:cNvPr id="15" name="نختبر استعداد الدفع في التجربة">
            <a:extLst>
              <a:ext uri="{FF2B5EF4-FFF2-40B4-BE49-F238E27FC236}">
                <a16:creationId xmlns:a16="http://schemas.microsoft.com/office/drawing/2014/main" id="{5999DD67-7B25-4948-8365-EF92F975635E}"/>
              </a:ext>
            </a:extLst>
          </p:cNvPr>
          <p:cNvSpPr>
            <a:spLocks noGrp="1"/>
          </p:cNvSpPr>
          <p:nvPr/>
        </p:nvSpPr>
        <p:spPr>
          <a:xfrm>
            <a:off x="456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نختبر استعداد الدفع في التجربة</a:t>
            </a:r>
          </a:p>
        </p:txBody>
      </p:sp>
      <p:sp>
        <p:nvSpPr>
          <p:cNvPr id="16" name="Rectangle: Rounded Corners 15">
            <a:extLst>
              <a:ext uri="{FF2B5EF4-FFF2-40B4-BE49-F238E27FC236}">
                <a16:creationId xmlns:a16="http://schemas.microsoft.com/office/drawing/2014/main" id="{EDC26541-74E9-45C0-BE52-A71B6A4B6F29}"/>
              </a:ext>
            </a:extLst>
          </p:cNvPr>
          <p:cNvSpPr>
            <a:spLocks noGrp="1"/>
          </p:cNvSpPr>
          <p:nvPr/>
        </p:nvSpPr>
        <p:spPr>
          <a:xfrm>
            <a:off x="523875" y="1781175"/>
            <a:ext cx="3333750" cy="3600450"/>
          </a:xfrm>
          <a:prstGeom prst="roundRect">
            <a:avLst>
              <a:gd name="adj" fmla="val 2286"/>
            </a:avLst>
          </a:prstGeom>
          <a:solidFill>
            <a:srgbClr val="FFFFFF"/>
          </a:solidFill>
          <a:ln w="12383">
            <a:solidFill>
              <a:srgbClr val="D4DEE9"/>
            </a:solidFill>
          </a:ln>
        </p:spPr>
      </p:sp>
      <p:sp>
        <p:nvSpPr>
          <p:cNvPr id="17" name="Rectangle: Rounded Corners 16">
            <a:extLst>
              <a:ext uri="{FF2B5EF4-FFF2-40B4-BE49-F238E27FC236}">
                <a16:creationId xmlns:a16="http://schemas.microsoft.com/office/drawing/2014/main" id="{5EE60992-9285-4FCF-96D4-403A67B505E1}"/>
              </a:ext>
            </a:extLst>
          </p:cNvPr>
          <p:cNvSpPr>
            <a:spLocks noGrp="1"/>
          </p:cNvSpPr>
          <p:nvPr/>
        </p:nvSpPr>
        <p:spPr>
          <a:xfrm>
            <a:off x="1238250" y="1990725"/>
            <a:ext cx="1905000" cy="381000"/>
          </a:xfrm>
          <a:prstGeom prst="roundRect">
            <a:avLst>
              <a:gd name="adj" fmla="val 20000"/>
            </a:avLst>
          </a:prstGeom>
          <a:solidFill>
            <a:srgbClr val="E7EEF6"/>
          </a:solidFill>
          <a:ln w="12383">
            <a:solidFill>
              <a:srgbClr val="C9D5E3"/>
            </a:solidFill>
          </a:ln>
        </p:spPr>
      </p:sp>
      <p:sp>
        <p:nvSpPr>
          <p:cNvPr id="18" name="شريك تمكين مستهدف">
            <a:extLst>
              <a:ext uri="{FF2B5EF4-FFF2-40B4-BE49-F238E27FC236}">
                <a16:creationId xmlns:a16="http://schemas.microsoft.com/office/drawing/2014/main" id="{367F95F7-829F-477C-B8EA-4EA1D09C9541}"/>
              </a:ext>
            </a:extLst>
          </p:cNvPr>
          <p:cNvSpPr>
            <a:spLocks noGrp="1"/>
          </p:cNvSpPr>
          <p:nvPr/>
        </p:nvSpPr>
        <p:spPr>
          <a:xfrm>
            <a:off x="133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شريك تمكين مستهدف</a:t>
            </a:r>
          </a:p>
        </p:txBody>
      </p:sp>
      <p:sp>
        <p:nvSpPr>
          <p:cNvPr id="19" name="جهة تعليمية عامة">
            <a:extLst>
              <a:ext uri="{FF2B5EF4-FFF2-40B4-BE49-F238E27FC236}">
                <a16:creationId xmlns:a16="http://schemas.microsoft.com/office/drawing/2014/main" id="{1F0470BD-4FE9-43FE-99D8-C646ECC3D668}"/>
              </a:ext>
            </a:extLst>
          </p:cNvPr>
          <p:cNvSpPr>
            <a:spLocks noGrp="1"/>
          </p:cNvSpPr>
          <p:nvPr/>
        </p:nvSpPr>
        <p:spPr>
          <a:xfrm>
            <a:off x="71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جهة تعليمية عامة</a:t>
            </a:r>
          </a:p>
        </p:txBody>
      </p:sp>
      <p:sp>
        <p:nvSpPr>
          <p:cNvPr id="20" name="وصول للبيانات والمدارس&#10;وقياس أثر أوسع">
            <a:extLst>
              <a:ext uri="{FF2B5EF4-FFF2-40B4-BE49-F238E27FC236}">
                <a16:creationId xmlns:a16="http://schemas.microsoft.com/office/drawing/2014/main" id="{1C5761EE-3329-4980-B4D5-40C1D95443CC}"/>
              </a:ext>
            </a:extLst>
          </p:cNvPr>
          <p:cNvSpPr>
            <a:spLocks noGrp="1"/>
          </p:cNvSpPr>
          <p:nvPr/>
        </p:nvSpPr>
        <p:spPr>
          <a:xfrm>
            <a:off x="76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وصول للبيانات والمدارس</a:t>
            </a:r>
          </a:p>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وقياس أثر أوسع</a:t>
            </a:r>
          </a:p>
        </p:txBody>
      </p:sp>
      <p:sp>
        <p:nvSpPr>
          <p:cNvPr id="21" name="خدمة وطنية مبنية على دليل">
            <a:extLst>
              <a:ext uri="{FF2B5EF4-FFF2-40B4-BE49-F238E27FC236}">
                <a16:creationId xmlns:a16="http://schemas.microsoft.com/office/drawing/2014/main" id="{24DAE34B-EFF3-42F2-91B1-1A4CD44215AA}"/>
              </a:ext>
            </a:extLst>
          </p:cNvPr>
          <p:cNvSpPr>
            <a:spLocks noGrp="1"/>
          </p:cNvSpPr>
          <p:nvPr/>
        </p:nvSpPr>
        <p:spPr>
          <a:xfrm>
            <a:off x="75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خدمة وطنية مبنية على دليل</a:t>
            </a:r>
          </a:p>
        </p:txBody>
      </p:sp>
      <p:sp>
        <p:nvSpPr>
          <p:cNvPr id="22" name="Rectangle: Rounded Corners 21">
            <a:extLst>
              <a:ext uri="{FF2B5EF4-FFF2-40B4-BE49-F238E27FC236}">
                <a16:creationId xmlns:a16="http://schemas.microsoft.com/office/drawing/2014/main" id="{97EC2C82-65B8-42CD-AC50-A00FBB07FE87}"/>
              </a:ext>
            </a:extLst>
          </p:cNvPr>
          <p:cNvSpPr>
            <a:spLocks noGrp="1"/>
          </p:cNvSpPr>
          <p:nvPr/>
        </p:nvSpPr>
        <p:spPr>
          <a:xfrm>
            <a:off x="1381125" y="5657850"/>
            <a:ext cx="10096500" cy="552450"/>
          </a:xfrm>
          <a:prstGeom prst="roundRect">
            <a:avLst>
              <a:gd name="adj" fmla="val 13793"/>
            </a:avLst>
          </a:prstGeom>
          <a:solidFill>
            <a:srgbClr val="013070"/>
          </a:solidFill>
          <a:ln w="12383">
            <a:solidFill>
              <a:srgbClr val="013070"/>
            </a:solidFill>
          </a:ln>
        </p:spPr>
      </p:sp>
      <p:sp>
        <p:nvSpPr>
          <p:cNvPr id="23" name="المستفيد يستخدم  ←  نختبر دفع المؤسسة  ←  الج">
            <a:extLst>
              <a:ext uri="{FF2B5EF4-FFF2-40B4-BE49-F238E27FC236}">
                <a16:creationId xmlns:a16="http://schemas.microsoft.com/office/drawing/2014/main" id="{8811B021-FF6C-426F-8ED8-961F7B251B61}"/>
              </a:ext>
            </a:extLst>
          </p:cNvPr>
          <p:cNvSpPr>
            <a:spLocks noGrp="1"/>
          </p:cNvSpPr>
          <p:nvPr/>
        </p:nvSpPr>
        <p:spPr>
          <a:xfrm>
            <a:off x="1571625" y="5724525"/>
            <a:ext cx="9715500" cy="4095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المستفيد يستخدم  ←  نختبر دفع المؤسسة  ←  الجهة العامة تمكّن التوسع</a:t>
            </a:r>
          </a:p>
        </p:txBody>
      </p:sp>
    </p:spTree>
    <p:extLst>
      <p:ext uri="{BB962C8B-B14F-4D97-AF65-F5344CB8AC3E}">
        <p14:creationId xmlns:p14="http://schemas.microsoft.com/office/powerpoint/2010/main" val="18411091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p:blipFill>
        <p:spPr>
          <a:xfrm>
            <a:off x="11125200" y="400050"/>
            <a:ext cx="552450" cy="552450"/>
          </a:xfrm>
          <a:prstGeom prst="rect">
            <a:avLst/>
          </a:prstGeom>
        </p:spPr>
      </p:pic>
      <p:sp>
        <p:nvSpPr>
          <p:cNvPr id="2" name="نموذج العمل ومصادر الإيراد">
            <a:extLst>
              <a:ext uri="{FF2B5EF4-FFF2-40B4-BE49-F238E27FC236}">
                <a16:creationId xmlns:a16="http://schemas.microsoft.com/office/drawing/2014/main" id="{5FE46057-A5FA-4446-A739-815A28F5D5F2}"/>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نموذج العمل ومصادر الإيراد</a:t>
            </a:r>
          </a:p>
        </p:txBody>
      </p:sp>
      <p:sp>
        <p:nvSpPr>
          <p:cNvPr id="3" name="08">
            <a:extLst>
              <a:ext uri="{FF2B5EF4-FFF2-40B4-BE49-F238E27FC236}">
                <a16:creationId xmlns:a16="http://schemas.microsoft.com/office/drawing/2014/main" id="{3F70BA95-8406-4B40-A0FB-D67C26986755}"/>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08</a:t>
            </a:r>
          </a:p>
        </p:txBody>
      </p:sp>
      <p:sp>
        <p:nvSpPr>
          <p:cNvPr id="4" name="Rectangle: Rounded Corners 3">
            <a:extLst>
              <a:ext uri="{FF2B5EF4-FFF2-40B4-BE49-F238E27FC236}">
                <a16:creationId xmlns:a16="http://schemas.microsoft.com/office/drawing/2014/main" id="{23DD2085-B1E9-4C07-8248-4363CDDF73B2}"/>
              </a:ext>
            </a:extLst>
          </p:cNvPr>
          <p:cNvSpPr>
            <a:spLocks noGrp="1"/>
          </p:cNvSpPr>
          <p:nvPr/>
        </p:nvSpPr>
        <p:spPr>
          <a:xfrm>
            <a:off x="8143875" y="1724025"/>
            <a:ext cx="3333750" cy="3009900"/>
          </a:xfrm>
          <a:prstGeom prst="roundRect">
            <a:avLst>
              <a:gd name="adj" fmla="val 2532"/>
            </a:avLst>
          </a:prstGeom>
          <a:solidFill>
            <a:srgbClr val="FFFFFF"/>
          </a:solidFill>
          <a:ln w="12383">
            <a:solidFill>
              <a:srgbClr val="58749B"/>
            </a:solidFill>
          </a:ln>
        </p:spPr>
      </p:sp>
      <p:sp>
        <p:nvSpPr>
          <p:cNvPr id="5" name="Rectangle: Rounded Corners 4">
            <a:extLst>
              <a:ext uri="{FF2B5EF4-FFF2-40B4-BE49-F238E27FC236}">
                <a16:creationId xmlns:a16="http://schemas.microsoft.com/office/drawing/2014/main" id="{7A8ACC34-CE66-43E8-8BD4-881F6B3387B8}"/>
              </a:ext>
            </a:extLst>
          </p:cNvPr>
          <p:cNvSpPr>
            <a:spLocks noGrp="1"/>
          </p:cNvSpPr>
          <p:nvPr/>
        </p:nvSpPr>
        <p:spPr>
          <a:xfrm>
            <a:off x="8667750" y="1943100"/>
            <a:ext cx="2286000" cy="381000"/>
          </a:xfrm>
          <a:prstGeom prst="roundRect">
            <a:avLst>
              <a:gd name="adj" fmla="val 20000"/>
            </a:avLst>
          </a:prstGeom>
          <a:solidFill>
            <a:srgbClr val="E7EEF6"/>
          </a:solidFill>
          <a:ln w="12383">
            <a:solidFill>
              <a:srgbClr val="C9D5E3"/>
            </a:solidFill>
          </a:ln>
        </p:spPr>
      </p:sp>
      <p:sp>
        <p:nvSpPr>
          <p:cNvPr id="6" name="الطالب والأسرة">
            <a:extLst>
              <a:ext uri="{FF2B5EF4-FFF2-40B4-BE49-F238E27FC236}">
                <a16:creationId xmlns:a16="http://schemas.microsoft.com/office/drawing/2014/main" id="{C8BB2124-3A2A-4278-ABC1-EEF1EDC42EB2}"/>
              </a:ext>
            </a:extLst>
          </p:cNvPr>
          <p:cNvSpPr>
            <a:spLocks noGrp="1"/>
          </p:cNvSpPr>
          <p:nvPr/>
        </p:nvSpPr>
        <p:spPr>
          <a:xfrm>
            <a:off x="876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الطالب والأسرة</a:t>
            </a:r>
          </a:p>
        </p:txBody>
      </p:sp>
      <p:sp>
        <p:nvSpPr>
          <p:cNvPr id="7" name="مجاني">
            <a:extLst>
              <a:ext uri="{FF2B5EF4-FFF2-40B4-BE49-F238E27FC236}">
                <a16:creationId xmlns:a16="http://schemas.microsoft.com/office/drawing/2014/main" id="{3B7623C5-F8D8-4EF1-BBE6-077181774BED}"/>
              </a:ext>
            </a:extLst>
          </p:cNvPr>
          <p:cNvSpPr>
            <a:spLocks noGrp="1"/>
          </p:cNvSpPr>
          <p:nvPr/>
        </p:nvSpPr>
        <p:spPr>
          <a:xfrm>
            <a:off x="833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225" b="1" kern="0" spc="0">
                <a:solidFill>
                  <a:srgbClr val="013070"/>
                </a:solidFill>
                <a:latin typeface="IBM Plex Sans Arabic"/>
                <a:ea typeface="IBM Plex Sans Arabic"/>
                <a:cs typeface="IBM Plex Sans Arabic"/>
              </a:defRPr>
            </a:pPr>
            <a:r>
              <a:rPr lang="ar-JO" sz="3225" b="1" kern="0" spc="0">
                <a:solidFill>
                  <a:srgbClr val="013070"/>
                </a:solidFill>
                <a:latin typeface="IBM Plex Sans Arabic"/>
                <a:ea typeface="IBM Plex Sans Arabic"/>
                <a:cs typeface="IBM Plex Sans Arabic"/>
              </a:rPr>
              <a:t>مجاني</a:t>
            </a:r>
          </a:p>
        </p:txBody>
      </p:sp>
      <p:sp>
        <p:nvSpPr>
          <p:cNvPr id="8" name="رحلة القرار الأساسية">
            <a:extLst>
              <a:ext uri="{FF2B5EF4-FFF2-40B4-BE49-F238E27FC236}">
                <a16:creationId xmlns:a16="http://schemas.microsoft.com/office/drawing/2014/main" id="{4E0C29A1-3547-4C86-9174-9D04A37F03F9}"/>
              </a:ext>
            </a:extLst>
          </p:cNvPr>
          <p:cNvSpPr>
            <a:spLocks noGrp="1"/>
          </p:cNvSpPr>
          <p:nvPr/>
        </p:nvSpPr>
        <p:spPr>
          <a:xfrm>
            <a:off x="838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رحلة القرار الأساسية</a:t>
            </a:r>
          </a:p>
        </p:txBody>
      </p:sp>
      <p:sp>
        <p:nvSpPr>
          <p:cNvPr id="9" name="بلا تكلفة على المستفيد">
            <a:extLst>
              <a:ext uri="{FF2B5EF4-FFF2-40B4-BE49-F238E27FC236}">
                <a16:creationId xmlns:a16="http://schemas.microsoft.com/office/drawing/2014/main" id="{037E4837-281F-45CC-85EA-5B7449C8B5AC}"/>
              </a:ext>
            </a:extLst>
          </p:cNvPr>
          <p:cNvSpPr>
            <a:spLocks noGrp="1"/>
          </p:cNvSpPr>
          <p:nvPr/>
        </p:nvSpPr>
        <p:spPr>
          <a:xfrm>
            <a:off x="838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بلا تكلفة على المستفيد</a:t>
            </a:r>
          </a:p>
        </p:txBody>
      </p:sp>
      <p:sp>
        <p:nvSpPr>
          <p:cNvPr id="10" name="Rectangle: Rounded Corners 9">
            <a:extLst>
              <a:ext uri="{FF2B5EF4-FFF2-40B4-BE49-F238E27FC236}">
                <a16:creationId xmlns:a16="http://schemas.microsoft.com/office/drawing/2014/main" id="{678C7677-2BB7-406A-8F50-F63B77B75E95}"/>
              </a:ext>
            </a:extLst>
          </p:cNvPr>
          <p:cNvSpPr>
            <a:spLocks noGrp="1"/>
          </p:cNvSpPr>
          <p:nvPr/>
        </p:nvSpPr>
        <p:spPr>
          <a:xfrm>
            <a:off x="4333875" y="1724025"/>
            <a:ext cx="3333750" cy="3009900"/>
          </a:xfrm>
          <a:prstGeom prst="roundRect">
            <a:avLst>
              <a:gd name="adj" fmla="val 2532"/>
            </a:avLst>
          </a:prstGeom>
          <a:solidFill>
            <a:srgbClr val="F3EAD7"/>
          </a:solidFill>
          <a:ln w="12383">
            <a:solidFill>
              <a:srgbClr val="DFC98F"/>
            </a:solidFill>
          </a:ln>
        </p:spPr>
      </p:sp>
      <p:sp>
        <p:nvSpPr>
          <p:cNvPr id="11" name="Rectangle: Rounded Corners 10">
            <a:extLst>
              <a:ext uri="{FF2B5EF4-FFF2-40B4-BE49-F238E27FC236}">
                <a16:creationId xmlns:a16="http://schemas.microsoft.com/office/drawing/2014/main" id="{C8A24CE7-0047-498B-89C7-B01E29DF6558}"/>
              </a:ext>
            </a:extLst>
          </p:cNvPr>
          <p:cNvSpPr>
            <a:spLocks noGrp="1"/>
          </p:cNvSpPr>
          <p:nvPr/>
        </p:nvSpPr>
        <p:spPr>
          <a:xfrm>
            <a:off x="4857750" y="1943100"/>
            <a:ext cx="2286000" cy="381000"/>
          </a:xfrm>
          <a:prstGeom prst="roundRect">
            <a:avLst>
              <a:gd name="adj" fmla="val 20000"/>
            </a:avLst>
          </a:prstGeom>
          <a:solidFill>
            <a:srgbClr val="E7EEF6"/>
          </a:solidFill>
          <a:ln w="12383">
            <a:solidFill>
              <a:srgbClr val="C9D5E3"/>
            </a:solidFill>
          </a:ln>
        </p:spPr>
      </p:sp>
      <p:sp>
        <p:nvSpPr>
          <p:cNvPr id="12" name="المؤسسة التعليمية">
            <a:extLst>
              <a:ext uri="{FF2B5EF4-FFF2-40B4-BE49-F238E27FC236}">
                <a16:creationId xmlns:a16="http://schemas.microsoft.com/office/drawing/2014/main" id="{94213566-3CA4-4FC3-97CD-BB87433103CB}"/>
              </a:ext>
            </a:extLst>
          </p:cNvPr>
          <p:cNvSpPr>
            <a:spLocks noGrp="1"/>
          </p:cNvSpPr>
          <p:nvPr/>
        </p:nvSpPr>
        <p:spPr>
          <a:xfrm>
            <a:off x="495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المؤسسة التعليمية</a:t>
            </a:r>
          </a:p>
        </p:txBody>
      </p:sp>
      <p:sp>
        <p:nvSpPr>
          <p:cNvPr id="13" name="20 دينارًا">
            <a:extLst>
              <a:ext uri="{FF2B5EF4-FFF2-40B4-BE49-F238E27FC236}">
                <a16:creationId xmlns:a16="http://schemas.microsoft.com/office/drawing/2014/main" id="{3B1E9127-FAD6-44D1-B9E5-035C5F7B3C2F}"/>
              </a:ext>
            </a:extLst>
          </p:cNvPr>
          <p:cNvSpPr>
            <a:spLocks noGrp="1"/>
          </p:cNvSpPr>
          <p:nvPr/>
        </p:nvSpPr>
        <p:spPr>
          <a:xfrm>
            <a:off x="452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4050" b="1" kern="0" spc="0">
                <a:solidFill>
                  <a:srgbClr val="C8A04C"/>
                </a:solidFill>
                <a:latin typeface="IBM Plex Sans Arabic"/>
                <a:ea typeface="IBM Plex Sans Arabic"/>
                <a:cs typeface="IBM Plex Sans Arabic"/>
              </a:defRPr>
            </a:pPr>
            <a:r>
              <a:rPr lang="ar-JO" sz="4050" b="1" kern="0" spc="0">
                <a:solidFill>
                  <a:srgbClr val="C8A04C"/>
                </a:solidFill>
                <a:latin typeface="IBM Plex Sans Arabic"/>
                <a:ea typeface="IBM Plex Sans Arabic"/>
                <a:cs typeface="IBM Plex Sans Arabic"/>
              </a:rPr>
              <a:t>20 دينارًا</a:t>
            </a:r>
          </a:p>
        </p:txBody>
      </p:sp>
      <p:sp>
        <p:nvSpPr>
          <p:cNvPr id="14" name="لكل مقعد طالب ممول سنويًا">
            <a:extLst>
              <a:ext uri="{FF2B5EF4-FFF2-40B4-BE49-F238E27FC236}">
                <a16:creationId xmlns:a16="http://schemas.microsoft.com/office/drawing/2014/main" id="{E581C2AB-C2B4-49DD-9D2B-28F1303FCE45}"/>
              </a:ext>
            </a:extLst>
          </p:cNvPr>
          <p:cNvSpPr>
            <a:spLocks noGrp="1"/>
          </p:cNvSpPr>
          <p:nvPr/>
        </p:nvSpPr>
        <p:spPr>
          <a:xfrm>
            <a:off x="457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لكل مقعد طالب ممول سنويًا</a:t>
            </a:r>
          </a:p>
        </p:txBody>
      </p:sp>
      <p:sp>
        <p:nvSpPr>
          <p:cNvPr id="15" name="عرض مقترح: أدوات + تقارير + تدريب">
            <a:extLst>
              <a:ext uri="{FF2B5EF4-FFF2-40B4-BE49-F238E27FC236}">
                <a16:creationId xmlns:a16="http://schemas.microsoft.com/office/drawing/2014/main" id="{F9F42F2C-7E4D-4C9E-A24B-38F7114E4397}"/>
              </a:ext>
            </a:extLst>
          </p:cNvPr>
          <p:cNvSpPr>
            <a:spLocks noGrp="1"/>
          </p:cNvSpPr>
          <p:nvPr/>
        </p:nvSpPr>
        <p:spPr>
          <a:xfrm>
            <a:off x="457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عرض مقترح: أدوات + تقارير + تدريب</a:t>
            </a:r>
          </a:p>
        </p:txBody>
      </p:sp>
      <p:sp>
        <p:nvSpPr>
          <p:cNvPr id="16" name="Rectangle: Rounded Corners 15">
            <a:extLst>
              <a:ext uri="{FF2B5EF4-FFF2-40B4-BE49-F238E27FC236}">
                <a16:creationId xmlns:a16="http://schemas.microsoft.com/office/drawing/2014/main" id="{15237AC6-29E0-41CD-AACB-8290BB480DCF}"/>
              </a:ext>
            </a:extLst>
          </p:cNvPr>
          <p:cNvSpPr>
            <a:spLocks noGrp="1"/>
          </p:cNvSpPr>
          <p:nvPr/>
        </p:nvSpPr>
        <p:spPr>
          <a:xfrm>
            <a:off x="523875" y="1724025"/>
            <a:ext cx="3333750" cy="3009900"/>
          </a:xfrm>
          <a:prstGeom prst="roundRect">
            <a:avLst>
              <a:gd name="adj" fmla="val 2532"/>
            </a:avLst>
          </a:prstGeom>
          <a:solidFill>
            <a:srgbClr val="FFFFFF"/>
          </a:solidFill>
          <a:ln w="12383">
            <a:solidFill>
              <a:srgbClr val="58749B"/>
            </a:solidFill>
          </a:ln>
        </p:spPr>
      </p:sp>
      <p:sp>
        <p:nvSpPr>
          <p:cNvPr id="17" name="Rectangle: Rounded Corners 16">
            <a:extLst>
              <a:ext uri="{FF2B5EF4-FFF2-40B4-BE49-F238E27FC236}">
                <a16:creationId xmlns:a16="http://schemas.microsoft.com/office/drawing/2014/main" id="{1FD4AFA0-4046-4275-943C-099AFAD37DD7}"/>
              </a:ext>
            </a:extLst>
          </p:cNvPr>
          <p:cNvSpPr>
            <a:spLocks noGrp="1"/>
          </p:cNvSpPr>
          <p:nvPr/>
        </p:nvSpPr>
        <p:spPr>
          <a:xfrm>
            <a:off x="1047750" y="1943100"/>
            <a:ext cx="2286000" cy="381000"/>
          </a:xfrm>
          <a:prstGeom prst="roundRect">
            <a:avLst>
              <a:gd name="adj" fmla="val 20000"/>
            </a:avLst>
          </a:prstGeom>
          <a:solidFill>
            <a:srgbClr val="E7EEF6"/>
          </a:solidFill>
          <a:ln w="12383">
            <a:solidFill>
              <a:srgbClr val="C9D5E3"/>
            </a:solidFill>
          </a:ln>
        </p:spPr>
      </p:sp>
      <p:sp>
        <p:nvSpPr>
          <p:cNvPr id="18" name="جهة تعليمية عامة">
            <a:extLst>
              <a:ext uri="{FF2B5EF4-FFF2-40B4-BE49-F238E27FC236}">
                <a16:creationId xmlns:a16="http://schemas.microsoft.com/office/drawing/2014/main" id="{296EA690-51A7-4907-942B-466C9B291E56}"/>
              </a:ext>
            </a:extLst>
          </p:cNvPr>
          <p:cNvSpPr>
            <a:spLocks noGrp="1"/>
          </p:cNvSpPr>
          <p:nvPr/>
        </p:nvSpPr>
        <p:spPr>
          <a:xfrm>
            <a:off x="114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جهة تعليمية عامة</a:t>
            </a:r>
          </a:p>
        </p:txBody>
      </p:sp>
      <p:sp>
        <p:nvSpPr>
          <p:cNvPr id="19" name="عقد سنوي">
            <a:extLst>
              <a:ext uri="{FF2B5EF4-FFF2-40B4-BE49-F238E27FC236}">
                <a16:creationId xmlns:a16="http://schemas.microsoft.com/office/drawing/2014/main" id="{A6481DF9-EE18-426C-A186-B677E851D457}"/>
              </a:ext>
            </a:extLst>
          </p:cNvPr>
          <p:cNvSpPr>
            <a:spLocks noGrp="1"/>
          </p:cNvSpPr>
          <p:nvPr/>
        </p:nvSpPr>
        <p:spPr>
          <a:xfrm>
            <a:off x="71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225" b="1" kern="0" spc="0">
                <a:solidFill>
                  <a:srgbClr val="013070"/>
                </a:solidFill>
                <a:latin typeface="IBM Plex Sans Arabic"/>
                <a:ea typeface="IBM Plex Sans Arabic"/>
                <a:cs typeface="IBM Plex Sans Arabic"/>
              </a:defRPr>
            </a:pPr>
            <a:r>
              <a:rPr lang="ar-JO" sz="3225" b="1" kern="0" spc="0">
                <a:solidFill>
                  <a:srgbClr val="013070"/>
                </a:solidFill>
                <a:latin typeface="IBM Plex Sans Arabic"/>
                <a:ea typeface="IBM Plex Sans Arabic"/>
                <a:cs typeface="IBM Plex Sans Arabic"/>
              </a:rPr>
              <a:t>عقد سنوي</a:t>
            </a:r>
          </a:p>
        </p:txBody>
      </p:sp>
      <p:sp>
        <p:nvSpPr>
          <p:cNvPr id="20" name="بحسب نطاق الخدمة">
            <a:extLst>
              <a:ext uri="{FF2B5EF4-FFF2-40B4-BE49-F238E27FC236}">
                <a16:creationId xmlns:a16="http://schemas.microsoft.com/office/drawing/2014/main" id="{025A2B55-542F-4F28-B052-D93A297744C7}"/>
              </a:ext>
            </a:extLst>
          </p:cNvPr>
          <p:cNvSpPr>
            <a:spLocks noGrp="1"/>
          </p:cNvSpPr>
          <p:nvPr/>
        </p:nvSpPr>
        <p:spPr>
          <a:xfrm>
            <a:off x="76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بحسب نطاق الخدمة</a:t>
            </a:r>
          </a:p>
        </p:txBody>
      </p:sp>
      <p:sp>
        <p:nvSpPr>
          <p:cNvPr id="21" name="بيانات + دعم + قياس أثر">
            <a:extLst>
              <a:ext uri="{FF2B5EF4-FFF2-40B4-BE49-F238E27FC236}">
                <a16:creationId xmlns:a16="http://schemas.microsoft.com/office/drawing/2014/main" id="{B1410819-83CB-4AA4-BEF3-C9BB80F4548A}"/>
              </a:ext>
            </a:extLst>
          </p:cNvPr>
          <p:cNvSpPr>
            <a:spLocks noGrp="1"/>
          </p:cNvSpPr>
          <p:nvPr/>
        </p:nvSpPr>
        <p:spPr>
          <a:xfrm>
            <a:off x="76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بيانات + دعم + قياس أثر</a:t>
            </a:r>
          </a:p>
        </p:txBody>
      </p:sp>
      <p:sp>
        <p:nvSpPr>
          <p:cNvPr id="22" name="Rectangle: Rounded Corners 21">
            <a:extLst>
              <a:ext uri="{FF2B5EF4-FFF2-40B4-BE49-F238E27FC236}">
                <a16:creationId xmlns:a16="http://schemas.microsoft.com/office/drawing/2014/main" id="{80E478A4-6623-4F34-9992-764A191EE2E2}"/>
              </a:ext>
            </a:extLst>
          </p:cNvPr>
          <p:cNvSpPr>
            <a:spLocks noGrp="1"/>
          </p:cNvSpPr>
          <p:nvPr/>
        </p:nvSpPr>
        <p:spPr>
          <a:xfrm>
            <a:off x="1524000" y="4972050"/>
            <a:ext cx="9953625" cy="742950"/>
          </a:xfrm>
          <a:prstGeom prst="roundRect">
            <a:avLst>
              <a:gd name="adj" fmla="val 10256"/>
            </a:avLst>
          </a:prstGeom>
          <a:solidFill>
            <a:srgbClr val="123D76"/>
          </a:solidFill>
          <a:ln w="12383">
            <a:solidFill>
              <a:srgbClr val="58749B"/>
            </a:solidFill>
          </a:ln>
        </p:spPr>
      </p:sp>
      <p:sp>
        <p:nvSpPr>
          <p:cNvPr id="23" name="1,950 مقعد طالب ممول">
            <a:extLst>
              <a:ext uri="{FF2B5EF4-FFF2-40B4-BE49-F238E27FC236}">
                <a16:creationId xmlns:a16="http://schemas.microsoft.com/office/drawing/2014/main" id="{C754013F-361F-4052-96F9-F121FE22016A}"/>
              </a:ext>
            </a:extLst>
          </p:cNvPr>
          <p:cNvSpPr>
            <a:spLocks noGrp="1"/>
          </p:cNvSpPr>
          <p:nvPr/>
        </p:nvSpPr>
        <p:spPr>
          <a:xfrm>
            <a:off x="5953125" y="5029200"/>
            <a:ext cx="52387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FFFFFF"/>
                </a:solidFill>
                <a:latin typeface="IBM Plex Sans Arabic"/>
                <a:ea typeface="IBM Plex Sans Arabic"/>
                <a:cs typeface="IBM Plex Sans Arabic"/>
              </a:defRPr>
            </a:pPr>
            <a:r>
              <a:rPr lang="ar-JO" sz="2550" b="1" kern="0" spc="0">
                <a:solidFill>
                  <a:srgbClr val="FFFFFF"/>
                </a:solidFill>
                <a:latin typeface="IBM Plex Sans Arabic"/>
                <a:ea typeface="IBM Plex Sans Arabic"/>
                <a:cs typeface="IBM Plex Sans Arabic"/>
              </a:rPr>
              <a:t>1,950 مقعد طالب ممول</a:t>
            </a:r>
          </a:p>
        </p:txBody>
      </p:sp>
      <p:sp>
        <p:nvSpPr>
          <p:cNvPr id="24" name="نقطة تعادل مفترضة">
            <a:extLst>
              <a:ext uri="{FF2B5EF4-FFF2-40B4-BE49-F238E27FC236}">
                <a16:creationId xmlns:a16="http://schemas.microsoft.com/office/drawing/2014/main" id="{67FA1FB6-B697-4866-A550-0358EEC440D6}"/>
              </a:ext>
            </a:extLst>
          </p:cNvPr>
          <p:cNvSpPr>
            <a:spLocks noGrp="1"/>
          </p:cNvSpPr>
          <p:nvPr/>
        </p:nvSpPr>
        <p:spPr>
          <a:xfrm>
            <a:off x="1809750" y="5057775"/>
            <a:ext cx="3810000" cy="457200"/>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نقطة تعادل مفترضة</a:t>
            </a:r>
          </a:p>
        </p:txBody>
      </p:sp>
      <p:sp>
        <p:nvSpPr>
          <p:cNvPr id="25" name="فرضيات للاختبار وليست مبيعات: السعر، الكلفة، ">
            <a:extLst>
              <a:ext uri="{FF2B5EF4-FFF2-40B4-BE49-F238E27FC236}">
                <a16:creationId xmlns:a16="http://schemas.microsoft.com/office/drawing/2014/main" id="{E14F979C-F475-4E30-9051-FA2F4E640AEB}"/>
              </a:ext>
            </a:extLst>
          </p:cNvPr>
          <p:cNvSpPr>
            <a:spLocks noGrp="1"/>
          </p:cNvSpPr>
          <p:nvPr/>
        </p:nvSpPr>
        <p:spPr>
          <a:xfrm>
            <a:off x="1524000" y="5888355"/>
            <a:ext cx="9953625" cy="3105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فرضيات للاختبار وليست مبيعات: السعر، الكلفة، والتعادل تتغير بنتائج التجربة</a:t>
            </a:r>
          </a:p>
        </p:txBody>
      </p:sp>
    </p:spTree>
    <p:extLst>
      <p:ext uri="{BB962C8B-B14F-4D97-AF65-F5344CB8AC3E}">
        <p14:creationId xmlns:p14="http://schemas.microsoft.com/office/powerpoint/2010/main" val="412690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33" name="Picture 32"/>
          <p:cNvPicPr>
            <a:picLocks noChangeAspect="1"/>
          </p:cNvPicPr>
          <p:nvPr/>
        </p:nvPicPr>
        <p:blipFill>
          <a:blip r:embed="rId3"/>
          <a:stretch/>
        </p:blipFill>
        <p:spPr>
          <a:xfrm>
            <a:off x="11125200" y="400050"/>
            <a:ext cx="552450" cy="552450"/>
          </a:xfrm>
          <a:prstGeom prst="rect">
            <a:avLst/>
          </a:prstGeom>
        </p:spPr>
      </p:pic>
      <p:sp>
        <p:nvSpPr>
          <p:cNvPr id="2" name="كيف نثبت أثر مُرشِدي في الأردن؟">
            <a:extLst>
              <a:ext uri="{FF2B5EF4-FFF2-40B4-BE49-F238E27FC236}">
                <a16:creationId xmlns:a16="http://schemas.microsoft.com/office/drawing/2014/main" id="{3564D338-BA6A-47AE-B4F2-6E64FCF6048C}"/>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013070"/>
                </a:solidFill>
                <a:latin typeface="IBM Plex Sans Arabic"/>
                <a:ea typeface="IBM Plex Sans Arabic"/>
                <a:cs typeface="IBM Plex Sans Arabic"/>
              </a:defRPr>
            </a:pPr>
            <a:r>
              <a:rPr lang="ar-JO" sz="3150" b="1" kern="0" spc="0">
                <a:solidFill>
                  <a:srgbClr val="013070"/>
                </a:solidFill>
                <a:latin typeface="IBM Plex Sans Arabic"/>
                <a:ea typeface="IBM Plex Sans Arabic"/>
                <a:cs typeface="IBM Plex Sans Arabic"/>
              </a:rPr>
              <a:t>كيف نثبت أثر مُرشِدي في الأردن؟</a:t>
            </a:r>
          </a:p>
        </p:txBody>
      </p:sp>
      <p:sp>
        <p:nvSpPr>
          <p:cNvPr id="3" name="09">
            <a:extLst>
              <a:ext uri="{FF2B5EF4-FFF2-40B4-BE49-F238E27FC236}">
                <a16:creationId xmlns:a16="http://schemas.microsoft.com/office/drawing/2014/main" id="{A816291A-ABE0-4F67-87AA-C29A6B2483F0}"/>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09</a:t>
            </a:r>
          </a:p>
        </p:txBody>
      </p:sp>
      <p:sp>
        <p:nvSpPr>
          <p:cNvPr id="4" name="Rectangle: Rounded Corners 3">
            <a:extLst>
              <a:ext uri="{FF2B5EF4-FFF2-40B4-BE49-F238E27FC236}">
                <a16:creationId xmlns:a16="http://schemas.microsoft.com/office/drawing/2014/main" id="{869EEA08-272A-46B7-AFF5-E885932DE6AF}"/>
              </a:ext>
            </a:extLst>
          </p:cNvPr>
          <p:cNvSpPr>
            <a:spLocks noGrp="1"/>
          </p:cNvSpPr>
          <p:nvPr/>
        </p:nvSpPr>
        <p:spPr>
          <a:xfrm>
            <a:off x="4686300" y="1438275"/>
            <a:ext cx="2809875" cy="381000"/>
          </a:xfrm>
          <a:prstGeom prst="roundRect">
            <a:avLst>
              <a:gd name="adj" fmla="val 20000"/>
            </a:avLst>
          </a:prstGeom>
          <a:solidFill>
            <a:srgbClr val="E7EEF6"/>
          </a:solidFill>
          <a:ln w="12383">
            <a:solidFill>
              <a:srgbClr val="C9D5E3"/>
            </a:solidFill>
          </a:ln>
        </p:spPr>
      </p:sp>
      <p:sp>
        <p:nvSpPr>
          <p:cNvPr id="5" name="100 طالب، 3 مدارس، 6 أسابيع">
            <a:extLst>
              <a:ext uri="{FF2B5EF4-FFF2-40B4-BE49-F238E27FC236}">
                <a16:creationId xmlns:a16="http://schemas.microsoft.com/office/drawing/2014/main" id="{5E35AEDC-2070-430D-8CAF-630AE300C55B}"/>
              </a:ext>
            </a:extLst>
          </p:cNvPr>
          <p:cNvSpPr>
            <a:spLocks noGrp="1"/>
          </p:cNvSpPr>
          <p:nvPr/>
        </p:nvSpPr>
        <p:spPr>
          <a:xfrm>
            <a:off x="4781550" y="1465898"/>
            <a:ext cx="261937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100 طالب، 3 مدارس، 6 أسابيع</a:t>
            </a:r>
          </a:p>
        </p:txBody>
      </p:sp>
      <p:sp>
        <p:nvSpPr>
          <p:cNvPr id="6" name="Rectangle: Rounded Corners 5">
            <a:extLst>
              <a:ext uri="{FF2B5EF4-FFF2-40B4-BE49-F238E27FC236}">
                <a16:creationId xmlns:a16="http://schemas.microsoft.com/office/drawing/2014/main" id="{C84C9D46-E078-429B-8606-1F54258B0E06}"/>
              </a:ext>
            </a:extLst>
          </p:cNvPr>
          <p:cNvSpPr>
            <a:spLocks noGrp="1"/>
          </p:cNvSpPr>
          <p:nvPr/>
        </p:nvSpPr>
        <p:spPr>
          <a:xfrm>
            <a:off x="8143875" y="2009775"/>
            <a:ext cx="3333750" cy="1857375"/>
          </a:xfrm>
          <a:prstGeom prst="roundRect">
            <a:avLst>
              <a:gd name="adj" fmla="val 4103"/>
            </a:avLst>
          </a:prstGeom>
          <a:solidFill>
            <a:srgbClr val="FFFFFF"/>
          </a:solidFill>
          <a:ln w="12383">
            <a:solidFill>
              <a:srgbClr val="D4DEE9"/>
            </a:solidFill>
          </a:ln>
        </p:spPr>
      </p:sp>
      <p:sp>
        <p:nvSpPr>
          <p:cNvPr id="7" name="Rectangle: Rounded Corners 6">
            <a:extLst>
              <a:ext uri="{FF2B5EF4-FFF2-40B4-BE49-F238E27FC236}">
                <a16:creationId xmlns:a16="http://schemas.microsoft.com/office/drawing/2014/main" id="{3D72859A-2E45-484B-AACE-8602470812CC}"/>
              </a:ext>
            </a:extLst>
          </p:cNvPr>
          <p:cNvSpPr>
            <a:spLocks noGrp="1"/>
          </p:cNvSpPr>
          <p:nvPr/>
        </p:nvSpPr>
        <p:spPr>
          <a:xfrm>
            <a:off x="8667750" y="2152650"/>
            <a:ext cx="2286000" cy="381000"/>
          </a:xfrm>
          <a:prstGeom prst="roundRect">
            <a:avLst>
              <a:gd name="adj" fmla="val 20000"/>
            </a:avLst>
          </a:prstGeom>
          <a:solidFill>
            <a:srgbClr val="E7EEF6"/>
          </a:solidFill>
          <a:ln w="12383">
            <a:solidFill>
              <a:srgbClr val="C9D5E3"/>
            </a:solidFill>
          </a:ln>
        </p:spPr>
      </p:sp>
      <p:sp>
        <p:nvSpPr>
          <p:cNvPr id="8" name="1  قبل الاستخدام">
            <a:extLst>
              <a:ext uri="{FF2B5EF4-FFF2-40B4-BE49-F238E27FC236}">
                <a16:creationId xmlns:a16="http://schemas.microsoft.com/office/drawing/2014/main" id="{7243A082-645C-45D8-B21B-30309B919C99}"/>
              </a:ext>
            </a:extLst>
          </p:cNvPr>
          <p:cNvSpPr>
            <a:spLocks noGrp="1"/>
          </p:cNvSpPr>
          <p:nvPr/>
        </p:nvSpPr>
        <p:spPr>
          <a:xfrm>
            <a:off x="8763000" y="218027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1  قبل الاستخدام</a:t>
            </a:r>
          </a:p>
        </p:txBody>
      </p:sp>
      <p:sp>
        <p:nvSpPr>
          <p:cNvPr id="9" name="خط أساس لكل طالب">
            <a:extLst>
              <a:ext uri="{FF2B5EF4-FFF2-40B4-BE49-F238E27FC236}">
                <a16:creationId xmlns:a16="http://schemas.microsoft.com/office/drawing/2014/main" id="{55E8AD8B-2129-4CBD-86A1-592E8034D1F3}"/>
              </a:ext>
            </a:extLst>
          </p:cNvPr>
          <p:cNvSpPr>
            <a:spLocks noGrp="1"/>
          </p:cNvSpPr>
          <p:nvPr/>
        </p:nvSpPr>
        <p:spPr>
          <a:xfrm>
            <a:off x="8334375" y="265747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خط أساس لكل طالب</a:t>
            </a:r>
          </a:p>
        </p:txBody>
      </p:sp>
      <p:sp>
        <p:nvSpPr>
          <p:cNvPr id="10" name="مقارنة 3 تخصصات&#10;الوقت + 6 أسئلة&#10;وضوح القرار م">
            <a:extLst>
              <a:ext uri="{FF2B5EF4-FFF2-40B4-BE49-F238E27FC236}">
                <a16:creationId xmlns:a16="http://schemas.microsoft.com/office/drawing/2014/main" id="{1EA8EC0F-561F-4AF5-8818-0656475DA167}"/>
              </a:ext>
            </a:extLst>
          </p:cNvPr>
          <p:cNvSpPr>
            <a:spLocks noGrp="1"/>
          </p:cNvSpPr>
          <p:nvPr/>
        </p:nvSpPr>
        <p:spPr>
          <a:xfrm>
            <a:off x="8429625" y="3039428"/>
            <a:ext cx="2762250" cy="81724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مقارنة 3 تخصصات</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الوقت + 6 أسئلة</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وضوح القرار من 5</a:t>
            </a:r>
          </a:p>
        </p:txBody>
      </p:sp>
      <p:sp>
        <p:nvSpPr>
          <p:cNvPr id="11" name="Rectangle: Rounded Corners 10">
            <a:extLst>
              <a:ext uri="{FF2B5EF4-FFF2-40B4-BE49-F238E27FC236}">
                <a16:creationId xmlns:a16="http://schemas.microsoft.com/office/drawing/2014/main" id="{94838D07-E018-4652-84F4-14C484B22085}"/>
              </a:ext>
            </a:extLst>
          </p:cNvPr>
          <p:cNvSpPr>
            <a:spLocks noGrp="1"/>
          </p:cNvSpPr>
          <p:nvPr/>
        </p:nvSpPr>
        <p:spPr>
          <a:xfrm>
            <a:off x="4333875" y="2009775"/>
            <a:ext cx="3333750" cy="1857375"/>
          </a:xfrm>
          <a:prstGeom prst="roundRect">
            <a:avLst>
              <a:gd name="adj" fmla="val 4103"/>
            </a:avLst>
          </a:prstGeom>
          <a:solidFill>
            <a:srgbClr val="FFFFFF"/>
          </a:solidFill>
          <a:ln w="12383">
            <a:solidFill>
              <a:srgbClr val="D4DEE9"/>
            </a:solidFill>
          </a:ln>
        </p:spPr>
      </p:sp>
      <p:sp>
        <p:nvSpPr>
          <p:cNvPr id="12" name="Rectangle: Rounded Corners 11">
            <a:extLst>
              <a:ext uri="{FF2B5EF4-FFF2-40B4-BE49-F238E27FC236}">
                <a16:creationId xmlns:a16="http://schemas.microsoft.com/office/drawing/2014/main" id="{27A8E4C2-02B5-4808-A8DD-9FAA11338567}"/>
              </a:ext>
            </a:extLst>
          </p:cNvPr>
          <p:cNvSpPr>
            <a:spLocks noGrp="1"/>
          </p:cNvSpPr>
          <p:nvPr/>
        </p:nvSpPr>
        <p:spPr>
          <a:xfrm>
            <a:off x="4857750" y="2152650"/>
            <a:ext cx="2286000" cy="381000"/>
          </a:xfrm>
          <a:prstGeom prst="roundRect">
            <a:avLst>
              <a:gd name="adj" fmla="val 20000"/>
            </a:avLst>
          </a:prstGeom>
          <a:solidFill>
            <a:srgbClr val="E7EEF6"/>
          </a:solidFill>
          <a:ln w="12383">
            <a:solidFill>
              <a:srgbClr val="C9D5E3"/>
            </a:solidFill>
          </a:ln>
        </p:spPr>
      </p:sp>
      <p:sp>
        <p:nvSpPr>
          <p:cNvPr id="13" name="2  استخدام مُرشِدي">
            <a:extLst>
              <a:ext uri="{FF2B5EF4-FFF2-40B4-BE49-F238E27FC236}">
                <a16:creationId xmlns:a16="http://schemas.microsoft.com/office/drawing/2014/main" id="{A8133946-28EB-4C97-B918-6FC3795EC963}"/>
              </a:ext>
            </a:extLst>
          </p:cNvPr>
          <p:cNvSpPr>
            <a:spLocks noGrp="1"/>
          </p:cNvSpPr>
          <p:nvPr/>
        </p:nvSpPr>
        <p:spPr>
          <a:xfrm>
            <a:off x="4953000" y="218027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2  استخدام مُرشِدي</a:t>
            </a:r>
          </a:p>
        </p:txBody>
      </p:sp>
      <p:sp>
        <p:nvSpPr>
          <p:cNvPr id="14" name="رحلة فعلية موثقة">
            <a:extLst>
              <a:ext uri="{FF2B5EF4-FFF2-40B4-BE49-F238E27FC236}">
                <a16:creationId xmlns:a16="http://schemas.microsoft.com/office/drawing/2014/main" id="{409EC45A-B360-4973-B57E-022F43800110}"/>
              </a:ext>
            </a:extLst>
          </p:cNvPr>
          <p:cNvSpPr>
            <a:spLocks noGrp="1"/>
          </p:cNvSpPr>
          <p:nvPr/>
        </p:nvSpPr>
        <p:spPr>
          <a:xfrm>
            <a:off x="4524375" y="265747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رحلة فعلية موثقة</a:t>
            </a:r>
          </a:p>
        </p:txBody>
      </p:sp>
      <p:sp>
        <p:nvSpPr>
          <p:cNvPr id="15" name="استكشاف ومقارنة&#10;خطة كلفة&#10;حفظ المصادر والسنة">
            <a:extLst>
              <a:ext uri="{FF2B5EF4-FFF2-40B4-BE49-F238E27FC236}">
                <a16:creationId xmlns:a16="http://schemas.microsoft.com/office/drawing/2014/main" id="{DE00667E-A23A-4B62-9E5F-D8D42DE4C4BD}"/>
              </a:ext>
            </a:extLst>
          </p:cNvPr>
          <p:cNvSpPr>
            <a:spLocks noGrp="1"/>
          </p:cNvSpPr>
          <p:nvPr/>
        </p:nvSpPr>
        <p:spPr>
          <a:xfrm>
            <a:off x="4619625" y="3039428"/>
            <a:ext cx="2762250" cy="81724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استكشاف ومقارنة</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خطة كلفة</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حفظ المصادر والسنة</a:t>
            </a:r>
          </a:p>
        </p:txBody>
      </p:sp>
      <p:sp>
        <p:nvSpPr>
          <p:cNvPr id="16" name="Rectangle: Rounded Corners 15">
            <a:extLst>
              <a:ext uri="{FF2B5EF4-FFF2-40B4-BE49-F238E27FC236}">
                <a16:creationId xmlns:a16="http://schemas.microsoft.com/office/drawing/2014/main" id="{48FA59C3-16AF-47CF-A82A-3627AA77A4FB}"/>
              </a:ext>
            </a:extLst>
          </p:cNvPr>
          <p:cNvSpPr>
            <a:spLocks noGrp="1"/>
          </p:cNvSpPr>
          <p:nvPr/>
        </p:nvSpPr>
        <p:spPr>
          <a:xfrm>
            <a:off x="523875" y="2009775"/>
            <a:ext cx="3333750" cy="1857375"/>
          </a:xfrm>
          <a:prstGeom prst="roundRect">
            <a:avLst>
              <a:gd name="adj" fmla="val 4103"/>
            </a:avLst>
          </a:prstGeom>
          <a:solidFill>
            <a:srgbClr val="FFFFFF"/>
          </a:solidFill>
          <a:ln w="12383">
            <a:solidFill>
              <a:srgbClr val="D4DEE9"/>
            </a:solidFill>
          </a:ln>
        </p:spPr>
      </p:sp>
      <p:sp>
        <p:nvSpPr>
          <p:cNvPr id="17" name="Rectangle: Rounded Corners 16">
            <a:extLst>
              <a:ext uri="{FF2B5EF4-FFF2-40B4-BE49-F238E27FC236}">
                <a16:creationId xmlns:a16="http://schemas.microsoft.com/office/drawing/2014/main" id="{983D4212-C938-431A-8412-B5608D9AA0DF}"/>
              </a:ext>
            </a:extLst>
          </p:cNvPr>
          <p:cNvSpPr>
            <a:spLocks noGrp="1"/>
          </p:cNvSpPr>
          <p:nvPr/>
        </p:nvSpPr>
        <p:spPr>
          <a:xfrm>
            <a:off x="1047750" y="2152650"/>
            <a:ext cx="2286000" cy="381000"/>
          </a:xfrm>
          <a:prstGeom prst="roundRect">
            <a:avLst>
              <a:gd name="adj" fmla="val 20000"/>
            </a:avLst>
          </a:prstGeom>
          <a:solidFill>
            <a:srgbClr val="E7EEF6"/>
          </a:solidFill>
          <a:ln w="12383">
            <a:solidFill>
              <a:srgbClr val="C9D5E3"/>
            </a:solidFill>
          </a:ln>
        </p:spPr>
      </p:sp>
      <p:sp>
        <p:nvSpPr>
          <p:cNvPr id="18" name="3  بعد الاستخدام">
            <a:extLst>
              <a:ext uri="{FF2B5EF4-FFF2-40B4-BE49-F238E27FC236}">
                <a16:creationId xmlns:a16="http://schemas.microsoft.com/office/drawing/2014/main" id="{FE3D1209-BA1F-44B6-83D7-EDBA50174C5C}"/>
              </a:ext>
            </a:extLst>
          </p:cNvPr>
          <p:cNvSpPr>
            <a:spLocks noGrp="1"/>
          </p:cNvSpPr>
          <p:nvPr/>
        </p:nvSpPr>
        <p:spPr>
          <a:xfrm>
            <a:off x="1143000" y="218027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3  بعد الاستخدام</a:t>
            </a:r>
          </a:p>
        </p:txBody>
      </p:sp>
      <p:sp>
        <p:nvSpPr>
          <p:cNvPr id="19" name="نكرر القياس نفسه">
            <a:extLst>
              <a:ext uri="{FF2B5EF4-FFF2-40B4-BE49-F238E27FC236}">
                <a16:creationId xmlns:a16="http://schemas.microsoft.com/office/drawing/2014/main" id="{1BC7198C-9CE9-4E93-8BF1-AFF7D370AB76}"/>
              </a:ext>
            </a:extLst>
          </p:cNvPr>
          <p:cNvSpPr>
            <a:spLocks noGrp="1"/>
          </p:cNvSpPr>
          <p:nvPr/>
        </p:nvSpPr>
        <p:spPr>
          <a:xfrm>
            <a:off x="714375" y="265747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نكرر القياس نفسه</a:t>
            </a:r>
          </a:p>
        </p:txBody>
      </p:sp>
      <p:sp>
        <p:nvSpPr>
          <p:cNvPr id="20" name="المهمة نفسها&#10;الأسئلة نفسها&#10;ومقياس الوضوح نفسه">
            <a:extLst>
              <a:ext uri="{FF2B5EF4-FFF2-40B4-BE49-F238E27FC236}">
                <a16:creationId xmlns:a16="http://schemas.microsoft.com/office/drawing/2014/main" id="{88BAF651-9800-4EE9-8594-382795CEDAEA}"/>
              </a:ext>
            </a:extLst>
          </p:cNvPr>
          <p:cNvSpPr>
            <a:spLocks noGrp="1"/>
          </p:cNvSpPr>
          <p:nvPr/>
        </p:nvSpPr>
        <p:spPr>
          <a:xfrm>
            <a:off x="809625" y="3039428"/>
            <a:ext cx="2762250" cy="81724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المهمة نفسها</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الأسئلة نفسها</a:t>
            </a:r>
          </a:p>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ومقياس الوضوح نفسه</a:t>
            </a:r>
          </a:p>
        </p:txBody>
      </p:sp>
      <p:sp>
        <p:nvSpPr>
          <p:cNvPr id="21" name="Rectangle: Rounded Corners 20">
            <a:extLst>
              <a:ext uri="{FF2B5EF4-FFF2-40B4-BE49-F238E27FC236}">
                <a16:creationId xmlns:a16="http://schemas.microsoft.com/office/drawing/2014/main" id="{E3B4DF41-477B-4689-B039-B2FD80913240}"/>
              </a:ext>
            </a:extLst>
          </p:cNvPr>
          <p:cNvSpPr>
            <a:spLocks noGrp="1"/>
          </p:cNvSpPr>
          <p:nvPr/>
        </p:nvSpPr>
        <p:spPr>
          <a:xfrm>
            <a:off x="1524000" y="4067175"/>
            <a:ext cx="9953625" cy="533400"/>
          </a:xfrm>
          <a:prstGeom prst="roundRect">
            <a:avLst>
              <a:gd name="adj" fmla="val 14286"/>
            </a:avLst>
          </a:prstGeom>
          <a:solidFill>
            <a:srgbClr val="013070"/>
          </a:solidFill>
          <a:ln w="12383">
            <a:solidFill>
              <a:srgbClr val="013070"/>
            </a:solidFill>
          </a:ln>
        </p:spPr>
      </p:sp>
      <p:sp>
        <p:nvSpPr>
          <p:cNvPr id="22" name="نقارن كل طالب بنفسه، ثم نعلن عدد الطلبة الذين">
            <a:extLst>
              <a:ext uri="{FF2B5EF4-FFF2-40B4-BE49-F238E27FC236}">
                <a16:creationId xmlns:a16="http://schemas.microsoft.com/office/drawing/2014/main" id="{EA140049-A6C6-4AE1-805B-CF5D571281CA}"/>
              </a:ext>
            </a:extLst>
          </p:cNvPr>
          <p:cNvSpPr>
            <a:spLocks noGrp="1"/>
          </p:cNvSpPr>
          <p:nvPr/>
        </p:nvSpPr>
        <p:spPr>
          <a:xfrm>
            <a:off x="1714500" y="4133850"/>
            <a:ext cx="9572625" cy="4000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نقارن كل طالب بنفسه، ثم نعلن عدد الطلبة الذين تحسّنوا</a:t>
            </a:r>
          </a:p>
        </p:txBody>
      </p:sp>
      <p:sp>
        <p:nvSpPr>
          <p:cNvPr id="23" name="Rectangle: Rounded Corners 22">
            <a:extLst>
              <a:ext uri="{FF2B5EF4-FFF2-40B4-BE49-F238E27FC236}">
                <a16:creationId xmlns:a16="http://schemas.microsoft.com/office/drawing/2014/main" id="{95BDA979-12A6-4399-A873-359ECBCD72C5}"/>
              </a:ext>
            </a:extLst>
          </p:cNvPr>
          <p:cNvSpPr>
            <a:spLocks noGrp="1"/>
          </p:cNvSpPr>
          <p:nvPr/>
        </p:nvSpPr>
        <p:spPr>
          <a:xfrm>
            <a:off x="7953375" y="4857750"/>
            <a:ext cx="3238500" cy="1000125"/>
          </a:xfrm>
          <a:prstGeom prst="roundRect">
            <a:avLst>
              <a:gd name="adj" fmla="val 7619"/>
            </a:avLst>
          </a:prstGeom>
          <a:solidFill>
            <a:srgbClr val="FFFFFF"/>
          </a:solidFill>
          <a:ln w="12383">
            <a:solidFill>
              <a:srgbClr val="D4DEE9"/>
            </a:solidFill>
          </a:ln>
        </p:spPr>
      </p:sp>
      <p:sp>
        <p:nvSpPr>
          <p:cNvPr id="24" name="70 طالبًا">
            <a:extLst>
              <a:ext uri="{FF2B5EF4-FFF2-40B4-BE49-F238E27FC236}">
                <a16:creationId xmlns:a16="http://schemas.microsoft.com/office/drawing/2014/main" id="{A03157B0-246C-4286-96F1-AE214CDE7334}"/>
              </a:ext>
            </a:extLst>
          </p:cNvPr>
          <p:cNvSpPr>
            <a:spLocks noGrp="1"/>
          </p:cNvSpPr>
          <p:nvPr/>
        </p:nvSpPr>
        <p:spPr>
          <a:xfrm>
            <a:off x="8096250" y="4929188"/>
            <a:ext cx="295275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70 طالبًا</a:t>
            </a:r>
          </a:p>
        </p:txBody>
      </p:sp>
      <p:sp>
        <p:nvSpPr>
          <p:cNvPr id="25" name="يكملون مقارنة موثقة">
            <a:extLst>
              <a:ext uri="{FF2B5EF4-FFF2-40B4-BE49-F238E27FC236}">
                <a16:creationId xmlns:a16="http://schemas.microsoft.com/office/drawing/2014/main" id="{A195A6C5-0D59-4175-97BB-922938F6C336}"/>
              </a:ext>
            </a:extLst>
          </p:cNvPr>
          <p:cNvSpPr>
            <a:spLocks noGrp="1"/>
          </p:cNvSpPr>
          <p:nvPr/>
        </p:nvSpPr>
        <p:spPr>
          <a:xfrm>
            <a:off x="8124825" y="5362575"/>
            <a:ext cx="2895600" cy="3810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يكملون مقارنة موثقة</a:t>
            </a:r>
          </a:p>
        </p:txBody>
      </p:sp>
      <p:sp>
        <p:nvSpPr>
          <p:cNvPr id="26" name="Rectangle: Rounded Corners 25">
            <a:extLst>
              <a:ext uri="{FF2B5EF4-FFF2-40B4-BE49-F238E27FC236}">
                <a16:creationId xmlns:a16="http://schemas.microsoft.com/office/drawing/2014/main" id="{5DDC6759-4F9F-4DD4-A367-E78F76F404CB}"/>
              </a:ext>
            </a:extLst>
          </p:cNvPr>
          <p:cNvSpPr>
            <a:spLocks noGrp="1"/>
          </p:cNvSpPr>
          <p:nvPr/>
        </p:nvSpPr>
        <p:spPr>
          <a:xfrm>
            <a:off x="4333875" y="4857750"/>
            <a:ext cx="3238500" cy="1000125"/>
          </a:xfrm>
          <a:prstGeom prst="roundRect">
            <a:avLst>
              <a:gd name="adj" fmla="val 7619"/>
            </a:avLst>
          </a:prstGeom>
          <a:solidFill>
            <a:srgbClr val="FFFFFF"/>
          </a:solidFill>
          <a:ln w="12383">
            <a:solidFill>
              <a:srgbClr val="D4DEE9"/>
            </a:solidFill>
          </a:ln>
        </p:spPr>
      </p:sp>
      <p:sp>
        <p:nvSpPr>
          <p:cNvPr id="27" name="60 طالبًا">
            <a:extLst>
              <a:ext uri="{FF2B5EF4-FFF2-40B4-BE49-F238E27FC236}">
                <a16:creationId xmlns:a16="http://schemas.microsoft.com/office/drawing/2014/main" id="{A2CC2D98-4B77-4D0E-BDB5-502176602E83}"/>
              </a:ext>
            </a:extLst>
          </p:cNvPr>
          <p:cNvSpPr>
            <a:spLocks noGrp="1"/>
          </p:cNvSpPr>
          <p:nvPr/>
        </p:nvSpPr>
        <p:spPr>
          <a:xfrm>
            <a:off x="4476750" y="4929188"/>
            <a:ext cx="295275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60 طالبًا</a:t>
            </a:r>
          </a:p>
        </p:txBody>
      </p:sp>
      <p:sp>
        <p:nvSpPr>
          <p:cNvPr id="28" name="يحسّنون إجابة واحدة من 6">
            <a:extLst>
              <a:ext uri="{FF2B5EF4-FFF2-40B4-BE49-F238E27FC236}">
                <a16:creationId xmlns:a16="http://schemas.microsoft.com/office/drawing/2014/main" id="{6FD6D290-5CD6-47C8-89D4-AB17342B4D6C}"/>
              </a:ext>
            </a:extLst>
          </p:cNvPr>
          <p:cNvSpPr>
            <a:spLocks noGrp="1"/>
          </p:cNvSpPr>
          <p:nvPr/>
        </p:nvSpPr>
        <p:spPr>
          <a:xfrm>
            <a:off x="4505325" y="5362575"/>
            <a:ext cx="2895600" cy="3810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يحسّنون إجابة واحدة من 6</a:t>
            </a:r>
          </a:p>
        </p:txBody>
      </p:sp>
      <p:sp>
        <p:nvSpPr>
          <p:cNvPr id="29" name="Rectangle: Rounded Corners 28">
            <a:extLst>
              <a:ext uri="{FF2B5EF4-FFF2-40B4-BE49-F238E27FC236}">
                <a16:creationId xmlns:a16="http://schemas.microsoft.com/office/drawing/2014/main" id="{8D2840BA-FB5D-43D8-84D2-0FC5E910FA10}"/>
              </a:ext>
            </a:extLst>
          </p:cNvPr>
          <p:cNvSpPr>
            <a:spLocks noGrp="1"/>
          </p:cNvSpPr>
          <p:nvPr/>
        </p:nvSpPr>
        <p:spPr>
          <a:xfrm>
            <a:off x="714375" y="4857750"/>
            <a:ext cx="3238500" cy="1000125"/>
          </a:xfrm>
          <a:prstGeom prst="roundRect">
            <a:avLst>
              <a:gd name="adj" fmla="val 7619"/>
            </a:avLst>
          </a:prstGeom>
          <a:solidFill>
            <a:srgbClr val="FFFFFF"/>
          </a:solidFill>
          <a:ln w="12383">
            <a:solidFill>
              <a:srgbClr val="D4DEE9"/>
            </a:solidFill>
          </a:ln>
        </p:spPr>
      </p:sp>
      <p:sp>
        <p:nvSpPr>
          <p:cNvPr id="30" name="60 طالبًا">
            <a:extLst>
              <a:ext uri="{FF2B5EF4-FFF2-40B4-BE49-F238E27FC236}">
                <a16:creationId xmlns:a16="http://schemas.microsoft.com/office/drawing/2014/main" id="{52665041-EE1C-4BB5-B293-789DC249F856}"/>
              </a:ext>
            </a:extLst>
          </p:cNvPr>
          <p:cNvSpPr>
            <a:spLocks noGrp="1"/>
          </p:cNvSpPr>
          <p:nvPr/>
        </p:nvSpPr>
        <p:spPr>
          <a:xfrm>
            <a:off x="857250" y="4929188"/>
            <a:ext cx="2952750" cy="4572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60 طالبًا</a:t>
            </a:r>
          </a:p>
        </p:txBody>
      </p:sp>
      <p:sp>
        <p:nvSpPr>
          <p:cNvPr id="31" name="يرفعون وضوح القرار نقطة">
            <a:extLst>
              <a:ext uri="{FF2B5EF4-FFF2-40B4-BE49-F238E27FC236}">
                <a16:creationId xmlns:a16="http://schemas.microsoft.com/office/drawing/2014/main" id="{48826CD6-E1C8-4BA9-AE7A-77D09328C5B5}"/>
              </a:ext>
            </a:extLst>
          </p:cNvPr>
          <p:cNvSpPr>
            <a:spLocks noGrp="1"/>
          </p:cNvSpPr>
          <p:nvPr/>
        </p:nvSpPr>
        <p:spPr>
          <a:xfrm>
            <a:off x="885825" y="5362575"/>
            <a:ext cx="2895600" cy="3810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يرفعون وضوح القرار نقطة</a:t>
            </a:r>
          </a:p>
        </p:txBody>
      </p:sp>
      <p:sp>
        <p:nvSpPr>
          <p:cNvPr id="32" name="أهداف محددة مسبقًا، وليست نتائج محققة. نعدّل ">
            <a:extLst>
              <a:ext uri="{FF2B5EF4-FFF2-40B4-BE49-F238E27FC236}">
                <a16:creationId xmlns:a16="http://schemas.microsoft.com/office/drawing/2014/main" id="{AA0892E0-943F-4DE9-AF11-D4245A27B7DF}"/>
              </a:ext>
            </a:extLst>
          </p:cNvPr>
          <p:cNvSpPr>
            <a:spLocks noGrp="1"/>
          </p:cNvSpPr>
          <p:nvPr/>
        </p:nvSpPr>
        <p:spPr>
          <a:xfrm>
            <a:off x="1143000" y="6052185"/>
            <a:ext cx="1033462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أهداف محددة مسبقًا، وليست نتائج محققة. نعدّل التجربة قبل أي توسع إذا لم تتحقق.</a:t>
            </a:r>
          </a:p>
        </p:txBody>
      </p:sp>
    </p:spTree>
    <p:extLst>
      <p:ext uri="{BB962C8B-B14F-4D97-AF65-F5344CB8AC3E}">
        <p14:creationId xmlns:p14="http://schemas.microsoft.com/office/powerpoint/2010/main" val="1638320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p:blipFill>
        <p:spPr>
          <a:xfrm>
            <a:off x="11125200" y="400050"/>
            <a:ext cx="552450" cy="552450"/>
          </a:xfrm>
          <a:prstGeom prst="rect">
            <a:avLst/>
          </a:prstGeom>
        </p:spPr>
      </p:pic>
      <p:sp>
        <p:nvSpPr>
          <p:cNvPr id="2" name="من تطبيق جاهز إلى خدمة قابلة للتبنّي">
            <a:extLst>
              <a:ext uri="{FF2B5EF4-FFF2-40B4-BE49-F238E27FC236}">
                <a16:creationId xmlns:a16="http://schemas.microsoft.com/office/drawing/2014/main" id="{5BC3E641-497E-4A47-A804-8A1E5E4FF444}"/>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FFFFFF"/>
                </a:solidFill>
                <a:latin typeface="IBM Plex Sans Arabic"/>
                <a:ea typeface="IBM Plex Sans Arabic"/>
                <a:cs typeface="IBM Plex Sans Arabic"/>
              </a:defRPr>
            </a:pPr>
            <a:r>
              <a:rPr lang="ar-JO" sz="3150" b="1" kern="0" spc="0">
                <a:solidFill>
                  <a:srgbClr val="FFFFFF"/>
                </a:solidFill>
                <a:latin typeface="IBM Plex Sans Arabic"/>
                <a:ea typeface="IBM Plex Sans Arabic"/>
                <a:cs typeface="IBM Plex Sans Arabic"/>
              </a:rPr>
              <a:t>من تطبيق جاهز إلى خدمة قابلة للتبنّي</a:t>
            </a:r>
          </a:p>
        </p:txBody>
      </p:sp>
      <p:sp>
        <p:nvSpPr>
          <p:cNvPr id="3" name="10">
            <a:extLst>
              <a:ext uri="{FF2B5EF4-FFF2-40B4-BE49-F238E27FC236}">
                <a16:creationId xmlns:a16="http://schemas.microsoft.com/office/drawing/2014/main" id="{BBC1DE53-3A18-4E0E-92F4-5912B42C66FF}"/>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B6DAE60D-89E4-4F73-AAE3-F7B87A3973EB}"/>
              </a:ext>
            </a:extLst>
          </p:cNvPr>
          <p:cNvSpPr>
            <a:spLocks noGrp="1"/>
          </p:cNvSpPr>
          <p:nvPr/>
        </p:nvSpPr>
        <p:spPr>
          <a:xfrm>
            <a:off x="8143875" y="1724025"/>
            <a:ext cx="3333750" cy="3028950"/>
          </a:xfrm>
          <a:prstGeom prst="roundRect">
            <a:avLst>
              <a:gd name="adj" fmla="val 2516"/>
            </a:avLst>
          </a:prstGeom>
          <a:solidFill>
            <a:srgbClr val="123D76"/>
          </a:solidFill>
          <a:ln w="12383">
            <a:solidFill>
              <a:srgbClr val="58749B"/>
            </a:solidFill>
          </a:ln>
        </p:spPr>
      </p:sp>
      <p:sp>
        <p:nvSpPr>
          <p:cNvPr id="5" name="Rectangle: Rounded Corners 4">
            <a:extLst>
              <a:ext uri="{FF2B5EF4-FFF2-40B4-BE49-F238E27FC236}">
                <a16:creationId xmlns:a16="http://schemas.microsoft.com/office/drawing/2014/main" id="{66EE026B-BE28-47BE-886A-4D61937EB59D}"/>
              </a:ext>
            </a:extLst>
          </p:cNvPr>
          <p:cNvSpPr>
            <a:spLocks noGrp="1"/>
          </p:cNvSpPr>
          <p:nvPr/>
        </p:nvSpPr>
        <p:spPr>
          <a:xfrm>
            <a:off x="8810625" y="1924050"/>
            <a:ext cx="2000250" cy="381000"/>
          </a:xfrm>
          <a:prstGeom prst="roundRect">
            <a:avLst>
              <a:gd name="adj" fmla="val 20000"/>
            </a:avLst>
          </a:prstGeom>
          <a:solidFill>
            <a:srgbClr val="123D76"/>
          </a:solidFill>
          <a:ln w="12383">
            <a:solidFill>
              <a:srgbClr val="58749B"/>
            </a:solidFill>
          </a:ln>
        </p:spPr>
      </p:sp>
      <p:sp>
        <p:nvSpPr>
          <p:cNvPr id="6" name="اليوم">
            <a:extLst>
              <a:ext uri="{FF2B5EF4-FFF2-40B4-BE49-F238E27FC236}">
                <a16:creationId xmlns:a16="http://schemas.microsoft.com/office/drawing/2014/main" id="{45D0D474-D58D-46B1-AB18-940254856215}"/>
              </a:ext>
            </a:extLst>
          </p:cNvPr>
          <p:cNvSpPr>
            <a:spLocks noGrp="1"/>
          </p:cNvSpPr>
          <p:nvPr/>
        </p:nvSpPr>
        <p:spPr>
          <a:xfrm>
            <a:off x="890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اليوم</a:t>
            </a:r>
          </a:p>
        </p:txBody>
      </p:sp>
      <p:sp>
        <p:nvSpPr>
          <p:cNvPr id="7" name="تطبيق جاهز للاستخدام">
            <a:extLst>
              <a:ext uri="{FF2B5EF4-FFF2-40B4-BE49-F238E27FC236}">
                <a16:creationId xmlns:a16="http://schemas.microsoft.com/office/drawing/2014/main" id="{989AAA8B-D7B6-4BD7-A17E-1005FFB388F8}"/>
              </a:ext>
            </a:extLst>
          </p:cNvPr>
          <p:cNvSpPr>
            <a:spLocks noGrp="1"/>
          </p:cNvSpPr>
          <p:nvPr/>
        </p:nvSpPr>
        <p:spPr>
          <a:xfrm>
            <a:off x="833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تطبيق جاهز للاستخدام</a:t>
            </a:r>
          </a:p>
        </p:txBody>
      </p:sp>
      <p:sp>
        <p:nvSpPr>
          <p:cNvPr id="8" name="بيانات 2026 موثقة&#10;وشاشات حقيقية">
            <a:extLst>
              <a:ext uri="{FF2B5EF4-FFF2-40B4-BE49-F238E27FC236}">
                <a16:creationId xmlns:a16="http://schemas.microsoft.com/office/drawing/2014/main" id="{DF0BAA61-F78B-44CA-B513-2DF4CBC27890}"/>
              </a:ext>
            </a:extLst>
          </p:cNvPr>
          <p:cNvSpPr>
            <a:spLocks noGrp="1"/>
          </p:cNvSpPr>
          <p:nvPr/>
        </p:nvSpPr>
        <p:spPr>
          <a:xfrm>
            <a:off x="838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بيانات 2026 موثقة</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وشاشات حقيقية</a:t>
            </a:r>
          </a:p>
        </p:txBody>
      </p:sp>
      <p:sp>
        <p:nvSpPr>
          <p:cNvPr id="9" name="Rectangle: Rounded Corners 8">
            <a:extLst>
              <a:ext uri="{FF2B5EF4-FFF2-40B4-BE49-F238E27FC236}">
                <a16:creationId xmlns:a16="http://schemas.microsoft.com/office/drawing/2014/main" id="{585E4A96-4951-4309-BE8C-DF606CFE0B6C}"/>
              </a:ext>
            </a:extLst>
          </p:cNvPr>
          <p:cNvSpPr>
            <a:spLocks noGrp="1"/>
          </p:cNvSpPr>
          <p:nvPr/>
        </p:nvSpPr>
        <p:spPr>
          <a:xfrm>
            <a:off x="4333875" y="1724025"/>
            <a:ext cx="3333750" cy="3028950"/>
          </a:xfrm>
          <a:prstGeom prst="roundRect">
            <a:avLst>
              <a:gd name="adj" fmla="val 2516"/>
            </a:avLst>
          </a:prstGeom>
          <a:solidFill>
            <a:srgbClr val="123D76"/>
          </a:solidFill>
          <a:ln w="12383">
            <a:solidFill>
              <a:srgbClr val="58749B"/>
            </a:solidFill>
          </a:ln>
        </p:spPr>
      </p:sp>
      <p:sp>
        <p:nvSpPr>
          <p:cNvPr id="10" name="Rectangle: Rounded Corners 9">
            <a:extLst>
              <a:ext uri="{FF2B5EF4-FFF2-40B4-BE49-F238E27FC236}">
                <a16:creationId xmlns:a16="http://schemas.microsoft.com/office/drawing/2014/main" id="{519EAF37-9AA7-4DB5-82A5-D434A17F4D45}"/>
              </a:ext>
            </a:extLst>
          </p:cNvPr>
          <p:cNvSpPr>
            <a:spLocks noGrp="1"/>
          </p:cNvSpPr>
          <p:nvPr/>
        </p:nvSpPr>
        <p:spPr>
          <a:xfrm>
            <a:off x="5000625" y="1924050"/>
            <a:ext cx="2000250" cy="381000"/>
          </a:xfrm>
          <a:prstGeom prst="roundRect">
            <a:avLst>
              <a:gd name="adj" fmla="val 20000"/>
            </a:avLst>
          </a:prstGeom>
          <a:solidFill>
            <a:srgbClr val="123D76"/>
          </a:solidFill>
          <a:ln w="12383">
            <a:solidFill>
              <a:srgbClr val="58749B"/>
            </a:solidFill>
          </a:ln>
        </p:spPr>
      </p:sp>
      <p:sp>
        <p:nvSpPr>
          <p:cNvPr id="11" name="خلال 90 يومًا">
            <a:extLst>
              <a:ext uri="{FF2B5EF4-FFF2-40B4-BE49-F238E27FC236}">
                <a16:creationId xmlns:a16="http://schemas.microsoft.com/office/drawing/2014/main" id="{1EAA491E-226D-48B5-A89D-180508281EAA}"/>
              </a:ext>
            </a:extLst>
          </p:cNvPr>
          <p:cNvSpPr>
            <a:spLocks noGrp="1"/>
          </p:cNvSpPr>
          <p:nvPr/>
        </p:nvSpPr>
        <p:spPr>
          <a:xfrm>
            <a:off x="509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خلال 90 يومًا</a:t>
            </a:r>
          </a:p>
        </p:txBody>
      </p:sp>
      <p:sp>
        <p:nvSpPr>
          <p:cNvPr id="12" name="تجربة وقياس">
            <a:extLst>
              <a:ext uri="{FF2B5EF4-FFF2-40B4-BE49-F238E27FC236}">
                <a16:creationId xmlns:a16="http://schemas.microsoft.com/office/drawing/2014/main" id="{EC4C67FC-5F12-46FC-8BF5-5CB4BC8A834E}"/>
              </a:ext>
            </a:extLst>
          </p:cNvPr>
          <p:cNvSpPr>
            <a:spLocks noGrp="1"/>
          </p:cNvSpPr>
          <p:nvPr/>
        </p:nvSpPr>
        <p:spPr>
          <a:xfrm>
            <a:off x="452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تجربة وقياس</a:t>
            </a:r>
          </a:p>
        </p:txBody>
      </p:sp>
      <p:sp>
        <p:nvSpPr>
          <p:cNvPr id="13" name="استخدام فعلي&#10;تقرير أثر&#10;واختبار استعداد الدفع">
            <a:extLst>
              <a:ext uri="{FF2B5EF4-FFF2-40B4-BE49-F238E27FC236}">
                <a16:creationId xmlns:a16="http://schemas.microsoft.com/office/drawing/2014/main" id="{20A4BF33-955F-4FEB-B9B6-6F0E551F3FBF}"/>
              </a:ext>
            </a:extLst>
          </p:cNvPr>
          <p:cNvSpPr>
            <a:spLocks noGrp="1"/>
          </p:cNvSpPr>
          <p:nvPr/>
        </p:nvSpPr>
        <p:spPr>
          <a:xfrm>
            <a:off x="457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استخدام فعلي</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تقرير أثر</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واختبار استعداد الدفع</a:t>
            </a:r>
          </a:p>
        </p:txBody>
      </p:sp>
      <p:sp>
        <p:nvSpPr>
          <p:cNvPr id="14" name="Rectangle: Rounded Corners 13">
            <a:extLst>
              <a:ext uri="{FF2B5EF4-FFF2-40B4-BE49-F238E27FC236}">
                <a16:creationId xmlns:a16="http://schemas.microsoft.com/office/drawing/2014/main" id="{F7C0559E-C4B6-4716-ADF2-AA13DB751424}"/>
              </a:ext>
            </a:extLst>
          </p:cNvPr>
          <p:cNvSpPr>
            <a:spLocks noGrp="1"/>
          </p:cNvSpPr>
          <p:nvPr/>
        </p:nvSpPr>
        <p:spPr>
          <a:xfrm>
            <a:off x="523875" y="1724025"/>
            <a:ext cx="3333750" cy="3028950"/>
          </a:xfrm>
          <a:prstGeom prst="roundRect">
            <a:avLst>
              <a:gd name="adj" fmla="val 2516"/>
            </a:avLst>
          </a:prstGeom>
          <a:solidFill>
            <a:srgbClr val="123D76"/>
          </a:solidFill>
          <a:ln w="12383">
            <a:solidFill>
              <a:srgbClr val="58749B"/>
            </a:solidFill>
          </a:ln>
        </p:spPr>
      </p:sp>
      <p:sp>
        <p:nvSpPr>
          <p:cNvPr id="15" name="Rectangle: Rounded Corners 14">
            <a:extLst>
              <a:ext uri="{FF2B5EF4-FFF2-40B4-BE49-F238E27FC236}">
                <a16:creationId xmlns:a16="http://schemas.microsoft.com/office/drawing/2014/main" id="{F57CE7E3-A720-4030-BCC6-81BD8839BD65}"/>
              </a:ext>
            </a:extLst>
          </p:cNvPr>
          <p:cNvSpPr>
            <a:spLocks noGrp="1"/>
          </p:cNvSpPr>
          <p:nvPr/>
        </p:nvSpPr>
        <p:spPr>
          <a:xfrm>
            <a:off x="1190625" y="1924050"/>
            <a:ext cx="2000250" cy="381000"/>
          </a:xfrm>
          <a:prstGeom prst="roundRect">
            <a:avLst>
              <a:gd name="adj" fmla="val 20000"/>
            </a:avLst>
          </a:prstGeom>
          <a:solidFill>
            <a:srgbClr val="123D76"/>
          </a:solidFill>
          <a:ln w="12383">
            <a:solidFill>
              <a:srgbClr val="58749B"/>
            </a:solidFill>
          </a:ln>
        </p:spPr>
      </p:sp>
      <p:sp>
        <p:nvSpPr>
          <p:cNvPr id="16" name="خلال 12 شهرًا">
            <a:extLst>
              <a:ext uri="{FF2B5EF4-FFF2-40B4-BE49-F238E27FC236}">
                <a16:creationId xmlns:a16="http://schemas.microsoft.com/office/drawing/2014/main" id="{3C0EC474-EC5C-4AE1-A474-189432FACE99}"/>
              </a:ext>
            </a:extLst>
          </p:cNvPr>
          <p:cNvSpPr>
            <a:spLocks noGrp="1"/>
          </p:cNvSpPr>
          <p:nvPr/>
        </p:nvSpPr>
        <p:spPr>
          <a:xfrm>
            <a:off x="128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خلال 12 شهرًا</a:t>
            </a:r>
          </a:p>
        </p:txBody>
      </p:sp>
      <p:sp>
        <p:nvSpPr>
          <p:cNvPr id="17" name="تعادل مفترض">
            <a:extLst>
              <a:ext uri="{FF2B5EF4-FFF2-40B4-BE49-F238E27FC236}">
                <a16:creationId xmlns:a16="http://schemas.microsoft.com/office/drawing/2014/main" id="{215D8C17-A4E2-41B8-9FFE-04C92984FAA8}"/>
              </a:ext>
            </a:extLst>
          </p:cNvPr>
          <p:cNvSpPr>
            <a:spLocks noGrp="1"/>
          </p:cNvSpPr>
          <p:nvPr/>
        </p:nvSpPr>
        <p:spPr>
          <a:xfrm>
            <a:off x="71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تعادل مفترض</a:t>
            </a:r>
          </a:p>
        </p:txBody>
      </p:sp>
      <p:sp>
        <p:nvSpPr>
          <p:cNvPr id="18" name="13 مؤسسة&#10;1,950 مقعدًا ممولًا&#10;+ 300 طالب تجارب">
            <a:extLst>
              <a:ext uri="{FF2B5EF4-FFF2-40B4-BE49-F238E27FC236}">
                <a16:creationId xmlns:a16="http://schemas.microsoft.com/office/drawing/2014/main" id="{15F1569D-67E7-4EC3-801B-98B8BCD8DDCE}"/>
              </a:ext>
            </a:extLst>
          </p:cNvPr>
          <p:cNvSpPr>
            <a:spLocks noGrp="1"/>
          </p:cNvSpPr>
          <p:nvPr/>
        </p:nvSpPr>
        <p:spPr>
          <a:xfrm>
            <a:off x="76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13 مؤسسة</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1,950 مقعدًا ممولًا</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+ 300 طالب تجارب مجانية</a:t>
            </a:r>
          </a:p>
        </p:txBody>
      </p:sp>
      <p:sp>
        <p:nvSpPr>
          <p:cNvPr id="19" name="Rectangle: Rounded Corners 18">
            <a:extLst>
              <a:ext uri="{FF2B5EF4-FFF2-40B4-BE49-F238E27FC236}">
                <a16:creationId xmlns:a16="http://schemas.microsoft.com/office/drawing/2014/main" id="{71DFADA1-9274-44E0-892D-A68824C7301D}"/>
              </a:ext>
            </a:extLst>
          </p:cNvPr>
          <p:cNvSpPr>
            <a:spLocks noGrp="1"/>
          </p:cNvSpPr>
          <p:nvPr/>
        </p:nvSpPr>
        <p:spPr>
          <a:xfrm>
            <a:off x="1381125" y="5105400"/>
            <a:ext cx="10096500" cy="790575"/>
          </a:xfrm>
          <a:prstGeom prst="roundRect">
            <a:avLst>
              <a:gd name="adj" fmla="val 9639"/>
            </a:avLst>
          </a:prstGeom>
          <a:solidFill>
            <a:srgbClr val="F3EAD7"/>
          </a:solidFill>
          <a:ln w="12383">
            <a:solidFill>
              <a:srgbClr val="DFC98F"/>
            </a:solidFill>
          </a:ln>
        </p:spPr>
      </p:sp>
      <p:sp>
        <p:nvSpPr>
          <p:cNvPr id="20" name="طلبنا من اللجنة">
            <a:extLst>
              <a:ext uri="{FF2B5EF4-FFF2-40B4-BE49-F238E27FC236}">
                <a16:creationId xmlns:a16="http://schemas.microsoft.com/office/drawing/2014/main" id="{E8B25847-E56E-4A45-88D7-ACA2D5C029EE}"/>
              </a:ext>
            </a:extLst>
          </p:cNvPr>
          <p:cNvSpPr>
            <a:spLocks noGrp="1"/>
          </p:cNvSpPr>
          <p:nvPr/>
        </p:nvSpPr>
        <p:spPr>
          <a:xfrm>
            <a:off x="9048750" y="5219700"/>
            <a:ext cx="2143125" cy="457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طلبنا من اللجنة</a:t>
            </a:r>
          </a:p>
        </p:txBody>
      </p:sp>
      <p:sp>
        <p:nvSpPr>
          <p:cNvPr id="21" name="3 مدارس ومرشدون  +  قناة بيانات تعليمية  +  ت">
            <a:extLst>
              <a:ext uri="{FF2B5EF4-FFF2-40B4-BE49-F238E27FC236}">
                <a16:creationId xmlns:a16="http://schemas.microsoft.com/office/drawing/2014/main" id="{8F16774E-B1AA-46C8-81D9-5AE0FD674CCC}"/>
              </a:ext>
            </a:extLst>
          </p:cNvPr>
          <p:cNvSpPr>
            <a:spLocks noGrp="1"/>
          </p:cNvSpPr>
          <p:nvPr/>
        </p:nvSpPr>
        <p:spPr>
          <a:xfrm>
            <a:off x="1714500" y="5219700"/>
            <a:ext cx="7000875" cy="457200"/>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3 مدارس ومرشدون  +  قناة بيانات تعليمية  +  تقرير أثر</a:t>
            </a:r>
          </a:p>
        </p:txBody>
      </p:sp>
      <p:sp>
        <p:nvSpPr>
          <p:cNvPr id="22" name="الإيراد يمول تحديث البيانات ودعم المرشد وقياس">
            <a:extLst>
              <a:ext uri="{FF2B5EF4-FFF2-40B4-BE49-F238E27FC236}">
                <a16:creationId xmlns:a16="http://schemas.microsoft.com/office/drawing/2014/main" id="{F6069EEE-9E92-4A4B-8D96-90C190C82F69}"/>
              </a:ext>
            </a:extLst>
          </p:cNvPr>
          <p:cNvSpPr>
            <a:spLocks noGrp="1"/>
          </p:cNvSpPr>
          <p:nvPr/>
        </p:nvSpPr>
        <p:spPr>
          <a:xfrm>
            <a:off x="1381125" y="6035993"/>
            <a:ext cx="10096500" cy="3105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الإيراد يمول تحديث البيانات ودعم المرشد وقياس الأثر</a:t>
            </a:r>
          </a:p>
        </p:txBody>
      </p:sp>
    </p:spTree>
    <p:extLst>
      <p:ext uri="{BB962C8B-B14F-4D97-AF65-F5344CB8AC3E}">
        <p14:creationId xmlns:p14="http://schemas.microsoft.com/office/powerpoint/2010/main" val="12890991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p:blipFill>
        <p:spPr>
          <a:xfrm>
            <a:off x="11125200" y="400050"/>
            <a:ext cx="552450" cy="552450"/>
          </a:xfrm>
          <a:prstGeom prst="rect">
            <a:avLst/>
          </a:prstGeom>
        </p:spPr>
      </p:pic>
      <p:sp>
        <p:nvSpPr>
          <p:cNvPr id="2" name="Vcoders: مسؤوليات واضحة وملكية مشتركة">
            <a:extLst>
              <a:ext uri="{FF2B5EF4-FFF2-40B4-BE49-F238E27FC236}">
                <a16:creationId xmlns:a16="http://schemas.microsoft.com/office/drawing/2014/main" id="{F8EE8068-D645-4FB4-B431-442A0FBC2A81}"/>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000" b="1" kern="0" spc="0">
                <a:solidFill>
                  <a:srgbClr val="013070"/>
                </a:solidFill>
                <a:latin typeface="IBM Plex Sans Arabic"/>
                <a:ea typeface="IBM Plex Sans Arabic"/>
                <a:cs typeface="IBM Plex Sans Arabic"/>
              </a:defRPr>
            </a:pPr>
            <a:r>
              <a:rPr lang="ar-JO" sz="3000" b="1" kern="0" spc="0">
                <a:solidFill>
                  <a:srgbClr val="013070"/>
                </a:solidFill>
                <a:latin typeface="IBM Plex Sans Arabic"/>
                <a:ea typeface="IBM Plex Sans Arabic"/>
                <a:cs typeface="IBM Plex Sans Arabic"/>
              </a:rPr>
              <a:t>Vcoders: مسؤوليات واضحة وملكية مشتركة</a:t>
            </a:r>
          </a:p>
        </p:txBody>
      </p:sp>
      <p:sp>
        <p:nvSpPr>
          <p:cNvPr id="3" name="11">
            <a:extLst>
              <a:ext uri="{FF2B5EF4-FFF2-40B4-BE49-F238E27FC236}">
                <a16:creationId xmlns:a16="http://schemas.microsoft.com/office/drawing/2014/main" id="{BC501264-024A-4DE6-9661-BA4E98D7D286}"/>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FA0A5B26-687C-4DFE-B1C1-441A7BA37A37}"/>
              </a:ext>
            </a:extLst>
          </p:cNvPr>
          <p:cNvSpPr>
            <a:spLocks noGrp="1"/>
          </p:cNvSpPr>
          <p:nvPr/>
        </p:nvSpPr>
        <p:spPr>
          <a:xfrm>
            <a:off x="8229600"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3970B5F2-2A0C-41B7-8F40-1AFE7DB2A7E9}"/>
              </a:ext>
            </a:extLst>
          </p:cNvPr>
          <p:cNvSpPr>
            <a:spLocks noGrp="1"/>
          </p:cNvSpPr>
          <p:nvPr/>
        </p:nvSpPr>
        <p:spPr>
          <a:xfrm>
            <a:off x="8229600"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C5D1A261-5BD9-40C1-8627-F6ADB78AEEA5}"/>
              </a:ext>
            </a:extLst>
          </p:cNvPr>
          <p:cNvSpPr>
            <a:spLocks noGrp="1"/>
          </p:cNvSpPr>
          <p:nvPr/>
        </p:nvSpPr>
        <p:spPr>
          <a:xfrm>
            <a:off x="8229600"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منطق التطبيق والبيانات</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37CD1D00-210F-40EB-ADFF-CDB1A78EA4F4}"/>
              </a:ext>
            </a:extLst>
          </p:cNvPr>
          <p:cNvSpPr>
            <a:spLocks noGrp="1"/>
          </p:cNvSpPr>
          <p:nvPr/>
        </p:nvSpPr>
        <p:spPr>
          <a:xfrm>
            <a:off x="4429125"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3B3D11DC-4996-4044-94BC-8ADE0DDDEB3A}"/>
              </a:ext>
            </a:extLst>
          </p:cNvPr>
          <p:cNvSpPr>
            <a:spLocks noGrp="1"/>
          </p:cNvSpPr>
          <p:nvPr/>
        </p:nvSpPr>
        <p:spPr>
          <a:xfrm>
            <a:off x="4429125"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C09D3503-62F1-4077-9CEB-61322E9FDEFA}"/>
              </a:ext>
            </a:extLst>
          </p:cNvPr>
          <p:cNvSpPr>
            <a:spLocks noGrp="1"/>
          </p:cNvSpPr>
          <p:nvPr/>
        </p:nvSpPr>
        <p:spPr>
          <a:xfrm>
            <a:off x="4429125"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الهوية البصرية</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B836B439-46F7-4C71-9248-09561973922C}"/>
              </a:ext>
            </a:extLst>
          </p:cNvPr>
          <p:cNvSpPr>
            <a:spLocks noGrp="1"/>
          </p:cNvSpPr>
          <p:nvPr/>
        </p:nvSpPr>
        <p:spPr>
          <a:xfrm>
            <a:off x="571500"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زيد</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37C9E8CB-7873-40FD-B921-E3A1C7647F6B}"/>
              </a:ext>
            </a:extLst>
          </p:cNvPr>
          <p:cNvSpPr>
            <a:spLocks noGrp="1"/>
          </p:cNvSpPr>
          <p:nvPr/>
        </p:nvSpPr>
        <p:spPr>
          <a:xfrm>
            <a:off x="571500"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0198C5F4-281E-404F-B416-52C9B2579859}"/>
              </a:ext>
            </a:extLst>
          </p:cNvPr>
          <p:cNvSpPr>
            <a:spLocks noGrp="1"/>
          </p:cNvSpPr>
          <p:nvPr/>
        </p:nvSpPr>
        <p:spPr>
          <a:xfrm>
            <a:off x="571500"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تحويل التصميم</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إلى تجربة قابلة للاستخدام</a:t>
            </a:r>
          </a:p>
        </p:txBody>
      </p:sp>
      <p:sp>
        <p:nvSpPr>
          <p:cNvPr id="13" name="Rectangle: Rounded Corners 12">
            <a:extLst>
              <a:ext uri="{FF2B5EF4-FFF2-40B4-BE49-F238E27FC236}">
                <a16:creationId xmlns:a16="http://schemas.microsoft.com/office/drawing/2014/main" id="{02AF8E00-EB4C-40D2-A823-33762A742729}"/>
              </a:ext>
            </a:extLst>
          </p:cNvPr>
          <p:cNvSpPr>
            <a:spLocks noGrp="1"/>
          </p:cNvSpPr>
          <p:nvPr/>
        </p:nvSpPr>
        <p:spPr>
          <a:xfrm>
            <a:off x="1381125" y="5581650"/>
            <a:ext cx="10096500" cy="685800"/>
          </a:xfrm>
          <a:prstGeom prst="roundRect">
            <a:avLst>
              <a:gd name="adj" fmla="val 11111"/>
            </a:avLst>
          </a:prstGeom>
          <a:solidFill>
            <a:srgbClr val="F3EAD7"/>
          </a:solidFill>
          <a:ln w="12383">
            <a:solidFill>
              <a:srgbClr val="DFC98F"/>
            </a:solidFill>
          </a:ln>
        </p:spPr>
      </p:sp>
      <p:sp>
        <p:nvSpPr>
          <p:cNvPr id="14" name="مراجعة مشتركة">
            <a:extLst>
              <a:ext uri="{FF2B5EF4-FFF2-40B4-BE49-F238E27FC236}">
                <a16:creationId xmlns:a16="http://schemas.microsoft.com/office/drawing/2014/main" id="{FC979C3D-6465-43F5-88A2-D92A2FE7A92F}"/>
              </a:ext>
            </a:extLst>
          </p:cNvPr>
          <p:cNvSpPr>
            <a:spLocks noGrp="1"/>
          </p:cNvSpPr>
          <p:nvPr/>
        </p:nvSpPr>
        <p:spPr>
          <a:xfrm>
            <a:off x="1524000" y="5705475"/>
            <a:ext cx="1809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مراجعة مشتركة</a:t>
            </a:r>
          </a:p>
        </p:txBody>
      </p:sp>
      <p:sp>
        <p:nvSpPr>
          <p:cNvPr id="15" name="←">
            <a:extLst>
              <a:ext uri="{FF2B5EF4-FFF2-40B4-BE49-F238E27FC236}">
                <a16:creationId xmlns:a16="http://schemas.microsoft.com/office/drawing/2014/main" id="{B366502B-8552-4E0F-AA37-7CBF72150388}"/>
              </a:ext>
            </a:extLst>
          </p:cNvPr>
          <p:cNvSpPr>
            <a:spLocks noGrp="1"/>
          </p:cNvSpPr>
          <p:nvPr/>
        </p:nvSpPr>
        <p:spPr>
          <a:xfrm>
            <a:off x="3476625" y="5705475"/>
            <a:ext cx="476250" cy="4191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6" name="واجهة عاملة">
            <a:extLst>
              <a:ext uri="{FF2B5EF4-FFF2-40B4-BE49-F238E27FC236}">
                <a16:creationId xmlns:a16="http://schemas.microsoft.com/office/drawing/2014/main" id="{43799B72-ABCC-44C0-AEA5-FF66133F90DB}"/>
              </a:ext>
            </a:extLst>
          </p:cNvPr>
          <p:cNvSpPr>
            <a:spLocks noGrp="1"/>
          </p:cNvSpPr>
          <p:nvPr/>
        </p:nvSpPr>
        <p:spPr>
          <a:xfrm>
            <a:off x="4095750" y="5705475"/>
            <a:ext cx="190500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واجهة عاملة</a:t>
            </a:r>
          </a:p>
        </p:txBody>
      </p:sp>
      <p:sp>
        <p:nvSpPr>
          <p:cNvPr id="17" name="←">
            <a:extLst>
              <a:ext uri="{FF2B5EF4-FFF2-40B4-BE49-F238E27FC236}">
                <a16:creationId xmlns:a16="http://schemas.microsoft.com/office/drawing/2014/main" id="{0CE3844F-E1A2-4FAA-910A-A988D764B815}"/>
              </a:ext>
            </a:extLst>
          </p:cNvPr>
          <p:cNvSpPr>
            <a:spLocks noGrp="1"/>
          </p:cNvSpPr>
          <p:nvPr/>
        </p:nvSpPr>
        <p:spPr>
          <a:xfrm>
            <a:off x="6143625" y="5705475"/>
            <a:ext cx="476250" cy="4191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8" name="رحلة مفهومة">
            <a:extLst>
              <a:ext uri="{FF2B5EF4-FFF2-40B4-BE49-F238E27FC236}">
                <a16:creationId xmlns:a16="http://schemas.microsoft.com/office/drawing/2014/main" id="{844BAF42-E542-4426-A1BF-B9A1BD267BB6}"/>
              </a:ext>
            </a:extLst>
          </p:cNvPr>
          <p:cNvSpPr>
            <a:spLocks noGrp="1"/>
          </p:cNvSpPr>
          <p:nvPr/>
        </p:nvSpPr>
        <p:spPr>
          <a:xfrm>
            <a:off x="6762750" y="5705475"/>
            <a:ext cx="190500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رحلة مفهومة</a:t>
            </a:r>
          </a:p>
        </p:txBody>
      </p:sp>
      <p:sp>
        <p:nvSpPr>
          <p:cNvPr id="19" name="←">
            <a:extLst>
              <a:ext uri="{FF2B5EF4-FFF2-40B4-BE49-F238E27FC236}">
                <a16:creationId xmlns:a16="http://schemas.microsoft.com/office/drawing/2014/main" id="{AF97B430-C68B-47E0-B0EF-E2C3E1F45D61}"/>
              </a:ext>
            </a:extLst>
          </p:cNvPr>
          <p:cNvSpPr>
            <a:spLocks noGrp="1"/>
          </p:cNvSpPr>
          <p:nvPr/>
        </p:nvSpPr>
        <p:spPr>
          <a:xfrm>
            <a:off x="8810625" y="5705475"/>
            <a:ext cx="476250" cy="4191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20" name="بيانات صحيحة">
            <a:extLst>
              <a:ext uri="{FF2B5EF4-FFF2-40B4-BE49-F238E27FC236}">
                <a16:creationId xmlns:a16="http://schemas.microsoft.com/office/drawing/2014/main" id="{A8F634DE-D98B-4ACB-929C-FC2D6F5B9A4F}"/>
              </a:ext>
            </a:extLst>
          </p:cNvPr>
          <p:cNvSpPr>
            <a:spLocks noGrp="1"/>
          </p:cNvSpPr>
          <p:nvPr/>
        </p:nvSpPr>
        <p:spPr>
          <a:xfrm>
            <a:off x="9429750" y="5705475"/>
            <a:ext cx="1809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1" kern="0" spc="0">
                <a:solidFill>
                  <a:srgbClr val="013070"/>
                </a:solidFill>
                <a:latin typeface="IBM Plex Sans Arabic"/>
                <a:ea typeface="IBM Plex Sans Arabic"/>
                <a:cs typeface="IBM Plex Sans Arabic"/>
              </a:defRPr>
            </a:pPr>
            <a:r>
              <a:rPr lang="ar-JO" sz="1650" b="1" kern="0" spc="0">
                <a:solidFill>
                  <a:srgbClr val="013070"/>
                </a:solidFill>
                <a:latin typeface="IBM Plex Sans Arabic"/>
                <a:ea typeface="IBM Plex Sans Arabic"/>
                <a:cs typeface="IBM Plex Sans Arabic"/>
              </a:rPr>
              <a:t>بيانات صحيحة</a:t>
            </a:r>
          </a:p>
        </p:txBody>
      </p:sp>
    </p:spTree>
    <p:extLst>
      <p:ext uri="{BB962C8B-B14F-4D97-AF65-F5344CB8AC3E}">
        <p14:creationId xmlns:p14="http://schemas.microsoft.com/office/powerpoint/2010/main" val="1805400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pic>
        <p:nvPicPr>
          <p:cNvPr id="10" name="Picture 9"/>
          <p:cNvPicPr>
            <a:picLocks noChangeAspect="1"/>
          </p:cNvPicPr>
          <p:nvPr/>
        </p:nvPicPr>
        <p:blipFill>
          <a:blip r:embed="rId4"/>
          <a:stretch/>
        </p:blipFill>
        <p:spPr>
          <a:xfrm>
            <a:off x="10353675" y="552450"/>
            <a:ext cx="1123950" cy="1123950"/>
          </a:xfrm>
          <a:prstGeom prst="rect">
            <a:avLst/>
          </a:prstGeom>
        </p:spPr>
      </p:pic>
      <p:sp>
        <p:nvSpPr>
          <p:cNvPr id="3" name="قبل أن يلتزم الطالب لسنوات،">
            <a:extLst>
              <a:ext uri="{FF2B5EF4-FFF2-40B4-BE49-F238E27FC236}">
                <a16:creationId xmlns:a16="http://schemas.microsoft.com/office/drawing/2014/main" id="{8F56BA72-ABC2-476B-A47B-979F634DD539}"/>
              </a:ext>
            </a:extLst>
          </p:cNvPr>
          <p:cNvSpPr>
            <a:spLocks noGrp="1"/>
          </p:cNvSpPr>
          <p:nvPr/>
        </p:nvSpPr>
        <p:spPr>
          <a:xfrm>
            <a:off x="5572125" y="1724025"/>
            <a:ext cx="5905500" cy="5810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925" b="1" kern="0" spc="0">
                <a:solidFill>
                  <a:srgbClr val="C8A04C"/>
                </a:solidFill>
                <a:latin typeface="IBM Plex Sans Arabic"/>
                <a:ea typeface="IBM Plex Sans Arabic"/>
                <a:cs typeface="IBM Plex Sans Arabic"/>
              </a:defRPr>
            </a:pPr>
            <a:r>
              <a:rPr lang="ar-JO" sz="2925" b="1" kern="0" spc="0">
                <a:solidFill>
                  <a:srgbClr val="C8A04C"/>
                </a:solidFill>
                <a:latin typeface="IBM Plex Sans Arabic"/>
                <a:ea typeface="IBM Plex Sans Arabic"/>
                <a:cs typeface="IBM Plex Sans Arabic"/>
              </a:rPr>
              <a:t>قبل أن يلتزم الطالب لسنوات،</a:t>
            </a:r>
          </a:p>
        </p:txBody>
      </p:sp>
      <p:sp>
        <p:nvSpPr>
          <p:cNvPr id="4" name="يرى الملاءمة والقبول والكلفة والسوق&#10;في قرار و">
            <a:extLst>
              <a:ext uri="{FF2B5EF4-FFF2-40B4-BE49-F238E27FC236}">
                <a16:creationId xmlns:a16="http://schemas.microsoft.com/office/drawing/2014/main" id="{F2FB71E0-C568-4B59-9C67-2F58593AFAF4}"/>
              </a:ext>
            </a:extLst>
          </p:cNvPr>
          <p:cNvSpPr>
            <a:spLocks noGrp="1"/>
          </p:cNvSpPr>
          <p:nvPr/>
        </p:nvSpPr>
        <p:spPr>
          <a:xfrm>
            <a:off x="4905375" y="2400300"/>
            <a:ext cx="6572250" cy="14668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825" b="1" kern="0" spc="0">
                <a:solidFill>
                  <a:srgbClr val="FFFFFF"/>
                </a:solidFill>
                <a:latin typeface="IBM Plex Sans Arabic"/>
                <a:ea typeface="IBM Plex Sans Arabic"/>
                <a:cs typeface="IBM Plex Sans Arabic"/>
              </a:defRPr>
            </a:pPr>
            <a:r>
              <a:rPr lang="ar-JO" sz="3825" b="1" kern="0" spc="0">
                <a:solidFill>
                  <a:srgbClr val="FFFFFF"/>
                </a:solidFill>
                <a:latin typeface="IBM Plex Sans Arabic"/>
                <a:ea typeface="IBM Plex Sans Arabic"/>
                <a:cs typeface="IBM Plex Sans Arabic"/>
              </a:rPr>
              <a:t>يرى الملاءمة والقبول والكلفة والسوق</a:t>
            </a:r>
          </a:p>
          <a:p>
            <a:pPr algn="r" rtl="1">
              <a:lnSpc>
                <a:spcPct val="116000"/>
              </a:lnSpc>
              <a:spcBef>
                <a:spcPts val="0"/>
              </a:spcBef>
              <a:spcAft>
                <a:spcPts val="0"/>
              </a:spcAft>
              <a:buNone/>
              <a:defRPr lang="ar-JO" sz="3825" b="1" kern="0" spc="0">
                <a:solidFill>
                  <a:srgbClr val="FFFFFF"/>
                </a:solidFill>
                <a:latin typeface="IBM Plex Sans Arabic"/>
                <a:ea typeface="IBM Plex Sans Arabic"/>
                <a:cs typeface="IBM Plex Sans Arabic"/>
              </a:defRPr>
            </a:pPr>
            <a:r>
              <a:rPr lang="ar-JO" sz="3825" b="1" kern="0" spc="0">
                <a:solidFill>
                  <a:srgbClr val="FFFFFF"/>
                </a:solidFill>
                <a:latin typeface="IBM Plex Sans Arabic"/>
                <a:ea typeface="IBM Plex Sans Arabic"/>
                <a:cs typeface="IBM Plex Sans Arabic"/>
              </a:rPr>
              <a:t>في قرار واحد يمكن تفسيره.</a:t>
            </a:r>
          </a:p>
        </p:txBody>
      </p:sp>
      <p:sp>
        <p:nvSpPr>
          <p:cNvPr id="5" name="Rectangle: Rounded Corners 4">
            <a:extLst>
              <a:ext uri="{FF2B5EF4-FFF2-40B4-BE49-F238E27FC236}">
                <a16:creationId xmlns:a16="http://schemas.microsoft.com/office/drawing/2014/main" id="{25F387C3-EFC4-482D-BD69-99BB278F62B9}"/>
              </a:ext>
            </a:extLst>
          </p:cNvPr>
          <p:cNvSpPr>
            <a:spLocks noGrp="1"/>
          </p:cNvSpPr>
          <p:nvPr/>
        </p:nvSpPr>
        <p:spPr>
          <a:xfrm>
            <a:off x="6334125" y="4324350"/>
            <a:ext cx="5143500" cy="628650"/>
          </a:xfrm>
          <a:prstGeom prst="roundRect">
            <a:avLst>
              <a:gd name="adj" fmla="val 12121"/>
            </a:avLst>
          </a:prstGeom>
          <a:solidFill>
            <a:srgbClr val="F3EAD7"/>
          </a:solidFill>
          <a:ln w="12383">
            <a:solidFill>
              <a:srgbClr val="DFC98F"/>
            </a:solidFill>
          </a:ln>
        </p:spPr>
      </p:sp>
      <p:sp>
        <p:nvSpPr>
          <p:cNvPr id="6" name="هل نبدأ التجربة؟">
            <a:extLst>
              <a:ext uri="{FF2B5EF4-FFF2-40B4-BE49-F238E27FC236}">
                <a16:creationId xmlns:a16="http://schemas.microsoft.com/office/drawing/2014/main" id="{357B076B-D2B6-48E7-937C-5ED73920D326}"/>
              </a:ext>
            </a:extLst>
          </p:cNvPr>
          <p:cNvSpPr>
            <a:spLocks noGrp="1"/>
          </p:cNvSpPr>
          <p:nvPr/>
        </p:nvSpPr>
        <p:spPr>
          <a:xfrm>
            <a:off x="6524625" y="4400550"/>
            <a:ext cx="4762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هل نبدأ التجربة؟</a:t>
            </a:r>
          </a:p>
        </p:txBody>
      </p:sp>
      <p:sp>
        <p:nvSpPr>
          <p:cNvPr id="7" name="مُرشِدي  •  Vcoders">
            <a:extLst>
              <a:ext uri="{FF2B5EF4-FFF2-40B4-BE49-F238E27FC236}">
                <a16:creationId xmlns:a16="http://schemas.microsoft.com/office/drawing/2014/main" id="{26AEF5F1-3B6B-4B6F-B81D-DE2D5003701D}"/>
              </a:ext>
            </a:extLst>
          </p:cNvPr>
          <p:cNvSpPr>
            <a:spLocks noGrp="1"/>
          </p:cNvSpPr>
          <p:nvPr/>
        </p:nvSpPr>
        <p:spPr>
          <a:xfrm>
            <a:off x="6858000" y="5391150"/>
            <a:ext cx="4619625" cy="4762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250" b="1" kern="0" spc="0">
                <a:solidFill>
                  <a:srgbClr val="D1DEED"/>
                </a:solidFill>
                <a:latin typeface="IBM Plex Sans Arabic"/>
                <a:ea typeface="IBM Plex Sans Arabic"/>
                <a:cs typeface="IBM Plex Sans Arabic"/>
              </a:defRPr>
            </a:pPr>
            <a:r>
              <a:rPr lang="ar-JO" sz="2250" b="1" kern="0" spc="0">
                <a:solidFill>
                  <a:srgbClr val="D1DEED"/>
                </a:solidFill>
                <a:latin typeface="IBM Plex Sans Arabic"/>
                <a:ea typeface="IBM Plex Sans Arabic"/>
                <a:cs typeface="IBM Plex Sans Arabic"/>
              </a:rPr>
              <a:t>مُرشِدي  •  Vcoders</a:t>
            </a:r>
          </a:p>
        </p:txBody>
      </p:sp>
      <p:sp>
        <p:nvSpPr>
          <p:cNvPr id="8" name="شكرًا لكم">
            <a:extLst>
              <a:ext uri="{FF2B5EF4-FFF2-40B4-BE49-F238E27FC236}">
                <a16:creationId xmlns:a16="http://schemas.microsoft.com/office/drawing/2014/main" id="{C2EF7FBE-7225-4B69-88B9-0219DF1CDCDE}"/>
              </a:ext>
            </a:extLst>
          </p:cNvPr>
          <p:cNvSpPr>
            <a:spLocks noGrp="1"/>
          </p:cNvSpPr>
          <p:nvPr/>
        </p:nvSpPr>
        <p:spPr>
          <a:xfrm>
            <a:off x="8858250" y="5942648"/>
            <a:ext cx="261937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FFFFFF"/>
                </a:solidFill>
                <a:latin typeface="IBM Plex Sans Arabic"/>
                <a:ea typeface="IBM Plex Sans Arabic"/>
                <a:cs typeface="IBM Plex Sans Arabic"/>
              </a:defRPr>
            </a:pPr>
            <a:r>
              <a:rPr lang="ar-JO" sz="1725" b="0" kern="0" spc="0">
                <a:solidFill>
                  <a:srgbClr val="FFFFFF"/>
                </a:solidFill>
                <a:latin typeface="IBM Plex Sans Arabic"/>
                <a:ea typeface="IBM Plex Sans Arabic"/>
                <a:cs typeface="IBM Plex Sans Arabic"/>
              </a:rPr>
              <a:t>شكرًا لكم</a:t>
            </a:r>
          </a:p>
        </p:txBody>
      </p:sp>
    </p:spTree>
    <p:extLst>
      <p:ext uri="{BB962C8B-B14F-4D97-AF65-F5344CB8AC3E}">
        <p14:creationId xmlns:p14="http://schemas.microsoft.com/office/powerpoint/2010/main" val="205117637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2256</Words>
  <Application>Microsoft Office PowerPoint</Application>
  <DocSecurity>0</DocSecurity>
  <PresentationFormat>Widescreen</PresentationFormat>
  <Paragraphs>245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IBM Plex Sans Arabic</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2026-09-13T08:41:26Z</dcterms:created>
  <dcterms:modified xsi:type="dcterms:W3CDTF">2026-09-13T08:41:35Z</dcterms:modified>
</cp:coreProperties>
</file>