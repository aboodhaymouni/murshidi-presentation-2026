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BM Plex Sans Arabic" panose="020B0503050203000203" pitchFamily="34" charset="-78"/>
      <p:regular r:id="rId15"/>
      <p:bold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إلى 0:20 (20 ثانية)</a:t>
            </a:r>
          </a:p>
          <a:p>
            <a:endParaRPr/>
          </a:p>
          <a:p>
            <a:r>
              <a:t>صباح الخير. نحن فريق Vcoders، ونقدّم مُرشِدي: منصّة تساعد الطالب وأسرته على اتخاذ قرار جامعي أوضح. نبدأ من السؤال الذي يأتي بعد التوجيهي مباشرة: شو أدرس؟ ونحوّله من بحث مشتّت إلى قرار يجمع الملاءمة والقبول والكلفة والسوق في رحلة واحدة.</a:t>
            </a:r>
          </a:p>
          <a:p>
            <a:endParaRPr/>
          </a:p>
          <a:p>
            <a:r>
              <a:t>المصادر: ملفات المشروع الأصلية؛ اسم الفريق Vcoders حسب توجيه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0:20 إلى 1:00 (40 ثانية)</a:t>
            </a:r>
          </a:p>
          <a:p>
            <a:endParaRPr/>
          </a:p>
          <a:p>
            <a:r>
              <a:t>تخيّل طالبًا أنهى التوجيهي اليوم. يريد جوابًا عن ثلاثة أسئلة: هل التخصص يناسبني؟ هل أستطيع التقديم؟ وهل تستطيع أسرتي تحمّل كلفته؟ في دفعة 2026 وصل 116,366 ناجحًا إلى هذه اللحظة، وأمامهم 607 عروض برامج بكالوريوس في القبول الموحد. المعلومات موجودة، لكنها موزعة بين القبول والجامعات وإحصاءات العمل؛ فيضطر الطالب والأسرة والمرشد إلى تركيب القرار يدويًا. هنا تبدأ المشكلة التي يحلّها مُرشِدي.</a:t>
            </a:r>
          </a:p>
          <a:p>
            <a:endParaRPr/>
          </a:p>
          <a:p>
            <a:r>
              <a:t>المصادر: وزارة التربية والتعليم عبر وكالة بترا، 10 آب 2026: 116,366 ناجحًا في التوجيهي، ويشمل العدد النظاميين والدراسة الخاصة. وحدة تنسيق القبول الموحد، 13 آب 2026: 607 عروض برامج بكالوريوس للدورة الصيفية 2026/2027؛ عروض برامج وليست تخصصات مهنية فريدة. البطالة متعددة الأسباب، ولا ننسبها لاختيار التخصص وحده.</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1:00 إلى 1:35 (35 ثانية)</a:t>
            </a:r>
          </a:p>
          <a:p>
            <a:endParaRPr/>
          </a:p>
          <a:p>
            <a:r>
              <a:t>يجمع مُرشِدي رحلة القرار في ثلاث خطوات. يبدأ الطالب بأسئلة استكشاف ذاتي تبني نقطة انطلاق، ثم يقارن برامج فعلية وفق القبول والرسوم والكلفة وإشارات سوق العمل، وبعدها يحفظ قائمة قصيرة وخطة كلفة مع مصدر وفترة لكل رقم. هذه شاشة حقيقية من نسخة تعمل بالعربية والإنجليزية. النتيجة ليست توصية مغلقة، بل قرار مبرّر يستطيع الطالب وأسرته والمرشد مناقشته قبل التقديم.</a:t>
            </a:r>
          </a:p>
          <a:p>
            <a:endParaRPr/>
          </a:p>
          <a:p>
            <a:r>
              <a:t>المصادر: شاشة فعلية من النسخة المحلية المحدثة للسورس؛ اختبار الميول استكشافي ولا يدعي اعتمادًا نفسيًا.</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1:35 إلى 2:15 (40 ثانية)</a:t>
            </a:r>
          </a:p>
          <a:p>
            <a:endParaRPr/>
          </a:p>
          <a:p>
            <a:r>
              <a:t>لنأخذ طالبًا يفكر في علم الحاسوب. في شاشة واحدة يقارن البرامج، ويفهم الفرق بين شرط التقديم والحد التنافسي السابق، ويرى رسم الساعة ومصدر كل قيمة. شرط التقديم يجيب: هل يحق لي التقديم؟ أما الحد السابق فهو مرجع تاريخي، وليس وعد قبول. بهذه الدقة لا نعرض رقمًا بلا معناه ولا نخلط سنة بسنة، فيبني الطالب قائمة قصيرة يستطيع الدفاع عنها أمام أسرته والمرشد.</a:t>
            </a:r>
          </a:p>
          <a:p>
            <a:endParaRPr/>
          </a:p>
          <a:p>
            <a:r>
              <a:t>المصادر: وحدة تنسيق القبول الموحد: دليل البرامج والرسوم 2026/2027؛ جداول الحدود الدنيا المنشورة 2021–2025، تحقق 10 أيلول 2026. آخر حد تنافسي منشور يظهر كسجل سابق لا كضمان قبول.</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2:15 إلى 2:50 (35 ثانية)</a:t>
            </a:r>
          </a:p>
          <a:p>
            <a:endParaRPr/>
          </a:p>
          <a:p>
            <a:r>
              <a:t>بعد المقارنة، يحوّل الطالب خياره إلى خطة كلفة. في المثال، رسم الساعة الرسمي سبعة وأربعون دينارًا. ومع افتراض 132 ساعة خلال أربع سنوات، ورسوم أخرى ومعيشة قابلة للتعديل، تظهر كلفة سنوية مقدارها 3,051 دينارًا. إذا تغيّرت الميزانية تتغيّر فجوة التمويل فورًا. هكذا تنتقل الأسرة من سؤال عام عن القدرة إلى خطة واضحة، مع فصل الرقم الرسمي عن افتراضاتها الخاصة.</a:t>
            </a:r>
          </a:p>
          <a:p>
            <a:endParaRPr/>
          </a:p>
          <a:p>
            <a:r>
              <a:t>المصادر: رسم الساعة لعلم الحاسوب في الجامعة الأردنية من دليل القبول الموحد؛ بقية المدخلات افتراضات توضيحية قابلة للتعديل. الحساب: (47×132)/4 + 300 + (100×12) = 3,051 د.أ سنويًا. لا توقع دخل أو عائد مضمون.</a:t>
            </a:r>
          </a:p>
          <a:p>
            <a:r>
              <a:t>صورة شاشة حقيقية من النسخة المحلية المحدثة؛ إطار الهاتف فقط صورة توضيحية مولدة.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2:50 إلى 3:25 (35 ثانية)</a:t>
            </a:r>
          </a:p>
          <a:p>
            <a:endParaRPr/>
          </a:p>
          <a:p>
            <a:r>
              <a:t>القبول الموحد يشرح ما يمكن التقديم إليه، ومواقع الجامعات تنشر الرسوم، وإحصاءات العمل تصف السوق. كل مصدر مهم، لكن أيًّا منها لا يعرف اهتمام هذا الطالب أو ميزانية أسرته، ولا يجمع المقارنة في قرار واحد. مُرشِدي يعمل كطبقة قرار فوق المصادر الرسمية، مع تفسير ومصدر وتاريخ. وتدعم منطق الحل تجربتان عشوائيتان شملتا معًا أكثر من 77 ألف مشارك: المعلومة المخصّصة قبل الاختيار يمكن أن تغيّر قرارات الطلبة. ثم نقيس أثر مُرشِدي محليًا بدل ادعائه مسبقًا.</a:t>
            </a:r>
          </a:p>
          <a:p>
            <a:endParaRPr/>
          </a:p>
          <a:p>
            <a:r>
              <a:t>المصادر: de Koning, Fouarge &amp; Dur، IZA Discussion Paper 17951، 2025: 28,186 طالبًا في 243 مدرسة. Hastings, Neilson &amp; Zimmerman، NBER Working Paper 21300: 49,166 مشاركًا. المجموع التقريبي أكبر من 77 ألفًا عبر تجربتين منفصلتين في سياقين خارج الأردن؛ يدعم مبدأ تخصيص المعلومات ولا يثبت خفض بطالة أو أثر مُرشِدي محليًا.</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3:25 إلى 4:00 (35 ثانية)</a:t>
            </a:r>
          </a:p>
          <a:p>
            <a:endParaRPr/>
          </a:p>
          <a:p>
            <a:r>
              <a:t>المستفيد المباشر هو الطالب وأسرته؛ يحصلان على رحلة القرار الأساسية مجانًا. العميل الدافع هو مدرسة أو جامعة أو شبكة تعليمية تحتاج أن يخدم المرشد عددًا أكبر من الطلبة بأداة موحّدة وتقارير مجمعة. أما الجهة التعليمية العامة فهي شريك التوسع: تسهّل الوصول إلى البيانات والمدارس وقياس الأثر على نطاق أوسع. فصل المستفيد عن العميل يجعل نموذجنا قابلًا للتبني من دون وضع تكلفة القرار على الطالب.</a:t>
            </a:r>
          </a:p>
          <a:p>
            <a:endParaRPr/>
          </a:p>
          <a:p>
            <a:r>
              <a:t>المصادر: نموذج B2B2C مقترح: الطالب والأسرة مستفيدان، والمؤسسة التعليمية عميل دافع، والجهة العامة شريك تمكين وتوسع. لا عملاء أو عقود أو شراكات حكومية قائمة حتى 11 أيلول 2026.</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4:00 إلى 4:45 (45 ثانية)</a:t>
            </a:r>
          </a:p>
          <a:p>
            <a:endParaRPr/>
          </a:p>
          <a:p>
            <a:r>
              <a:t>لدينا ثلاث طبقات واضحة. الطالب والأسرة يستخدمان الرحلة الأساسية مجانًا. المؤسسة التعليمية تدفع في فرضية التسعير الأساسية 20 دينارًا لكل طالب نشط سنويًا مقابل أدوات المرشد، وتقارير مجمعة، وتدريب ودعم. وعلى نطاق وطني يمكن أن يكون الإيراد عقدًا سنويًا بحسب حجم البيانات والدعم وقياس الأثر. وفق افتراضاتنا الحالية، نصل إلى التعادل عند 1,950 طالبًا مدفوعًا. هذه فرضيات سنختبرها بعروض سعر وتجارب مدفوعة؛ وهي ليست إيرادًا محققًا.</a:t>
            </a:r>
          </a:p>
          <a:p>
            <a:endParaRPr/>
          </a:p>
          <a:p>
            <a:r>
              <a:t>المصادر: فرضية تسعير للاختبار وليست مبيعات: 20 د.أ/طالب نشط/سنة للمؤسسة. افتراض كلفة متغيرة 4 د.أ، كلفة ثابتة 30,000 د.أ، و300 طالب تجارب مجانية. التعادل: [30,000+(300×4)]/(20−4)=1,950 طالبًا مدفوعًا. لا سعر مفترض للعقد العام قبل تحديد النطاق.</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4:45 إلى 5:25 (40 ثانية)</a:t>
            </a:r>
          </a:p>
          <a:p>
            <a:endParaRPr/>
          </a:p>
          <a:p>
            <a:r>
              <a:t>نبدأ بتجربة محددة: 100 طالب في ثلاث مدارس خلال ستة أسابيع. نقيس قبل الاستخدام وبعده زمن بناء مقارنة ثلاثة برامج، وفهم القبول والكلفة من مصدر صحيح، ووضوح القرار. نعتبر التجربة ناجحة إذا أكمل 70 طالبًا مقارنة موثقة، وتحسن متوسط وضوح القرار بنقطة واحدة على مقياس من خمس نقاط، وبدأت مؤسستان تجربة مدفوعة. هذه أهداف معلنة وليست نتائج سابقة؛ وإذا لم تتحقق نعدّل الرحلة أو العرض أو السعر قبل التوسع.</a:t>
            </a:r>
          </a:p>
          <a:p>
            <a:endParaRPr/>
          </a:p>
          <a:p>
            <a:r>
              <a:t>المصادر: تصميم تجربة وأهداف مقترحة وليست نتائج محققة: 100 طالب، 3 مدارس، 6 أسابيع؛ 70 طالبًا يكملون مقارنة موثقة؛ تحسن نقطة واحدة على مقياس من 5؛ ومؤسستان تبدآن تجربة مدفوعة. دليل الجائزة ص29-30 يطلب أثرًا قابلًا للقياس.</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5:25 إلى 6:15 (50 ثانية)</a:t>
            </a:r>
          </a:p>
          <a:p>
            <a:endParaRPr/>
          </a:p>
          <a:p>
            <a:r>
              <a:t>اليوم لدينا نسخة عاملة بالعربية والإنجليزية، وشاشات حقيقية، وبيانات عامة محدّثة مع سنة ومصدر. خلال تسعين يومًا ننفذ التجربة، نقيس الأثر، ونختبر استعداد المؤسسات للدفع. وخلال اثني عشر شهرًا نستهدف عشر مؤسسات و1,500 طالب، ثم نراجع قرار التوسع وفق الاستخدام والدفع وجودة البيانات. الإيراد يمول تحديث المصادر ودعم المرشدين وقياس الأثر. وطلبنا المحدد من اللجنة هو ربطنا بثلاث مدارس ومرشدين وقناة بيانات تعليمية حتى ننفذ التجربة ونقدّم تقريرًا قابلًا للمراجعة.</a:t>
            </a:r>
          </a:p>
          <a:p>
            <a:endParaRPr/>
          </a:p>
          <a:p>
            <a:r>
              <a:t>المصادر: خطة تنفيذ وأهداف مستقبلية وليست نتائج: اليوم منتج عامل؛ 90 يومًا للتجربة والتقرير؛ 12 شهرًا للوصول المستهدف إلى 10 مؤسسات و1,500 طالب. لا تنسيق حكومي رسمي قائم؛ الربط بثلاث مدارس وجهة بيانات هو الطلب المقترح.</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6:15 إلى 6:40 (25 ثانية)</a:t>
            </a:r>
          </a:p>
          <a:p>
            <a:endParaRPr/>
          </a:p>
          <a:p>
            <a:r>
              <a:t>يتكامل فريقنا في ثلاث مسؤوليات. عبد الرحمن الهيموني يقود منطق التطبيق والبيانات والاختبار. عبد الرحمن الكردي يتولى تجربة المستخدم والهوية وتنظيم رحلة الطالب. وزيد أبو الشعر ينفّذ الواجهات ويحوّل التصميم إلى تجربة قابلة للاستخدام. نراجع كل قرار معًا حتى تظهر النتيجة كمنتج واحد: بيانات صحيحة، ورحلة مفهومة، وواجهة تعمل.</a:t>
            </a:r>
          </a:p>
          <a:p>
            <a:endParaRPr/>
          </a:p>
          <a:p>
            <a:r>
              <a:t>المصادر: Murshidi-Team-Roles.pdf من حزمة المشروع؛ اسم الفريق Vcoders حسب المستخدم.</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6:40 إلى 7:00 (20 ثانية)</a:t>
            </a:r>
          </a:p>
          <a:p>
            <a:endParaRPr/>
          </a:p>
          <a:p>
            <a:r>
              <a:t>قبل أن يلتزم الطالب بتخصص لسنوات، يستحق أن يرى الملاءمة والقبول والكلفة والسوق في قرار واحد يمكن تفسيره. مُرشِدي يحوّل البيانات العامة إلى خطوة عملية للطالب وأسرته والمرشد. لدينا منتج يعمل، وخطة قياس، ونموذج نعرف كيف نختبره. هل نبدأ التجربة؟ شكرًا لكم.</a:t>
            </a:r>
          </a:p>
          <a:p>
            <a:endParaRPr/>
          </a:p>
          <a:p>
            <a:r>
              <a:t>المصادر: خاتمة العرض؛ لا تتضمن ادعاء شراكة أو نتيجة أثر غير محققة.</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t="27" b="27"/>
          <a:stretch>
            <a:fillRect/>
          </a:stretch>
        </p:blipFill>
        <p:spPr>
          <a:xfrm>
            <a:off x="0" y="0"/>
            <a:ext cx="12192000" cy="6858000"/>
          </a:xfrm>
          <a:prstGeom prst="rect">
            <a:avLst/>
          </a:prstGeom>
        </p:spPr>
      </p:pic>
      <p:pic>
        <p:nvPicPr>
          <p:cNvPr id="9" name="Picture 8"/>
          <p:cNvPicPr>
            <a:picLocks noChangeAspect="1"/>
          </p:cNvPicPr>
          <p:nvPr/>
        </p:nvPicPr>
        <p:blipFill>
          <a:blip r:embed="rId4"/>
          <a:stretch/>
        </p:blipFill>
        <p:spPr>
          <a:xfrm>
            <a:off x="10287000" y="571500"/>
            <a:ext cx="1181100" cy="1181100"/>
          </a:xfrm>
          <a:prstGeom prst="rect">
            <a:avLst/>
          </a:prstGeom>
        </p:spPr>
      </p:pic>
      <p:sp>
        <p:nvSpPr>
          <p:cNvPr id="3" name="مُرشِدي">
            <a:extLst>
              <a:ext uri="{FF2B5EF4-FFF2-40B4-BE49-F238E27FC236}">
                <a16:creationId xmlns:a16="http://schemas.microsoft.com/office/drawing/2014/main" id="{5363A27C-9B4E-4E6A-A96A-E80539FFA587}"/>
              </a:ext>
            </a:extLst>
          </p:cNvPr>
          <p:cNvSpPr>
            <a:spLocks noGrp="1"/>
          </p:cNvSpPr>
          <p:nvPr/>
        </p:nvSpPr>
        <p:spPr>
          <a:xfrm>
            <a:off x="6191250" y="1884045"/>
            <a:ext cx="5286375" cy="133731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7200" b="1" kern="0" spc="0">
                <a:solidFill>
                  <a:srgbClr val="FFFFFF"/>
                </a:solidFill>
                <a:latin typeface="IBM Plex Sans Arabic"/>
                <a:ea typeface="IBM Plex Sans Arabic"/>
                <a:cs typeface="IBM Plex Sans Arabic"/>
              </a:defRPr>
            </a:pPr>
            <a:r>
              <a:rPr lang="ar-JO" sz="7200" b="1" kern="0" spc="0">
                <a:solidFill>
                  <a:srgbClr val="FFFFFF"/>
                </a:solidFill>
                <a:latin typeface="IBM Plex Sans Arabic"/>
                <a:ea typeface="IBM Plex Sans Arabic"/>
                <a:cs typeface="IBM Plex Sans Arabic"/>
              </a:rPr>
              <a:t>مُرشِدي</a:t>
            </a:r>
          </a:p>
        </p:txBody>
      </p:sp>
      <p:sp>
        <p:nvSpPr>
          <p:cNvPr id="4" name="قرار جامعي أوضح">
            <a:extLst>
              <a:ext uri="{FF2B5EF4-FFF2-40B4-BE49-F238E27FC236}">
                <a16:creationId xmlns:a16="http://schemas.microsoft.com/office/drawing/2014/main" id="{830E2F16-AD17-4252-A7B3-B4D9713C01A6}"/>
              </a:ext>
            </a:extLst>
          </p:cNvPr>
          <p:cNvSpPr>
            <a:spLocks noGrp="1"/>
          </p:cNvSpPr>
          <p:nvPr/>
        </p:nvSpPr>
        <p:spPr>
          <a:xfrm>
            <a:off x="6143625" y="3195638"/>
            <a:ext cx="5334000" cy="6572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75" b="1" kern="0" spc="0">
                <a:solidFill>
                  <a:srgbClr val="C8A04C"/>
                </a:solidFill>
                <a:latin typeface="IBM Plex Sans Arabic"/>
                <a:ea typeface="IBM Plex Sans Arabic"/>
                <a:cs typeface="IBM Plex Sans Arabic"/>
              </a:defRPr>
            </a:pPr>
            <a:r>
              <a:rPr lang="ar-JO" sz="3375" b="1" kern="0" spc="0">
                <a:solidFill>
                  <a:srgbClr val="C8A04C"/>
                </a:solidFill>
                <a:latin typeface="IBM Plex Sans Arabic"/>
                <a:ea typeface="IBM Plex Sans Arabic"/>
                <a:cs typeface="IBM Plex Sans Arabic"/>
              </a:rPr>
              <a:t>قرار جامعي أوضح</a:t>
            </a:r>
          </a:p>
        </p:txBody>
      </p:sp>
      <p:sp>
        <p:nvSpPr>
          <p:cNvPr id="5" name="Vcoders">
            <a:extLst>
              <a:ext uri="{FF2B5EF4-FFF2-40B4-BE49-F238E27FC236}">
                <a16:creationId xmlns:a16="http://schemas.microsoft.com/office/drawing/2014/main" id="{FE827AB7-F546-4949-A85E-83F5B1F57DBF}"/>
              </a:ext>
            </a:extLst>
          </p:cNvPr>
          <p:cNvSpPr>
            <a:spLocks noGrp="1"/>
          </p:cNvSpPr>
          <p:nvPr/>
        </p:nvSpPr>
        <p:spPr>
          <a:xfrm>
            <a:off x="7286625" y="4021455"/>
            <a:ext cx="4191000" cy="51054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2550" b="0" kern="0" spc="0">
                <a:solidFill>
                  <a:srgbClr val="FFFFFF"/>
                </a:solidFill>
                <a:latin typeface="IBM Plex Sans Arabic"/>
                <a:ea typeface="IBM Plex Sans Arabic"/>
                <a:cs typeface="IBM Plex Sans Arabic"/>
              </a:defRPr>
            </a:pPr>
            <a:r>
              <a:rPr lang="ar-JO" sz="2550" b="0" kern="0" spc="0">
                <a:solidFill>
                  <a:srgbClr val="FFFFFF"/>
                </a:solidFill>
                <a:latin typeface="IBM Plex Sans Arabic"/>
                <a:ea typeface="IBM Plex Sans Arabic"/>
                <a:cs typeface="IBM Plex Sans Arabic"/>
              </a:rPr>
              <a:t>Vcoders</a:t>
            </a:r>
          </a:p>
        </p:txBody>
      </p:sp>
      <p:sp>
        <p:nvSpPr>
          <p:cNvPr id="6" name="جائزة ولي العهد لأفضل تطبيق خدمات حكومية">
            <a:extLst>
              <a:ext uri="{FF2B5EF4-FFF2-40B4-BE49-F238E27FC236}">
                <a16:creationId xmlns:a16="http://schemas.microsoft.com/office/drawing/2014/main" id="{3C4FAE9C-3CD6-4595-ADD0-E6A0A1BD28C5}"/>
              </a:ext>
            </a:extLst>
          </p:cNvPr>
          <p:cNvSpPr>
            <a:spLocks noGrp="1"/>
          </p:cNvSpPr>
          <p:nvPr/>
        </p:nvSpPr>
        <p:spPr>
          <a:xfrm>
            <a:off x="6096000" y="5534025"/>
            <a:ext cx="5381625" cy="4000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0" kern="0" spc="0">
                <a:solidFill>
                  <a:srgbClr val="D1DEED"/>
                </a:solidFill>
                <a:latin typeface="IBM Plex Sans Arabic"/>
                <a:ea typeface="IBM Plex Sans Arabic"/>
                <a:cs typeface="IBM Plex Sans Arabic"/>
              </a:defRPr>
            </a:pPr>
            <a:r>
              <a:rPr lang="ar-JO" sz="1875" b="0" kern="0" spc="0">
                <a:solidFill>
                  <a:srgbClr val="D1DEED"/>
                </a:solidFill>
                <a:latin typeface="IBM Plex Sans Arabic"/>
                <a:ea typeface="IBM Plex Sans Arabic"/>
                <a:cs typeface="IBM Plex Sans Arabic"/>
              </a:rPr>
              <a:t>جائزة ولي العهد لأفضل تطبيق خدمات حكومية</a:t>
            </a:r>
          </a:p>
        </p:txBody>
      </p:sp>
      <p:sp>
        <p:nvSpPr>
          <p:cNvPr id="7" name="الدورة الخامسة  •  2026">
            <a:extLst>
              <a:ext uri="{FF2B5EF4-FFF2-40B4-BE49-F238E27FC236}">
                <a16:creationId xmlns:a16="http://schemas.microsoft.com/office/drawing/2014/main" id="{DF716057-7545-4E39-8DE6-26D8C5E870AF}"/>
              </a:ext>
            </a:extLst>
          </p:cNvPr>
          <p:cNvSpPr>
            <a:spLocks noGrp="1"/>
          </p:cNvSpPr>
          <p:nvPr/>
        </p:nvSpPr>
        <p:spPr>
          <a:xfrm>
            <a:off x="7429500" y="5937885"/>
            <a:ext cx="404812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D1DEED"/>
                </a:solidFill>
                <a:latin typeface="IBM Plex Sans Arabic"/>
                <a:ea typeface="IBM Plex Sans Arabic"/>
                <a:cs typeface="IBM Plex Sans Arabic"/>
              </a:defRPr>
            </a:pPr>
            <a:r>
              <a:rPr lang="ar-JO" sz="1725" b="0" kern="0" spc="0">
                <a:solidFill>
                  <a:srgbClr val="D1DEED"/>
                </a:solidFill>
                <a:latin typeface="IBM Plex Sans Arabic"/>
                <a:ea typeface="IBM Plex Sans Arabic"/>
                <a:cs typeface="IBM Plex Sans Arabic"/>
              </a:rPr>
              <a:t>الدورة الخامسة  •  2026</a:t>
            </a:r>
          </a:p>
        </p:txBody>
      </p:sp>
    </p:spTree>
    <p:extLst>
      <p:ext uri="{BB962C8B-B14F-4D97-AF65-F5344CB8AC3E}">
        <p14:creationId xmlns:p14="http://schemas.microsoft.com/office/powerpoint/2010/main" val="51939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طالب واحد أمام 607 عرضًا">
            <a:extLst>
              <a:ext uri="{FF2B5EF4-FFF2-40B4-BE49-F238E27FC236}">
                <a16:creationId xmlns:a16="http://schemas.microsoft.com/office/drawing/2014/main" id="{E737C93B-999C-4C23-9B9D-A45FD2BEF2FA}"/>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طالب واحد أمام 607 عرضًا</a:t>
            </a:r>
          </a:p>
        </p:txBody>
      </p:sp>
      <p:sp>
        <p:nvSpPr>
          <p:cNvPr id="3" name="02">
            <a:extLst>
              <a:ext uri="{FF2B5EF4-FFF2-40B4-BE49-F238E27FC236}">
                <a16:creationId xmlns:a16="http://schemas.microsoft.com/office/drawing/2014/main" id="{D073E942-66D1-44F3-89BF-ED4D52F095D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02</a:t>
            </a:r>
          </a:p>
        </p:txBody>
      </p:sp>
      <p:sp>
        <p:nvSpPr>
          <p:cNvPr id="4" name="Rectangle: Rounded Corners 3">
            <a:extLst>
              <a:ext uri="{FF2B5EF4-FFF2-40B4-BE49-F238E27FC236}">
                <a16:creationId xmlns:a16="http://schemas.microsoft.com/office/drawing/2014/main" id="{DC8EC983-4A28-4F95-B2A7-E511E4CE9E87}"/>
              </a:ext>
            </a:extLst>
          </p:cNvPr>
          <p:cNvSpPr>
            <a:spLocks noGrp="1"/>
          </p:cNvSpPr>
          <p:nvPr/>
        </p:nvSpPr>
        <p:spPr>
          <a:xfrm>
            <a:off x="6191250" y="1581150"/>
            <a:ext cx="5286375" cy="3257550"/>
          </a:xfrm>
          <a:prstGeom prst="roundRect">
            <a:avLst>
              <a:gd name="adj" fmla="val 2339"/>
            </a:avLst>
          </a:prstGeom>
          <a:solidFill>
            <a:srgbClr val="FFFFFF"/>
          </a:solidFill>
          <a:ln w="12383">
            <a:solidFill>
              <a:srgbClr val="D4DEE9"/>
            </a:solidFill>
          </a:ln>
        </p:spPr>
      </p:sp>
      <p:sp>
        <p:nvSpPr>
          <p:cNvPr id="5" name="Rectangle: Rounded Corners 4">
            <a:extLst>
              <a:ext uri="{FF2B5EF4-FFF2-40B4-BE49-F238E27FC236}">
                <a16:creationId xmlns:a16="http://schemas.microsoft.com/office/drawing/2014/main" id="{BB4C344C-B75A-49C4-8A7E-9C352D1297D3}"/>
              </a:ext>
            </a:extLst>
          </p:cNvPr>
          <p:cNvSpPr>
            <a:spLocks noGrp="1"/>
          </p:cNvSpPr>
          <p:nvPr/>
        </p:nvSpPr>
        <p:spPr>
          <a:xfrm>
            <a:off x="9144000" y="1781175"/>
            <a:ext cx="2095500" cy="381000"/>
          </a:xfrm>
          <a:prstGeom prst="roundRect">
            <a:avLst>
              <a:gd name="adj" fmla="val 20000"/>
            </a:avLst>
          </a:prstGeom>
          <a:solidFill>
            <a:srgbClr val="E7EEF6"/>
          </a:solidFill>
          <a:ln w="12383">
            <a:solidFill>
              <a:srgbClr val="C9D5E3"/>
            </a:solidFill>
          </a:ln>
        </p:spPr>
      </p:sp>
      <p:sp>
        <p:nvSpPr>
          <p:cNvPr id="6" name="لحظة الطالب">
            <a:extLst>
              <a:ext uri="{FF2B5EF4-FFF2-40B4-BE49-F238E27FC236}">
                <a16:creationId xmlns:a16="http://schemas.microsoft.com/office/drawing/2014/main" id="{F248AFE7-3C1C-46DA-9AE8-6ABBBCD91658}"/>
              </a:ext>
            </a:extLst>
          </p:cNvPr>
          <p:cNvSpPr>
            <a:spLocks noGrp="1"/>
          </p:cNvSpPr>
          <p:nvPr/>
        </p:nvSpPr>
        <p:spPr>
          <a:xfrm>
            <a:off x="9239250" y="1808798"/>
            <a:ext cx="1905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لحظة الطالب</a:t>
            </a:r>
          </a:p>
        </p:txBody>
      </p:sp>
      <p:sp>
        <p:nvSpPr>
          <p:cNvPr id="7" name="بعد التوجيهي يريد جوابًا واضحًا:">
            <a:extLst>
              <a:ext uri="{FF2B5EF4-FFF2-40B4-BE49-F238E27FC236}">
                <a16:creationId xmlns:a16="http://schemas.microsoft.com/office/drawing/2014/main" id="{80A4AF00-F234-49C3-84D3-6D6ACD017AC4}"/>
              </a:ext>
            </a:extLst>
          </p:cNvPr>
          <p:cNvSpPr>
            <a:spLocks noGrp="1"/>
          </p:cNvSpPr>
          <p:nvPr/>
        </p:nvSpPr>
        <p:spPr>
          <a:xfrm>
            <a:off x="6477000" y="2266950"/>
            <a:ext cx="471487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013070"/>
                </a:solidFill>
                <a:latin typeface="IBM Plex Sans Arabic"/>
                <a:ea typeface="IBM Plex Sans Arabic"/>
                <a:cs typeface="IBM Plex Sans Arabic"/>
              </a:defRPr>
            </a:pPr>
            <a:r>
              <a:rPr lang="ar-JO" sz="2175" b="1" kern="0" spc="0">
                <a:solidFill>
                  <a:srgbClr val="013070"/>
                </a:solidFill>
                <a:latin typeface="IBM Plex Sans Arabic"/>
                <a:ea typeface="IBM Plex Sans Arabic"/>
                <a:cs typeface="IBM Plex Sans Arabic"/>
              </a:rPr>
              <a:t>بعد التوجيهي يريد جوابًا واضحًا:</a:t>
            </a:r>
          </a:p>
        </p:txBody>
      </p:sp>
      <p:sp>
        <p:nvSpPr>
          <p:cNvPr id="8" name="Rectangle: Rounded Corners 7">
            <a:extLst>
              <a:ext uri="{FF2B5EF4-FFF2-40B4-BE49-F238E27FC236}">
                <a16:creationId xmlns:a16="http://schemas.microsoft.com/office/drawing/2014/main" id="{B5C3590C-536C-4DE1-85DF-274948CA5ABE}"/>
              </a:ext>
            </a:extLst>
          </p:cNvPr>
          <p:cNvSpPr>
            <a:spLocks noGrp="1"/>
          </p:cNvSpPr>
          <p:nvPr/>
        </p:nvSpPr>
        <p:spPr>
          <a:xfrm>
            <a:off x="6486525" y="2838450"/>
            <a:ext cx="4705350" cy="514350"/>
          </a:xfrm>
          <a:prstGeom prst="roundRect">
            <a:avLst>
              <a:gd name="adj" fmla="val 14815"/>
            </a:avLst>
          </a:prstGeom>
          <a:solidFill>
            <a:srgbClr val="F3EAD7"/>
          </a:solidFill>
          <a:ln w="12383">
            <a:solidFill>
              <a:srgbClr val="DFC98F"/>
            </a:solidFill>
          </a:ln>
        </p:spPr>
      </p:sp>
      <p:sp>
        <p:nvSpPr>
          <p:cNvPr id="9" name="يناسبني؟">
            <a:extLst>
              <a:ext uri="{FF2B5EF4-FFF2-40B4-BE49-F238E27FC236}">
                <a16:creationId xmlns:a16="http://schemas.microsoft.com/office/drawing/2014/main" id="{7F2EB3AD-09C8-4AB7-9399-CE2CD375F20F}"/>
              </a:ext>
            </a:extLst>
          </p:cNvPr>
          <p:cNvSpPr>
            <a:spLocks noGrp="1"/>
          </p:cNvSpPr>
          <p:nvPr/>
        </p:nvSpPr>
        <p:spPr>
          <a:xfrm>
            <a:off x="8858250" y="28956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يناسبني؟</a:t>
            </a:r>
          </a:p>
        </p:txBody>
      </p:sp>
      <p:sp>
        <p:nvSpPr>
          <p:cNvPr id="10" name="الميول والاهتمامات">
            <a:extLst>
              <a:ext uri="{FF2B5EF4-FFF2-40B4-BE49-F238E27FC236}">
                <a16:creationId xmlns:a16="http://schemas.microsoft.com/office/drawing/2014/main" id="{0996E0B8-AAC5-4FC2-8924-A2164A347172}"/>
              </a:ext>
            </a:extLst>
          </p:cNvPr>
          <p:cNvSpPr>
            <a:spLocks noGrp="1"/>
          </p:cNvSpPr>
          <p:nvPr/>
        </p:nvSpPr>
        <p:spPr>
          <a:xfrm>
            <a:off x="6677025" y="28956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الميول والاهتمامات</a:t>
            </a:r>
          </a:p>
        </p:txBody>
      </p:sp>
      <p:sp>
        <p:nvSpPr>
          <p:cNvPr id="11" name="Rectangle: Rounded Corners 10">
            <a:extLst>
              <a:ext uri="{FF2B5EF4-FFF2-40B4-BE49-F238E27FC236}">
                <a16:creationId xmlns:a16="http://schemas.microsoft.com/office/drawing/2014/main" id="{0BB5C498-2BAE-4118-A120-7E89A13E9B3B}"/>
              </a:ext>
            </a:extLst>
          </p:cNvPr>
          <p:cNvSpPr>
            <a:spLocks noGrp="1"/>
          </p:cNvSpPr>
          <p:nvPr/>
        </p:nvSpPr>
        <p:spPr>
          <a:xfrm>
            <a:off x="6486525" y="3467100"/>
            <a:ext cx="4705350" cy="514350"/>
          </a:xfrm>
          <a:prstGeom prst="roundRect">
            <a:avLst>
              <a:gd name="adj" fmla="val 14815"/>
            </a:avLst>
          </a:prstGeom>
          <a:solidFill>
            <a:srgbClr val="EEF3F8"/>
          </a:solidFill>
          <a:ln w="12383">
            <a:solidFill>
              <a:srgbClr val="D4DEE9"/>
            </a:solidFill>
          </a:ln>
        </p:spPr>
      </p:sp>
      <p:sp>
        <p:nvSpPr>
          <p:cNvPr id="12" name="أستطيع التقديم؟">
            <a:extLst>
              <a:ext uri="{FF2B5EF4-FFF2-40B4-BE49-F238E27FC236}">
                <a16:creationId xmlns:a16="http://schemas.microsoft.com/office/drawing/2014/main" id="{342C688F-9E4E-4E48-8E58-F400C3BD7724}"/>
              </a:ext>
            </a:extLst>
          </p:cNvPr>
          <p:cNvSpPr>
            <a:spLocks noGrp="1"/>
          </p:cNvSpPr>
          <p:nvPr/>
        </p:nvSpPr>
        <p:spPr>
          <a:xfrm>
            <a:off x="8858250" y="352425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أستطيع التقديم؟</a:t>
            </a:r>
          </a:p>
        </p:txBody>
      </p:sp>
      <p:sp>
        <p:nvSpPr>
          <p:cNvPr id="13" name="الشروط والقبول">
            <a:extLst>
              <a:ext uri="{FF2B5EF4-FFF2-40B4-BE49-F238E27FC236}">
                <a16:creationId xmlns:a16="http://schemas.microsoft.com/office/drawing/2014/main" id="{CA4EEC76-8C1E-45EB-840A-877789C32EA8}"/>
              </a:ext>
            </a:extLst>
          </p:cNvPr>
          <p:cNvSpPr>
            <a:spLocks noGrp="1"/>
          </p:cNvSpPr>
          <p:nvPr/>
        </p:nvSpPr>
        <p:spPr>
          <a:xfrm>
            <a:off x="6677025" y="352425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الشروط والقبول</a:t>
            </a:r>
          </a:p>
        </p:txBody>
      </p:sp>
      <p:sp>
        <p:nvSpPr>
          <p:cNvPr id="14" name="Rectangle: Rounded Corners 13">
            <a:extLst>
              <a:ext uri="{FF2B5EF4-FFF2-40B4-BE49-F238E27FC236}">
                <a16:creationId xmlns:a16="http://schemas.microsoft.com/office/drawing/2014/main" id="{9B68C396-A0C9-4547-A613-7EC5ECF03F6A}"/>
              </a:ext>
            </a:extLst>
          </p:cNvPr>
          <p:cNvSpPr>
            <a:spLocks noGrp="1"/>
          </p:cNvSpPr>
          <p:nvPr/>
        </p:nvSpPr>
        <p:spPr>
          <a:xfrm>
            <a:off x="6486525" y="4095750"/>
            <a:ext cx="4705350" cy="514350"/>
          </a:xfrm>
          <a:prstGeom prst="roundRect">
            <a:avLst>
              <a:gd name="adj" fmla="val 14815"/>
            </a:avLst>
          </a:prstGeom>
          <a:solidFill>
            <a:srgbClr val="EEF3F8"/>
          </a:solidFill>
          <a:ln w="12383">
            <a:solidFill>
              <a:srgbClr val="D4DEE9"/>
            </a:solidFill>
          </a:ln>
        </p:spPr>
      </p:sp>
      <p:sp>
        <p:nvSpPr>
          <p:cNvPr id="15" name="تستطيع أسرتي تحمّله؟">
            <a:extLst>
              <a:ext uri="{FF2B5EF4-FFF2-40B4-BE49-F238E27FC236}">
                <a16:creationId xmlns:a16="http://schemas.microsoft.com/office/drawing/2014/main" id="{EDF8E9A9-46EC-4EA3-A676-C607C2F0F4E8}"/>
              </a:ext>
            </a:extLst>
          </p:cNvPr>
          <p:cNvSpPr>
            <a:spLocks noGrp="1"/>
          </p:cNvSpPr>
          <p:nvPr/>
        </p:nvSpPr>
        <p:spPr>
          <a:xfrm>
            <a:off x="8858250" y="4152900"/>
            <a:ext cx="2143125" cy="3714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1" kern="0" spc="0">
                <a:solidFill>
                  <a:srgbClr val="013070"/>
                </a:solidFill>
                <a:latin typeface="IBM Plex Sans Arabic"/>
                <a:ea typeface="IBM Plex Sans Arabic"/>
                <a:cs typeface="IBM Plex Sans Arabic"/>
              </a:defRPr>
            </a:pPr>
            <a:r>
              <a:rPr lang="ar-JO" sz="1725" b="1" kern="0" spc="0">
                <a:solidFill>
                  <a:srgbClr val="013070"/>
                </a:solidFill>
                <a:latin typeface="IBM Plex Sans Arabic"/>
                <a:ea typeface="IBM Plex Sans Arabic"/>
                <a:cs typeface="IBM Plex Sans Arabic"/>
              </a:rPr>
              <a:t>تستطيع أسرتي تحمّله؟</a:t>
            </a:r>
          </a:p>
        </p:txBody>
      </p:sp>
      <p:sp>
        <p:nvSpPr>
          <p:cNvPr id="16" name="الرسوم والكلفة">
            <a:extLst>
              <a:ext uri="{FF2B5EF4-FFF2-40B4-BE49-F238E27FC236}">
                <a16:creationId xmlns:a16="http://schemas.microsoft.com/office/drawing/2014/main" id="{9DC8A63D-23EA-4E5F-925E-5EC681EEAFE3}"/>
              </a:ext>
            </a:extLst>
          </p:cNvPr>
          <p:cNvSpPr>
            <a:spLocks noGrp="1"/>
          </p:cNvSpPr>
          <p:nvPr/>
        </p:nvSpPr>
        <p:spPr>
          <a:xfrm>
            <a:off x="6677025" y="4152900"/>
            <a:ext cx="2095500" cy="3714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الرسوم والكلفة</a:t>
            </a:r>
          </a:p>
        </p:txBody>
      </p:sp>
      <p:sp>
        <p:nvSpPr>
          <p:cNvPr id="17" name="Rectangle: Rounded Corners 16">
            <a:extLst>
              <a:ext uri="{FF2B5EF4-FFF2-40B4-BE49-F238E27FC236}">
                <a16:creationId xmlns:a16="http://schemas.microsoft.com/office/drawing/2014/main" id="{7686C366-5941-4C84-8DA5-75464C270E16}"/>
              </a:ext>
            </a:extLst>
          </p:cNvPr>
          <p:cNvSpPr>
            <a:spLocks noGrp="1"/>
          </p:cNvSpPr>
          <p:nvPr/>
        </p:nvSpPr>
        <p:spPr>
          <a:xfrm>
            <a:off x="571500" y="1581150"/>
            <a:ext cx="5095875" cy="1495425"/>
          </a:xfrm>
          <a:prstGeom prst="roundRect">
            <a:avLst>
              <a:gd name="adj" fmla="val 5096"/>
            </a:avLst>
          </a:prstGeom>
          <a:solidFill>
            <a:srgbClr val="FFFFFF"/>
          </a:solidFill>
          <a:ln w="12383">
            <a:solidFill>
              <a:srgbClr val="D4DEE9"/>
            </a:solidFill>
          </a:ln>
        </p:spPr>
      </p:sp>
      <p:sp>
        <p:nvSpPr>
          <p:cNvPr id="18" name="116,366">
            <a:extLst>
              <a:ext uri="{FF2B5EF4-FFF2-40B4-BE49-F238E27FC236}">
                <a16:creationId xmlns:a16="http://schemas.microsoft.com/office/drawing/2014/main" id="{3369227E-B97E-4B7C-95A7-9F01D9176E9D}"/>
              </a:ext>
            </a:extLst>
          </p:cNvPr>
          <p:cNvSpPr>
            <a:spLocks noGrp="1"/>
          </p:cNvSpPr>
          <p:nvPr/>
        </p:nvSpPr>
        <p:spPr>
          <a:xfrm>
            <a:off x="809625" y="1677353"/>
            <a:ext cx="4619625" cy="81724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4275" b="1" kern="0" spc="0">
                <a:solidFill>
                  <a:srgbClr val="013070"/>
                </a:solidFill>
                <a:latin typeface="IBM Plex Sans Arabic"/>
                <a:ea typeface="IBM Plex Sans Arabic"/>
                <a:cs typeface="IBM Plex Sans Arabic"/>
              </a:defRPr>
            </a:pPr>
            <a:r>
              <a:rPr lang="ar-JO" sz="4275" b="1" kern="0" spc="0">
                <a:solidFill>
                  <a:srgbClr val="013070"/>
                </a:solidFill>
                <a:latin typeface="IBM Plex Sans Arabic"/>
                <a:ea typeface="IBM Plex Sans Arabic"/>
                <a:cs typeface="IBM Plex Sans Arabic"/>
              </a:rPr>
              <a:t>116,366</a:t>
            </a:r>
          </a:p>
        </p:txBody>
      </p:sp>
      <p:sp>
        <p:nvSpPr>
          <p:cNvPr id="19" name="ناجحًا في التوجيهي 2026">
            <a:extLst>
              <a:ext uri="{FF2B5EF4-FFF2-40B4-BE49-F238E27FC236}">
                <a16:creationId xmlns:a16="http://schemas.microsoft.com/office/drawing/2014/main" id="{F0483C21-D3D5-4095-A3D5-4573101E2429}"/>
              </a:ext>
            </a:extLst>
          </p:cNvPr>
          <p:cNvSpPr>
            <a:spLocks noGrp="1"/>
          </p:cNvSpPr>
          <p:nvPr/>
        </p:nvSpPr>
        <p:spPr>
          <a:xfrm>
            <a:off x="809625" y="2447925"/>
            <a:ext cx="4619625"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53657C"/>
                </a:solidFill>
                <a:latin typeface="IBM Plex Sans Arabic"/>
                <a:ea typeface="IBM Plex Sans Arabic"/>
                <a:cs typeface="IBM Plex Sans Arabic"/>
              </a:defRPr>
            </a:pPr>
            <a:r>
              <a:rPr lang="ar-JO" sz="1800" b="1" kern="0" spc="0">
                <a:solidFill>
                  <a:srgbClr val="53657C"/>
                </a:solidFill>
                <a:latin typeface="IBM Plex Sans Arabic"/>
                <a:ea typeface="IBM Plex Sans Arabic"/>
                <a:cs typeface="IBM Plex Sans Arabic"/>
              </a:rPr>
              <a:t>ناجحًا في التوجيهي 2026</a:t>
            </a:r>
          </a:p>
        </p:txBody>
      </p:sp>
      <p:sp>
        <p:nvSpPr>
          <p:cNvPr id="20" name="Rectangle: Rounded Corners 19">
            <a:extLst>
              <a:ext uri="{FF2B5EF4-FFF2-40B4-BE49-F238E27FC236}">
                <a16:creationId xmlns:a16="http://schemas.microsoft.com/office/drawing/2014/main" id="{39CFF152-CBD1-48B5-A602-33ACC66F4FF2}"/>
              </a:ext>
            </a:extLst>
          </p:cNvPr>
          <p:cNvSpPr>
            <a:spLocks noGrp="1"/>
          </p:cNvSpPr>
          <p:nvPr/>
        </p:nvSpPr>
        <p:spPr>
          <a:xfrm>
            <a:off x="571500" y="3238500"/>
            <a:ext cx="5095875" cy="1600200"/>
          </a:xfrm>
          <a:prstGeom prst="roundRect">
            <a:avLst>
              <a:gd name="adj" fmla="val 4762"/>
            </a:avLst>
          </a:prstGeom>
          <a:solidFill>
            <a:srgbClr val="F3EAD7"/>
          </a:solidFill>
          <a:ln w="12383">
            <a:solidFill>
              <a:srgbClr val="DFC98F"/>
            </a:solidFill>
          </a:ln>
        </p:spPr>
      </p:sp>
      <p:sp>
        <p:nvSpPr>
          <p:cNvPr id="21" name="607">
            <a:extLst>
              <a:ext uri="{FF2B5EF4-FFF2-40B4-BE49-F238E27FC236}">
                <a16:creationId xmlns:a16="http://schemas.microsoft.com/office/drawing/2014/main" id="{A45A6021-5D88-4750-AE20-7BF684365033}"/>
              </a:ext>
            </a:extLst>
          </p:cNvPr>
          <p:cNvSpPr>
            <a:spLocks noGrp="1"/>
          </p:cNvSpPr>
          <p:nvPr/>
        </p:nvSpPr>
        <p:spPr>
          <a:xfrm>
            <a:off x="809625" y="3295650"/>
            <a:ext cx="4619625" cy="99060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250" b="1" kern="0" spc="0">
                <a:solidFill>
                  <a:srgbClr val="C8A04C"/>
                </a:solidFill>
                <a:latin typeface="IBM Plex Sans Arabic"/>
                <a:ea typeface="IBM Plex Sans Arabic"/>
                <a:cs typeface="IBM Plex Sans Arabic"/>
              </a:defRPr>
            </a:pPr>
            <a:r>
              <a:rPr lang="ar-JO" sz="5250" b="1" kern="0" spc="0">
                <a:solidFill>
                  <a:srgbClr val="C8A04C"/>
                </a:solidFill>
                <a:latin typeface="IBM Plex Sans Arabic"/>
                <a:ea typeface="IBM Plex Sans Arabic"/>
                <a:cs typeface="IBM Plex Sans Arabic"/>
              </a:rPr>
              <a:t>607</a:t>
            </a:r>
          </a:p>
        </p:txBody>
      </p:sp>
      <p:sp>
        <p:nvSpPr>
          <p:cNvPr id="22" name="عروض برامج بكالوريوس">
            <a:extLst>
              <a:ext uri="{FF2B5EF4-FFF2-40B4-BE49-F238E27FC236}">
                <a16:creationId xmlns:a16="http://schemas.microsoft.com/office/drawing/2014/main" id="{6F7C4C7E-E911-4267-8F6A-6EAE33E0E437}"/>
              </a:ext>
            </a:extLst>
          </p:cNvPr>
          <p:cNvSpPr>
            <a:spLocks noGrp="1"/>
          </p:cNvSpPr>
          <p:nvPr/>
        </p:nvSpPr>
        <p:spPr>
          <a:xfrm>
            <a:off x="809625" y="4171950"/>
            <a:ext cx="4619625"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013070"/>
                </a:solidFill>
                <a:latin typeface="IBM Plex Sans Arabic"/>
                <a:ea typeface="IBM Plex Sans Arabic"/>
                <a:cs typeface="IBM Plex Sans Arabic"/>
              </a:defRPr>
            </a:pPr>
            <a:r>
              <a:rPr lang="ar-JO" sz="1950" b="1" kern="0" spc="0">
                <a:solidFill>
                  <a:srgbClr val="013070"/>
                </a:solidFill>
                <a:latin typeface="IBM Plex Sans Arabic"/>
                <a:ea typeface="IBM Plex Sans Arabic"/>
                <a:cs typeface="IBM Plex Sans Arabic"/>
              </a:rPr>
              <a:t>عروض برامج بكالوريوس</a:t>
            </a:r>
          </a:p>
        </p:txBody>
      </p:sp>
      <p:sp>
        <p:nvSpPr>
          <p:cNvPr id="23" name="Rectangle: Rounded Corners 22">
            <a:extLst>
              <a:ext uri="{FF2B5EF4-FFF2-40B4-BE49-F238E27FC236}">
                <a16:creationId xmlns:a16="http://schemas.microsoft.com/office/drawing/2014/main" id="{86D1B184-EDA6-4D19-B950-EF2CC55E86C9}"/>
              </a:ext>
            </a:extLst>
          </p:cNvPr>
          <p:cNvSpPr>
            <a:spLocks noGrp="1"/>
          </p:cNvSpPr>
          <p:nvPr/>
        </p:nvSpPr>
        <p:spPr>
          <a:xfrm>
            <a:off x="666750" y="5105400"/>
            <a:ext cx="10810875" cy="666750"/>
          </a:xfrm>
          <a:prstGeom prst="roundRect">
            <a:avLst>
              <a:gd name="adj" fmla="val 11429"/>
            </a:avLst>
          </a:prstGeom>
          <a:solidFill>
            <a:srgbClr val="013070"/>
          </a:solidFill>
          <a:ln w="12383">
            <a:solidFill>
              <a:srgbClr val="013070"/>
            </a:solidFill>
          </a:ln>
        </p:spPr>
      </p:sp>
      <p:sp>
        <p:nvSpPr>
          <p:cNvPr id="24" name="المشكلة: القبول والرسوم والكلفة والسوق لا تجت">
            <a:extLst>
              <a:ext uri="{FF2B5EF4-FFF2-40B4-BE49-F238E27FC236}">
                <a16:creationId xmlns:a16="http://schemas.microsoft.com/office/drawing/2014/main" id="{49965832-0C57-43C0-A4D0-5EFEA75DC6BC}"/>
              </a:ext>
            </a:extLst>
          </p:cNvPr>
          <p:cNvSpPr>
            <a:spLocks noGrp="1"/>
          </p:cNvSpPr>
          <p:nvPr/>
        </p:nvSpPr>
        <p:spPr>
          <a:xfrm>
            <a:off x="876300" y="5200650"/>
            <a:ext cx="1039177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1" kern="0" spc="0">
                <a:solidFill>
                  <a:srgbClr val="FFFFFF"/>
                </a:solidFill>
                <a:latin typeface="IBM Plex Sans Arabic"/>
                <a:ea typeface="IBM Plex Sans Arabic"/>
                <a:cs typeface="IBM Plex Sans Arabic"/>
              </a:defRPr>
            </a:pPr>
            <a:r>
              <a:rPr lang="ar-JO" sz="1950" b="1" kern="0" spc="0">
                <a:solidFill>
                  <a:srgbClr val="FFFFFF"/>
                </a:solidFill>
                <a:latin typeface="IBM Plex Sans Arabic"/>
                <a:ea typeface="IBM Plex Sans Arabic"/>
                <a:cs typeface="IBM Plex Sans Arabic"/>
              </a:rPr>
              <a:t>المشكلة: القبول والرسوم والكلفة والسوق لا تجتمع حول الطالب في قرار واحد</a:t>
            </a:r>
          </a:p>
        </p:txBody>
      </p:sp>
      <p:sp>
        <p:nvSpPr>
          <p:cNvPr id="25" name="المصدر: وزارة التربية والتعليم • وحدة تنسيق ا">
            <a:extLst>
              <a:ext uri="{FF2B5EF4-FFF2-40B4-BE49-F238E27FC236}">
                <a16:creationId xmlns:a16="http://schemas.microsoft.com/office/drawing/2014/main" id="{72268B98-BCAC-4661-BE32-6F10809D5974}"/>
              </a:ext>
            </a:extLst>
          </p:cNvPr>
          <p:cNvSpPr>
            <a:spLocks noGrp="1"/>
          </p:cNvSpPr>
          <p:nvPr/>
        </p:nvSpPr>
        <p:spPr>
          <a:xfrm>
            <a:off x="762000" y="5966460"/>
            <a:ext cx="106680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المصدر: وزارة التربية والتعليم • وحدة تنسيق القبول الموحد، آب 2026</a:t>
            </a:r>
          </a:p>
        </p:txBody>
      </p:sp>
    </p:spTree>
    <p:extLst>
      <p:ext uri="{BB962C8B-B14F-4D97-AF65-F5344CB8AC3E}">
        <p14:creationId xmlns:p14="http://schemas.microsoft.com/office/powerpoint/2010/main" val="742681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الحل: من الاهتمام إلى قائمة قصيرة">
            <a:extLst>
              <a:ext uri="{FF2B5EF4-FFF2-40B4-BE49-F238E27FC236}">
                <a16:creationId xmlns:a16="http://schemas.microsoft.com/office/drawing/2014/main" id="{A5AA2FB6-50D5-405E-B795-3E0123B979E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الحل: من الاهتمام إلى قائمة قصيرة</a:t>
            </a:r>
          </a:p>
        </p:txBody>
      </p:sp>
      <p:sp>
        <p:nvSpPr>
          <p:cNvPr id="3" name="03">
            <a:extLst>
              <a:ext uri="{FF2B5EF4-FFF2-40B4-BE49-F238E27FC236}">
                <a16:creationId xmlns:a16="http://schemas.microsoft.com/office/drawing/2014/main" id="{64636424-C192-4EFB-B01B-88F9AA6F219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03</a:t>
            </a:r>
          </a:p>
        </p:txBody>
      </p:sp>
      <p:pic>
        <p:nvPicPr>
          <p:cNvPr id="18" name="Picture 17"/>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D672124A-F3BF-4F5C-B07D-93BDAE213355}"/>
              </a:ext>
            </a:extLst>
          </p:cNvPr>
          <p:cNvSpPr>
            <a:spLocks noGrp="1"/>
          </p:cNvSpPr>
          <p:nvPr/>
        </p:nvSpPr>
        <p:spPr>
          <a:xfrm>
            <a:off x="8382000" y="1381125"/>
            <a:ext cx="3095625" cy="381000"/>
          </a:xfrm>
          <a:prstGeom prst="roundRect">
            <a:avLst>
              <a:gd name="adj" fmla="val 20000"/>
            </a:avLst>
          </a:prstGeom>
          <a:solidFill>
            <a:srgbClr val="123D76"/>
          </a:solidFill>
          <a:ln w="12383">
            <a:solidFill>
              <a:srgbClr val="58749B"/>
            </a:solidFill>
          </a:ln>
        </p:spPr>
      </p:sp>
      <p:sp>
        <p:nvSpPr>
          <p:cNvPr id="6" name="نسخة عاملة  •  عربي + English">
            <a:extLst>
              <a:ext uri="{FF2B5EF4-FFF2-40B4-BE49-F238E27FC236}">
                <a16:creationId xmlns:a16="http://schemas.microsoft.com/office/drawing/2014/main" id="{08338A59-EE80-43BD-8BE7-59B55A3DDA69}"/>
              </a:ext>
            </a:extLst>
          </p:cNvPr>
          <p:cNvSpPr>
            <a:spLocks noGrp="1"/>
          </p:cNvSpPr>
          <p:nvPr/>
        </p:nvSpPr>
        <p:spPr>
          <a:xfrm>
            <a:off x="8477250" y="1408748"/>
            <a:ext cx="29051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نسخة عاملة  •  عربي + English</a:t>
            </a:r>
          </a:p>
        </p:txBody>
      </p:sp>
      <p:sp>
        <p:nvSpPr>
          <p:cNvPr id="7" name="1  اكتشف نقطة البداية">
            <a:extLst>
              <a:ext uri="{FF2B5EF4-FFF2-40B4-BE49-F238E27FC236}">
                <a16:creationId xmlns:a16="http://schemas.microsoft.com/office/drawing/2014/main" id="{7DFD8D1A-E9A7-4E83-B48D-338C1345CB63}"/>
              </a:ext>
            </a:extLst>
          </p:cNvPr>
          <p:cNvSpPr>
            <a:spLocks noGrp="1"/>
          </p:cNvSpPr>
          <p:nvPr/>
        </p:nvSpPr>
        <p:spPr>
          <a:xfrm>
            <a:off x="4524375" y="19526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1  اكتشف نقطة البداية</a:t>
            </a:r>
          </a:p>
        </p:txBody>
      </p:sp>
      <p:sp>
        <p:nvSpPr>
          <p:cNvPr id="8" name="أسئلة استكشاف ذاتي تبني قائمة أولية">
            <a:extLst>
              <a:ext uri="{FF2B5EF4-FFF2-40B4-BE49-F238E27FC236}">
                <a16:creationId xmlns:a16="http://schemas.microsoft.com/office/drawing/2014/main" id="{09E4A70D-3888-4CE2-AADE-DDECCE83BDBB}"/>
              </a:ext>
            </a:extLst>
          </p:cNvPr>
          <p:cNvSpPr>
            <a:spLocks noGrp="1"/>
          </p:cNvSpPr>
          <p:nvPr/>
        </p:nvSpPr>
        <p:spPr>
          <a:xfrm>
            <a:off x="4524375" y="25431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أسئلة استكشاف ذاتي تبني قائمة أولية</a:t>
            </a:r>
          </a:p>
        </p:txBody>
      </p:sp>
      <p:sp>
        <p:nvSpPr>
          <p:cNvPr id="9" name="2  قارن ما يهم القرار">
            <a:extLst>
              <a:ext uri="{FF2B5EF4-FFF2-40B4-BE49-F238E27FC236}">
                <a16:creationId xmlns:a16="http://schemas.microsoft.com/office/drawing/2014/main" id="{1D57D542-F526-4D5F-8E40-6B106F7243D8}"/>
              </a:ext>
            </a:extLst>
          </p:cNvPr>
          <p:cNvSpPr>
            <a:spLocks noGrp="1"/>
          </p:cNvSpPr>
          <p:nvPr/>
        </p:nvSpPr>
        <p:spPr>
          <a:xfrm>
            <a:off x="4524375" y="31718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2  قارن ما يهم القرار</a:t>
            </a:r>
          </a:p>
        </p:txBody>
      </p:sp>
      <p:sp>
        <p:nvSpPr>
          <p:cNvPr id="10" name="قبول ورسوم وكلفة وإشارات سوق في شاشة واحدة">
            <a:extLst>
              <a:ext uri="{FF2B5EF4-FFF2-40B4-BE49-F238E27FC236}">
                <a16:creationId xmlns:a16="http://schemas.microsoft.com/office/drawing/2014/main" id="{32FB900F-ECA0-4BC2-A0DB-E92B4FF8EC7F}"/>
              </a:ext>
            </a:extLst>
          </p:cNvPr>
          <p:cNvSpPr>
            <a:spLocks noGrp="1"/>
          </p:cNvSpPr>
          <p:nvPr/>
        </p:nvSpPr>
        <p:spPr>
          <a:xfrm>
            <a:off x="4524375" y="37623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قبول ورسوم وكلفة وإشارات سوق في شاشة واحدة</a:t>
            </a:r>
          </a:p>
        </p:txBody>
      </p:sp>
      <p:sp>
        <p:nvSpPr>
          <p:cNvPr id="11" name="3  احفظ قائمة مبرّرة">
            <a:extLst>
              <a:ext uri="{FF2B5EF4-FFF2-40B4-BE49-F238E27FC236}">
                <a16:creationId xmlns:a16="http://schemas.microsoft.com/office/drawing/2014/main" id="{6BCD2764-950C-492D-9C47-59F51003F97F}"/>
              </a:ext>
            </a:extLst>
          </p:cNvPr>
          <p:cNvSpPr>
            <a:spLocks noGrp="1"/>
          </p:cNvSpPr>
          <p:nvPr/>
        </p:nvSpPr>
        <p:spPr>
          <a:xfrm>
            <a:off x="4524375" y="4391025"/>
            <a:ext cx="6953250" cy="514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3  احفظ قائمة مبرّرة</a:t>
            </a:r>
          </a:p>
        </p:txBody>
      </p:sp>
      <p:sp>
        <p:nvSpPr>
          <p:cNvPr id="12" name="خيارات قصيرة وخطة كلفة ومصادر مؤرخة">
            <a:extLst>
              <a:ext uri="{FF2B5EF4-FFF2-40B4-BE49-F238E27FC236}">
                <a16:creationId xmlns:a16="http://schemas.microsoft.com/office/drawing/2014/main" id="{AB53C770-8B27-4384-A9B1-9BEF312F8C1E}"/>
              </a:ext>
            </a:extLst>
          </p:cNvPr>
          <p:cNvSpPr>
            <a:spLocks noGrp="1"/>
          </p:cNvSpPr>
          <p:nvPr/>
        </p:nvSpPr>
        <p:spPr>
          <a:xfrm>
            <a:off x="4524375" y="4981575"/>
            <a:ext cx="6953250" cy="6667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00" b="0" kern="0" spc="0">
                <a:solidFill>
                  <a:srgbClr val="D1DEED"/>
                </a:solidFill>
                <a:latin typeface="IBM Plex Sans Arabic"/>
                <a:ea typeface="IBM Plex Sans Arabic"/>
                <a:cs typeface="IBM Plex Sans Arabic"/>
              </a:defRPr>
            </a:pPr>
            <a:r>
              <a:rPr lang="ar-JO" sz="2100" b="0" kern="0" spc="0">
                <a:solidFill>
                  <a:srgbClr val="D1DEED"/>
                </a:solidFill>
                <a:latin typeface="IBM Plex Sans Arabic"/>
                <a:ea typeface="IBM Plex Sans Arabic"/>
                <a:cs typeface="IBM Plex Sans Arabic"/>
              </a:rPr>
              <a:t>خيارات قصيرة وخطة كلفة ومصادر مؤرخة</a:t>
            </a:r>
          </a:p>
        </p:txBody>
      </p:sp>
      <p:sp>
        <p:nvSpPr>
          <p:cNvPr id="13" name="Rectangle: Rounded Corners 12">
            <a:extLst>
              <a:ext uri="{FF2B5EF4-FFF2-40B4-BE49-F238E27FC236}">
                <a16:creationId xmlns:a16="http://schemas.microsoft.com/office/drawing/2014/main" id="{64167997-6230-45B3-8A61-AA276695DB9D}"/>
              </a:ext>
            </a:extLst>
          </p:cNvPr>
          <p:cNvSpPr>
            <a:spLocks noGrp="1"/>
          </p:cNvSpPr>
          <p:nvPr/>
        </p:nvSpPr>
        <p:spPr>
          <a:xfrm>
            <a:off x="4524375" y="5553075"/>
            <a:ext cx="6953250" cy="619125"/>
          </a:xfrm>
          <a:prstGeom prst="roundRect">
            <a:avLst>
              <a:gd name="adj" fmla="val 12308"/>
            </a:avLst>
          </a:prstGeom>
          <a:solidFill>
            <a:srgbClr val="F3EAD7"/>
          </a:solidFill>
          <a:ln w="12383">
            <a:solidFill>
              <a:srgbClr val="DFC98F"/>
            </a:solidFill>
          </a:ln>
        </p:spPr>
      </p:sp>
      <p:sp>
        <p:nvSpPr>
          <p:cNvPr id="14" name="المخرج: قرار يناقشه الطالب مع أسرته والمرشد">
            <a:extLst>
              <a:ext uri="{FF2B5EF4-FFF2-40B4-BE49-F238E27FC236}">
                <a16:creationId xmlns:a16="http://schemas.microsoft.com/office/drawing/2014/main" id="{BC9672E7-A211-4F44-8958-329136868B3C}"/>
              </a:ext>
            </a:extLst>
          </p:cNvPr>
          <p:cNvSpPr>
            <a:spLocks noGrp="1"/>
          </p:cNvSpPr>
          <p:nvPr/>
        </p:nvSpPr>
        <p:spPr>
          <a:xfrm>
            <a:off x="4714875" y="5619750"/>
            <a:ext cx="65722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المخرج: قرار يناقشه الطالب مع أسرته والمرشد</a:t>
            </a:r>
          </a:p>
        </p:txBody>
      </p:sp>
    </p:spTree>
    <p:extLst>
      <p:ext uri="{BB962C8B-B14F-4D97-AF65-F5344CB8AC3E}">
        <p14:creationId xmlns:p14="http://schemas.microsoft.com/office/powerpoint/2010/main" val="498234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8" name="Picture 17"/>
          <p:cNvPicPr>
            <a:picLocks noChangeAspect="1"/>
          </p:cNvPicPr>
          <p:nvPr/>
        </p:nvPicPr>
        <p:blipFill>
          <a:blip r:embed="rId3"/>
          <a:stretch/>
        </p:blipFill>
        <p:spPr>
          <a:xfrm>
            <a:off x="11125200" y="400050"/>
            <a:ext cx="552450" cy="552450"/>
          </a:xfrm>
          <a:prstGeom prst="rect">
            <a:avLst/>
          </a:prstGeom>
        </p:spPr>
      </p:pic>
      <p:sp>
        <p:nvSpPr>
          <p:cNvPr id="2" name="لحظة القرار: رقم ومعنى ومصدر">
            <a:extLst>
              <a:ext uri="{FF2B5EF4-FFF2-40B4-BE49-F238E27FC236}">
                <a16:creationId xmlns:a16="http://schemas.microsoft.com/office/drawing/2014/main" id="{DD6B86FA-5052-403A-A5C7-4F8FD2CD21D5}"/>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لحظة القرار: رقم ومعنى ومصدر</a:t>
            </a:r>
          </a:p>
        </p:txBody>
      </p:sp>
      <p:sp>
        <p:nvSpPr>
          <p:cNvPr id="3" name="04">
            <a:extLst>
              <a:ext uri="{FF2B5EF4-FFF2-40B4-BE49-F238E27FC236}">
                <a16:creationId xmlns:a16="http://schemas.microsoft.com/office/drawing/2014/main" id="{51D39558-47A3-42DB-9391-A52343B9705A}"/>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04</a:t>
            </a:r>
          </a:p>
        </p:txBody>
      </p:sp>
      <p:pic>
        <p:nvPicPr>
          <p:cNvPr id="21" name="Picture 20"/>
          <p:cNvPicPr>
            <a:picLocks noChangeAspect="1"/>
          </p:cNvPicPr>
          <p:nvPr/>
        </p:nvPicPr>
        <p:blipFill>
          <a:blip r:embed="rId4"/>
          <a:stretch/>
        </p:blipFill>
        <p:spPr>
          <a:xfrm>
            <a:off x="76200" y="57150"/>
            <a:ext cx="4178300" cy="6267450"/>
          </a:xfrm>
          <a:prstGeom prst="rect">
            <a:avLst/>
          </a:prstGeom>
        </p:spPr>
      </p:pic>
      <p:sp>
        <p:nvSpPr>
          <p:cNvPr id="5" name="مقارنة واحدة، ثلاثة أسئلة دقيقة">
            <a:extLst>
              <a:ext uri="{FF2B5EF4-FFF2-40B4-BE49-F238E27FC236}">
                <a16:creationId xmlns:a16="http://schemas.microsoft.com/office/drawing/2014/main" id="{7AB3D15C-7F2E-4505-B77C-0562AAFB9A84}"/>
              </a:ext>
            </a:extLst>
          </p:cNvPr>
          <p:cNvSpPr>
            <a:spLocks noGrp="1"/>
          </p:cNvSpPr>
          <p:nvPr/>
        </p:nvSpPr>
        <p:spPr>
          <a:xfrm>
            <a:off x="4429125" y="1523048"/>
            <a:ext cx="7048500" cy="49720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475" b="1" kern="0" spc="0">
                <a:solidFill>
                  <a:srgbClr val="013070"/>
                </a:solidFill>
                <a:latin typeface="IBM Plex Sans Arabic"/>
                <a:ea typeface="IBM Plex Sans Arabic"/>
                <a:cs typeface="IBM Plex Sans Arabic"/>
              </a:defRPr>
            </a:pPr>
            <a:r>
              <a:rPr lang="ar-JO" sz="2475" b="1" kern="0" spc="0">
                <a:solidFill>
                  <a:srgbClr val="013070"/>
                </a:solidFill>
                <a:latin typeface="IBM Plex Sans Arabic"/>
                <a:ea typeface="IBM Plex Sans Arabic"/>
                <a:cs typeface="IBM Plex Sans Arabic"/>
              </a:rPr>
              <a:t>مقارنة واحدة، ثلاثة أسئلة دقيقة</a:t>
            </a:r>
          </a:p>
        </p:txBody>
      </p:sp>
      <p:sp>
        <p:nvSpPr>
          <p:cNvPr id="6" name="Rectangle: Rounded Corners 5">
            <a:extLst>
              <a:ext uri="{FF2B5EF4-FFF2-40B4-BE49-F238E27FC236}">
                <a16:creationId xmlns:a16="http://schemas.microsoft.com/office/drawing/2014/main" id="{2204008A-A36A-48B9-9F7E-EDE3D5DFF3B7}"/>
              </a:ext>
            </a:extLst>
          </p:cNvPr>
          <p:cNvSpPr>
            <a:spLocks noGrp="1"/>
          </p:cNvSpPr>
          <p:nvPr/>
        </p:nvSpPr>
        <p:spPr>
          <a:xfrm>
            <a:off x="4524375" y="2200275"/>
            <a:ext cx="6953250" cy="781050"/>
          </a:xfrm>
          <a:prstGeom prst="roundRect">
            <a:avLst>
              <a:gd name="adj" fmla="val 9756"/>
            </a:avLst>
          </a:prstGeom>
          <a:solidFill>
            <a:srgbClr val="FFFFFF"/>
          </a:solidFill>
          <a:ln w="12383">
            <a:solidFill>
              <a:srgbClr val="D4DEE9"/>
            </a:solidFill>
          </a:ln>
        </p:spPr>
      </p:sp>
      <p:sp>
        <p:nvSpPr>
          <p:cNvPr id="7" name="شرط التقديم">
            <a:extLst>
              <a:ext uri="{FF2B5EF4-FFF2-40B4-BE49-F238E27FC236}">
                <a16:creationId xmlns:a16="http://schemas.microsoft.com/office/drawing/2014/main" id="{C959CC3E-C2DD-481B-ABCD-B48DB1CADCEA}"/>
              </a:ext>
            </a:extLst>
          </p:cNvPr>
          <p:cNvSpPr>
            <a:spLocks noGrp="1"/>
          </p:cNvSpPr>
          <p:nvPr/>
        </p:nvSpPr>
        <p:spPr>
          <a:xfrm>
            <a:off x="8629650" y="229552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شرط التقديم</a:t>
            </a:r>
          </a:p>
        </p:txBody>
      </p:sp>
      <p:sp>
        <p:nvSpPr>
          <p:cNvPr id="8" name="هل يحق لي التقديم؟">
            <a:extLst>
              <a:ext uri="{FF2B5EF4-FFF2-40B4-BE49-F238E27FC236}">
                <a16:creationId xmlns:a16="http://schemas.microsoft.com/office/drawing/2014/main" id="{78F85CF2-031F-49EE-9149-417CECFF37FF}"/>
              </a:ext>
            </a:extLst>
          </p:cNvPr>
          <p:cNvSpPr>
            <a:spLocks noGrp="1"/>
          </p:cNvSpPr>
          <p:nvPr/>
        </p:nvSpPr>
        <p:spPr>
          <a:xfrm>
            <a:off x="4762500" y="229552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هل يحق لي التقديم؟</a:t>
            </a:r>
          </a:p>
        </p:txBody>
      </p:sp>
      <p:sp>
        <p:nvSpPr>
          <p:cNvPr id="9" name="Rectangle: Rounded Corners 8">
            <a:extLst>
              <a:ext uri="{FF2B5EF4-FFF2-40B4-BE49-F238E27FC236}">
                <a16:creationId xmlns:a16="http://schemas.microsoft.com/office/drawing/2014/main" id="{6C2D6CA4-3C9A-479C-B9D7-F575F30D98F7}"/>
              </a:ext>
            </a:extLst>
          </p:cNvPr>
          <p:cNvSpPr>
            <a:spLocks noGrp="1"/>
          </p:cNvSpPr>
          <p:nvPr/>
        </p:nvSpPr>
        <p:spPr>
          <a:xfrm>
            <a:off x="4524375" y="3181350"/>
            <a:ext cx="6953250" cy="781050"/>
          </a:xfrm>
          <a:prstGeom prst="roundRect">
            <a:avLst>
              <a:gd name="adj" fmla="val 9756"/>
            </a:avLst>
          </a:prstGeom>
          <a:solidFill>
            <a:srgbClr val="F3EAD7"/>
          </a:solidFill>
          <a:ln w="12383">
            <a:solidFill>
              <a:srgbClr val="DFC98F"/>
            </a:solidFill>
          </a:ln>
        </p:spPr>
      </p:sp>
      <p:sp>
        <p:nvSpPr>
          <p:cNvPr id="10" name="حد تنافسي سابق">
            <a:extLst>
              <a:ext uri="{FF2B5EF4-FFF2-40B4-BE49-F238E27FC236}">
                <a16:creationId xmlns:a16="http://schemas.microsoft.com/office/drawing/2014/main" id="{48711F2C-4189-4D68-AFD5-98D817E5CF0A}"/>
              </a:ext>
            </a:extLst>
          </p:cNvPr>
          <p:cNvSpPr>
            <a:spLocks noGrp="1"/>
          </p:cNvSpPr>
          <p:nvPr/>
        </p:nvSpPr>
        <p:spPr>
          <a:xfrm>
            <a:off x="8629650" y="3276600"/>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حد تنافسي سابق</a:t>
            </a:r>
          </a:p>
        </p:txBody>
      </p:sp>
      <p:sp>
        <p:nvSpPr>
          <p:cNvPr id="11" name="مرجع تاريخي، وليس وعد قبول">
            <a:extLst>
              <a:ext uri="{FF2B5EF4-FFF2-40B4-BE49-F238E27FC236}">
                <a16:creationId xmlns:a16="http://schemas.microsoft.com/office/drawing/2014/main" id="{179F27A1-1AA6-4C5F-894F-50A1CB11E4C8}"/>
              </a:ext>
            </a:extLst>
          </p:cNvPr>
          <p:cNvSpPr>
            <a:spLocks noGrp="1"/>
          </p:cNvSpPr>
          <p:nvPr/>
        </p:nvSpPr>
        <p:spPr>
          <a:xfrm>
            <a:off x="4762500" y="3276600"/>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مرجع تاريخي، وليس وعد قبول</a:t>
            </a:r>
          </a:p>
        </p:txBody>
      </p:sp>
      <p:sp>
        <p:nvSpPr>
          <p:cNvPr id="12" name="Rectangle: Rounded Corners 11">
            <a:extLst>
              <a:ext uri="{FF2B5EF4-FFF2-40B4-BE49-F238E27FC236}">
                <a16:creationId xmlns:a16="http://schemas.microsoft.com/office/drawing/2014/main" id="{0B550FB3-6C05-49AC-A7D3-5F60BAAB6600}"/>
              </a:ext>
            </a:extLst>
          </p:cNvPr>
          <p:cNvSpPr>
            <a:spLocks noGrp="1"/>
          </p:cNvSpPr>
          <p:nvPr/>
        </p:nvSpPr>
        <p:spPr>
          <a:xfrm>
            <a:off x="4524375" y="4162425"/>
            <a:ext cx="6953250" cy="781050"/>
          </a:xfrm>
          <a:prstGeom prst="roundRect">
            <a:avLst>
              <a:gd name="adj" fmla="val 9756"/>
            </a:avLst>
          </a:prstGeom>
          <a:solidFill>
            <a:srgbClr val="FFFFFF"/>
          </a:solidFill>
          <a:ln w="12383">
            <a:solidFill>
              <a:srgbClr val="D4DEE9"/>
            </a:solidFill>
          </a:ln>
        </p:spPr>
      </p:sp>
      <p:sp>
        <p:nvSpPr>
          <p:cNvPr id="13" name="رسم رسمي">
            <a:extLst>
              <a:ext uri="{FF2B5EF4-FFF2-40B4-BE49-F238E27FC236}">
                <a16:creationId xmlns:a16="http://schemas.microsoft.com/office/drawing/2014/main" id="{337D9C7D-EFEC-47B9-8D72-947A418B3897}"/>
              </a:ext>
            </a:extLst>
          </p:cNvPr>
          <p:cNvSpPr>
            <a:spLocks noGrp="1"/>
          </p:cNvSpPr>
          <p:nvPr/>
        </p:nvSpPr>
        <p:spPr>
          <a:xfrm>
            <a:off x="8629650" y="4257675"/>
            <a:ext cx="2571750" cy="52387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رسم رسمي</a:t>
            </a:r>
          </a:p>
        </p:txBody>
      </p:sp>
      <p:sp>
        <p:nvSpPr>
          <p:cNvPr id="14" name="كم تدفع الأسرة؟ ومن أي سنة؟">
            <a:extLst>
              <a:ext uri="{FF2B5EF4-FFF2-40B4-BE49-F238E27FC236}">
                <a16:creationId xmlns:a16="http://schemas.microsoft.com/office/drawing/2014/main" id="{6E83787F-F17E-48DE-B5D8-1A0B4AD7FB82}"/>
              </a:ext>
            </a:extLst>
          </p:cNvPr>
          <p:cNvSpPr>
            <a:spLocks noGrp="1"/>
          </p:cNvSpPr>
          <p:nvPr/>
        </p:nvSpPr>
        <p:spPr>
          <a:xfrm>
            <a:off x="4762500" y="4257675"/>
            <a:ext cx="3695700" cy="52387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725" b="0" kern="0" spc="0">
                <a:solidFill>
                  <a:srgbClr val="53657C"/>
                </a:solidFill>
                <a:latin typeface="IBM Plex Sans Arabic"/>
                <a:ea typeface="IBM Plex Sans Arabic"/>
                <a:cs typeface="IBM Plex Sans Arabic"/>
              </a:defRPr>
            </a:pPr>
            <a:r>
              <a:rPr lang="ar-JO" sz="1725" b="0" kern="0" spc="0">
                <a:solidFill>
                  <a:srgbClr val="53657C"/>
                </a:solidFill>
                <a:latin typeface="IBM Plex Sans Arabic"/>
                <a:ea typeface="IBM Plex Sans Arabic"/>
                <a:cs typeface="IBM Plex Sans Arabic"/>
              </a:rPr>
              <a:t>كم تدفع الأسرة؟ ومن أي سنة؟</a:t>
            </a:r>
          </a:p>
        </p:txBody>
      </p:sp>
      <p:sp>
        <p:nvSpPr>
          <p:cNvPr id="15" name="Rectangle: Rounded Corners 14">
            <a:extLst>
              <a:ext uri="{FF2B5EF4-FFF2-40B4-BE49-F238E27FC236}">
                <a16:creationId xmlns:a16="http://schemas.microsoft.com/office/drawing/2014/main" id="{2AE6383E-2C67-4C9D-B90F-D21A59D52B31}"/>
              </a:ext>
            </a:extLst>
          </p:cNvPr>
          <p:cNvSpPr>
            <a:spLocks noGrp="1"/>
          </p:cNvSpPr>
          <p:nvPr/>
        </p:nvSpPr>
        <p:spPr>
          <a:xfrm>
            <a:off x="4524375" y="5305425"/>
            <a:ext cx="6953250" cy="638175"/>
          </a:xfrm>
          <a:prstGeom prst="roundRect">
            <a:avLst>
              <a:gd name="adj" fmla="val 11940"/>
            </a:avLst>
          </a:prstGeom>
          <a:solidFill>
            <a:srgbClr val="013070"/>
          </a:solidFill>
          <a:ln w="12383">
            <a:solidFill>
              <a:srgbClr val="013070"/>
            </a:solidFill>
          </a:ln>
        </p:spPr>
      </p:sp>
      <p:sp>
        <p:nvSpPr>
          <p:cNvPr id="16" name="قائمة قصيرة يمكن تفسيرها والدفاع عنها">
            <a:extLst>
              <a:ext uri="{FF2B5EF4-FFF2-40B4-BE49-F238E27FC236}">
                <a16:creationId xmlns:a16="http://schemas.microsoft.com/office/drawing/2014/main" id="{6A87653C-CAD4-412E-87BF-5E7A5E72DCE0}"/>
              </a:ext>
            </a:extLst>
          </p:cNvPr>
          <p:cNvSpPr>
            <a:spLocks noGrp="1"/>
          </p:cNvSpPr>
          <p:nvPr/>
        </p:nvSpPr>
        <p:spPr>
          <a:xfrm>
            <a:off x="4762500" y="5381625"/>
            <a:ext cx="6477000"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قائمة قصيرة يمكن تفسيرها والدفاع عنها</a:t>
            </a:r>
          </a:p>
        </p:txBody>
      </p:sp>
      <p:sp>
        <p:nvSpPr>
          <p:cNvPr id="17" name="دليل 2026/2027 • الحدود السابقة معروضة بسنتها">
            <a:extLst>
              <a:ext uri="{FF2B5EF4-FFF2-40B4-BE49-F238E27FC236}">
                <a16:creationId xmlns:a16="http://schemas.microsoft.com/office/drawing/2014/main" id="{9EFF6C60-91DB-46E1-9277-4B847340DD48}"/>
              </a:ext>
            </a:extLst>
          </p:cNvPr>
          <p:cNvSpPr>
            <a:spLocks noGrp="1"/>
          </p:cNvSpPr>
          <p:nvPr/>
        </p:nvSpPr>
        <p:spPr>
          <a:xfrm>
            <a:off x="4524375" y="6033135"/>
            <a:ext cx="69532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دليل 2026/2027 • الحدود السابقة معروضة بسنتها • تحقق 10 أيلول 2026</a:t>
            </a:r>
          </a:p>
        </p:txBody>
      </p:sp>
    </p:spTree>
    <p:extLst>
      <p:ext uri="{BB962C8B-B14F-4D97-AF65-F5344CB8AC3E}">
        <p14:creationId xmlns:p14="http://schemas.microsoft.com/office/powerpoint/2010/main" val="1110733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p:blipFill>
        <p:spPr>
          <a:xfrm>
            <a:off x="11125200" y="400050"/>
            <a:ext cx="552450" cy="552450"/>
          </a:xfrm>
          <a:prstGeom prst="rect">
            <a:avLst/>
          </a:prstGeom>
        </p:spPr>
      </p:pic>
      <p:sp>
        <p:nvSpPr>
          <p:cNvPr id="2" name="لحظة القرار: كلفة تناقشها الأسرة">
            <a:extLst>
              <a:ext uri="{FF2B5EF4-FFF2-40B4-BE49-F238E27FC236}">
                <a16:creationId xmlns:a16="http://schemas.microsoft.com/office/drawing/2014/main" id="{1B9DE9C8-C69E-4BD7-9DF7-1FA2F0DAC63F}"/>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لحظة القرار: كلفة تناقشها الأسرة</a:t>
            </a:r>
          </a:p>
        </p:txBody>
      </p:sp>
      <p:sp>
        <p:nvSpPr>
          <p:cNvPr id="3" name="05">
            <a:extLst>
              <a:ext uri="{FF2B5EF4-FFF2-40B4-BE49-F238E27FC236}">
                <a16:creationId xmlns:a16="http://schemas.microsoft.com/office/drawing/2014/main" id="{0135BC8C-9DE8-4126-9851-4F274E4BF1DB}"/>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05</a:t>
            </a:r>
          </a:p>
        </p:txBody>
      </p:sp>
      <p:pic>
        <p:nvPicPr>
          <p:cNvPr id="19" name="Picture 18"/>
          <p:cNvPicPr>
            <a:picLocks noChangeAspect="1"/>
          </p:cNvPicPr>
          <p:nvPr/>
        </p:nvPicPr>
        <p:blipFill>
          <a:blip r:embed="rId4"/>
          <a:stretch/>
        </p:blipFill>
        <p:spPr>
          <a:xfrm>
            <a:off x="76200" y="57150"/>
            <a:ext cx="4178300" cy="6267450"/>
          </a:xfrm>
          <a:prstGeom prst="rect">
            <a:avLst/>
          </a:prstGeom>
        </p:spPr>
      </p:pic>
      <p:sp>
        <p:nvSpPr>
          <p:cNvPr id="5" name="Rectangle: Rounded Corners 4">
            <a:extLst>
              <a:ext uri="{FF2B5EF4-FFF2-40B4-BE49-F238E27FC236}">
                <a16:creationId xmlns:a16="http://schemas.microsoft.com/office/drawing/2014/main" id="{8F1A2EC8-D0B0-4070-97E1-74876922952F}"/>
              </a:ext>
            </a:extLst>
          </p:cNvPr>
          <p:cNvSpPr>
            <a:spLocks noGrp="1"/>
          </p:cNvSpPr>
          <p:nvPr/>
        </p:nvSpPr>
        <p:spPr>
          <a:xfrm>
            <a:off x="9448800" y="1457325"/>
            <a:ext cx="2028825" cy="381000"/>
          </a:xfrm>
          <a:prstGeom prst="roundRect">
            <a:avLst>
              <a:gd name="adj" fmla="val 20000"/>
            </a:avLst>
          </a:prstGeom>
          <a:solidFill>
            <a:srgbClr val="123D76"/>
          </a:solidFill>
          <a:ln w="12383">
            <a:solidFill>
              <a:srgbClr val="58749B"/>
            </a:solidFill>
          </a:ln>
        </p:spPr>
      </p:sp>
      <p:sp>
        <p:nvSpPr>
          <p:cNvPr id="6" name="مثال قابل للتعديل">
            <a:extLst>
              <a:ext uri="{FF2B5EF4-FFF2-40B4-BE49-F238E27FC236}">
                <a16:creationId xmlns:a16="http://schemas.microsoft.com/office/drawing/2014/main" id="{EFCFE4A4-DEBD-436D-8134-52BD04701543}"/>
              </a:ext>
            </a:extLst>
          </p:cNvPr>
          <p:cNvSpPr>
            <a:spLocks noGrp="1"/>
          </p:cNvSpPr>
          <p:nvPr/>
        </p:nvSpPr>
        <p:spPr>
          <a:xfrm>
            <a:off x="9544050" y="1484948"/>
            <a:ext cx="1838325"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مثال قابل للتعديل</a:t>
            </a:r>
          </a:p>
        </p:txBody>
      </p:sp>
      <p:sp>
        <p:nvSpPr>
          <p:cNvPr id="7" name="3,051">
            <a:extLst>
              <a:ext uri="{FF2B5EF4-FFF2-40B4-BE49-F238E27FC236}">
                <a16:creationId xmlns:a16="http://schemas.microsoft.com/office/drawing/2014/main" id="{04A33F5A-DC5D-434C-87E1-0209530BE64C}"/>
              </a:ext>
            </a:extLst>
          </p:cNvPr>
          <p:cNvSpPr>
            <a:spLocks noGrp="1"/>
          </p:cNvSpPr>
          <p:nvPr/>
        </p:nvSpPr>
        <p:spPr>
          <a:xfrm>
            <a:off x="4524375" y="1765935"/>
            <a:ext cx="6953250" cy="1230630"/>
          </a:xfrm>
          <a:prstGeom prst="rect">
            <a:avLst/>
          </a:prstGeom>
          <a:noFill/>
          <a:ln w="0">
            <a:noFill/>
          </a:ln>
        </p:spPr>
        <p:txBody>
          <a:bodyPr wrap="square" lIns="38100" tIns="28575" rIns="38100" bIns="28575" anchor="ctr">
            <a:noAutofit/>
          </a:bodyPr>
          <a:lstStyle/>
          <a:p>
            <a:pPr algn="r" rtl="0">
              <a:lnSpc>
                <a:spcPct val="116000"/>
              </a:lnSpc>
              <a:spcBef>
                <a:spcPts val="0"/>
              </a:spcBef>
              <a:spcAft>
                <a:spcPts val="0"/>
              </a:spcAft>
              <a:buNone/>
              <a:defRPr lang="ar-JO" sz="6600" b="1" kern="0" spc="0">
                <a:solidFill>
                  <a:srgbClr val="FFFFFF"/>
                </a:solidFill>
                <a:latin typeface="IBM Plex Sans Arabic"/>
                <a:ea typeface="IBM Plex Sans Arabic"/>
                <a:cs typeface="IBM Plex Sans Arabic"/>
              </a:defRPr>
            </a:pPr>
            <a:r>
              <a:rPr lang="ar-JO" sz="6600" b="1" kern="0" spc="0">
                <a:solidFill>
                  <a:srgbClr val="FFFFFF"/>
                </a:solidFill>
                <a:latin typeface="IBM Plex Sans Arabic"/>
                <a:ea typeface="IBM Plex Sans Arabic"/>
                <a:cs typeface="IBM Plex Sans Arabic"/>
              </a:rPr>
              <a:t>3,051</a:t>
            </a:r>
          </a:p>
        </p:txBody>
      </p:sp>
      <p:sp>
        <p:nvSpPr>
          <p:cNvPr id="8" name="دينارًا سنويًا في هذا المثال">
            <a:extLst>
              <a:ext uri="{FF2B5EF4-FFF2-40B4-BE49-F238E27FC236}">
                <a16:creationId xmlns:a16="http://schemas.microsoft.com/office/drawing/2014/main" id="{233429B4-BBFA-40A5-B926-B9379C9ADB9C}"/>
              </a:ext>
            </a:extLst>
          </p:cNvPr>
          <p:cNvSpPr>
            <a:spLocks noGrp="1"/>
          </p:cNvSpPr>
          <p:nvPr/>
        </p:nvSpPr>
        <p:spPr>
          <a:xfrm>
            <a:off x="4429125" y="2889885"/>
            <a:ext cx="7048500" cy="56388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850" b="1" kern="0" spc="0">
                <a:solidFill>
                  <a:srgbClr val="C8A04C"/>
                </a:solidFill>
                <a:latin typeface="IBM Plex Sans Arabic"/>
                <a:ea typeface="IBM Plex Sans Arabic"/>
                <a:cs typeface="IBM Plex Sans Arabic"/>
              </a:defRPr>
            </a:pPr>
            <a:r>
              <a:rPr lang="ar-JO" sz="2850" b="1" kern="0" spc="0">
                <a:solidFill>
                  <a:srgbClr val="C8A04C"/>
                </a:solidFill>
                <a:latin typeface="IBM Plex Sans Arabic"/>
                <a:ea typeface="IBM Plex Sans Arabic"/>
                <a:cs typeface="IBM Plex Sans Arabic"/>
              </a:rPr>
              <a:t>دينارًا سنويًا في هذا المثال</a:t>
            </a:r>
          </a:p>
        </p:txBody>
      </p:sp>
      <p:sp>
        <p:nvSpPr>
          <p:cNvPr id="9" name="Rectangle: Rounded Corners 8">
            <a:extLst>
              <a:ext uri="{FF2B5EF4-FFF2-40B4-BE49-F238E27FC236}">
                <a16:creationId xmlns:a16="http://schemas.microsoft.com/office/drawing/2014/main" id="{955A24FC-19E3-4F75-9E66-CDF94801D7B6}"/>
              </a:ext>
            </a:extLst>
          </p:cNvPr>
          <p:cNvSpPr>
            <a:spLocks noGrp="1"/>
          </p:cNvSpPr>
          <p:nvPr/>
        </p:nvSpPr>
        <p:spPr>
          <a:xfrm>
            <a:off x="4524375" y="3667125"/>
            <a:ext cx="6953250" cy="1028700"/>
          </a:xfrm>
          <a:prstGeom prst="roundRect">
            <a:avLst>
              <a:gd name="adj" fmla="val 7407"/>
            </a:avLst>
          </a:prstGeom>
          <a:solidFill>
            <a:srgbClr val="123D76"/>
          </a:solidFill>
          <a:ln w="12383">
            <a:solidFill>
              <a:srgbClr val="58749B"/>
            </a:solidFill>
          </a:ln>
        </p:spPr>
      </p:sp>
      <p:sp>
        <p:nvSpPr>
          <p:cNvPr id="10" name="47 د.أ للساعة">
            <a:extLst>
              <a:ext uri="{FF2B5EF4-FFF2-40B4-BE49-F238E27FC236}">
                <a16:creationId xmlns:a16="http://schemas.microsoft.com/office/drawing/2014/main" id="{E803BB36-D70B-485A-9047-63AA94A084FB}"/>
              </a:ext>
            </a:extLst>
          </p:cNvPr>
          <p:cNvSpPr>
            <a:spLocks noGrp="1"/>
          </p:cNvSpPr>
          <p:nvPr/>
        </p:nvSpPr>
        <p:spPr>
          <a:xfrm>
            <a:off x="8096250" y="3764280"/>
            <a:ext cx="3095625" cy="44386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175" b="1" kern="0" spc="0">
                <a:solidFill>
                  <a:srgbClr val="FFFFFF"/>
                </a:solidFill>
                <a:latin typeface="IBM Plex Sans Arabic"/>
                <a:ea typeface="IBM Plex Sans Arabic"/>
                <a:cs typeface="IBM Plex Sans Arabic"/>
              </a:defRPr>
            </a:pPr>
            <a:r>
              <a:rPr lang="ar-JO" sz="2175" b="1" kern="0" spc="0">
                <a:solidFill>
                  <a:srgbClr val="FFFFFF"/>
                </a:solidFill>
                <a:latin typeface="IBM Plex Sans Arabic"/>
                <a:ea typeface="IBM Plex Sans Arabic"/>
                <a:cs typeface="IBM Plex Sans Arabic"/>
              </a:rPr>
              <a:t>47 د.أ للساعة</a:t>
            </a:r>
          </a:p>
        </p:txBody>
      </p:sp>
      <p:sp>
        <p:nvSpPr>
          <p:cNvPr id="11" name="رقم رسمي">
            <a:extLst>
              <a:ext uri="{FF2B5EF4-FFF2-40B4-BE49-F238E27FC236}">
                <a16:creationId xmlns:a16="http://schemas.microsoft.com/office/drawing/2014/main" id="{057D9201-9EB1-463D-B773-BDE218AFB607}"/>
              </a:ext>
            </a:extLst>
          </p:cNvPr>
          <p:cNvSpPr>
            <a:spLocks noGrp="1"/>
          </p:cNvSpPr>
          <p:nvPr/>
        </p:nvSpPr>
        <p:spPr>
          <a:xfrm>
            <a:off x="8096250" y="4192905"/>
            <a:ext cx="3095625" cy="31051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رقم رسمي</a:t>
            </a:r>
          </a:p>
        </p:txBody>
      </p:sp>
      <p:sp>
        <p:nvSpPr>
          <p:cNvPr id="12" name="الساعات والمعيشة">
            <a:extLst>
              <a:ext uri="{FF2B5EF4-FFF2-40B4-BE49-F238E27FC236}">
                <a16:creationId xmlns:a16="http://schemas.microsoft.com/office/drawing/2014/main" id="{F095880B-D614-408C-84E2-774173536DE4}"/>
              </a:ext>
            </a:extLst>
          </p:cNvPr>
          <p:cNvSpPr>
            <a:spLocks noGrp="1"/>
          </p:cNvSpPr>
          <p:nvPr/>
        </p:nvSpPr>
        <p:spPr>
          <a:xfrm>
            <a:off x="4762500" y="3777615"/>
            <a:ext cx="3095625" cy="41719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الساعات والمعيشة</a:t>
            </a:r>
          </a:p>
        </p:txBody>
      </p:sp>
      <p:sp>
        <p:nvSpPr>
          <p:cNvPr id="13" name="افتراضات الأسرة">
            <a:extLst>
              <a:ext uri="{FF2B5EF4-FFF2-40B4-BE49-F238E27FC236}">
                <a16:creationId xmlns:a16="http://schemas.microsoft.com/office/drawing/2014/main" id="{FB5CD259-2D10-460D-959F-7743D5ABF4F0}"/>
              </a:ext>
            </a:extLst>
          </p:cNvPr>
          <p:cNvSpPr>
            <a:spLocks noGrp="1"/>
          </p:cNvSpPr>
          <p:nvPr/>
        </p:nvSpPr>
        <p:spPr>
          <a:xfrm>
            <a:off x="4762500" y="4192905"/>
            <a:ext cx="3095625" cy="310515"/>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افتراضات الأسرة</a:t>
            </a:r>
          </a:p>
        </p:txBody>
      </p:sp>
      <p:sp>
        <p:nvSpPr>
          <p:cNvPr id="14" name="تغيير الميزانية يغيّر فجوة التمويل فورًا">
            <a:extLst>
              <a:ext uri="{FF2B5EF4-FFF2-40B4-BE49-F238E27FC236}">
                <a16:creationId xmlns:a16="http://schemas.microsoft.com/office/drawing/2014/main" id="{FC6F4A98-576E-4357-BB74-D7417D5E7BA3}"/>
              </a:ext>
            </a:extLst>
          </p:cNvPr>
          <p:cNvSpPr>
            <a:spLocks noGrp="1"/>
          </p:cNvSpPr>
          <p:nvPr/>
        </p:nvSpPr>
        <p:spPr>
          <a:xfrm>
            <a:off x="4429125" y="5010150"/>
            <a:ext cx="7048500" cy="5429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550" b="1" kern="0" spc="0">
                <a:solidFill>
                  <a:srgbClr val="C8A04C"/>
                </a:solidFill>
                <a:latin typeface="IBM Plex Sans Arabic"/>
                <a:ea typeface="IBM Plex Sans Arabic"/>
                <a:cs typeface="IBM Plex Sans Arabic"/>
              </a:defRPr>
            </a:pPr>
            <a:r>
              <a:rPr lang="ar-JO" sz="2550" b="1" kern="0" spc="0">
                <a:solidFill>
                  <a:srgbClr val="C8A04C"/>
                </a:solidFill>
                <a:latin typeface="IBM Plex Sans Arabic"/>
                <a:ea typeface="IBM Plex Sans Arabic"/>
                <a:cs typeface="IBM Plex Sans Arabic"/>
              </a:rPr>
              <a:t>تغيير الميزانية يغيّر فجوة التمويل فورًا</a:t>
            </a:r>
          </a:p>
        </p:txBody>
      </p:sp>
      <p:sp>
        <p:nvSpPr>
          <p:cNvPr id="15" name="مثال علم الحاسوب، الجامعة الأردنية • لا توقع ">
            <a:extLst>
              <a:ext uri="{FF2B5EF4-FFF2-40B4-BE49-F238E27FC236}">
                <a16:creationId xmlns:a16="http://schemas.microsoft.com/office/drawing/2014/main" id="{F042B480-6CD7-4DA9-B16E-A936926ED3CC}"/>
              </a:ext>
            </a:extLst>
          </p:cNvPr>
          <p:cNvSpPr>
            <a:spLocks noGrp="1"/>
          </p:cNvSpPr>
          <p:nvPr/>
        </p:nvSpPr>
        <p:spPr>
          <a:xfrm>
            <a:off x="4429125" y="5938838"/>
            <a:ext cx="7048500" cy="323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500" b="0" kern="0" spc="0">
                <a:solidFill>
                  <a:srgbClr val="D1DEED"/>
                </a:solidFill>
                <a:latin typeface="IBM Plex Sans Arabic"/>
                <a:ea typeface="IBM Plex Sans Arabic"/>
                <a:cs typeface="IBM Plex Sans Arabic"/>
              </a:defRPr>
            </a:pPr>
            <a:r>
              <a:rPr lang="ar-JO" sz="1500" b="0" kern="0" spc="0">
                <a:solidFill>
                  <a:srgbClr val="D1DEED"/>
                </a:solidFill>
                <a:latin typeface="IBM Plex Sans Arabic"/>
                <a:ea typeface="IBM Plex Sans Arabic"/>
                <a:cs typeface="IBM Plex Sans Arabic"/>
              </a:rPr>
              <a:t>مثال علم الحاسوب، الجامعة الأردنية • لا توقع دخل أو عائد مضمون</a:t>
            </a:r>
          </a:p>
        </p:txBody>
      </p:sp>
    </p:spTree>
    <p:extLst>
      <p:ext uri="{BB962C8B-B14F-4D97-AF65-F5344CB8AC3E}">
        <p14:creationId xmlns:p14="http://schemas.microsoft.com/office/powerpoint/2010/main" val="13732198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لماذا لا تكفي المصادر وحدها؟">
            <a:extLst>
              <a:ext uri="{FF2B5EF4-FFF2-40B4-BE49-F238E27FC236}">
                <a16:creationId xmlns:a16="http://schemas.microsoft.com/office/drawing/2014/main" id="{60309922-D260-4F08-B088-90C3F90AB97B}"/>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لماذا لا تكفي المصادر وحدها؟</a:t>
            </a:r>
          </a:p>
        </p:txBody>
      </p:sp>
      <p:sp>
        <p:nvSpPr>
          <p:cNvPr id="3" name="06">
            <a:extLst>
              <a:ext uri="{FF2B5EF4-FFF2-40B4-BE49-F238E27FC236}">
                <a16:creationId xmlns:a16="http://schemas.microsoft.com/office/drawing/2014/main" id="{1B94AB66-4561-4FAF-A481-0CF01AF49E6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06</a:t>
            </a:r>
          </a:p>
        </p:txBody>
      </p:sp>
      <p:sp>
        <p:nvSpPr>
          <p:cNvPr id="4" name="Rectangle: Rounded Corners 3">
            <a:extLst>
              <a:ext uri="{FF2B5EF4-FFF2-40B4-BE49-F238E27FC236}">
                <a16:creationId xmlns:a16="http://schemas.microsoft.com/office/drawing/2014/main" id="{8207FA7A-9181-447D-AB8D-9EA3FFC7CBED}"/>
              </a:ext>
            </a:extLst>
          </p:cNvPr>
          <p:cNvSpPr>
            <a:spLocks noGrp="1"/>
          </p:cNvSpPr>
          <p:nvPr/>
        </p:nvSpPr>
        <p:spPr>
          <a:xfrm>
            <a:off x="8143875" y="1695450"/>
            <a:ext cx="3333750" cy="1352550"/>
          </a:xfrm>
          <a:prstGeom prst="roundRect">
            <a:avLst>
              <a:gd name="adj" fmla="val 5634"/>
            </a:avLst>
          </a:prstGeom>
          <a:solidFill>
            <a:srgbClr val="FFFFFF"/>
          </a:solidFill>
          <a:ln w="12383">
            <a:solidFill>
              <a:srgbClr val="D4DEE9"/>
            </a:solidFill>
          </a:ln>
        </p:spPr>
      </p:sp>
      <p:sp>
        <p:nvSpPr>
          <p:cNvPr id="5" name="القبول الموحد">
            <a:extLst>
              <a:ext uri="{FF2B5EF4-FFF2-40B4-BE49-F238E27FC236}">
                <a16:creationId xmlns:a16="http://schemas.microsoft.com/office/drawing/2014/main" id="{9AB8D12A-276C-4F87-83E1-3799BA0784B0}"/>
              </a:ext>
            </a:extLst>
          </p:cNvPr>
          <p:cNvSpPr>
            <a:spLocks noGrp="1"/>
          </p:cNvSpPr>
          <p:nvPr/>
        </p:nvSpPr>
        <p:spPr>
          <a:xfrm>
            <a:off x="833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القبول الموحد</a:t>
            </a:r>
          </a:p>
        </p:txBody>
      </p:sp>
      <p:sp>
        <p:nvSpPr>
          <p:cNvPr id="6" name="برامج وشروط&#10;بلا ميزانية أسرة">
            <a:extLst>
              <a:ext uri="{FF2B5EF4-FFF2-40B4-BE49-F238E27FC236}">
                <a16:creationId xmlns:a16="http://schemas.microsoft.com/office/drawing/2014/main" id="{705F3C55-10BE-4312-B038-7F4AAC2F637A}"/>
              </a:ext>
            </a:extLst>
          </p:cNvPr>
          <p:cNvSpPr>
            <a:spLocks noGrp="1"/>
          </p:cNvSpPr>
          <p:nvPr/>
        </p:nvSpPr>
        <p:spPr>
          <a:xfrm>
            <a:off x="835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برامج وشروط</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ميزانية أسرة</a:t>
            </a:r>
          </a:p>
        </p:txBody>
      </p:sp>
      <p:sp>
        <p:nvSpPr>
          <p:cNvPr id="7" name="↓">
            <a:extLst>
              <a:ext uri="{FF2B5EF4-FFF2-40B4-BE49-F238E27FC236}">
                <a16:creationId xmlns:a16="http://schemas.microsoft.com/office/drawing/2014/main" id="{D1589EA5-53B0-40D2-84FF-8005E4C41443}"/>
              </a:ext>
            </a:extLst>
          </p:cNvPr>
          <p:cNvSpPr>
            <a:spLocks noGrp="1"/>
          </p:cNvSpPr>
          <p:nvPr/>
        </p:nvSpPr>
        <p:spPr>
          <a:xfrm>
            <a:off x="950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8" name="Rectangle: Rounded Corners 7">
            <a:extLst>
              <a:ext uri="{FF2B5EF4-FFF2-40B4-BE49-F238E27FC236}">
                <a16:creationId xmlns:a16="http://schemas.microsoft.com/office/drawing/2014/main" id="{CA4E5467-F425-40DC-AF02-3FB777E3044F}"/>
              </a:ext>
            </a:extLst>
          </p:cNvPr>
          <p:cNvSpPr>
            <a:spLocks noGrp="1"/>
          </p:cNvSpPr>
          <p:nvPr/>
        </p:nvSpPr>
        <p:spPr>
          <a:xfrm>
            <a:off x="4333875" y="1695450"/>
            <a:ext cx="3333750" cy="1352550"/>
          </a:xfrm>
          <a:prstGeom prst="roundRect">
            <a:avLst>
              <a:gd name="adj" fmla="val 5634"/>
            </a:avLst>
          </a:prstGeom>
          <a:solidFill>
            <a:srgbClr val="FFFFFF"/>
          </a:solidFill>
          <a:ln w="12383">
            <a:solidFill>
              <a:srgbClr val="D4DEE9"/>
            </a:solidFill>
          </a:ln>
        </p:spPr>
      </p:sp>
      <p:sp>
        <p:nvSpPr>
          <p:cNvPr id="9" name="مواقع الجامعات">
            <a:extLst>
              <a:ext uri="{FF2B5EF4-FFF2-40B4-BE49-F238E27FC236}">
                <a16:creationId xmlns:a16="http://schemas.microsoft.com/office/drawing/2014/main" id="{7E88BDEC-05D7-468A-998E-ED8983489AF4}"/>
              </a:ext>
            </a:extLst>
          </p:cNvPr>
          <p:cNvSpPr>
            <a:spLocks noGrp="1"/>
          </p:cNvSpPr>
          <p:nvPr/>
        </p:nvSpPr>
        <p:spPr>
          <a:xfrm>
            <a:off x="452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مواقع الجامعات</a:t>
            </a:r>
          </a:p>
        </p:txBody>
      </p:sp>
      <p:sp>
        <p:nvSpPr>
          <p:cNvPr id="10" name="رسوم منفصلة&#10;بلا مقارنة موحّدة">
            <a:extLst>
              <a:ext uri="{FF2B5EF4-FFF2-40B4-BE49-F238E27FC236}">
                <a16:creationId xmlns:a16="http://schemas.microsoft.com/office/drawing/2014/main" id="{76494481-A551-4BA4-A130-59A45458DC4E}"/>
              </a:ext>
            </a:extLst>
          </p:cNvPr>
          <p:cNvSpPr>
            <a:spLocks noGrp="1"/>
          </p:cNvSpPr>
          <p:nvPr/>
        </p:nvSpPr>
        <p:spPr>
          <a:xfrm>
            <a:off x="454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رسوم منفصلة</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مقارنة موحّدة</a:t>
            </a:r>
          </a:p>
        </p:txBody>
      </p:sp>
      <p:sp>
        <p:nvSpPr>
          <p:cNvPr id="11" name="↓">
            <a:extLst>
              <a:ext uri="{FF2B5EF4-FFF2-40B4-BE49-F238E27FC236}">
                <a16:creationId xmlns:a16="http://schemas.microsoft.com/office/drawing/2014/main" id="{8BC64E06-28CD-4FD5-97EF-15E83A258DC8}"/>
              </a:ext>
            </a:extLst>
          </p:cNvPr>
          <p:cNvSpPr>
            <a:spLocks noGrp="1"/>
          </p:cNvSpPr>
          <p:nvPr/>
        </p:nvSpPr>
        <p:spPr>
          <a:xfrm>
            <a:off x="569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2" name="Rectangle: Rounded Corners 11">
            <a:extLst>
              <a:ext uri="{FF2B5EF4-FFF2-40B4-BE49-F238E27FC236}">
                <a16:creationId xmlns:a16="http://schemas.microsoft.com/office/drawing/2014/main" id="{657CC763-9AAC-4C5C-A6F4-A212B1372272}"/>
              </a:ext>
            </a:extLst>
          </p:cNvPr>
          <p:cNvSpPr>
            <a:spLocks noGrp="1"/>
          </p:cNvSpPr>
          <p:nvPr/>
        </p:nvSpPr>
        <p:spPr>
          <a:xfrm>
            <a:off x="523875" y="1695450"/>
            <a:ext cx="3333750" cy="1352550"/>
          </a:xfrm>
          <a:prstGeom prst="roundRect">
            <a:avLst>
              <a:gd name="adj" fmla="val 5634"/>
            </a:avLst>
          </a:prstGeom>
          <a:solidFill>
            <a:srgbClr val="FFFFFF"/>
          </a:solidFill>
          <a:ln w="12383">
            <a:solidFill>
              <a:srgbClr val="D4DEE9"/>
            </a:solidFill>
          </a:ln>
        </p:spPr>
      </p:sp>
      <p:sp>
        <p:nvSpPr>
          <p:cNvPr id="13" name="إحصاءات العمل">
            <a:extLst>
              <a:ext uri="{FF2B5EF4-FFF2-40B4-BE49-F238E27FC236}">
                <a16:creationId xmlns:a16="http://schemas.microsoft.com/office/drawing/2014/main" id="{D5D900C9-120D-4247-9B66-9EE88CFD63BF}"/>
              </a:ext>
            </a:extLst>
          </p:cNvPr>
          <p:cNvSpPr>
            <a:spLocks noGrp="1"/>
          </p:cNvSpPr>
          <p:nvPr/>
        </p:nvSpPr>
        <p:spPr>
          <a:xfrm>
            <a:off x="714375" y="1838325"/>
            <a:ext cx="2952750" cy="4191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إحصاءات العمل</a:t>
            </a:r>
          </a:p>
        </p:txBody>
      </p:sp>
      <p:sp>
        <p:nvSpPr>
          <p:cNvPr id="14" name="مؤشرات سوق&#10;بلا ربط بخيار الطالب">
            <a:extLst>
              <a:ext uri="{FF2B5EF4-FFF2-40B4-BE49-F238E27FC236}">
                <a16:creationId xmlns:a16="http://schemas.microsoft.com/office/drawing/2014/main" id="{1F8ECAEF-4CE5-45F9-A844-C0D3F33DC76F}"/>
              </a:ext>
            </a:extLst>
          </p:cNvPr>
          <p:cNvSpPr>
            <a:spLocks noGrp="1"/>
          </p:cNvSpPr>
          <p:nvPr/>
        </p:nvSpPr>
        <p:spPr>
          <a:xfrm>
            <a:off x="733425" y="2277428"/>
            <a:ext cx="2914650" cy="6172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مؤشرات سوق</a:t>
            </a:r>
          </a:p>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بلا ربط بخيار الطالب</a:t>
            </a:r>
          </a:p>
        </p:txBody>
      </p:sp>
      <p:sp>
        <p:nvSpPr>
          <p:cNvPr id="15" name="↓">
            <a:extLst>
              <a:ext uri="{FF2B5EF4-FFF2-40B4-BE49-F238E27FC236}">
                <a16:creationId xmlns:a16="http://schemas.microsoft.com/office/drawing/2014/main" id="{0D4DDF96-F9E2-4CDF-9FEE-CB325BE30D03}"/>
              </a:ext>
            </a:extLst>
          </p:cNvPr>
          <p:cNvSpPr>
            <a:spLocks noGrp="1"/>
          </p:cNvSpPr>
          <p:nvPr/>
        </p:nvSpPr>
        <p:spPr>
          <a:xfrm>
            <a:off x="1885950" y="3043238"/>
            <a:ext cx="609600" cy="390525"/>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a:t>
            </a:r>
          </a:p>
        </p:txBody>
      </p:sp>
      <p:sp>
        <p:nvSpPr>
          <p:cNvPr id="16" name="Rectangle: Rounded Corners 15">
            <a:extLst>
              <a:ext uri="{FF2B5EF4-FFF2-40B4-BE49-F238E27FC236}">
                <a16:creationId xmlns:a16="http://schemas.microsoft.com/office/drawing/2014/main" id="{42F6E2B6-BB29-450F-8361-C6B5461DCFC4}"/>
              </a:ext>
            </a:extLst>
          </p:cNvPr>
          <p:cNvSpPr>
            <a:spLocks noGrp="1"/>
          </p:cNvSpPr>
          <p:nvPr/>
        </p:nvSpPr>
        <p:spPr>
          <a:xfrm>
            <a:off x="1524000" y="3457575"/>
            <a:ext cx="9953625" cy="990600"/>
          </a:xfrm>
          <a:prstGeom prst="roundRect">
            <a:avLst>
              <a:gd name="adj" fmla="val 7692"/>
            </a:avLst>
          </a:prstGeom>
          <a:solidFill>
            <a:srgbClr val="F3EAD7"/>
          </a:solidFill>
          <a:ln w="12383">
            <a:solidFill>
              <a:srgbClr val="DFC98F"/>
            </a:solidFill>
          </a:ln>
        </p:spPr>
      </p:sp>
      <p:sp>
        <p:nvSpPr>
          <p:cNvPr id="17" name="مُرشِدي يضيف سياق الطالب">
            <a:extLst>
              <a:ext uri="{FF2B5EF4-FFF2-40B4-BE49-F238E27FC236}">
                <a16:creationId xmlns:a16="http://schemas.microsoft.com/office/drawing/2014/main" id="{F50B9006-4581-4B6B-9725-17AE1A32A871}"/>
              </a:ext>
            </a:extLst>
          </p:cNvPr>
          <p:cNvSpPr>
            <a:spLocks noGrp="1"/>
          </p:cNvSpPr>
          <p:nvPr/>
        </p:nvSpPr>
        <p:spPr>
          <a:xfrm>
            <a:off x="1809750" y="3527108"/>
            <a:ext cx="9382125" cy="47053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مُرشِدي يضيف سياق الطالب</a:t>
            </a:r>
          </a:p>
        </p:txBody>
      </p:sp>
      <p:sp>
        <p:nvSpPr>
          <p:cNvPr id="18" name="الاهتمامات  +  ميزانية الأسرة  +  مقارنة موحّ">
            <a:extLst>
              <a:ext uri="{FF2B5EF4-FFF2-40B4-BE49-F238E27FC236}">
                <a16:creationId xmlns:a16="http://schemas.microsoft.com/office/drawing/2014/main" id="{E8A20534-50C0-4F46-876C-F0DF081BE2B8}"/>
              </a:ext>
            </a:extLst>
          </p:cNvPr>
          <p:cNvSpPr>
            <a:spLocks noGrp="1"/>
          </p:cNvSpPr>
          <p:nvPr/>
        </p:nvSpPr>
        <p:spPr>
          <a:xfrm>
            <a:off x="1809750" y="3968115"/>
            <a:ext cx="9382125" cy="35052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650" b="0" kern="0" spc="0">
                <a:solidFill>
                  <a:srgbClr val="53657C"/>
                </a:solidFill>
                <a:latin typeface="IBM Plex Sans Arabic"/>
                <a:ea typeface="IBM Plex Sans Arabic"/>
                <a:cs typeface="IBM Plex Sans Arabic"/>
              </a:defRPr>
            </a:pPr>
            <a:r>
              <a:rPr lang="ar-JO" sz="1650" b="0" kern="0" spc="0">
                <a:solidFill>
                  <a:srgbClr val="53657C"/>
                </a:solidFill>
                <a:latin typeface="IBM Plex Sans Arabic"/>
                <a:ea typeface="IBM Plex Sans Arabic"/>
                <a:cs typeface="IBM Plex Sans Arabic"/>
              </a:rPr>
              <a:t>الاهتمامات  +  ميزانية الأسرة  +  مقارنة موحّدة  +  مصدر وتاريخ</a:t>
            </a:r>
          </a:p>
        </p:txBody>
      </p:sp>
      <p:sp>
        <p:nvSpPr>
          <p:cNvPr id="19" name="Rectangle: Rounded Corners 18">
            <a:extLst>
              <a:ext uri="{FF2B5EF4-FFF2-40B4-BE49-F238E27FC236}">
                <a16:creationId xmlns:a16="http://schemas.microsoft.com/office/drawing/2014/main" id="{348D2005-371E-43CA-B3FD-724560D4B796}"/>
              </a:ext>
            </a:extLst>
          </p:cNvPr>
          <p:cNvSpPr>
            <a:spLocks noGrp="1"/>
          </p:cNvSpPr>
          <p:nvPr/>
        </p:nvSpPr>
        <p:spPr>
          <a:xfrm>
            <a:off x="1524000" y="4638675"/>
            <a:ext cx="9953625" cy="638175"/>
          </a:xfrm>
          <a:prstGeom prst="roundRect">
            <a:avLst>
              <a:gd name="adj" fmla="val 11940"/>
            </a:avLst>
          </a:prstGeom>
          <a:solidFill>
            <a:srgbClr val="123D76"/>
          </a:solidFill>
          <a:ln w="12383">
            <a:solidFill>
              <a:srgbClr val="58749B"/>
            </a:solidFill>
          </a:ln>
        </p:spPr>
      </p:sp>
      <p:sp>
        <p:nvSpPr>
          <p:cNvPr id="20" name="النتيجة: قرار شخصي قابل للتفسير">
            <a:extLst>
              <a:ext uri="{FF2B5EF4-FFF2-40B4-BE49-F238E27FC236}">
                <a16:creationId xmlns:a16="http://schemas.microsoft.com/office/drawing/2014/main" id="{1C24F778-AEF7-469B-BD59-6BC2FCEB90EE}"/>
              </a:ext>
            </a:extLst>
          </p:cNvPr>
          <p:cNvSpPr>
            <a:spLocks noGrp="1"/>
          </p:cNvSpPr>
          <p:nvPr/>
        </p:nvSpPr>
        <p:spPr>
          <a:xfrm>
            <a:off x="1809750" y="4724400"/>
            <a:ext cx="9382125"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00" b="1" kern="0" spc="0">
                <a:solidFill>
                  <a:srgbClr val="FFFFFF"/>
                </a:solidFill>
                <a:latin typeface="IBM Plex Sans Arabic"/>
                <a:ea typeface="IBM Plex Sans Arabic"/>
                <a:cs typeface="IBM Plex Sans Arabic"/>
              </a:defRPr>
            </a:pPr>
            <a:r>
              <a:rPr lang="ar-JO" sz="2100" b="1" kern="0" spc="0">
                <a:solidFill>
                  <a:srgbClr val="FFFFFF"/>
                </a:solidFill>
                <a:latin typeface="IBM Plex Sans Arabic"/>
                <a:ea typeface="IBM Plex Sans Arabic"/>
                <a:cs typeface="IBM Plex Sans Arabic"/>
              </a:rPr>
              <a:t>النتيجة: قرار شخصي قابل للتفسير</a:t>
            </a:r>
          </a:p>
        </p:txBody>
      </p:sp>
      <p:sp>
        <p:nvSpPr>
          <p:cNvPr id="21" name="Rectangle: Rounded Corners 20">
            <a:extLst>
              <a:ext uri="{FF2B5EF4-FFF2-40B4-BE49-F238E27FC236}">
                <a16:creationId xmlns:a16="http://schemas.microsoft.com/office/drawing/2014/main" id="{13BCB01C-EA7D-4E86-9DD0-68C4B50FFB8B}"/>
              </a:ext>
            </a:extLst>
          </p:cNvPr>
          <p:cNvSpPr>
            <a:spLocks noGrp="1"/>
          </p:cNvSpPr>
          <p:nvPr/>
        </p:nvSpPr>
        <p:spPr>
          <a:xfrm>
            <a:off x="1524000" y="5476875"/>
            <a:ext cx="9953625" cy="628650"/>
          </a:xfrm>
          <a:prstGeom prst="roundRect">
            <a:avLst>
              <a:gd name="adj" fmla="val 12121"/>
            </a:avLst>
          </a:prstGeom>
          <a:solidFill>
            <a:srgbClr val="0A2D61"/>
          </a:solidFill>
          <a:ln w="12383">
            <a:solidFill>
              <a:srgbClr val="58749B"/>
            </a:solidFill>
          </a:ln>
        </p:spPr>
      </p:sp>
      <p:sp>
        <p:nvSpPr>
          <p:cNvPr id="22" name="دراستان عشوائيتان  •  أكثر من 77 ألف مشارك  •">
            <a:extLst>
              <a:ext uri="{FF2B5EF4-FFF2-40B4-BE49-F238E27FC236}">
                <a16:creationId xmlns:a16="http://schemas.microsoft.com/office/drawing/2014/main" id="{7B08F0CD-85A2-479A-B5E2-0E5C002B2F19}"/>
              </a:ext>
            </a:extLst>
          </p:cNvPr>
          <p:cNvSpPr>
            <a:spLocks noGrp="1"/>
          </p:cNvSpPr>
          <p:nvPr/>
        </p:nvSpPr>
        <p:spPr>
          <a:xfrm>
            <a:off x="1733550" y="5553075"/>
            <a:ext cx="9534525" cy="4762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1" kern="0" spc="0">
                <a:solidFill>
                  <a:srgbClr val="D1DEED"/>
                </a:solidFill>
                <a:latin typeface="IBM Plex Sans Arabic"/>
                <a:ea typeface="IBM Plex Sans Arabic"/>
                <a:cs typeface="IBM Plex Sans Arabic"/>
              </a:defRPr>
            </a:pPr>
            <a:r>
              <a:rPr lang="ar-JO" sz="1575" b="1" kern="0" spc="0">
                <a:solidFill>
                  <a:srgbClr val="D1DEED"/>
                </a:solidFill>
                <a:latin typeface="IBM Plex Sans Arabic"/>
                <a:ea typeface="IBM Plex Sans Arabic"/>
                <a:cs typeface="IBM Plex Sans Arabic"/>
              </a:rPr>
              <a:t>دراستان عشوائيتان  •  أكثر من 77 ألف مشارك  •  ندعم المنطق ونختبر الأثر محليًا</a:t>
            </a:r>
          </a:p>
        </p:txBody>
      </p:sp>
    </p:spTree>
    <p:extLst>
      <p:ext uri="{BB962C8B-B14F-4D97-AF65-F5344CB8AC3E}">
        <p14:creationId xmlns:p14="http://schemas.microsoft.com/office/powerpoint/2010/main" val="2057664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4" name="Picture 23"/>
          <p:cNvPicPr>
            <a:picLocks noChangeAspect="1"/>
          </p:cNvPicPr>
          <p:nvPr/>
        </p:nvPicPr>
        <p:blipFill>
          <a:blip r:embed="rId3"/>
          <a:stretch/>
        </p:blipFill>
        <p:spPr>
          <a:xfrm>
            <a:off x="11125200" y="400050"/>
            <a:ext cx="552450" cy="552450"/>
          </a:xfrm>
          <a:prstGeom prst="rect">
            <a:avLst/>
          </a:prstGeom>
        </p:spPr>
      </p:pic>
      <p:sp>
        <p:nvSpPr>
          <p:cNvPr id="2" name="لمن؟ ومن يدفع؟">
            <a:extLst>
              <a:ext uri="{FF2B5EF4-FFF2-40B4-BE49-F238E27FC236}">
                <a16:creationId xmlns:a16="http://schemas.microsoft.com/office/drawing/2014/main" id="{CEEA6D75-B3EF-4413-859F-05A0E5E0062D}"/>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لمن؟ ومن يدفع؟</a:t>
            </a:r>
          </a:p>
        </p:txBody>
      </p:sp>
      <p:sp>
        <p:nvSpPr>
          <p:cNvPr id="3" name="07">
            <a:extLst>
              <a:ext uri="{FF2B5EF4-FFF2-40B4-BE49-F238E27FC236}">
                <a16:creationId xmlns:a16="http://schemas.microsoft.com/office/drawing/2014/main" id="{9BA128FD-CCA1-465A-8458-1F51AC464B9D}"/>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07</a:t>
            </a:r>
          </a:p>
        </p:txBody>
      </p:sp>
      <p:sp>
        <p:nvSpPr>
          <p:cNvPr id="4" name="Rectangle: Rounded Corners 3">
            <a:extLst>
              <a:ext uri="{FF2B5EF4-FFF2-40B4-BE49-F238E27FC236}">
                <a16:creationId xmlns:a16="http://schemas.microsoft.com/office/drawing/2014/main" id="{29F8BD4F-EBB5-4D38-90F1-D187D41F5E26}"/>
              </a:ext>
            </a:extLst>
          </p:cNvPr>
          <p:cNvSpPr>
            <a:spLocks noGrp="1"/>
          </p:cNvSpPr>
          <p:nvPr/>
        </p:nvSpPr>
        <p:spPr>
          <a:xfrm>
            <a:off x="8143875" y="1781175"/>
            <a:ext cx="3333750" cy="3600450"/>
          </a:xfrm>
          <a:prstGeom prst="roundRect">
            <a:avLst>
              <a:gd name="adj" fmla="val 2286"/>
            </a:avLst>
          </a:prstGeom>
          <a:solidFill>
            <a:srgbClr val="F3EAD7"/>
          </a:solidFill>
          <a:ln w="12383">
            <a:solidFill>
              <a:srgbClr val="DFC98F"/>
            </a:solidFill>
          </a:ln>
        </p:spPr>
      </p:sp>
      <p:sp>
        <p:nvSpPr>
          <p:cNvPr id="5" name="Rectangle: Rounded Corners 4">
            <a:extLst>
              <a:ext uri="{FF2B5EF4-FFF2-40B4-BE49-F238E27FC236}">
                <a16:creationId xmlns:a16="http://schemas.microsoft.com/office/drawing/2014/main" id="{6A51D54B-0731-4C92-99F7-B66659B22186}"/>
              </a:ext>
            </a:extLst>
          </p:cNvPr>
          <p:cNvSpPr>
            <a:spLocks noGrp="1"/>
          </p:cNvSpPr>
          <p:nvPr/>
        </p:nvSpPr>
        <p:spPr>
          <a:xfrm>
            <a:off x="8858250" y="1990725"/>
            <a:ext cx="1905000" cy="381000"/>
          </a:xfrm>
          <a:prstGeom prst="roundRect">
            <a:avLst>
              <a:gd name="adj" fmla="val 20000"/>
            </a:avLst>
          </a:prstGeom>
          <a:solidFill>
            <a:srgbClr val="E7EEF6"/>
          </a:solidFill>
          <a:ln w="12383">
            <a:solidFill>
              <a:srgbClr val="C9D5E3"/>
            </a:solidFill>
          </a:ln>
        </p:spPr>
      </p:sp>
      <p:sp>
        <p:nvSpPr>
          <p:cNvPr id="6" name="المستفيد">
            <a:extLst>
              <a:ext uri="{FF2B5EF4-FFF2-40B4-BE49-F238E27FC236}">
                <a16:creationId xmlns:a16="http://schemas.microsoft.com/office/drawing/2014/main" id="{5D512A9B-8CA9-4908-B60F-B74A55802997}"/>
              </a:ext>
            </a:extLst>
          </p:cNvPr>
          <p:cNvSpPr>
            <a:spLocks noGrp="1"/>
          </p:cNvSpPr>
          <p:nvPr/>
        </p:nvSpPr>
        <p:spPr>
          <a:xfrm>
            <a:off x="895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المستفيد</a:t>
            </a:r>
          </a:p>
        </p:txBody>
      </p:sp>
      <p:sp>
        <p:nvSpPr>
          <p:cNvPr id="7" name="الطالب والأسرة">
            <a:extLst>
              <a:ext uri="{FF2B5EF4-FFF2-40B4-BE49-F238E27FC236}">
                <a16:creationId xmlns:a16="http://schemas.microsoft.com/office/drawing/2014/main" id="{025082B9-EBD7-42C4-86D8-196CD8A4D73D}"/>
              </a:ext>
            </a:extLst>
          </p:cNvPr>
          <p:cNvSpPr>
            <a:spLocks noGrp="1"/>
          </p:cNvSpPr>
          <p:nvPr/>
        </p:nvSpPr>
        <p:spPr>
          <a:xfrm>
            <a:off x="833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الطالب والأسرة</a:t>
            </a:r>
          </a:p>
        </p:txBody>
      </p:sp>
      <p:sp>
        <p:nvSpPr>
          <p:cNvPr id="8" name="رحلة القرار الأساسية&#10;مجانية">
            <a:extLst>
              <a:ext uri="{FF2B5EF4-FFF2-40B4-BE49-F238E27FC236}">
                <a16:creationId xmlns:a16="http://schemas.microsoft.com/office/drawing/2014/main" id="{9155EF98-60BC-406B-AD1E-DF446582E2BF}"/>
              </a:ext>
            </a:extLst>
          </p:cNvPr>
          <p:cNvSpPr>
            <a:spLocks noGrp="1"/>
          </p:cNvSpPr>
          <p:nvPr/>
        </p:nvSpPr>
        <p:spPr>
          <a:xfrm>
            <a:off x="838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رحلة القرار الأساسية</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مجانية</a:t>
            </a:r>
          </a:p>
        </p:txBody>
      </p:sp>
      <p:sp>
        <p:nvSpPr>
          <p:cNvPr id="9" name="قرار أوضح بلا تكلفة على الطالب">
            <a:extLst>
              <a:ext uri="{FF2B5EF4-FFF2-40B4-BE49-F238E27FC236}">
                <a16:creationId xmlns:a16="http://schemas.microsoft.com/office/drawing/2014/main" id="{987B9811-6592-4E86-89CA-BECC8F8EE2B1}"/>
              </a:ext>
            </a:extLst>
          </p:cNvPr>
          <p:cNvSpPr>
            <a:spLocks noGrp="1"/>
          </p:cNvSpPr>
          <p:nvPr/>
        </p:nvSpPr>
        <p:spPr>
          <a:xfrm>
            <a:off x="837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قرار أوضح بلا تكلفة على الطالب</a:t>
            </a:r>
          </a:p>
        </p:txBody>
      </p:sp>
      <p:sp>
        <p:nvSpPr>
          <p:cNvPr id="10" name="Rectangle: Rounded Corners 9">
            <a:extLst>
              <a:ext uri="{FF2B5EF4-FFF2-40B4-BE49-F238E27FC236}">
                <a16:creationId xmlns:a16="http://schemas.microsoft.com/office/drawing/2014/main" id="{98ACF21A-D437-4F5C-A594-EDFA900D124F}"/>
              </a:ext>
            </a:extLst>
          </p:cNvPr>
          <p:cNvSpPr>
            <a:spLocks noGrp="1"/>
          </p:cNvSpPr>
          <p:nvPr/>
        </p:nvSpPr>
        <p:spPr>
          <a:xfrm>
            <a:off x="4333875" y="1781175"/>
            <a:ext cx="3333750" cy="3600450"/>
          </a:xfrm>
          <a:prstGeom prst="roundRect">
            <a:avLst>
              <a:gd name="adj" fmla="val 2286"/>
            </a:avLst>
          </a:prstGeom>
          <a:solidFill>
            <a:srgbClr val="013070"/>
          </a:solidFill>
          <a:ln w="12383">
            <a:solidFill>
              <a:srgbClr val="013070"/>
            </a:solidFill>
          </a:ln>
        </p:spPr>
      </p:sp>
      <p:sp>
        <p:nvSpPr>
          <p:cNvPr id="11" name="Rectangle: Rounded Corners 10">
            <a:extLst>
              <a:ext uri="{FF2B5EF4-FFF2-40B4-BE49-F238E27FC236}">
                <a16:creationId xmlns:a16="http://schemas.microsoft.com/office/drawing/2014/main" id="{A8976A56-F818-4967-898C-F4A09572243B}"/>
              </a:ext>
            </a:extLst>
          </p:cNvPr>
          <p:cNvSpPr>
            <a:spLocks noGrp="1"/>
          </p:cNvSpPr>
          <p:nvPr/>
        </p:nvSpPr>
        <p:spPr>
          <a:xfrm>
            <a:off x="5048250" y="1990725"/>
            <a:ext cx="1905000" cy="381000"/>
          </a:xfrm>
          <a:prstGeom prst="roundRect">
            <a:avLst>
              <a:gd name="adj" fmla="val 20000"/>
            </a:avLst>
          </a:prstGeom>
          <a:solidFill>
            <a:srgbClr val="123D76"/>
          </a:solidFill>
          <a:ln w="12383">
            <a:solidFill>
              <a:srgbClr val="58749B"/>
            </a:solidFill>
          </a:ln>
        </p:spPr>
      </p:sp>
      <p:sp>
        <p:nvSpPr>
          <p:cNvPr id="12" name="العميل الدافع">
            <a:extLst>
              <a:ext uri="{FF2B5EF4-FFF2-40B4-BE49-F238E27FC236}">
                <a16:creationId xmlns:a16="http://schemas.microsoft.com/office/drawing/2014/main" id="{4DFCAAFE-1A08-4094-83A8-32B34B36E15A}"/>
              </a:ext>
            </a:extLst>
          </p:cNvPr>
          <p:cNvSpPr>
            <a:spLocks noGrp="1"/>
          </p:cNvSpPr>
          <p:nvPr/>
        </p:nvSpPr>
        <p:spPr>
          <a:xfrm>
            <a:off x="514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العميل الدافع</a:t>
            </a:r>
          </a:p>
        </p:txBody>
      </p:sp>
      <p:sp>
        <p:nvSpPr>
          <p:cNvPr id="13" name="مدرسة أو جامعة">
            <a:extLst>
              <a:ext uri="{FF2B5EF4-FFF2-40B4-BE49-F238E27FC236}">
                <a16:creationId xmlns:a16="http://schemas.microsoft.com/office/drawing/2014/main" id="{986D2126-6E4C-420B-B2C8-C3ADCD7D3AC5}"/>
              </a:ext>
            </a:extLst>
          </p:cNvPr>
          <p:cNvSpPr>
            <a:spLocks noGrp="1"/>
          </p:cNvSpPr>
          <p:nvPr/>
        </p:nvSpPr>
        <p:spPr>
          <a:xfrm>
            <a:off x="452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FFFFFF"/>
                </a:solidFill>
                <a:latin typeface="IBM Plex Sans Arabic"/>
                <a:ea typeface="IBM Plex Sans Arabic"/>
                <a:cs typeface="IBM Plex Sans Arabic"/>
              </a:defRPr>
            </a:pPr>
            <a:r>
              <a:rPr lang="ar-JO" sz="2325" b="1" kern="0" spc="0">
                <a:solidFill>
                  <a:srgbClr val="FFFFFF"/>
                </a:solidFill>
                <a:latin typeface="IBM Plex Sans Arabic"/>
                <a:ea typeface="IBM Plex Sans Arabic"/>
                <a:cs typeface="IBM Plex Sans Arabic"/>
              </a:rPr>
              <a:t>مدرسة أو جامعة</a:t>
            </a:r>
          </a:p>
        </p:txBody>
      </p:sp>
      <p:sp>
        <p:nvSpPr>
          <p:cNvPr id="14" name="أدوات للمرشد&#10;وتقارير مجمعة ودعم">
            <a:extLst>
              <a:ext uri="{FF2B5EF4-FFF2-40B4-BE49-F238E27FC236}">
                <a16:creationId xmlns:a16="http://schemas.microsoft.com/office/drawing/2014/main" id="{E220F3E0-BBF9-45DD-8873-C7A5614F1611}"/>
              </a:ext>
            </a:extLst>
          </p:cNvPr>
          <p:cNvSpPr>
            <a:spLocks noGrp="1"/>
          </p:cNvSpPr>
          <p:nvPr/>
        </p:nvSpPr>
        <p:spPr>
          <a:xfrm>
            <a:off x="457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أدوات للمرشد</a:t>
            </a:r>
          </a:p>
          <a:p>
            <a:pPr algn="ctr" rtl="1">
              <a:lnSpc>
                <a:spcPct val="116000"/>
              </a:lnSpc>
              <a:spcBef>
                <a:spcPts val="0"/>
              </a:spcBef>
              <a:spcAft>
                <a:spcPts val="0"/>
              </a:spcAft>
              <a:buNone/>
              <a:defRPr lang="ar-JO" sz="1875" b="1" kern="0" spc="0">
                <a:solidFill>
                  <a:srgbClr val="D1DEED"/>
                </a:solidFill>
                <a:latin typeface="IBM Plex Sans Arabic"/>
                <a:ea typeface="IBM Plex Sans Arabic"/>
                <a:cs typeface="IBM Plex Sans Arabic"/>
              </a:defRPr>
            </a:pPr>
            <a:r>
              <a:rPr lang="ar-JO" sz="1875" b="1" kern="0" spc="0">
                <a:solidFill>
                  <a:srgbClr val="D1DEED"/>
                </a:solidFill>
                <a:latin typeface="IBM Plex Sans Arabic"/>
                <a:ea typeface="IBM Plex Sans Arabic"/>
                <a:cs typeface="IBM Plex Sans Arabic"/>
              </a:rPr>
              <a:t>وتقارير مجمعة ودعم</a:t>
            </a:r>
          </a:p>
        </p:txBody>
      </p:sp>
      <p:sp>
        <p:nvSpPr>
          <p:cNvPr id="15" name="وقت أقل وخدمة إرشاد قابلة للقياس">
            <a:extLst>
              <a:ext uri="{FF2B5EF4-FFF2-40B4-BE49-F238E27FC236}">
                <a16:creationId xmlns:a16="http://schemas.microsoft.com/office/drawing/2014/main" id="{CAAF173B-0744-4656-B326-167415A88674}"/>
              </a:ext>
            </a:extLst>
          </p:cNvPr>
          <p:cNvSpPr>
            <a:spLocks noGrp="1"/>
          </p:cNvSpPr>
          <p:nvPr/>
        </p:nvSpPr>
        <p:spPr>
          <a:xfrm>
            <a:off x="456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وقت أقل وخدمة إرشاد قابلة للقياس</a:t>
            </a:r>
          </a:p>
        </p:txBody>
      </p:sp>
      <p:sp>
        <p:nvSpPr>
          <p:cNvPr id="16" name="Rectangle: Rounded Corners 15">
            <a:extLst>
              <a:ext uri="{FF2B5EF4-FFF2-40B4-BE49-F238E27FC236}">
                <a16:creationId xmlns:a16="http://schemas.microsoft.com/office/drawing/2014/main" id="{7188E59B-433B-4A45-8B17-36EDE41EE32D}"/>
              </a:ext>
            </a:extLst>
          </p:cNvPr>
          <p:cNvSpPr>
            <a:spLocks noGrp="1"/>
          </p:cNvSpPr>
          <p:nvPr/>
        </p:nvSpPr>
        <p:spPr>
          <a:xfrm>
            <a:off x="523875" y="1781175"/>
            <a:ext cx="3333750" cy="3600450"/>
          </a:xfrm>
          <a:prstGeom prst="roundRect">
            <a:avLst>
              <a:gd name="adj" fmla="val 2286"/>
            </a:avLst>
          </a:prstGeom>
          <a:solidFill>
            <a:srgbClr val="FFFFFF"/>
          </a:solidFill>
          <a:ln w="12383">
            <a:solidFill>
              <a:srgbClr val="D4DEE9"/>
            </a:solidFill>
          </a:ln>
        </p:spPr>
      </p:sp>
      <p:sp>
        <p:nvSpPr>
          <p:cNvPr id="17" name="Rectangle: Rounded Corners 16">
            <a:extLst>
              <a:ext uri="{FF2B5EF4-FFF2-40B4-BE49-F238E27FC236}">
                <a16:creationId xmlns:a16="http://schemas.microsoft.com/office/drawing/2014/main" id="{D0C3D0FC-4DE4-4B82-B399-549F2356700F}"/>
              </a:ext>
            </a:extLst>
          </p:cNvPr>
          <p:cNvSpPr>
            <a:spLocks noGrp="1"/>
          </p:cNvSpPr>
          <p:nvPr/>
        </p:nvSpPr>
        <p:spPr>
          <a:xfrm>
            <a:off x="1238250" y="1990725"/>
            <a:ext cx="1905000" cy="381000"/>
          </a:xfrm>
          <a:prstGeom prst="roundRect">
            <a:avLst>
              <a:gd name="adj" fmla="val 20000"/>
            </a:avLst>
          </a:prstGeom>
          <a:solidFill>
            <a:srgbClr val="E7EEF6"/>
          </a:solidFill>
          <a:ln w="12383">
            <a:solidFill>
              <a:srgbClr val="C9D5E3"/>
            </a:solidFill>
          </a:ln>
        </p:spPr>
      </p:sp>
      <p:sp>
        <p:nvSpPr>
          <p:cNvPr id="18" name="شريك التوسع">
            <a:extLst>
              <a:ext uri="{FF2B5EF4-FFF2-40B4-BE49-F238E27FC236}">
                <a16:creationId xmlns:a16="http://schemas.microsoft.com/office/drawing/2014/main" id="{1FD21E22-95D6-4B43-B0B7-9C81980FD0DB}"/>
              </a:ext>
            </a:extLst>
          </p:cNvPr>
          <p:cNvSpPr>
            <a:spLocks noGrp="1"/>
          </p:cNvSpPr>
          <p:nvPr/>
        </p:nvSpPr>
        <p:spPr>
          <a:xfrm>
            <a:off x="1333500" y="2018348"/>
            <a:ext cx="1714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شريك التوسع</a:t>
            </a:r>
          </a:p>
        </p:txBody>
      </p:sp>
      <p:sp>
        <p:nvSpPr>
          <p:cNvPr id="19" name="جهة تعليمية عامة">
            <a:extLst>
              <a:ext uri="{FF2B5EF4-FFF2-40B4-BE49-F238E27FC236}">
                <a16:creationId xmlns:a16="http://schemas.microsoft.com/office/drawing/2014/main" id="{E95CED23-9258-4D3D-A7FA-D5884276520B}"/>
              </a:ext>
            </a:extLst>
          </p:cNvPr>
          <p:cNvSpPr>
            <a:spLocks noGrp="1"/>
          </p:cNvSpPr>
          <p:nvPr/>
        </p:nvSpPr>
        <p:spPr>
          <a:xfrm>
            <a:off x="714375" y="2628900"/>
            <a:ext cx="2952750" cy="5619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325" b="1" kern="0" spc="0">
                <a:solidFill>
                  <a:srgbClr val="013070"/>
                </a:solidFill>
                <a:latin typeface="IBM Plex Sans Arabic"/>
                <a:ea typeface="IBM Plex Sans Arabic"/>
                <a:cs typeface="IBM Plex Sans Arabic"/>
              </a:defRPr>
            </a:pPr>
            <a:r>
              <a:rPr lang="ar-JO" sz="2325" b="1" kern="0" spc="0">
                <a:solidFill>
                  <a:srgbClr val="013070"/>
                </a:solidFill>
                <a:latin typeface="IBM Plex Sans Arabic"/>
                <a:ea typeface="IBM Plex Sans Arabic"/>
                <a:cs typeface="IBM Plex Sans Arabic"/>
              </a:rPr>
              <a:t>جهة تعليمية عامة</a:t>
            </a:r>
          </a:p>
        </p:txBody>
      </p:sp>
      <p:sp>
        <p:nvSpPr>
          <p:cNvPr id="20" name="وصول للبيانات والمدارس&#10;وقياس أثر أوسع">
            <a:extLst>
              <a:ext uri="{FF2B5EF4-FFF2-40B4-BE49-F238E27FC236}">
                <a16:creationId xmlns:a16="http://schemas.microsoft.com/office/drawing/2014/main" id="{CFA6B8EE-1077-41E0-90D9-CFEFAD31533E}"/>
              </a:ext>
            </a:extLst>
          </p:cNvPr>
          <p:cNvSpPr>
            <a:spLocks noGrp="1"/>
          </p:cNvSpPr>
          <p:nvPr/>
        </p:nvSpPr>
        <p:spPr>
          <a:xfrm>
            <a:off x="762000" y="3333750"/>
            <a:ext cx="2857500" cy="8667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وصول للبيانات والمدارس</a:t>
            </a:r>
          </a:p>
          <a:p>
            <a:pPr algn="ctr" rtl="1">
              <a:lnSpc>
                <a:spcPct val="116000"/>
              </a:lnSpc>
              <a:spcBef>
                <a:spcPts val="0"/>
              </a:spcBef>
              <a:spcAft>
                <a:spcPts val="0"/>
              </a:spcAft>
              <a:buNone/>
              <a:defRPr lang="ar-JO" sz="1875" b="1" kern="0" spc="0">
                <a:solidFill>
                  <a:srgbClr val="102C50"/>
                </a:solidFill>
                <a:latin typeface="IBM Plex Sans Arabic"/>
                <a:ea typeface="IBM Plex Sans Arabic"/>
                <a:cs typeface="IBM Plex Sans Arabic"/>
              </a:defRPr>
            </a:pPr>
            <a:r>
              <a:rPr lang="ar-JO" sz="1875" b="1" kern="0" spc="0">
                <a:solidFill>
                  <a:srgbClr val="102C50"/>
                </a:solidFill>
                <a:latin typeface="IBM Plex Sans Arabic"/>
                <a:ea typeface="IBM Plex Sans Arabic"/>
                <a:cs typeface="IBM Plex Sans Arabic"/>
              </a:rPr>
              <a:t>وقياس أثر أوسع</a:t>
            </a:r>
          </a:p>
        </p:txBody>
      </p:sp>
      <p:sp>
        <p:nvSpPr>
          <p:cNvPr id="21" name="خدمة وطنية مبنية على دليل">
            <a:extLst>
              <a:ext uri="{FF2B5EF4-FFF2-40B4-BE49-F238E27FC236}">
                <a16:creationId xmlns:a16="http://schemas.microsoft.com/office/drawing/2014/main" id="{9F4C4491-0764-41BF-97EF-9116FFBC0806}"/>
              </a:ext>
            </a:extLst>
          </p:cNvPr>
          <p:cNvSpPr>
            <a:spLocks noGrp="1"/>
          </p:cNvSpPr>
          <p:nvPr/>
        </p:nvSpPr>
        <p:spPr>
          <a:xfrm>
            <a:off x="752475" y="4552950"/>
            <a:ext cx="287655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خدمة وطنية مبنية على دليل</a:t>
            </a:r>
          </a:p>
        </p:txBody>
      </p:sp>
      <p:sp>
        <p:nvSpPr>
          <p:cNvPr id="22" name="Rectangle: Rounded Corners 21">
            <a:extLst>
              <a:ext uri="{FF2B5EF4-FFF2-40B4-BE49-F238E27FC236}">
                <a16:creationId xmlns:a16="http://schemas.microsoft.com/office/drawing/2014/main" id="{56F3FF3D-A8E8-4C87-A5AC-6E8DFE37415C}"/>
              </a:ext>
            </a:extLst>
          </p:cNvPr>
          <p:cNvSpPr>
            <a:spLocks noGrp="1"/>
          </p:cNvSpPr>
          <p:nvPr/>
        </p:nvSpPr>
        <p:spPr>
          <a:xfrm>
            <a:off x="1381125" y="5657850"/>
            <a:ext cx="10096500" cy="552450"/>
          </a:xfrm>
          <a:prstGeom prst="roundRect">
            <a:avLst>
              <a:gd name="adj" fmla="val 13793"/>
            </a:avLst>
          </a:prstGeom>
          <a:solidFill>
            <a:srgbClr val="013070"/>
          </a:solidFill>
          <a:ln w="12383">
            <a:solidFill>
              <a:srgbClr val="013070"/>
            </a:solidFill>
          </a:ln>
        </p:spPr>
      </p:sp>
      <p:sp>
        <p:nvSpPr>
          <p:cNvPr id="23" name="المستفيد يستخدم  ←  المؤسسة تدفع  ←  الجهة ال">
            <a:extLst>
              <a:ext uri="{FF2B5EF4-FFF2-40B4-BE49-F238E27FC236}">
                <a16:creationId xmlns:a16="http://schemas.microsoft.com/office/drawing/2014/main" id="{D338991A-3E25-4453-844E-FF4B66814CBF}"/>
              </a:ext>
            </a:extLst>
          </p:cNvPr>
          <p:cNvSpPr>
            <a:spLocks noGrp="1"/>
          </p:cNvSpPr>
          <p:nvPr/>
        </p:nvSpPr>
        <p:spPr>
          <a:xfrm>
            <a:off x="1571625" y="5724525"/>
            <a:ext cx="9715500" cy="4095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المستفيد يستخدم  ←  المؤسسة تدفع  ←  الجهة العامة تمكّن التوسع</a:t>
            </a:r>
          </a:p>
        </p:txBody>
      </p:sp>
    </p:spTree>
    <p:extLst>
      <p:ext uri="{BB962C8B-B14F-4D97-AF65-F5344CB8AC3E}">
        <p14:creationId xmlns:p14="http://schemas.microsoft.com/office/powerpoint/2010/main" val="1676156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6" name="Picture 25"/>
          <p:cNvPicPr>
            <a:picLocks noChangeAspect="1"/>
          </p:cNvPicPr>
          <p:nvPr/>
        </p:nvPicPr>
        <p:blipFill>
          <a:blip r:embed="rId3"/>
          <a:stretch/>
        </p:blipFill>
        <p:spPr>
          <a:xfrm>
            <a:off x="11125200" y="400050"/>
            <a:ext cx="552450" cy="552450"/>
          </a:xfrm>
          <a:prstGeom prst="rect">
            <a:avLst/>
          </a:prstGeom>
        </p:spPr>
      </p:pic>
      <p:sp>
        <p:nvSpPr>
          <p:cNvPr id="2" name="نموذج العمل ومصادر الإيراد">
            <a:extLst>
              <a:ext uri="{FF2B5EF4-FFF2-40B4-BE49-F238E27FC236}">
                <a16:creationId xmlns:a16="http://schemas.microsoft.com/office/drawing/2014/main" id="{9BC6CED7-EAF1-4B64-80ED-CE19FB375B48}"/>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FFFFFF"/>
                </a:solidFill>
                <a:latin typeface="IBM Plex Sans Arabic"/>
                <a:ea typeface="IBM Plex Sans Arabic"/>
                <a:cs typeface="IBM Plex Sans Arabic"/>
              </a:defRPr>
            </a:pPr>
            <a:r>
              <a:rPr lang="ar-JO" sz="3300" b="1" kern="0" spc="0">
                <a:solidFill>
                  <a:srgbClr val="FFFFFF"/>
                </a:solidFill>
                <a:latin typeface="IBM Plex Sans Arabic"/>
                <a:ea typeface="IBM Plex Sans Arabic"/>
                <a:cs typeface="IBM Plex Sans Arabic"/>
              </a:rPr>
              <a:t>نموذج العمل ومصادر الإيراد</a:t>
            </a:r>
          </a:p>
        </p:txBody>
      </p:sp>
      <p:sp>
        <p:nvSpPr>
          <p:cNvPr id="3" name="08">
            <a:extLst>
              <a:ext uri="{FF2B5EF4-FFF2-40B4-BE49-F238E27FC236}">
                <a16:creationId xmlns:a16="http://schemas.microsoft.com/office/drawing/2014/main" id="{F5F94BE1-B7C5-4838-A454-7C1BD8B9EE56}"/>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08</a:t>
            </a:r>
          </a:p>
        </p:txBody>
      </p:sp>
      <p:sp>
        <p:nvSpPr>
          <p:cNvPr id="4" name="Rectangle: Rounded Corners 3">
            <a:extLst>
              <a:ext uri="{FF2B5EF4-FFF2-40B4-BE49-F238E27FC236}">
                <a16:creationId xmlns:a16="http://schemas.microsoft.com/office/drawing/2014/main" id="{3B90837B-F23E-4F42-846D-9BF13C5D4966}"/>
              </a:ext>
            </a:extLst>
          </p:cNvPr>
          <p:cNvSpPr>
            <a:spLocks noGrp="1"/>
          </p:cNvSpPr>
          <p:nvPr/>
        </p:nvSpPr>
        <p:spPr>
          <a:xfrm>
            <a:off x="8143875" y="1724025"/>
            <a:ext cx="3333750" cy="3009900"/>
          </a:xfrm>
          <a:prstGeom prst="roundRect">
            <a:avLst>
              <a:gd name="adj" fmla="val 2532"/>
            </a:avLst>
          </a:prstGeom>
          <a:solidFill>
            <a:srgbClr val="FFFFFF"/>
          </a:solidFill>
          <a:ln w="12383">
            <a:solidFill>
              <a:srgbClr val="58749B"/>
            </a:solidFill>
          </a:ln>
        </p:spPr>
      </p:sp>
      <p:sp>
        <p:nvSpPr>
          <p:cNvPr id="5" name="Rectangle: Rounded Corners 4">
            <a:extLst>
              <a:ext uri="{FF2B5EF4-FFF2-40B4-BE49-F238E27FC236}">
                <a16:creationId xmlns:a16="http://schemas.microsoft.com/office/drawing/2014/main" id="{9F08C8F5-EA73-49AE-B4F5-2B88DB4C982B}"/>
              </a:ext>
            </a:extLst>
          </p:cNvPr>
          <p:cNvSpPr>
            <a:spLocks noGrp="1"/>
          </p:cNvSpPr>
          <p:nvPr/>
        </p:nvSpPr>
        <p:spPr>
          <a:xfrm>
            <a:off x="8667750" y="1943100"/>
            <a:ext cx="2286000" cy="381000"/>
          </a:xfrm>
          <a:prstGeom prst="roundRect">
            <a:avLst>
              <a:gd name="adj" fmla="val 20000"/>
            </a:avLst>
          </a:prstGeom>
          <a:solidFill>
            <a:srgbClr val="E7EEF6"/>
          </a:solidFill>
          <a:ln w="12383">
            <a:solidFill>
              <a:srgbClr val="C9D5E3"/>
            </a:solidFill>
          </a:ln>
        </p:spPr>
      </p:sp>
      <p:sp>
        <p:nvSpPr>
          <p:cNvPr id="6" name="الطالب والأسرة">
            <a:extLst>
              <a:ext uri="{FF2B5EF4-FFF2-40B4-BE49-F238E27FC236}">
                <a16:creationId xmlns:a16="http://schemas.microsoft.com/office/drawing/2014/main" id="{798A168B-2CD5-48EC-8A0A-1C94CFFA6BDF}"/>
              </a:ext>
            </a:extLst>
          </p:cNvPr>
          <p:cNvSpPr>
            <a:spLocks noGrp="1"/>
          </p:cNvSpPr>
          <p:nvPr/>
        </p:nvSpPr>
        <p:spPr>
          <a:xfrm>
            <a:off x="876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الطالب والأسرة</a:t>
            </a:r>
          </a:p>
        </p:txBody>
      </p:sp>
      <p:sp>
        <p:nvSpPr>
          <p:cNvPr id="7" name="0 د.أ">
            <a:extLst>
              <a:ext uri="{FF2B5EF4-FFF2-40B4-BE49-F238E27FC236}">
                <a16:creationId xmlns:a16="http://schemas.microsoft.com/office/drawing/2014/main" id="{50E340DE-2B21-482F-A502-AF406756B689}"/>
              </a:ext>
            </a:extLst>
          </p:cNvPr>
          <p:cNvSpPr>
            <a:spLocks noGrp="1"/>
          </p:cNvSpPr>
          <p:nvPr/>
        </p:nvSpPr>
        <p:spPr>
          <a:xfrm>
            <a:off x="833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0 د.أ</a:t>
            </a:r>
          </a:p>
        </p:txBody>
      </p:sp>
      <p:sp>
        <p:nvSpPr>
          <p:cNvPr id="8" name="رحلة القرار الأساسية">
            <a:extLst>
              <a:ext uri="{FF2B5EF4-FFF2-40B4-BE49-F238E27FC236}">
                <a16:creationId xmlns:a16="http://schemas.microsoft.com/office/drawing/2014/main" id="{E87F3160-2A4D-474A-BAD1-DE684FBDEF3D}"/>
              </a:ext>
            </a:extLst>
          </p:cNvPr>
          <p:cNvSpPr>
            <a:spLocks noGrp="1"/>
          </p:cNvSpPr>
          <p:nvPr/>
        </p:nvSpPr>
        <p:spPr>
          <a:xfrm>
            <a:off x="838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رحلة القرار الأساسية</a:t>
            </a:r>
          </a:p>
        </p:txBody>
      </p:sp>
      <p:sp>
        <p:nvSpPr>
          <p:cNvPr id="9" name="مجاني للمستفيد">
            <a:extLst>
              <a:ext uri="{FF2B5EF4-FFF2-40B4-BE49-F238E27FC236}">
                <a16:creationId xmlns:a16="http://schemas.microsoft.com/office/drawing/2014/main" id="{0FCFF31A-D858-46E9-B153-A69EB5CE59C7}"/>
              </a:ext>
            </a:extLst>
          </p:cNvPr>
          <p:cNvSpPr>
            <a:spLocks noGrp="1"/>
          </p:cNvSpPr>
          <p:nvPr/>
        </p:nvSpPr>
        <p:spPr>
          <a:xfrm>
            <a:off x="838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مجاني للمستفيد</a:t>
            </a:r>
          </a:p>
        </p:txBody>
      </p:sp>
      <p:sp>
        <p:nvSpPr>
          <p:cNvPr id="10" name="Rectangle: Rounded Corners 9">
            <a:extLst>
              <a:ext uri="{FF2B5EF4-FFF2-40B4-BE49-F238E27FC236}">
                <a16:creationId xmlns:a16="http://schemas.microsoft.com/office/drawing/2014/main" id="{C5451EDC-1088-4E4D-8BD2-6004357E77B8}"/>
              </a:ext>
            </a:extLst>
          </p:cNvPr>
          <p:cNvSpPr>
            <a:spLocks noGrp="1"/>
          </p:cNvSpPr>
          <p:nvPr/>
        </p:nvSpPr>
        <p:spPr>
          <a:xfrm>
            <a:off x="4333875" y="1724025"/>
            <a:ext cx="3333750" cy="3009900"/>
          </a:xfrm>
          <a:prstGeom prst="roundRect">
            <a:avLst>
              <a:gd name="adj" fmla="val 2532"/>
            </a:avLst>
          </a:prstGeom>
          <a:solidFill>
            <a:srgbClr val="F3EAD7"/>
          </a:solidFill>
          <a:ln w="12383">
            <a:solidFill>
              <a:srgbClr val="DFC98F"/>
            </a:solidFill>
          </a:ln>
        </p:spPr>
      </p:sp>
      <p:sp>
        <p:nvSpPr>
          <p:cNvPr id="11" name="Rectangle: Rounded Corners 10">
            <a:extLst>
              <a:ext uri="{FF2B5EF4-FFF2-40B4-BE49-F238E27FC236}">
                <a16:creationId xmlns:a16="http://schemas.microsoft.com/office/drawing/2014/main" id="{52506002-E203-49CB-B815-553AA7EB17C2}"/>
              </a:ext>
            </a:extLst>
          </p:cNvPr>
          <p:cNvSpPr>
            <a:spLocks noGrp="1"/>
          </p:cNvSpPr>
          <p:nvPr/>
        </p:nvSpPr>
        <p:spPr>
          <a:xfrm>
            <a:off x="4857750" y="1943100"/>
            <a:ext cx="2286000" cy="381000"/>
          </a:xfrm>
          <a:prstGeom prst="roundRect">
            <a:avLst>
              <a:gd name="adj" fmla="val 20000"/>
            </a:avLst>
          </a:prstGeom>
          <a:solidFill>
            <a:srgbClr val="E7EEF6"/>
          </a:solidFill>
          <a:ln w="12383">
            <a:solidFill>
              <a:srgbClr val="C9D5E3"/>
            </a:solidFill>
          </a:ln>
        </p:spPr>
      </p:sp>
      <p:sp>
        <p:nvSpPr>
          <p:cNvPr id="12" name="المؤسسة التعليمية">
            <a:extLst>
              <a:ext uri="{FF2B5EF4-FFF2-40B4-BE49-F238E27FC236}">
                <a16:creationId xmlns:a16="http://schemas.microsoft.com/office/drawing/2014/main" id="{844289F8-C3FB-4A2D-96B2-0F56EF566115}"/>
              </a:ext>
            </a:extLst>
          </p:cNvPr>
          <p:cNvSpPr>
            <a:spLocks noGrp="1"/>
          </p:cNvSpPr>
          <p:nvPr/>
        </p:nvSpPr>
        <p:spPr>
          <a:xfrm>
            <a:off x="495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المؤسسة التعليمية</a:t>
            </a:r>
          </a:p>
        </p:txBody>
      </p:sp>
      <p:sp>
        <p:nvSpPr>
          <p:cNvPr id="13" name="20 د.أ*">
            <a:extLst>
              <a:ext uri="{FF2B5EF4-FFF2-40B4-BE49-F238E27FC236}">
                <a16:creationId xmlns:a16="http://schemas.microsoft.com/office/drawing/2014/main" id="{20D90DEA-95A3-48B8-9073-AB20DA6AAB50}"/>
              </a:ext>
            </a:extLst>
          </p:cNvPr>
          <p:cNvSpPr>
            <a:spLocks noGrp="1"/>
          </p:cNvSpPr>
          <p:nvPr/>
        </p:nvSpPr>
        <p:spPr>
          <a:xfrm>
            <a:off x="452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4050" b="1" kern="0" spc="0">
                <a:solidFill>
                  <a:srgbClr val="C8A04C"/>
                </a:solidFill>
                <a:latin typeface="IBM Plex Sans Arabic"/>
                <a:ea typeface="IBM Plex Sans Arabic"/>
                <a:cs typeface="IBM Plex Sans Arabic"/>
              </a:defRPr>
            </a:pPr>
            <a:r>
              <a:rPr lang="ar-JO" sz="4050" b="1" kern="0" spc="0">
                <a:solidFill>
                  <a:srgbClr val="C8A04C"/>
                </a:solidFill>
                <a:latin typeface="IBM Plex Sans Arabic"/>
                <a:ea typeface="IBM Plex Sans Arabic"/>
                <a:cs typeface="IBM Plex Sans Arabic"/>
              </a:rPr>
              <a:t>20 د.أ*</a:t>
            </a:r>
          </a:p>
        </p:txBody>
      </p:sp>
      <p:sp>
        <p:nvSpPr>
          <p:cNvPr id="14" name="لكل طالب نشط سنويًا">
            <a:extLst>
              <a:ext uri="{FF2B5EF4-FFF2-40B4-BE49-F238E27FC236}">
                <a16:creationId xmlns:a16="http://schemas.microsoft.com/office/drawing/2014/main" id="{F00BEDCF-E315-4365-BF1F-B92B9DBD402E}"/>
              </a:ext>
            </a:extLst>
          </p:cNvPr>
          <p:cNvSpPr>
            <a:spLocks noGrp="1"/>
          </p:cNvSpPr>
          <p:nvPr/>
        </p:nvSpPr>
        <p:spPr>
          <a:xfrm>
            <a:off x="457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لكل طالب نشط سنويًا</a:t>
            </a:r>
          </a:p>
        </p:txBody>
      </p:sp>
      <p:sp>
        <p:nvSpPr>
          <p:cNvPr id="15" name="أدوات مرشد + تقارير + تدريب">
            <a:extLst>
              <a:ext uri="{FF2B5EF4-FFF2-40B4-BE49-F238E27FC236}">
                <a16:creationId xmlns:a16="http://schemas.microsoft.com/office/drawing/2014/main" id="{2CB950B3-2DB5-4B28-85BA-7913F1976B70}"/>
              </a:ext>
            </a:extLst>
          </p:cNvPr>
          <p:cNvSpPr>
            <a:spLocks noGrp="1"/>
          </p:cNvSpPr>
          <p:nvPr/>
        </p:nvSpPr>
        <p:spPr>
          <a:xfrm>
            <a:off x="457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أدوات مرشد + تقارير + تدريب</a:t>
            </a:r>
          </a:p>
        </p:txBody>
      </p:sp>
      <p:sp>
        <p:nvSpPr>
          <p:cNvPr id="16" name="Rectangle: Rounded Corners 15">
            <a:extLst>
              <a:ext uri="{FF2B5EF4-FFF2-40B4-BE49-F238E27FC236}">
                <a16:creationId xmlns:a16="http://schemas.microsoft.com/office/drawing/2014/main" id="{6685F40B-7893-4B93-84FC-9CCC55BA7232}"/>
              </a:ext>
            </a:extLst>
          </p:cNvPr>
          <p:cNvSpPr>
            <a:spLocks noGrp="1"/>
          </p:cNvSpPr>
          <p:nvPr/>
        </p:nvSpPr>
        <p:spPr>
          <a:xfrm>
            <a:off x="523875" y="1724025"/>
            <a:ext cx="3333750" cy="3009900"/>
          </a:xfrm>
          <a:prstGeom prst="roundRect">
            <a:avLst>
              <a:gd name="adj" fmla="val 2532"/>
            </a:avLst>
          </a:prstGeom>
          <a:solidFill>
            <a:srgbClr val="FFFFFF"/>
          </a:solidFill>
          <a:ln w="12383">
            <a:solidFill>
              <a:srgbClr val="58749B"/>
            </a:solidFill>
          </a:ln>
        </p:spPr>
      </p:sp>
      <p:sp>
        <p:nvSpPr>
          <p:cNvPr id="17" name="Rectangle: Rounded Corners 16">
            <a:extLst>
              <a:ext uri="{FF2B5EF4-FFF2-40B4-BE49-F238E27FC236}">
                <a16:creationId xmlns:a16="http://schemas.microsoft.com/office/drawing/2014/main" id="{2DAE900C-6C36-4B8A-AF9B-2E20C6428953}"/>
              </a:ext>
            </a:extLst>
          </p:cNvPr>
          <p:cNvSpPr>
            <a:spLocks noGrp="1"/>
          </p:cNvSpPr>
          <p:nvPr/>
        </p:nvSpPr>
        <p:spPr>
          <a:xfrm>
            <a:off x="1047750" y="1943100"/>
            <a:ext cx="2286000" cy="381000"/>
          </a:xfrm>
          <a:prstGeom prst="roundRect">
            <a:avLst>
              <a:gd name="adj" fmla="val 20000"/>
            </a:avLst>
          </a:prstGeom>
          <a:solidFill>
            <a:srgbClr val="E7EEF6"/>
          </a:solidFill>
          <a:ln w="12383">
            <a:solidFill>
              <a:srgbClr val="C9D5E3"/>
            </a:solidFill>
          </a:ln>
        </p:spPr>
      </p:sp>
      <p:sp>
        <p:nvSpPr>
          <p:cNvPr id="18" name="جهة تعليمية عامة">
            <a:extLst>
              <a:ext uri="{FF2B5EF4-FFF2-40B4-BE49-F238E27FC236}">
                <a16:creationId xmlns:a16="http://schemas.microsoft.com/office/drawing/2014/main" id="{221713DB-534A-4835-8F94-46F7ADF8F9DF}"/>
              </a:ext>
            </a:extLst>
          </p:cNvPr>
          <p:cNvSpPr>
            <a:spLocks noGrp="1"/>
          </p:cNvSpPr>
          <p:nvPr/>
        </p:nvSpPr>
        <p:spPr>
          <a:xfrm>
            <a:off x="1143000" y="1970723"/>
            <a:ext cx="209550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013070"/>
                </a:solidFill>
                <a:latin typeface="IBM Plex Sans Arabic"/>
                <a:ea typeface="IBM Plex Sans Arabic"/>
                <a:cs typeface="IBM Plex Sans Arabic"/>
              </a:defRPr>
            </a:pPr>
            <a:r>
              <a:rPr lang="ar-JO" sz="1350" b="1" kern="0" spc="0">
                <a:solidFill>
                  <a:srgbClr val="013070"/>
                </a:solidFill>
                <a:latin typeface="IBM Plex Sans Arabic"/>
                <a:ea typeface="IBM Plex Sans Arabic"/>
                <a:cs typeface="IBM Plex Sans Arabic"/>
              </a:rPr>
              <a:t>جهة تعليمية عامة</a:t>
            </a:r>
          </a:p>
        </p:txBody>
      </p:sp>
      <p:sp>
        <p:nvSpPr>
          <p:cNvPr id="19" name="عقد سنوي">
            <a:extLst>
              <a:ext uri="{FF2B5EF4-FFF2-40B4-BE49-F238E27FC236}">
                <a16:creationId xmlns:a16="http://schemas.microsoft.com/office/drawing/2014/main" id="{812691B4-5EE4-4182-B09B-4F0F0892FB8A}"/>
              </a:ext>
            </a:extLst>
          </p:cNvPr>
          <p:cNvSpPr>
            <a:spLocks noGrp="1"/>
          </p:cNvSpPr>
          <p:nvPr/>
        </p:nvSpPr>
        <p:spPr>
          <a:xfrm>
            <a:off x="714375" y="2514600"/>
            <a:ext cx="2952750" cy="819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3225" b="1" kern="0" spc="0">
                <a:solidFill>
                  <a:srgbClr val="013070"/>
                </a:solidFill>
                <a:latin typeface="IBM Plex Sans Arabic"/>
                <a:ea typeface="IBM Plex Sans Arabic"/>
                <a:cs typeface="IBM Plex Sans Arabic"/>
              </a:defRPr>
            </a:pPr>
            <a:r>
              <a:rPr lang="ar-JO" sz="3225" b="1" kern="0" spc="0">
                <a:solidFill>
                  <a:srgbClr val="013070"/>
                </a:solidFill>
                <a:latin typeface="IBM Plex Sans Arabic"/>
                <a:ea typeface="IBM Plex Sans Arabic"/>
                <a:cs typeface="IBM Plex Sans Arabic"/>
              </a:rPr>
              <a:t>عقد سنوي</a:t>
            </a:r>
          </a:p>
        </p:txBody>
      </p:sp>
      <p:sp>
        <p:nvSpPr>
          <p:cNvPr id="20" name="بحسب نطاق الخدمة">
            <a:extLst>
              <a:ext uri="{FF2B5EF4-FFF2-40B4-BE49-F238E27FC236}">
                <a16:creationId xmlns:a16="http://schemas.microsoft.com/office/drawing/2014/main" id="{85099634-9B37-4E81-8EFF-7ABE3FC44D60}"/>
              </a:ext>
            </a:extLst>
          </p:cNvPr>
          <p:cNvSpPr>
            <a:spLocks noGrp="1"/>
          </p:cNvSpPr>
          <p:nvPr/>
        </p:nvSpPr>
        <p:spPr>
          <a:xfrm>
            <a:off x="762000" y="3381375"/>
            <a:ext cx="2857500" cy="4476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102C50"/>
                </a:solidFill>
                <a:latin typeface="IBM Plex Sans Arabic"/>
                <a:ea typeface="IBM Plex Sans Arabic"/>
                <a:cs typeface="IBM Plex Sans Arabic"/>
              </a:defRPr>
            </a:pPr>
            <a:r>
              <a:rPr lang="ar-JO" sz="1800" b="1" kern="0" spc="0">
                <a:solidFill>
                  <a:srgbClr val="102C50"/>
                </a:solidFill>
                <a:latin typeface="IBM Plex Sans Arabic"/>
                <a:ea typeface="IBM Plex Sans Arabic"/>
                <a:cs typeface="IBM Plex Sans Arabic"/>
              </a:rPr>
              <a:t>بحسب نطاق الخدمة</a:t>
            </a:r>
          </a:p>
        </p:txBody>
      </p:sp>
      <p:sp>
        <p:nvSpPr>
          <p:cNvPr id="21" name="بيانات + دعم + قياس أثر">
            <a:extLst>
              <a:ext uri="{FF2B5EF4-FFF2-40B4-BE49-F238E27FC236}">
                <a16:creationId xmlns:a16="http://schemas.microsoft.com/office/drawing/2014/main" id="{F36C92A9-82C3-4DB8-86D7-B99B627A0566}"/>
              </a:ext>
            </a:extLst>
          </p:cNvPr>
          <p:cNvSpPr>
            <a:spLocks noGrp="1"/>
          </p:cNvSpPr>
          <p:nvPr/>
        </p:nvSpPr>
        <p:spPr>
          <a:xfrm>
            <a:off x="762000" y="4010025"/>
            <a:ext cx="2857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00" b="0" kern="0" spc="0">
                <a:solidFill>
                  <a:srgbClr val="53657C"/>
                </a:solidFill>
                <a:latin typeface="IBM Plex Sans Arabic"/>
                <a:ea typeface="IBM Plex Sans Arabic"/>
                <a:cs typeface="IBM Plex Sans Arabic"/>
              </a:defRPr>
            </a:pPr>
            <a:r>
              <a:rPr lang="ar-JO" sz="1500" b="0" kern="0" spc="0">
                <a:solidFill>
                  <a:srgbClr val="53657C"/>
                </a:solidFill>
                <a:latin typeface="IBM Plex Sans Arabic"/>
                <a:ea typeface="IBM Plex Sans Arabic"/>
                <a:cs typeface="IBM Plex Sans Arabic"/>
              </a:rPr>
              <a:t>بيانات + دعم + قياس أثر</a:t>
            </a:r>
          </a:p>
        </p:txBody>
      </p:sp>
      <p:sp>
        <p:nvSpPr>
          <p:cNvPr id="22" name="Rectangle: Rounded Corners 21">
            <a:extLst>
              <a:ext uri="{FF2B5EF4-FFF2-40B4-BE49-F238E27FC236}">
                <a16:creationId xmlns:a16="http://schemas.microsoft.com/office/drawing/2014/main" id="{ADD928CA-CEEA-4315-8687-3022FE8A953B}"/>
              </a:ext>
            </a:extLst>
          </p:cNvPr>
          <p:cNvSpPr>
            <a:spLocks noGrp="1"/>
          </p:cNvSpPr>
          <p:nvPr/>
        </p:nvSpPr>
        <p:spPr>
          <a:xfrm>
            <a:off x="1524000" y="4972050"/>
            <a:ext cx="9953625" cy="742950"/>
          </a:xfrm>
          <a:prstGeom prst="roundRect">
            <a:avLst>
              <a:gd name="adj" fmla="val 10256"/>
            </a:avLst>
          </a:prstGeom>
          <a:solidFill>
            <a:srgbClr val="123D76"/>
          </a:solidFill>
          <a:ln w="12383">
            <a:solidFill>
              <a:srgbClr val="58749B"/>
            </a:solidFill>
          </a:ln>
        </p:spPr>
      </p:sp>
      <p:sp>
        <p:nvSpPr>
          <p:cNvPr id="23" name="1,950 طالبًا مدفوعًا">
            <a:extLst>
              <a:ext uri="{FF2B5EF4-FFF2-40B4-BE49-F238E27FC236}">
                <a16:creationId xmlns:a16="http://schemas.microsoft.com/office/drawing/2014/main" id="{D05B9410-EA6B-4238-9DDC-FC985EBF4366}"/>
              </a:ext>
            </a:extLst>
          </p:cNvPr>
          <p:cNvSpPr>
            <a:spLocks noGrp="1"/>
          </p:cNvSpPr>
          <p:nvPr/>
        </p:nvSpPr>
        <p:spPr>
          <a:xfrm>
            <a:off x="6238875" y="5011103"/>
            <a:ext cx="4953000" cy="55054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775" b="1" kern="0" spc="0">
                <a:solidFill>
                  <a:srgbClr val="FFFFFF"/>
                </a:solidFill>
                <a:latin typeface="IBM Plex Sans Arabic"/>
                <a:ea typeface="IBM Plex Sans Arabic"/>
                <a:cs typeface="IBM Plex Sans Arabic"/>
              </a:defRPr>
            </a:pPr>
            <a:r>
              <a:rPr lang="ar-JO" sz="2775" b="1" kern="0" spc="0">
                <a:solidFill>
                  <a:srgbClr val="FFFFFF"/>
                </a:solidFill>
                <a:latin typeface="IBM Plex Sans Arabic"/>
                <a:ea typeface="IBM Plex Sans Arabic"/>
                <a:cs typeface="IBM Plex Sans Arabic"/>
              </a:rPr>
              <a:t>1,950 طالبًا مدفوعًا</a:t>
            </a:r>
          </a:p>
        </p:txBody>
      </p:sp>
      <p:sp>
        <p:nvSpPr>
          <p:cNvPr id="24" name="نقطة تعادل مفترضة*">
            <a:extLst>
              <a:ext uri="{FF2B5EF4-FFF2-40B4-BE49-F238E27FC236}">
                <a16:creationId xmlns:a16="http://schemas.microsoft.com/office/drawing/2014/main" id="{7E069B4D-8ABA-414F-BFD4-A1624B5C0666}"/>
              </a:ext>
            </a:extLst>
          </p:cNvPr>
          <p:cNvSpPr>
            <a:spLocks noGrp="1"/>
          </p:cNvSpPr>
          <p:nvPr/>
        </p:nvSpPr>
        <p:spPr>
          <a:xfrm>
            <a:off x="1809750" y="5057775"/>
            <a:ext cx="4095750"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C8A04C"/>
                </a:solidFill>
                <a:latin typeface="IBM Plex Sans Arabic"/>
                <a:ea typeface="IBM Plex Sans Arabic"/>
                <a:cs typeface="IBM Plex Sans Arabic"/>
              </a:defRPr>
            </a:pPr>
            <a:r>
              <a:rPr lang="ar-JO" sz="1875" b="1" kern="0" spc="0">
                <a:solidFill>
                  <a:srgbClr val="C8A04C"/>
                </a:solidFill>
                <a:latin typeface="IBM Plex Sans Arabic"/>
                <a:ea typeface="IBM Plex Sans Arabic"/>
                <a:cs typeface="IBM Plex Sans Arabic"/>
              </a:rPr>
              <a:t>نقطة تعادل مفترضة*</a:t>
            </a:r>
          </a:p>
        </p:txBody>
      </p:sp>
      <p:sp>
        <p:nvSpPr>
          <p:cNvPr id="25" name="* فرضيات للاختبار وليست مبيعات: السعر، الكلفة">
            <a:extLst>
              <a:ext uri="{FF2B5EF4-FFF2-40B4-BE49-F238E27FC236}">
                <a16:creationId xmlns:a16="http://schemas.microsoft.com/office/drawing/2014/main" id="{520DBEA2-5489-46EA-93D5-5D2EB6A2E4F7}"/>
              </a:ext>
            </a:extLst>
          </p:cNvPr>
          <p:cNvSpPr>
            <a:spLocks noGrp="1"/>
          </p:cNvSpPr>
          <p:nvPr/>
        </p:nvSpPr>
        <p:spPr>
          <a:xfrm>
            <a:off x="1524000" y="5888355"/>
            <a:ext cx="9953625"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 فرضيات للاختبار وليست مبيعات: السعر، الكلفة، والتعادل تتغير بنتائج التجربة</a:t>
            </a:r>
          </a:p>
        </p:txBody>
      </p:sp>
    </p:spTree>
    <p:extLst>
      <p:ext uri="{BB962C8B-B14F-4D97-AF65-F5344CB8AC3E}">
        <p14:creationId xmlns:p14="http://schemas.microsoft.com/office/powerpoint/2010/main" val="7190390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22" name="Picture 21"/>
          <p:cNvPicPr>
            <a:picLocks noChangeAspect="1"/>
          </p:cNvPicPr>
          <p:nvPr/>
        </p:nvPicPr>
        <p:blipFill>
          <a:blip r:embed="rId3"/>
          <a:stretch/>
        </p:blipFill>
        <p:spPr>
          <a:xfrm>
            <a:off x="11125200" y="400050"/>
            <a:ext cx="552450" cy="552450"/>
          </a:xfrm>
          <a:prstGeom prst="rect">
            <a:avLst/>
          </a:prstGeom>
        </p:spPr>
      </p:pic>
      <p:sp>
        <p:nvSpPr>
          <p:cNvPr id="2" name="الأثر: كيف نثبت أنه يعمل؟">
            <a:extLst>
              <a:ext uri="{FF2B5EF4-FFF2-40B4-BE49-F238E27FC236}">
                <a16:creationId xmlns:a16="http://schemas.microsoft.com/office/drawing/2014/main" id="{DAF3E3FF-D5DC-436A-B5EE-9B43D68581B2}"/>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300" b="1" kern="0" spc="0">
                <a:solidFill>
                  <a:srgbClr val="013070"/>
                </a:solidFill>
                <a:latin typeface="IBM Plex Sans Arabic"/>
                <a:ea typeface="IBM Plex Sans Arabic"/>
                <a:cs typeface="IBM Plex Sans Arabic"/>
              </a:defRPr>
            </a:pPr>
            <a:r>
              <a:rPr lang="ar-JO" sz="3300" b="1" kern="0" spc="0">
                <a:solidFill>
                  <a:srgbClr val="013070"/>
                </a:solidFill>
                <a:latin typeface="IBM Plex Sans Arabic"/>
                <a:ea typeface="IBM Plex Sans Arabic"/>
                <a:cs typeface="IBM Plex Sans Arabic"/>
              </a:rPr>
              <a:t>الأثر: كيف نثبت أنه يعمل؟</a:t>
            </a:r>
          </a:p>
        </p:txBody>
      </p:sp>
      <p:sp>
        <p:nvSpPr>
          <p:cNvPr id="3" name="09">
            <a:extLst>
              <a:ext uri="{FF2B5EF4-FFF2-40B4-BE49-F238E27FC236}">
                <a16:creationId xmlns:a16="http://schemas.microsoft.com/office/drawing/2014/main" id="{CE3992B5-2D93-4481-B3A7-27184CD6ED0E}"/>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09</a:t>
            </a:r>
          </a:p>
        </p:txBody>
      </p:sp>
      <p:sp>
        <p:nvSpPr>
          <p:cNvPr id="4" name="100">
            <a:extLst>
              <a:ext uri="{FF2B5EF4-FFF2-40B4-BE49-F238E27FC236}">
                <a16:creationId xmlns:a16="http://schemas.microsoft.com/office/drawing/2014/main" id="{71F154CC-053C-483A-BD68-3889707A1309}"/>
              </a:ext>
            </a:extLst>
          </p:cNvPr>
          <p:cNvSpPr>
            <a:spLocks noGrp="1"/>
          </p:cNvSpPr>
          <p:nvPr/>
        </p:nvSpPr>
        <p:spPr>
          <a:xfrm>
            <a:off x="8191500"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100</a:t>
            </a:r>
          </a:p>
        </p:txBody>
      </p:sp>
      <p:sp>
        <p:nvSpPr>
          <p:cNvPr id="5" name="طالب">
            <a:extLst>
              <a:ext uri="{FF2B5EF4-FFF2-40B4-BE49-F238E27FC236}">
                <a16:creationId xmlns:a16="http://schemas.microsoft.com/office/drawing/2014/main" id="{C788CDC7-54E5-4906-89F2-20DE4D940EE5}"/>
              </a:ext>
            </a:extLst>
          </p:cNvPr>
          <p:cNvSpPr>
            <a:spLocks noGrp="1"/>
          </p:cNvSpPr>
          <p:nvPr/>
        </p:nvSpPr>
        <p:spPr>
          <a:xfrm>
            <a:off x="8191500"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طالب</a:t>
            </a:r>
          </a:p>
        </p:txBody>
      </p:sp>
      <p:sp>
        <p:nvSpPr>
          <p:cNvPr id="6" name="3">
            <a:extLst>
              <a:ext uri="{FF2B5EF4-FFF2-40B4-BE49-F238E27FC236}">
                <a16:creationId xmlns:a16="http://schemas.microsoft.com/office/drawing/2014/main" id="{E2759A1D-455C-4AC3-87FE-B8CEC1E6FE17}"/>
              </a:ext>
            </a:extLst>
          </p:cNvPr>
          <p:cNvSpPr>
            <a:spLocks noGrp="1"/>
          </p:cNvSpPr>
          <p:nvPr/>
        </p:nvSpPr>
        <p:spPr>
          <a:xfrm>
            <a:off x="4429125"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3</a:t>
            </a:r>
          </a:p>
        </p:txBody>
      </p:sp>
      <p:sp>
        <p:nvSpPr>
          <p:cNvPr id="7" name="مدارس">
            <a:extLst>
              <a:ext uri="{FF2B5EF4-FFF2-40B4-BE49-F238E27FC236}">
                <a16:creationId xmlns:a16="http://schemas.microsoft.com/office/drawing/2014/main" id="{EFC9E8FB-BE6F-4625-8E7D-2A615D3F9D25}"/>
              </a:ext>
            </a:extLst>
          </p:cNvPr>
          <p:cNvSpPr>
            <a:spLocks noGrp="1"/>
          </p:cNvSpPr>
          <p:nvPr/>
        </p:nvSpPr>
        <p:spPr>
          <a:xfrm>
            <a:off x="4429125"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مدارس</a:t>
            </a:r>
          </a:p>
        </p:txBody>
      </p:sp>
      <p:sp>
        <p:nvSpPr>
          <p:cNvPr id="8" name="6">
            <a:extLst>
              <a:ext uri="{FF2B5EF4-FFF2-40B4-BE49-F238E27FC236}">
                <a16:creationId xmlns:a16="http://schemas.microsoft.com/office/drawing/2014/main" id="{0A32E673-78BB-41FF-A205-62D8AE465416}"/>
              </a:ext>
            </a:extLst>
          </p:cNvPr>
          <p:cNvSpPr>
            <a:spLocks noGrp="1"/>
          </p:cNvSpPr>
          <p:nvPr/>
        </p:nvSpPr>
        <p:spPr>
          <a:xfrm>
            <a:off x="666750" y="1708785"/>
            <a:ext cx="3238500" cy="1097280"/>
          </a:xfrm>
          <a:prstGeom prst="rect">
            <a:avLst/>
          </a:prstGeom>
          <a:noFill/>
          <a:ln w="0">
            <a:noFill/>
          </a:ln>
        </p:spPr>
        <p:txBody>
          <a:bodyPr wrap="square" lIns="38100" tIns="28575" rIns="38100" bIns="28575" anchor="ctr">
            <a:noAutofit/>
          </a:bodyPr>
          <a:lstStyle/>
          <a:p>
            <a:pPr algn="ctr" rtl="0">
              <a:lnSpc>
                <a:spcPct val="116000"/>
              </a:lnSpc>
              <a:spcBef>
                <a:spcPts val="0"/>
              </a:spcBef>
              <a:spcAft>
                <a:spcPts val="0"/>
              </a:spcAft>
              <a:buNone/>
              <a:defRPr lang="ar-JO" sz="5850" b="1" kern="0" spc="0">
                <a:solidFill>
                  <a:srgbClr val="013070"/>
                </a:solidFill>
                <a:latin typeface="IBM Plex Sans Arabic"/>
                <a:ea typeface="IBM Plex Sans Arabic"/>
                <a:cs typeface="IBM Plex Sans Arabic"/>
              </a:defRPr>
            </a:pPr>
            <a:r>
              <a:rPr lang="ar-JO" sz="5850" b="1" kern="0" spc="0">
                <a:solidFill>
                  <a:srgbClr val="013070"/>
                </a:solidFill>
                <a:latin typeface="IBM Plex Sans Arabic"/>
                <a:ea typeface="IBM Plex Sans Arabic"/>
                <a:cs typeface="IBM Plex Sans Arabic"/>
              </a:rPr>
              <a:t>6</a:t>
            </a:r>
          </a:p>
        </p:txBody>
      </p:sp>
      <p:sp>
        <p:nvSpPr>
          <p:cNvPr id="9" name="أسابيع">
            <a:extLst>
              <a:ext uri="{FF2B5EF4-FFF2-40B4-BE49-F238E27FC236}">
                <a16:creationId xmlns:a16="http://schemas.microsoft.com/office/drawing/2014/main" id="{273D9D99-9F76-4782-9E36-82D8471F7BB5}"/>
              </a:ext>
            </a:extLst>
          </p:cNvPr>
          <p:cNvSpPr>
            <a:spLocks noGrp="1"/>
          </p:cNvSpPr>
          <p:nvPr/>
        </p:nvSpPr>
        <p:spPr>
          <a:xfrm>
            <a:off x="666750" y="2724150"/>
            <a:ext cx="3238500" cy="4953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400" b="1" kern="0" spc="0">
                <a:solidFill>
                  <a:srgbClr val="C8A04C"/>
                </a:solidFill>
                <a:latin typeface="IBM Plex Sans Arabic"/>
                <a:ea typeface="IBM Plex Sans Arabic"/>
                <a:cs typeface="IBM Plex Sans Arabic"/>
              </a:defRPr>
            </a:pPr>
            <a:r>
              <a:rPr lang="ar-JO" sz="2400" b="1" kern="0" spc="0">
                <a:solidFill>
                  <a:srgbClr val="C8A04C"/>
                </a:solidFill>
                <a:latin typeface="IBM Plex Sans Arabic"/>
                <a:ea typeface="IBM Plex Sans Arabic"/>
                <a:cs typeface="IBM Plex Sans Arabic"/>
              </a:rPr>
              <a:t>أسابيع</a:t>
            </a:r>
          </a:p>
        </p:txBody>
      </p:sp>
      <p:sp>
        <p:nvSpPr>
          <p:cNvPr id="10" name="Rectangle: Rounded Corners 9">
            <a:extLst>
              <a:ext uri="{FF2B5EF4-FFF2-40B4-BE49-F238E27FC236}">
                <a16:creationId xmlns:a16="http://schemas.microsoft.com/office/drawing/2014/main" id="{F2DDCE4F-2A71-495C-BAF2-0D22468F241C}"/>
              </a:ext>
            </a:extLst>
          </p:cNvPr>
          <p:cNvSpPr>
            <a:spLocks noGrp="1"/>
          </p:cNvSpPr>
          <p:nvPr/>
        </p:nvSpPr>
        <p:spPr>
          <a:xfrm>
            <a:off x="2667000" y="3476625"/>
            <a:ext cx="8810625" cy="552450"/>
          </a:xfrm>
          <a:prstGeom prst="roundRect">
            <a:avLst>
              <a:gd name="adj" fmla="val 13793"/>
            </a:avLst>
          </a:prstGeom>
          <a:solidFill>
            <a:srgbClr val="013070"/>
          </a:solidFill>
          <a:ln w="12383">
            <a:solidFill>
              <a:srgbClr val="013070"/>
            </a:solidFill>
          </a:ln>
        </p:spPr>
      </p:sp>
      <p:sp>
        <p:nvSpPr>
          <p:cNvPr id="11" name="نقيس قبل الاستخدام وبعده">
            <a:extLst>
              <a:ext uri="{FF2B5EF4-FFF2-40B4-BE49-F238E27FC236}">
                <a16:creationId xmlns:a16="http://schemas.microsoft.com/office/drawing/2014/main" id="{E20816A1-FA1C-4782-8212-77BB34A0DB76}"/>
              </a:ext>
            </a:extLst>
          </p:cNvPr>
          <p:cNvSpPr>
            <a:spLocks noGrp="1"/>
          </p:cNvSpPr>
          <p:nvPr/>
        </p:nvSpPr>
        <p:spPr>
          <a:xfrm>
            <a:off x="2857500" y="3539490"/>
            <a:ext cx="8429625" cy="41719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FFFFFF"/>
                </a:solidFill>
                <a:latin typeface="IBM Plex Sans Arabic"/>
                <a:ea typeface="IBM Plex Sans Arabic"/>
                <a:cs typeface="IBM Plex Sans Arabic"/>
              </a:defRPr>
            </a:pPr>
            <a:r>
              <a:rPr lang="ar-JO" sz="2025" b="1" kern="0" spc="0">
                <a:solidFill>
                  <a:srgbClr val="FFFFFF"/>
                </a:solidFill>
                <a:latin typeface="IBM Plex Sans Arabic"/>
                <a:ea typeface="IBM Plex Sans Arabic"/>
                <a:cs typeface="IBM Plex Sans Arabic"/>
              </a:rPr>
              <a:t>نقيس قبل الاستخدام وبعده</a:t>
            </a:r>
          </a:p>
        </p:txBody>
      </p:sp>
      <p:sp>
        <p:nvSpPr>
          <p:cNvPr id="12" name="Rectangle: Rounded Corners 11">
            <a:extLst>
              <a:ext uri="{FF2B5EF4-FFF2-40B4-BE49-F238E27FC236}">
                <a16:creationId xmlns:a16="http://schemas.microsoft.com/office/drawing/2014/main" id="{8EE60666-C178-4F7A-AD9E-13B28040CE7C}"/>
              </a:ext>
            </a:extLst>
          </p:cNvPr>
          <p:cNvSpPr>
            <a:spLocks noGrp="1"/>
          </p:cNvSpPr>
          <p:nvPr/>
        </p:nvSpPr>
        <p:spPr>
          <a:xfrm>
            <a:off x="7953375" y="4391025"/>
            <a:ext cx="3238500" cy="1200150"/>
          </a:xfrm>
          <a:prstGeom prst="roundRect">
            <a:avLst>
              <a:gd name="adj" fmla="val 6349"/>
            </a:avLst>
          </a:prstGeom>
          <a:solidFill>
            <a:srgbClr val="FFFFFF"/>
          </a:solidFill>
          <a:ln w="12383">
            <a:solidFill>
              <a:srgbClr val="D4DEE9"/>
            </a:solidFill>
          </a:ln>
        </p:spPr>
      </p:sp>
      <p:sp>
        <p:nvSpPr>
          <p:cNvPr id="13" name="70 طالبًا">
            <a:extLst>
              <a:ext uri="{FF2B5EF4-FFF2-40B4-BE49-F238E27FC236}">
                <a16:creationId xmlns:a16="http://schemas.microsoft.com/office/drawing/2014/main" id="{45DAB779-AC6C-4282-8CA0-AC87894A594E}"/>
              </a:ext>
            </a:extLst>
          </p:cNvPr>
          <p:cNvSpPr>
            <a:spLocks noGrp="1"/>
          </p:cNvSpPr>
          <p:nvPr/>
        </p:nvSpPr>
        <p:spPr>
          <a:xfrm>
            <a:off x="80962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70 طالبًا</a:t>
            </a:r>
          </a:p>
        </p:txBody>
      </p:sp>
      <p:sp>
        <p:nvSpPr>
          <p:cNvPr id="14" name="يكملون مقارنة موثقة">
            <a:extLst>
              <a:ext uri="{FF2B5EF4-FFF2-40B4-BE49-F238E27FC236}">
                <a16:creationId xmlns:a16="http://schemas.microsoft.com/office/drawing/2014/main" id="{40783D63-F17A-45E2-A119-D3C2504AB910}"/>
              </a:ext>
            </a:extLst>
          </p:cNvPr>
          <p:cNvSpPr>
            <a:spLocks noGrp="1"/>
          </p:cNvSpPr>
          <p:nvPr/>
        </p:nvSpPr>
        <p:spPr>
          <a:xfrm>
            <a:off x="81248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يكملون مقارنة موثقة</a:t>
            </a:r>
          </a:p>
        </p:txBody>
      </p:sp>
      <p:sp>
        <p:nvSpPr>
          <p:cNvPr id="15" name="Rectangle: Rounded Corners 14">
            <a:extLst>
              <a:ext uri="{FF2B5EF4-FFF2-40B4-BE49-F238E27FC236}">
                <a16:creationId xmlns:a16="http://schemas.microsoft.com/office/drawing/2014/main" id="{51705096-86B5-4B58-A34E-01562E13C029}"/>
              </a:ext>
            </a:extLst>
          </p:cNvPr>
          <p:cNvSpPr>
            <a:spLocks noGrp="1"/>
          </p:cNvSpPr>
          <p:nvPr/>
        </p:nvSpPr>
        <p:spPr>
          <a:xfrm>
            <a:off x="4333875" y="4391025"/>
            <a:ext cx="3238500" cy="1200150"/>
          </a:xfrm>
          <a:prstGeom prst="roundRect">
            <a:avLst>
              <a:gd name="adj" fmla="val 6349"/>
            </a:avLst>
          </a:prstGeom>
          <a:solidFill>
            <a:srgbClr val="FFFFFF"/>
          </a:solidFill>
          <a:ln w="12383">
            <a:solidFill>
              <a:srgbClr val="D4DEE9"/>
            </a:solidFill>
          </a:ln>
        </p:spPr>
      </p:sp>
      <p:sp>
        <p:nvSpPr>
          <p:cNvPr id="16" name="+1 نقطة">
            <a:extLst>
              <a:ext uri="{FF2B5EF4-FFF2-40B4-BE49-F238E27FC236}">
                <a16:creationId xmlns:a16="http://schemas.microsoft.com/office/drawing/2014/main" id="{480AFE28-7300-49FB-8662-0E499AFA2864}"/>
              </a:ext>
            </a:extLst>
          </p:cNvPr>
          <p:cNvSpPr>
            <a:spLocks noGrp="1"/>
          </p:cNvSpPr>
          <p:nvPr/>
        </p:nvSpPr>
        <p:spPr>
          <a:xfrm>
            <a:off x="44767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+1 نقطة</a:t>
            </a:r>
          </a:p>
        </p:txBody>
      </p:sp>
      <p:sp>
        <p:nvSpPr>
          <p:cNvPr id="17" name="تحسن وضوح القرار">
            <a:extLst>
              <a:ext uri="{FF2B5EF4-FFF2-40B4-BE49-F238E27FC236}">
                <a16:creationId xmlns:a16="http://schemas.microsoft.com/office/drawing/2014/main" id="{656CFAA0-D30C-4D0C-856B-2E94C538252A}"/>
              </a:ext>
            </a:extLst>
          </p:cNvPr>
          <p:cNvSpPr>
            <a:spLocks noGrp="1"/>
          </p:cNvSpPr>
          <p:nvPr/>
        </p:nvSpPr>
        <p:spPr>
          <a:xfrm>
            <a:off x="45053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تحسن وضوح القرار</a:t>
            </a:r>
          </a:p>
        </p:txBody>
      </p:sp>
      <p:sp>
        <p:nvSpPr>
          <p:cNvPr id="18" name="Rectangle: Rounded Corners 17">
            <a:extLst>
              <a:ext uri="{FF2B5EF4-FFF2-40B4-BE49-F238E27FC236}">
                <a16:creationId xmlns:a16="http://schemas.microsoft.com/office/drawing/2014/main" id="{ECB91968-EAFD-4813-B40C-04632D8A304A}"/>
              </a:ext>
            </a:extLst>
          </p:cNvPr>
          <p:cNvSpPr>
            <a:spLocks noGrp="1"/>
          </p:cNvSpPr>
          <p:nvPr/>
        </p:nvSpPr>
        <p:spPr>
          <a:xfrm>
            <a:off x="714375" y="4391025"/>
            <a:ext cx="3238500" cy="1200150"/>
          </a:xfrm>
          <a:prstGeom prst="roundRect">
            <a:avLst>
              <a:gd name="adj" fmla="val 6349"/>
            </a:avLst>
          </a:prstGeom>
          <a:solidFill>
            <a:srgbClr val="FFFFFF"/>
          </a:solidFill>
          <a:ln w="12383">
            <a:solidFill>
              <a:srgbClr val="D4DEE9"/>
            </a:solidFill>
          </a:ln>
        </p:spPr>
      </p:sp>
      <p:sp>
        <p:nvSpPr>
          <p:cNvPr id="19" name="مؤسستان">
            <a:extLst>
              <a:ext uri="{FF2B5EF4-FFF2-40B4-BE49-F238E27FC236}">
                <a16:creationId xmlns:a16="http://schemas.microsoft.com/office/drawing/2014/main" id="{105316B7-1A92-4E54-B2E3-0E1B9593A21D}"/>
              </a:ext>
            </a:extLst>
          </p:cNvPr>
          <p:cNvSpPr>
            <a:spLocks noGrp="1"/>
          </p:cNvSpPr>
          <p:nvPr/>
        </p:nvSpPr>
        <p:spPr>
          <a:xfrm>
            <a:off x="857250" y="4504373"/>
            <a:ext cx="2952750" cy="5638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850" b="1" kern="0" spc="0">
                <a:solidFill>
                  <a:srgbClr val="013070"/>
                </a:solidFill>
                <a:latin typeface="IBM Plex Sans Arabic"/>
                <a:ea typeface="IBM Plex Sans Arabic"/>
                <a:cs typeface="IBM Plex Sans Arabic"/>
              </a:defRPr>
            </a:pPr>
            <a:r>
              <a:rPr lang="ar-JO" sz="2850" b="1" kern="0" spc="0">
                <a:solidFill>
                  <a:srgbClr val="013070"/>
                </a:solidFill>
                <a:latin typeface="IBM Plex Sans Arabic"/>
                <a:ea typeface="IBM Plex Sans Arabic"/>
                <a:cs typeface="IBM Plex Sans Arabic"/>
              </a:rPr>
              <a:t>مؤسستان</a:t>
            </a:r>
          </a:p>
        </p:txBody>
      </p:sp>
      <p:sp>
        <p:nvSpPr>
          <p:cNvPr id="20" name="تبدآن تجربة مدفوعة">
            <a:extLst>
              <a:ext uri="{FF2B5EF4-FFF2-40B4-BE49-F238E27FC236}">
                <a16:creationId xmlns:a16="http://schemas.microsoft.com/office/drawing/2014/main" id="{60CBB485-1C84-4C39-B484-A8CDB8848738}"/>
              </a:ext>
            </a:extLst>
          </p:cNvPr>
          <p:cNvSpPr>
            <a:spLocks noGrp="1"/>
          </p:cNvSpPr>
          <p:nvPr/>
        </p:nvSpPr>
        <p:spPr>
          <a:xfrm>
            <a:off x="885825" y="5095875"/>
            <a:ext cx="2895600" cy="3619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575" b="0" kern="0" spc="0">
                <a:solidFill>
                  <a:srgbClr val="53657C"/>
                </a:solidFill>
                <a:latin typeface="IBM Plex Sans Arabic"/>
                <a:ea typeface="IBM Plex Sans Arabic"/>
                <a:cs typeface="IBM Plex Sans Arabic"/>
              </a:defRPr>
            </a:pPr>
            <a:r>
              <a:rPr lang="ar-JO" sz="1575" b="0" kern="0" spc="0">
                <a:solidFill>
                  <a:srgbClr val="53657C"/>
                </a:solidFill>
                <a:latin typeface="IBM Plex Sans Arabic"/>
                <a:ea typeface="IBM Plex Sans Arabic"/>
                <a:cs typeface="IBM Plex Sans Arabic"/>
              </a:rPr>
              <a:t>تبدآن تجربة مدفوعة</a:t>
            </a:r>
          </a:p>
        </p:txBody>
      </p:sp>
      <p:sp>
        <p:nvSpPr>
          <p:cNvPr id="21" name="أهداف تجربة معلنة، وليست نتائج محققة  •  إذا ">
            <a:extLst>
              <a:ext uri="{FF2B5EF4-FFF2-40B4-BE49-F238E27FC236}">
                <a16:creationId xmlns:a16="http://schemas.microsoft.com/office/drawing/2014/main" id="{38C1AAC9-214D-45D2-A977-5387CFDEE7D9}"/>
              </a:ext>
            </a:extLst>
          </p:cNvPr>
          <p:cNvSpPr>
            <a:spLocks noGrp="1"/>
          </p:cNvSpPr>
          <p:nvPr/>
        </p:nvSpPr>
        <p:spPr>
          <a:xfrm>
            <a:off x="1143000" y="5857875"/>
            <a:ext cx="10334625" cy="3238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53657C"/>
                </a:solidFill>
                <a:latin typeface="IBM Plex Sans Arabic"/>
                <a:ea typeface="IBM Plex Sans Arabic"/>
                <a:cs typeface="IBM Plex Sans Arabic"/>
              </a:defRPr>
            </a:pPr>
            <a:r>
              <a:rPr lang="ar-JO" sz="1425" b="0" kern="0" spc="0">
                <a:solidFill>
                  <a:srgbClr val="53657C"/>
                </a:solidFill>
                <a:latin typeface="IBM Plex Sans Arabic"/>
                <a:ea typeface="IBM Plex Sans Arabic"/>
                <a:cs typeface="IBM Plex Sans Arabic"/>
              </a:rPr>
              <a:t>أهداف تجربة معلنة، وليست نتائج محققة  •  إذا لم تتحقق نعدّل قبل التوسع</a:t>
            </a:r>
          </a:p>
        </p:txBody>
      </p:sp>
    </p:spTree>
    <p:extLst>
      <p:ext uri="{BB962C8B-B14F-4D97-AF65-F5344CB8AC3E}">
        <p14:creationId xmlns:p14="http://schemas.microsoft.com/office/powerpoint/2010/main" val="1076552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23" name="Picture 22"/>
          <p:cNvPicPr>
            <a:picLocks noChangeAspect="1"/>
          </p:cNvPicPr>
          <p:nvPr/>
        </p:nvPicPr>
        <p:blipFill>
          <a:blip r:embed="rId3"/>
          <a:stretch/>
        </p:blipFill>
        <p:spPr>
          <a:xfrm>
            <a:off x="11125200" y="400050"/>
            <a:ext cx="552450" cy="552450"/>
          </a:xfrm>
          <a:prstGeom prst="rect">
            <a:avLst/>
          </a:prstGeom>
        </p:spPr>
      </p:pic>
      <p:sp>
        <p:nvSpPr>
          <p:cNvPr id="2" name="من منتج عامل إلى خدمة قابلة للتبنّي">
            <a:extLst>
              <a:ext uri="{FF2B5EF4-FFF2-40B4-BE49-F238E27FC236}">
                <a16:creationId xmlns:a16="http://schemas.microsoft.com/office/drawing/2014/main" id="{759403DA-BF12-4DAC-BB9E-13D34E154B9C}"/>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150" b="1" kern="0" spc="0">
                <a:solidFill>
                  <a:srgbClr val="FFFFFF"/>
                </a:solidFill>
                <a:latin typeface="IBM Plex Sans Arabic"/>
                <a:ea typeface="IBM Plex Sans Arabic"/>
                <a:cs typeface="IBM Plex Sans Arabic"/>
              </a:defRPr>
            </a:pPr>
            <a:r>
              <a:rPr lang="ar-JO" sz="3150" b="1" kern="0" spc="0">
                <a:solidFill>
                  <a:srgbClr val="FFFFFF"/>
                </a:solidFill>
                <a:latin typeface="IBM Plex Sans Arabic"/>
                <a:ea typeface="IBM Plex Sans Arabic"/>
                <a:cs typeface="IBM Plex Sans Arabic"/>
              </a:rPr>
              <a:t>من منتج عامل إلى خدمة قابلة للتبنّي</a:t>
            </a:r>
          </a:p>
        </p:txBody>
      </p:sp>
      <p:sp>
        <p:nvSpPr>
          <p:cNvPr id="3" name="10">
            <a:extLst>
              <a:ext uri="{FF2B5EF4-FFF2-40B4-BE49-F238E27FC236}">
                <a16:creationId xmlns:a16="http://schemas.microsoft.com/office/drawing/2014/main" id="{C92B6012-6760-45C9-8C32-0A52C7F7BB31}"/>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D1DEED"/>
                </a:solidFill>
                <a:latin typeface="IBM Plex Sans Arabic"/>
                <a:ea typeface="IBM Plex Sans Arabic"/>
                <a:cs typeface="IBM Plex Sans Arabic"/>
              </a:defRPr>
            </a:pPr>
            <a:r>
              <a:rPr lang="ar-JO" sz="1350" b="0" kern="0" spc="0">
                <a:solidFill>
                  <a:srgbClr val="D1DEED"/>
                </a:solidFill>
                <a:latin typeface="IBM Plex Sans Arabic"/>
                <a:ea typeface="IBM Plex Sans Arabic"/>
                <a:cs typeface="IBM Plex Sans Arabic"/>
              </a:rPr>
              <a:t>10</a:t>
            </a:r>
          </a:p>
        </p:txBody>
      </p:sp>
      <p:sp>
        <p:nvSpPr>
          <p:cNvPr id="4" name="Rectangle: Rounded Corners 3">
            <a:extLst>
              <a:ext uri="{FF2B5EF4-FFF2-40B4-BE49-F238E27FC236}">
                <a16:creationId xmlns:a16="http://schemas.microsoft.com/office/drawing/2014/main" id="{BFFD7E01-8B8B-4F0B-A766-9A7C0556E608}"/>
              </a:ext>
            </a:extLst>
          </p:cNvPr>
          <p:cNvSpPr>
            <a:spLocks noGrp="1"/>
          </p:cNvSpPr>
          <p:nvPr/>
        </p:nvSpPr>
        <p:spPr>
          <a:xfrm>
            <a:off x="8143875" y="1724025"/>
            <a:ext cx="3333750" cy="3028950"/>
          </a:xfrm>
          <a:prstGeom prst="roundRect">
            <a:avLst>
              <a:gd name="adj" fmla="val 2516"/>
            </a:avLst>
          </a:prstGeom>
          <a:solidFill>
            <a:srgbClr val="123D76"/>
          </a:solidFill>
          <a:ln w="12383">
            <a:solidFill>
              <a:srgbClr val="58749B"/>
            </a:solidFill>
          </a:ln>
        </p:spPr>
      </p:sp>
      <p:sp>
        <p:nvSpPr>
          <p:cNvPr id="5" name="Rectangle: Rounded Corners 4">
            <a:extLst>
              <a:ext uri="{FF2B5EF4-FFF2-40B4-BE49-F238E27FC236}">
                <a16:creationId xmlns:a16="http://schemas.microsoft.com/office/drawing/2014/main" id="{73EA8610-4F60-4C13-904D-9E709ADBE32D}"/>
              </a:ext>
            </a:extLst>
          </p:cNvPr>
          <p:cNvSpPr>
            <a:spLocks noGrp="1"/>
          </p:cNvSpPr>
          <p:nvPr/>
        </p:nvSpPr>
        <p:spPr>
          <a:xfrm>
            <a:off x="8810625" y="1924050"/>
            <a:ext cx="2000250" cy="381000"/>
          </a:xfrm>
          <a:prstGeom prst="roundRect">
            <a:avLst>
              <a:gd name="adj" fmla="val 20000"/>
            </a:avLst>
          </a:prstGeom>
          <a:solidFill>
            <a:srgbClr val="123D76"/>
          </a:solidFill>
          <a:ln w="12383">
            <a:solidFill>
              <a:srgbClr val="58749B"/>
            </a:solidFill>
          </a:ln>
        </p:spPr>
      </p:sp>
      <p:sp>
        <p:nvSpPr>
          <p:cNvPr id="6" name="اليوم">
            <a:extLst>
              <a:ext uri="{FF2B5EF4-FFF2-40B4-BE49-F238E27FC236}">
                <a16:creationId xmlns:a16="http://schemas.microsoft.com/office/drawing/2014/main" id="{19F87C95-2FD3-41D5-AE3A-491DE412517F}"/>
              </a:ext>
            </a:extLst>
          </p:cNvPr>
          <p:cNvSpPr>
            <a:spLocks noGrp="1"/>
          </p:cNvSpPr>
          <p:nvPr/>
        </p:nvSpPr>
        <p:spPr>
          <a:xfrm>
            <a:off x="890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اليوم</a:t>
            </a:r>
          </a:p>
        </p:txBody>
      </p:sp>
      <p:sp>
        <p:nvSpPr>
          <p:cNvPr id="7" name="منتج عامل">
            <a:extLst>
              <a:ext uri="{FF2B5EF4-FFF2-40B4-BE49-F238E27FC236}">
                <a16:creationId xmlns:a16="http://schemas.microsoft.com/office/drawing/2014/main" id="{4A6C7022-05E9-4907-BD7B-9587B4120FCC}"/>
              </a:ext>
            </a:extLst>
          </p:cNvPr>
          <p:cNvSpPr>
            <a:spLocks noGrp="1"/>
          </p:cNvSpPr>
          <p:nvPr/>
        </p:nvSpPr>
        <p:spPr>
          <a:xfrm>
            <a:off x="833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منتج عامل</a:t>
            </a:r>
          </a:p>
        </p:txBody>
      </p:sp>
      <p:sp>
        <p:nvSpPr>
          <p:cNvPr id="8" name="عربي وإنجليزي&#10;بيانات عامة مؤرخة&#10;وشاشات حقيقية">
            <a:extLst>
              <a:ext uri="{FF2B5EF4-FFF2-40B4-BE49-F238E27FC236}">
                <a16:creationId xmlns:a16="http://schemas.microsoft.com/office/drawing/2014/main" id="{0423380B-B264-4BC3-A85F-35CFB79F197C}"/>
              </a:ext>
            </a:extLst>
          </p:cNvPr>
          <p:cNvSpPr>
            <a:spLocks noGrp="1"/>
          </p:cNvSpPr>
          <p:nvPr/>
        </p:nvSpPr>
        <p:spPr>
          <a:xfrm>
            <a:off x="838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عربي وإنجليزي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بيانات عامة مؤرخة</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وشاشات حقيقية</a:t>
            </a:r>
          </a:p>
        </p:txBody>
      </p:sp>
      <p:sp>
        <p:nvSpPr>
          <p:cNvPr id="9" name="Rectangle: Rounded Corners 8">
            <a:extLst>
              <a:ext uri="{FF2B5EF4-FFF2-40B4-BE49-F238E27FC236}">
                <a16:creationId xmlns:a16="http://schemas.microsoft.com/office/drawing/2014/main" id="{7F1B97D5-EBEB-4704-84EB-C8CE85462A06}"/>
              </a:ext>
            </a:extLst>
          </p:cNvPr>
          <p:cNvSpPr>
            <a:spLocks noGrp="1"/>
          </p:cNvSpPr>
          <p:nvPr/>
        </p:nvSpPr>
        <p:spPr>
          <a:xfrm>
            <a:off x="4333875" y="1724025"/>
            <a:ext cx="3333750" cy="3028950"/>
          </a:xfrm>
          <a:prstGeom prst="roundRect">
            <a:avLst>
              <a:gd name="adj" fmla="val 2516"/>
            </a:avLst>
          </a:prstGeom>
          <a:solidFill>
            <a:srgbClr val="123D76"/>
          </a:solidFill>
          <a:ln w="12383">
            <a:solidFill>
              <a:srgbClr val="58749B"/>
            </a:solidFill>
          </a:ln>
        </p:spPr>
      </p:sp>
      <p:sp>
        <p:nvSpPr>
          <p:cNvPr id="10" name="Rectangle: Rounded Corners 9">
            <a:extLst>
              <a:ext uri="{FF2B5EF4-FFF2-40B4-BE49-F238E27FC236}">
                <a16:creationId xmlns:a16="http://schemas.microsoft.com/office/drawing/2014/main" id="{61FBB671-0963-4775-9C20-E57D9D6C9E9B}"/>
              </a:ext>
            </a:extLst>
          </p:cNvPr>
          <p:cNvSpPr>
            <a:spLocks noGrp="1"/>
          </p:cNvSpPr>
          <p:nvPr/>
        </p:nvSpPr>
        <p:spPr>
          <a:xfrm>
            <a:off x="5000625" y="1924050"/>
            <a:ext cx="2000250" cy="381000"/>
          </a:xfrm>
          <a:prstGeom prst="roundRect">
            <a:avLst>
              <a:gd name="adj" fmla="val 20000"/>
            </a:avLst>
          </a:prstGeom>
          <a:solidFill>
            <a:srgbClr val="123D76"/>
          </a:solidFill>
          <a:ln w="12383">
            <a:solidFill>
              <a:srgbClr val="58749B"/>
            </a:solidFill>
          </a:ln>
        </p:spPr>
      </p:sp>
      <p:sp>
        <p:nvSpPr>
          <p:cNvPr id="11" name="خلال 90 يومًا">
            <a:extLst>
              <a:ext uri="{FF2B5EF4-FFF2-40B4-BE49-F238E27FC236}">
                <a16:creationId xmlns:a16="http://schemas.microsoft.com/office/drawing/2014/main" id="{4EEC1F0A-98B1-419A-AD11-F0239F519482}"/>
              </a:ext>
            </a:extLst>
          </p:cNvPr>
          <p:cNvSpPr>
            <a:spLocks noGrp="1"/>
          </p:cNvSpPr>
          <p:nvPr/>
        </p:nvSpPr>
        <p:spPr>
          <a:xfrm>
            <a:off x="509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90 يومًا</a:t>
            </a:r>
          </a:p>
        </p:txBody>
      </p:sp>
      <p:sp>
        <p:nvSpPr>
          <p:cNvPr id="12" name="تجربة وقياس">
            <a:extLst>
              <a:ext uri="{FF2B5EF4-FFF2-40B4-BE49-F238E27FC236}">
                <a16:creationId xmlns:a16="http://schemas.microsoft.com/office/drawing/2014/main" id="{DBB1DA5A-FBC7-4A5C-A259-81A3264BD6D2}"/>
              </a:ext>
            </a:extLst>
          </p:cNvPr>
          <p:cNvSpPr>
            <a:spLocks noGrp="1"/>
          </p:cNvSpPr>
          <p:nvPr/>
        </p:nvSpPr>
        <p:spPr>
          <a:xfrm>
            <a:off x="452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تجربة وقياس</a:t>
            </a:r>
          </a:p>
        </p:txBody>
      </p:sp>
      <p:sp>
        <p:nvSpPr>
          <p:cNvPr id="13" name="استخدام فعلي&#10;تقرير أثر&#10;واختبار استعداد الدفع">
            <a:extLst>
              <a:ext uri="{FF2B5EF4-FFF2-40B4-BE49-F238E27FC236}">
                <a16:creationId xmlns:a16="http://schemas.microsoft.com/office/drawing/2014/main" id="{AEFCA56C-B58F-4961-9319-9ACD6D09488E}"/>
              </a:ext>
            </a:extLst>
          </p:cNvPr>
          <p:cNvSpPr>
            <a:spLocks noGrp="1"/>
          </p:cNvSpPr>
          <p:nvPr/>
        </p:nvSpPr>
        <p:spPr>
          <a:xfrm>
            <a:off x="457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استخدام فعلي</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تقرير أثر</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واختبار استعداد الدفع</a:t>
            </a:r>
          </a:p>
        </p:txBody>
      </p:sp>
      <p:sp>
        <p:nvSpPr>
          <p:cNvPr id="14" name="Rectangle: Rounded Corners 13">
            <a:extLst>
              <a:ext uri="{FF2B5EF4-FFF2-40B4-BE49-F238E27FC236}">
                <a16:creationId xmlns:a16="http://schemas.microsoft.com/office/drawing/2014/main" id="{4EDA45F4-9545-413E-A7AE-CEC3DAC7F3D7}"/>
              </a:ext>
            </a:extLst>
          </p:cNvPr>
          <p:cNvSpPr>
            <a:spLocks noGrp="1"/>
          </p:cNvSpPr>
          <p:nvPr/>
        </p:nvSpPr>
        <p:spPr>
          <a:xfrm>
            <a:off x="523875" y="1724025"/>
            <a:ext cx="3333750" cy="3028950"/>
          </a:xfrm>
          <a:prstGeom prst="roundRect">
            <a:avLst>
              <a:gd name="adj" fmla="val 2516"/>
            </a:avLst>
          </a:prstGeom>
          <a:solidFill>
            <a:srgbClr val="123D76"/>
          </a:solidFill>
          <a:ln w="12383">
            <a:solidFill>
              <a:srgbClr val="58749B"/>
            </a:solidFill>
          </a:ln>
        </p:spPr>
      </p:sp>
      <p:sp>
        <p:nvSpPr>
          <p:cNvPr id="15" name="Rectangle: Rounded Corners 14">
            <a:extLst>
              <a:ext uri="{FF2B5EF4-FFF2-40B4-BE49-F238E27FC236}">
                <a16:creationId xmlns:a16="http://schemas.microsoft.com/office/drawing/2014/main" id="{292AE8FE-4AAB-4A96-97B8-1EC19F4C4CFE}"/>
              </a:ext>
            </a:extLst>
          </p:cNvPr>
          <p:cNvSpPr>
            <a:spLocks noGrp="1"/>
          </p:cNvSpPr>
          <p:nvPr/>
        </p:nvSpPr>
        <p:spPr>
          <a:xfrm>
            <a:off x="1190625" y="1924050"/>
            <a:ext cx="2000250" cy="381000"/>
          </a:xfrm>
          <a:prstGeom prst="roundRect">
            <a:avLst>
              <a:gd name="adj" fmla="val 20000"/>
            </a:avLst>
          </a:prstGeom>
          <a:solidFill>
            <a:srgbClr val="123D76"/>
          </a:solidFill>
          <a:ln w="12383">
            <a:solidFill>
              <a:srgbClr val="58749B"/>
            </a:solidFill>
          </a:ln>
        </p:spPr>
      </p:sp>
      <p:sp>
        <p:nvSpPr>
          <p:cNvPr id="16" name="خلال 12 شهرًا">
            <a:extLst>
              <a:ext uri="{FF2B5EF4-FFF2-40B4-BE49-F238E27FC236}">
                <a16:creationId xmlns:a16="http://schemas.microsoft.com/office/drawing/2014/main" id="{747914FD-C7A8-42BE-97B5-85B15A9D6437}"/>
              </a:ext>
            </a:extLst>
          </p:cNvPr>
          <p:cNvSpPr>
            <a:spLocks noGrp="1"/>
          </p:cNvSpPr>
          <p:nvPr/>
        </p:nvSpPr>
        <p:spPr>
          <a:xfrm>
            <a:off x="1285875" y="1951673"/>
            <a:ext cx="1809750" cy="29718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350" b="1" kern="0" spc="0">
                <a:solidFill>
                  <a:srgbClr val="FFFFFF"/>
                </a:solidFill>
                <a:latin typeface="IBM Plex Sans Arabic"/>
                <a:ea typeface="IBM Plex Sans Arabic"/>
                <a:cs typeface="IBM Plex Sans Arabic"/>
              </a:defRPr>
            </a:pPr>
            <a:r>
              <a:rPr lang="ar-JO" sz="1350" b="1" kern="0" spc="0">
                <a:solidFill>
                  <a:srgbClr val="FFFFFF"/>
                </a:solidFill>
                <a:latin typeface="IBM Plex Sans Arabic"/>
                <a:ea typeface="IBM Plex Sans Arabic"/>
                <a:cs typeface="IBM Plex Sans Arabic"/>
              </a:rPr>
              <a:t>خلال 12 شهرًا</a:t>
            </a:r>
          </a:p>
        </p:txBody>
      </p:sp>
      <p:sp>
        <p:nvSpPr>
          <p:cNvPr id="17" name="توسّع منضبط">
            <a:extLst>
              <a:ext uri="{FF2B5EF4-FFF2-40B4-BE49-F238E27FC236}">
                <a16:creationId xmlns:a16="http://schemas.microsoft.com/office/drawing/2014/main" id="{B3292BC4-EA18-4F4D-A98E-D58EFB70FE63}"/>
              </a:ext>
            </a:extLst>
          </p:cNvPr>
          <p:cNvSpPr>
            <a:spLocks noGrp="1"/>
          </p:cNvSpPr>
          <p:nvPr/>
        </p:nvSpPr>
        <p:spPr>
          <a:xfrm>
            <a:off x="714375" y="2514600"/>
            <a:ext cx="2952750" cy="5238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C8A04C"/>
                </a:solidFill>
                <a:latin typeface="IBM Plex Sans Arabic"/>
                <a:ea typeface="IBM Plex Sans Arabic"/>
                <a:cs typeface="IBM Plex Sans Arabic"/>
              </a:defRPr>
            </a:pPr>
            <a:r>
              <a:rPr lang="ar-JO" sz="2250" b="1" kern="0" spc="0">
                <a:solidFill>
                  <a:srgbClr val="C8A04C"/>
                </a:solidFill>
                <a:latin typeface="IBM Plex Sans Arabic"/>
                <a:ea typeface="IBM Plex Sans Arabic"/>
                <a:cs typeface="IBM Plex Sans Arabic"/>
              </a:rPr>
              <a:t>توسّع منضبط</a:t>
            </a:r>
          </a:p>
        </p:txBody>
      </p:sp>
      <p:sp>
        <p:nvSpPr>
          <p:cNvPr id="18" name="10 مؤسسات&#10;1,500 طالب&#10;وقرار توسع مبني على دليل">
            <a:extLst>
              <a:ext uri="{FF2B5EF4-FFF2-40B4-BE49-F238E27FC236}">
                <a16:creationId xmlns:a16="http://schemas.microsoft.com/office/drawing/2014/main" id="{0DDF9443-249E-4A85-9F8A-21F192B14406}"/>
              </a:ext>
            </a:extLst>
          </p:cNvPr>
          <p:cNvSpPr>
            <a:spLocks noGrp="1"/>
          </p:cNvSpPr>
          <p:nvPr/>
        </p:nvSpPr>
        <p:spPr>
          <a:xfrm>
            <a:off x="762000" y="3209925"/>
            <a:ext cx="2857500" cy="120015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10 مؤسسات</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1,500 طالب</a:t>
            </a:r>
          </a:p>
          <a:p>
            <a:pPr algn="ctr" rtl="1">
              <a:lnSpc>
                <a:spcPct val="116000"/>
              </a:lnSpc>
              <a:spcBef>
                <a:spcPts val="0"/>
              </a:spcBef>
              <a:spcAft>
                <a:spcPts val="0"/>
              </a:spcAft>
              <a:buNone/>
              <a:defRPr lang="ar-JO" sz="1800" b="1" kern="0" spc="0">
                <a:solidFill>
                  <a:srgbClr val="FFFFFF"/>
                </a:solidFill>
                <a:latin typeface="IBM Plex Sans Arabic"/>
                <a:ea typeface="IBM Plex Sans Arabic"/>
                <a:cs typeface="IBM Plex Sans Arabic"/>
              </a:defRPr>
            </a:pPr>
            <a:r>
              <a:rPr lang="ar-JO" sz="1800" b="1" kern="0" spc="0">
                <a:solidFill>
                  <a:srgbClr val="FFFFFF"/>
                </a:solidFill>
                <a:latin typeface="IBM Plex Sans Arabic"/>
                <a:ea typeface="IBM Plex Sans Arabic"/>
                <a:cs typeface="IBM Plex Sans Arabic"/>
              </a:rPr>
              <a:t>وقرار توسع مبني على دليل</a:t>
            </a:r>
          </a:p>
        </p:txBody>
      </p:sp>
      <p:sp>
        <p:nvSpPr>
          <p:cNvPr id="19" name="Rectangle: Rounded Corners 18">
            <a:extLst>
              <a:ext uri="{FF2B5EF4-FFF2-40B4-BE49-F238E27FC236}">
                <a16:creationId xmlns:a16="http://schemas.microsoft.com/office/drawing/2014/main" id="{2CCCB7DF-C11B-452A-9A65-6C2033DF7913}"/>
              </a:ext>
            </a:extLst>
          </p:cNvPr>
          <p:cNvSpPr>
            <a:spLocks noGrp="1"/>
          </p:cNvSpPr>
          <p:nvPr/>
        </p:nvSpPr>
        <p:spPr>
          <a:xfrm>
            <a:off x="1381125" y="5105400"/>
            <a:ext cx="10096500" cy="790575"/>
          </a:xfrm>
          <a:prstGeom prst="roundRect">
            <a:avLst>
              <a:gd name="adj" fmla="val 9639"/>
            </a:avLst>
          </a:prstGeom>
          <a:solidFill>
            <a:srgbClr val="F3EAD7"/>
          </a:solidFill>
          <a:ln w="12383">
            <a:solidFill>
              <a:srgbClr val="DFC98F"/>
            </a:solidFill>
          </a:ln>
        </p:spPr>
      </p:sp>
      <p:sp>
        <p:nvSpPr>
          <p:cNvPr id="20" name="طلبنا من اللجنة">
            <a:extLst>
              <a:ext uri="{FF2B5EF4-FFF2-40B4-BE49-F238E27FC236}">
                <a16:creationId xmlns:a16="http://schemas.microsoft.com/office/drawing/2014/main" id="{808A80C9-E978-4ECE-829F-8C0B955D2BC0}"/>
              </a:ext>
            </a:extLst>
          </p:cNvPr>
          <p:cNvSpPr>
            <a:spLocks noGrp="1"/>
          </p:cNvSpPr>
          <p:nvPr/>
        </p:nvSpPr>
        <p:spPr>
          <a:xfrm>
            <a:off x="9048750" y="5219700"/>
            <a:ext cx="2143125" cy="45720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800" b="1" kern="0" spc="0">
                <a:solidFill>
                  <a:srgbClr val="013070"/>
                </a:solidFill>
                <a:latin typeface="IBM Plex Sans Arabic"/>
                <a:ea typeface="IBM Plex Sans Arabic"/>
                <a:cs typeface="IBM Plex Sans Arabic"/>
              </a:defRPr>
            </a:pPr>
            <a:r>
              <a:rPr lang="ar-JO" sz="1800" b="1" kern="0" spc="0">
                <a:solidFill>
                  <a:srgbClr val="013070"/>
                </a:solidFill>
                <a:latin typeface="IBM Plex Sans Arabic"/>
                <a:ea typeface="IBM Plex Sans Arabic"/>
                <a:cs typeface="IBM Plex Sans Arabic"/>
              </a:rPr>
              <a:t>طلبنا من اللجنة</a:t>
            </a:r>
          </a:p>
        </p:txBody>
      </p:sp>
      <p:sp>
        <p:nvSpPr>
          <p:cNvPr id="21" name="3 مدارس ومرشدون  +  قناة بيانات تعليمية  +  ت">
            <a:extLst>
              <a:ext uri="{FF2B5EF4-FFF2-40B4-BE49-F238E27FC236}">
                <a16:creationId xmlns:a16="http://schemas.microsoft.com/office/drawing/2014/main" id="{638E4581-029E-4225-94B5-A5FC5ACB85FA}"/>
              </a:ext>
            </a:extLst>
          </p:cNvPr>
          <p:cNvSpPr>
            <a:spLocks noGrp="1"/>
          </p:cNvSpPr>
          <p:nvPr/>
        </p:nvSpPr>
        <p:spPr>
          <a:xfrm>
            <a:off x="1714500" y="5219700"/>
            <a:ext cx="7000875" cy="457200"/>
          </a:xfrm>
          <a:prstGeom prst="rect">
            <a:avLst/>
          </a:prstGeom>
          <a:noFill/>
          <a:ln w="0">
            <a:noFill/>
          </a:ln>
        </p:spPr>
        <p:txBody>
          <a:bodyPr wrap="square" lIns="38100" tIns="28575" rIns="38100" bIns="28575" anchor="ctr">
            <a:noAutofit/>
          </a:bodyPr>
          <a:lstStyle/>
          <a:p>
            <a:pPr algn="l" rtl="1">
              <a:lnSpc>
                <a:spcPct val="116000"/>
              </a:lnSpc>
              <a:spcBef>
                <a:spcPts val="0"/>
              </a:spcBef>
              <a:spcAft>
                <a:spcPts val="0"/>
              </a:spcAft>
              <a:buNone/>
              <a:defRPr lang="ar-JO" sz="1875" b="1" kern="0" spc="0">
                <a:solidFill>
                  <a:srgbClr val="013070"/>
                </a:solidFill>
                <a:latin typeface="IBM Plex Sans Arabic"/>
                <a:ea typeface="IBM Plex Sans Arabic"/>
                <a:cs typeface="IBM Plex Sans Arabic"/>
              </a:defRPr>
            </a:pPr>
            <a:r>
              <a:rPr lang="ar-JO" sz="1875" b="1" kern="0" spc="0">
                <a:solidFill>
                  <a:srgbClr val="013070"/>
                </a:solidFill>
                <a:latin typeface="IBM Plex Sans Arabic"/>
                <a:ea typeface="IBM Plex Sans Arabic"/>
                <a:cs typeface="IBM Plex Sans Arabic"/>
              </a:rPr>
              <a:t>3 مدارس ومرشدون  +  قناة بيانات تعليمية  +  تقرير أثر</a:t>
            </a:r>
          </a:p>
        </p:txBody>
      </p:sp>
      <p:sp>
        <p:nvSpPr>
          <p:cNvPr id="22" name="الإيراد يمول تحديث البيانات ودعم المرشد وقياس">
            <a:extLst>
              <a:ext uri="{FF2B5EF4-FFF2-40B4-BE49-F238E27FC236}">
                <a16:creationId xmlns:a16="http://schemas.microsoft.com/office/drawing/2014/main" id="{E66F9AEA-4181-4AE3-B1F4-6AD2FFC87DEA}"/>
              </a:ext>
            </a:extLst>
          </p:cNvPr>
          <p:cNvSpPr>
            <a:spLocks noGrp="1"/>
          </p:cNvSpPr>
          <p:nvPr/>
        </p:nvSpPr>
        <p:spPr>
          <a:xfrm>
            <a:off x="1381125" y="6035993"/>
            <a:ext cx="10096500" cy="31051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425" b="0" kern="0" spc="0">
                <a:solidFill>
                  <a:srgbClr val="D1DEED"/>
                </a:solidFill>
                <a:latin typeface="IBM Plex Sans Arabic"/>
                <a:ea typeface="IBM Plex Sans Arabic"/>
                <a:cs typeface="IBM Plex Sans Arabic"/>
              </a:defRPr>
            </a:pPr>
            <a:r>
              <a:rPr lang="ar-JO" sz="1425" b="0" kern="0" spc="0">
                <a:solidFill>
                  <a:srgbClr val="D1DEED"/>
                </a:solidFill>
                <a:latin typeface="IBM Plex Sans Arabic"/>
                <a:ea typeface="IBM Plex Sans Arabic"/>
                <a:cs typeface="IBM Plex Sans Arabic"/>
              </a:rPr>
              <a:t>الإيراد يمول تحديث البيانات ودعم المرشد وقياس الأثر</a:t>
            </a:r>
          </a:p>
        </p:txBody>
      </p:sp>
    </p:spTree>
    <p:extLst>
      <p:ext uri="{BB962C8B-B14F-4D97-AF65-F5344CB8AC3E}">
        <p14:creationId xmlns:p14="http://schemas.microsoft.com/office/powerpoint/2010/main" val="380935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tretch/>
        </p:blipFill>
        <p:spPr>
          <a:xfrm>
            <a:off x="11125200" y="400050"/>
            <a:ext cx="552450" cy="552450"/>
          </a:xfrm>
          <a:prstGeom prst="rect">
            <a:avLst/>
          </a:prstGeom>
        </p:spPr>
      </p:pic>
      <p:sp>
        <p:nvSpPr>
          <p:cNvPr id="2" name="Vcoders: مسؤوليات واضحة وملكية مشتركة">
            <a:extLst>
              <a:ext uri="{FF2B5EF4-FFF2-40B4-BE49-F238E27FC236}">
                <a16:creationId xmlns:a16="http://schemas.microsoft.com/office/drawing/2014/main" id="{5C9AF766-1850-4685-B17F-359759AF00F4}"/>
              </a:ext>
            </a:extLst>
          </p:cNvPr>
          <p:cNvSpPr>
            <a:spLocks noGrp="1"/>
          </p:cNvSpPr>
          <p:nvPr/>
        </p:nvSpPr>
        <p:spPr>
          <a:xfrm>
            <a:off x="571500" y="476250"/>
            <a:ext cx="10287000" cy="8953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000" b="1" kern="0" spc="0">
                <a:solidFill>
                  <a:srgbClr val="013070"/>
                </a:solidFill>
                <a:latin typeface="IBM Plex Sans Arabic"/>
                <a:ea typeface="IBM Plex Sans Arabic"/>
                <a:cs typeface="IBM Plex Sans Arabic"/>
              </a:defRPr>
            </a:pPr>
            <a:r>
              <a:rPr lang="ar-JO" sz="3000" b="1" kern="0" spc="0">
                <a:solidFill>
                  <a:srgbClr val="013070"/>
                </a:solidFill>
                <a:latin typeface="IBM Plex Sans Arabic"/>
                <a:ea typeface="IBM Plex Sans Arabic"/>
                <a:cs typeface="IBM Plex Sans Arabic"/>
              </a:rPr>
              <a:t>Vcoders: مسؤوليات واضحة وملكية مشتركة</a:t>
            </a:r>
          </a:p>
        </p:txBody>
      </p:sp>
      <p:sp>
        <p:nvSpPr>
          <p:cNvPr id="3" name="11">
            <a:extLst>
              <a:ext uri="{FF2B5EF4-FFF2-40B4-BE49-F238E27FC236}">
                <a16:creationId xmlns:a16="http://schemas.microsoft.com/office/drawing/2014/main" id="{909D11FA-424F-4E15-A5E5-F005E10C0F82}"/>
              </a:ext>
            </a:extLst>
          </p:cNvPr>
          <p:cNvSpPr>
            <a:spLocks noGrp="1"/>
          </p:cNvSpPr>
          <p:nvPr/>
        </p:nvSpPr>
        <p:spPr>
          <a:xfrm>
            <a:off x="571500" y="6376035"/>
            <a:ext cx="619125" cy="297180"/>
          </a:xfrm>
          <a:prstGeom prst="rect">
            <a:avLst/>
          </a:prstGeom>
          <a:noFill/>
          <a:ln w="0">
            <a:noFill/>
          </a:ln>
        </p:spPr>
        <p:txBody>
          <a:bodyPr wrap="square" lIns="38100" tIns="28575" rIns="38100" bIns="28575" anchor="ctr">
            <a:noAutofit/>
          </a:bodyPr>
          <a:lstStyle/>
          <a:p>
            <a:pPr algn="l" rtl="0">
              <a:lnSpc>
                <a:spcPct val="116000"/>
              </a:lnSpc>
              <a:spcBef>
                <a:spcPts val="0"/>
              </a:spcBef>
              <a:spcAft>
                <a:spcPts val="0"/>
              </a:spcAft>
              <a:buNone/>
              <a:defRPr lang="ar-JO" sz="1350" b="0" kern="0" spc="0">
                <a:solidFill>
                  <a:srgbClr val="53657C"/>
                </a:solidFill>
                <a:latin typeface="IBM Plex Sans Arabic"/>
                <a:ea typeface="IBM Plex Sans Arabic"/>
                <a:cs typeface="IBM Plex Sans Arabic"/>
              </a:defRPr>
            </a:pPr>
            <a:r>
              <a:rPr lang="ar-JO" sz="1350" b="0" kern="0" spc="0">
                <a:solidFill>
                  <a:srgbClr val="53657C"/>
                </a:solidFill>
                <a:latin typeface="IBM Plex Sans Arabic"/>
                <a:ea typeface="IBM Plex Sans Arabic"/>
                <a:cs typeface="IBM Plex Sans Arabic"/>
              </a:rPr>
              <a:t>11</a:t>
            </a:r>
          </a:p>
        </p:txBody>
      </p:sp>
      <p:sp>
        <p:nvSpPr>
          <p:cNvPr id="4" name="عبد الرحمن&#10;الهيموني">
            <a:extLst>
              <a:ext uri="{FF2B5EF4-FFF2-40B4-BE49-F238E27FC236}">
                <a16:creationId xmlns:a16="http://schemas.microsoft.com/office/drawing/2014/main" id="{4BA95AD7-3E92-4645-A494-7276E5F37CC0}"/>
              </a:ext>
            </a:extLst>
          </p:cNvPr>
          <p:cNvSpPr>
            <a:spLocks noGrp="1"/>
          </p:cNvSpPr>
          <p:nvPr/>
        </p:nvSpPr>
        <p:spPr>
          <a:xfrm>
            <a:off x="82296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الهيموني</a:t>
            </a:r>
          </a:p>
        </p:txBody>
      </p:sp>
      <p:sp>
        <p:nvSpPr>
          <p:cNvPr id="5" name="قيادة الفريق">
            <a:extLst>
              <a:ext uri="{FF2B5EF4-FFF2-40B4-BE49-F238E27FC236}">
                <a16:creationId xmlns:a16="http://schemas.microsoft.com/office/drawing/2014/main" id="{D1A55FF4-681B-45CD-9F9B-E6F19401F6CF}"/>
              </a:ext>
            </a:extLst>
          </p:cNvPr>
          <p:cNvSpPr>
            <a:spLocks noGrp="1"/>
          </p:cNvSpPr>
          <p:nvPr/>
        </p:nvSpPr>
        <p:spPr>
          <a:xfrm>
            <a:off x="82296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قيادة الفريق</a:t>
            </a:r>
          </a:p>
        </p:txBody>
      </p:sp>
      <p:sp>
        <p:nvSpPr>
          <p:cNvPr id="6" name="منطق التطبيق والبيانات&#10;والاختبار">
            <a:extLst>
              <a:ext uri="{FF2B5EF4-FFF2-40B4-BE49-F238E27FC236}">
                <a16:creationId xmlns:a16="http://schemas.microsoft.com/office/drawing/2014/main" id="{35C7DBA7-13DA-49DD-B505-329AC657894B}"/>
              </a:ext>
            </a:extLst>
          </p:cNvPr>
          <p:cNvSpPr>
            <a:spLocks noGrp="1"/>
          </p:cNvSpPr>
          <p:nvPr/>
        </p:nvSpPr>
        <p:spPr>
          <a:xfrm>
            <a:off x="82296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منطق التطبيق والبيانات</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والاختبار</a:t>
            </a:r>
          </a:p>
        </p:txBody>
      </p:sp>
      <p:sp>
        <p:nvSpPr>
          <p:cNvPr id="7" name="عبد الرحمن&#10;الكردي">
            <a:extLst>
              <a:ext uri="{FF2B5EF4-FFF2-40B4-BE49-F238E27FC236}">
                <a16:creationId xmlns:a16="http://schemas.microsoft.com/office/drawing/2014/main" id="{55B9EE52-D144-47CB-BCA1-341E48A57CBF}"/>
              </a:ext>
            </a:extLst>
          </p:cNvPr>
          <p:cNvSpPr>
            <a:spLocks noGrp="1"/>
          </p:cNvSpPr>
          <p:nvPr/>
        </p:nvSpPr>
        <p:spPr>
          <a:xfrm>
            <a:off x="4429125"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عبد الرحمن</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الكردي</a:t>
            </a:r>
          </a:p>
        </p:txBody>
      </p:sp>
      <p:sp>
        <p:nvSpPr>
          <p:cNvPr id="8" name="تجربة المستخدم">
            <a:extLst>
              <a:ext uri="{FF2B5EF4-FFF2-40B4-BE49-F238E27FC236}">
                <a16:creationId xmlns:a16="http://schemas.microsoft.com/office/drawing/2014/main" id="{AED62BB0-D760-4F53-BF63-F522CB47CD5B}"/>
              </a:ext>
            </a:extLst>
          </p:cNvPr>
          <p:cNvSpPr>
            <a:spLocks noGrp="1"/>
          </p:cNvSpPr>
          <p:nvPr/>
        </p:nvSpPr>
        <p:spPr>
          <a:xfrm>
            <a:off x="4429125"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تجربة المستخدم</a:t>
            </a:r>
          </a:p>
        </p:txBody>
      </p:sp>
      <p:sp>
        <p:nvSpPr>
          <p:cNvPr id="9" name="الهوية البصرية&#10;وتنظيم رحلة الطالب">
            <a:extLst>
              <a:ext uri="{FF2B5EF4-FFF2-40B4-BE49-F238E27FC236}">
                <a16:creationId xmlns:a16="http://schemas.microsoft.com/office/drawing/2014/main" id="{923F9105-C661-4663-BF0F-7BDEB702D77F}"/>
              </a:ext>
            </a:extLst>
          </p:cNvPr>
          <p:cNvSpPr>
            <a:spLocks noGrp="1"/>
          </p:cNvSpPr>
          <p:nvPr/>
        </p:nvSpPr>
        <p:spPr>
          <a:xfrm>
            <a:off x="4429125"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الهوية البصرية</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وتنظيم رحلة الطالب</a:t>
            </a:r>
          </a:p>
        </p:txBody>
      </p:sp>
      <p:sp>
        <p:nvSpPr>
          <p:cNvPr id="10" name="زيد&#10;أبو الشعر">
            <a:extLst>
              <a:ext uri="{FF2B5EF4-FFF2-40B4-BE49-F238E27FC236}">
                <a16:creationId xmlns:a16="http://schemas.microsoft.com/office/drawing/2014/main" id="{ED7702E8-BD0B-4096-ACB6-0CA0884172C5}"/>
              </a:ext>
            </a:extLst>
          </p:cNvPr>
          <p:cNvSpPr>
            <a:spLocks noGrp="1"/>
          </p:cNvSpPr>
          <p:nvPr/>
        </p:nvSpPr>
        <p:spPr>
          <a:xfrm>
            <a:off x="571500" y="2000250"/>
            <a:ext cx="3238500" cy="1104900"/>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زيد</a:t>
            </a:r>
          </a:p>
          <a:p>
            <a:pPr algn="ctr" rtl="1">
              <a:lnSpc>
                <a:spcPct val="116000"/>
              </a:lnSpc>
              <a:spcBef>
                <a:spcPts val="0"/>
              </a:spcBef>
              <a:spcAft>
                <a:spcPts val="0"/>
              </a:spcAft>
              <a:buNone/>
              <a:defRPr lang="ar-JO" sz="2775" b="1" kern="0" spc="0">
                <a:solidFill>
                  <a:srgbClr val="013070"/>
                </a:solidFill>
                <a:latin typeface="IBM Plex Sans Arabic"/>
                <a:ea typeface="IBM Plex Sans Arabic"/>
                <a:cs typeface="IBM Plex Sans Arabic"/>
              </a:defRPr>
            </a:pPr>
            <a:r>
              <a:rPr lang="ar-JO" sz="2775" b="1" kern="0" spc="0">
                <a:solidFill>
                  <a:srgbClr val="013070"/>
                </a:solidFill>
                <a:latin typeface="IBM Plex Sans Arabic"/>
                <a:ea typeface="IBM Plex Sans Arabic"/>
                <a:cs typeface="IBM Plex Sans Arabic"/>
              </a:rPr>
              <a:t>أبو الشعر</a:t>
            </a:r>
          </a:p>
        </p:txBody>
      </p:sp>
      <p:sp>
        <p:nvSpPr>
          <p:cNvPr id="11" name="تنفيذ الواجهات">
            <a:extLst>
              <a:ext uri="{FF2B5EF4-FFF2-40B4-BE49-F238E27FC236}">
                <a16:creationId xmlns:a16="http://schemas.microsoft.com/office/drawing/2014/main" id="{0322E932-4766-4A2B-B470-2941A29D6DB7}"/>
              </a:ext>
            </a:extLst>
          </p:cNvPr>
          <p:cNvSpPr>
            <a:spLocks noGrp="1"/>
          </p:cNvSpPr>
          <p:nvPr/>
        </p:nvSpPr>
        <p:spPr>
          <a:xfrm>
            <a:off x="571500" y="3371850"/>
            <a:ext cx="3238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175" b="1" kern="0" spc="0">
                <a:solidFill>
                  <a:srgbClr val="C8A04C"/>
                </a:solidFill>
                <a:latin typeface="IBM Plex Sans Arabic"/>
                <a:ea typeface="IBM Plex Sans Arabic"/>
                <a:cs typeface="IBM Plex Sans Arabic"/>
              </a:defRPr>
            </a:pPr>
            <a:r>
              <a:rPr lang="ar-JO" sz="2175" b="1" kern="0" spc="0">
                <a:solidFill>
                  <a:srgbClr val="C8A04C"/>
                </a:solidFill>
                <a:latin typeface="IBM Plex Sans Arabic"/>
                <a:ea typeface="IBM Plex Sans Arabic"/>
                <a:cs typeface="IBM Plex Sans Arabic"/>
              </a:rPr>
              <a:t>تنفيذ الواجهات</a:t>
            </a:r>
          </a:p>
        </p:txBody>
      </p:sp>
      <p:sp>
        <p:nvSpPr>
          <p:cNvPr id="12" name="تحويل التصميم&#10;إلى تجربة قابلة للاستخدام">
            <a:extLst>
              <a:ext uri="{FF2B5EF4-FFF2-40B4-BE49-F238E27FC236}">
                <a16:creationId xmlns:a16="http://schemas.microsoft.com/office/drawing/2014/main" id="{3A6D3E17-CAF7-468E-8531-CE4B16CD1E0B}"/>
              </a:ext>
            </a:extLst>
          </p:cNvPr>
          <p:cNvSpPr>
            <a:spLocks noGrp="1"/>
          </p:cNvSpPr>
          <p:nvPr/>
        </p:nvSpPr>
        <p:spPr>
          <a:xfrm>
            <a:off x="571500" y="4057650"/>
            <a:ext cx="3238500" cy="105727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تحويل التصميم</a:t>
            </a:r>
          </a:p>
          <a:p>
            <a:pPr algn="ctr" rtl="1">
              <a:lnSpc>
                <a:spcPct val="116000"/>
              </a:lnSpc>
              <a:spcBef>
                <a:spcPts val="0"/>
              </a:spcBef>
              <a:spcAft>
                <a:spcPts val="0"/>
              </a:spcAft>
              <a:buNone/>
              <a:defRPr lang="ar-JO" sz="1950" b="0" kern="0" spc="0">
                <a:solidFill>
                  <a:srgbClr val="53657C"/>
                </a:solidFill>
                <a:latin typeface="IBM Plex Sans Arabic"/>
                <a:ea typeface="IBM Plex Sans Arabic"/>
                <a:cs typeface="IBM Plex Sans Arabic"/>
              </a:defRPr>
            </a:pPr>
            <a:r>
              <a:rPr lang="ar-JO" sz="1950" b="0" kern="0" spc="0">
                <a:solidFill>
                  <a:srgbClr val="53657C"/>
                </a:solidFill>
                <a:latin typeface="IBM Plex Sans Arabic"/>
                <a:ea typeface="IBM Plex Sans Arabic"/>
                <a:cs typeface="IBM Plex Sans Arabic"/>
              </a:rPr>
              <a:t>إلى تجربة قابلة للاستخدام</a:t>
            </a:r>
          </a:p>
        </p:txBody>
      </p:sp>
      <p:sp>
        <p:nvSpPr>
          <p:cNvPr id="13" name="Rectangle: Rounded Corners 12">
            <a:extLst>
              <a:ext uri="{FF2B5EF4-FFF2-40B4-BE49-F238E27FC236}">
                <a16:creationId xmlns:a16="http://schemas.microsoft.com/office/drawing/2014/main" id="{4ACE07A7-8E3C-480C-AD79-9E74B4E59E43}"/>
              </a:ext>
            </a:extLst>
          </p:cNvPr>
          <p:cNvSpPr>
            <a:spLocks noGrp="1"/>
          </p:cNvSpPr>
          <p:nvPr/>
        </p:nvSpPr>
        <p:spPr>
          <a:xfrm>
            <a:off x="1381125" y="5581650"/>
            <a:ext cx="10096500" cy="685800"/>
          </a:xfrm>
          <a:prstGeom prst="roundRect">
            <a:avLst>
              <a:gd name="adj" fmla="val 11111"/>
            </a:avLst>
          </a:prstGeom>
          <a:solidFill>
            <a:srgbClr val="F3EAD7"/>
          </a:solidFill>
          <a:ln w="12383">
            <a:solidFill>
              <a:srgbClr val="DFC98F"/>
            </a:solidFill>
          </a:ln>
        </p:spPr>
      </p:sp>
      <p:sp>
        <p:nvSpPr>
          <p:cNvPr id="14" name="بيانات صحيحة  ←  رحلة مفهومة  ←  واجهة عاملة ">
            <a:extLst>
              <a:ext uri="{FF2B5EF4-FFF2-40B4-BE49-F238E27FC236}">
                <a16:creationId xmlns:a16="http://schemas.microsoft.com/office/drawing/2014/main" id="{059B5DC9-49F1-4D80-820D-E40ABE316DEE}"/>
              </a:ext>
            </a:extLst>
          </p:cNvPr>
          <p:cNvSpPr>
            <a:spLocks noGrp="1"/>
          </p:cNvSpPr>
          <p:nvPr/>
        </p:nvSpPr>
        <p:spPr>
          <a:xfrm>
            <a:off x="1571625" y="5667375"/>
            <a:ext cx="9715500" cy="5048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025" b="1" kern="0" spc="0">
                <a:solidFill>
                  <a:srgbClr val="013070"/>
                </a:solidFill>
                <a:latin typeface="IBM Plex Sans Arabic"/>
                <a:ea typeface="IBM Plex Sans Arabic"/>
                <a:cs typeface="IBM Plex Sans Arabic"/>
              </a:defRPr>
            </a:pPr>
            <a:r>
              <a:rPr lang="ar-JO" sz="2025" b="1" kern="0" spc="0">
                <a:solidFill>
                  <a:srgbClr val="013070"/>
                </a:solidFill>
                <a:latin typeface="IBM Plex Sans Arabic"/>
                <a:ea typeface="IBM Plex Sans Arabic"/>
                <a:cs typeface="IBM Plex Sans Arabic"/>
              </a:rPr>
              <a:t>بيانات صحيحة  ←  رحلة مفهومة  ←  واجهة عاملة  ←  مراجعة مشتركة</a:t>
            </a:r>
          </a:p>
        </p:txBody>
      </p:sp>
    </p:spTree>
    <p:extLst>
      <p:ext uri="{BB962C8B-B14F-4D97-AF65-F5344CB8AC3E}">
        <p14:creationId xmlns:p14="http://schemas.microsoft.com/office/powerpoint/2010/main" val="20054006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1F4D"/>
        </a:solidFill>
        <a:effectLst/>
      </p:bgPr>
    </p:bg>
    <p:spTree>
      <p:nvGrpSpPr>
        <p:cNvPr id="1" name=""/>
        <p:cNvGrpSpPr/>
        <p:nvPr/>
      </p:nvGrpSpPr>
      <p:grpSpPr>
        <a:xfrm>
          <a:off x="0" y="0"/>
          <a:ext cx="0" cy="0"/>
          <a:chOff x="0" y="0"/>
          <a:chExt cx="0" cy="0"/>
        </a:xfrm>
      </p:grpSpPr>
      <p:pic>
        <p:nvPicPr>
          <p:cNvPr id="9" name="Picture 8"/>
          <p:cNvPicPr>
            <a:picLocks noChangeAspect="1"/>
          </p:cNvPicPr>
          <p:nvPr/>
        </p:nvPicPr>
        <p:blipFill>
          <a:blip r:embed="rId3"/>
          <a:srcRect t="27" b="27"/>
          <a:stretch>
            <a:fillRect/>
          </a:stretch>
        </p:blipFill>
        <p:spPr>
          <a:xfrm>
            <a:off x="0" y="0"/>
            <a:ext cx="12192000" cy="6858000"/>
          </a:xfrm>
          <a:prstGeom prst="rect">
            <a:avLst/>
          </a:prstGeom>
        </p:spPr>
      </p:pic>
      <p:pic>
        <p:nvPicPr>
          <p:cNvPr id="10" name="Picture 9"/>
          <p:cNvPicPr>
            <a:picLocks noChangeAspect="1"/>
          </p:cNvPicPr>
          <p:nvPr/>
        </p:nvPicPr>
        <p:blipFill>
          <a:blip r:embed="rId4"/>
          <a:stretch/>
        </p:blipFill>
        <p:spPr>
          <a:xfrm>
            <a:off x="10353675" y="552450"/>
            <a:ext cx="1123950" cy="1123950"/>
          </a:xfrm>
          <a:prstGeom prst="rect">
            <a:avLst/>
          </a:prstGeom>
        </p:spPr>
      </p:pic>
      <p:sp>
        <p:nvSpPr>
          <p:cNvPr id="3" name="قبل أن يلتزم الطالب لسنوات،">
            <a:extLst>
              <a:ext uri="{FF2B5EF4-FFF2-40B4-BE49-F238E27FC236}">
                <a16:creationId xmlns:a16="http://schemas.microsoft.com/office/drawing/2014/main" id="{AE4A530D-2844-4F50-8AD5-80A0FC75AE21}"/>
              </a:ext>
            </a:extLst>
          </p:cNvPr>
          <p:cNvSpPr>
            <a:spLocks noGrp="1"/>
          </p:cNvSpPr>
          <p:nvPr/>
        </p:nvSpPr>
        <p:spPr>
          <a:xfrm>
            <a:off x="5572125" y="1724025"/>
            <a:ext cx="5905500" cy="58102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925" b="1" kern="0" spc="0">
                <a:solidFill>
                  <a:srgbClr val="C8A04C"/>
                </a:solidFill>
                <a:latin typeface="IBM Plex Sans Arabic"/>
                <a:ea typeface="IBM Plex Sans Arabic"/>
                <a:cs typeface="IBM Plex Sans Arabic"/>
              </a:defRPr>
            </a:pPr>
            <a:r>
              <a:rPr lang="ar-JO" sz="2925" b="1" kern="0" spc="0">
                <a:solidFill>
                  <a:srgbClr val="C8A04C"/>
                </a:solidFill>
                <a:latin typeface="IBM Plex Sans Arabic"/>
                <a:ea typeface="IBM Plex Sans Arabic"/>
                <a:cs typeface="IBM Plex Sans Arabic"/>
              </a:rPr>
              <a:t>قبل أن يلتزم الطالب لسنوات،</a:t>
            </a:r>
          </a:p>
        </p:txBody>
      </p:sp>
      <p:sp>
        <p:nvSpPr>
          <p:cNvPr id="4" name="يرى الملاءمة والقبول والكلفة والسوق&#10;في قرار و">
            <a:extLst>
              <a:ext uri="{FF2B5EF4-FFF2-40B4-BE49-F238E27FC236}">
                <a16:creationId xmlns:a16="http://schemas.microsoft.com/office/drawing/2014/main" id="{ED32F5E0-2075-4CAF-81B1-FBBD711579A1}"/>
              </a:ext>
            </a:extLst>
          </p:cNvPr>
          <p:cNvSpPr>
            <a:spLocks noGrp="1"/>
          </p:cNvSpPr>
          <p:nvPr/>
        </p:nvSpPr>
        <p:spPr>
          <a:xfrm>
            <a:off x="4905375" y="2400300"/>
            <a:ext cx="6572250" cy="14668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يرى الملاءمة والقبول والكلفة والسوق</a:t>
            </a:r>
          </a:p>
          <a:p>
            <a:pPr algn="r" rtl="1">
              <a:lnSpc>
                <a:spcPct val="116000"/>
              </a:lnSpc>
              <a:spcBef>
                <a:spcPts val="0"/>
              </a:spcBef>
              <a:spcAft>
                <a:spcPts val="0"/>
              </a:spcAft>
              <a:buNone/>
              <a:defRPr lang="ar-JO" sz="3825" b="1" kern="0" spc="0">
                <a:solidFill>
                  <a:srgbClr val="FFFFFF"/>
                </a:solidFill>
                <a:latin typeface="IBM Plex Sans Arabic"/>
                <a:ea typeface="IBM Plex Sans Arabic"/>
                <a:cs typeface="IBM Plex Sans Arabic"/>
              </a:defRPr>
            </a:pPr>
            <a:r>
              <a:rPr lang="ar-JO" sz="3825" b="1" kern="0" spc="0">
                <a:solidFill>
                  <a:srgbClr val="FFFFFF"/>
                </a:solidFill>
                <a:latin typeface="IBM Plex Sans Arabic"/>
                <a:ea typeface="IBM Plex Sans Arabic"/>
                <a:cs typeface="IBM Plex Sans Arabic"/>
              </a:rPr>
              <a:t>في قرار واحد يمكن تفسيره.</a:t>
            </a:r>
          </a:p>
        </p:txBody>
      </p:sp>
      <p:sp>
        <p:nvSpPr>
          <p:cNvPr id="5" name="Rectangle: Rounded Corners 4">
            <a:extLst>
              <a:ext uri="{FF2B5EF4-FFF2-40B4-BE49-F238E27FC236}">
                <a16:creationId xmlns:a16="http://schemas.microsoft.com/office/drawing/2014/main" id="{05D96466-88C6-49DB-A141-D71084A4ACF1}"/>
              </a:ext>
            </a:extLst>
          </p:cNvPr>
          <p:cNvSpPr>
            <a:spLocks noGrp="1"/>
          </p:cNvSpPr>
          <p:nvPr/>
        </p:nvSpPr>
        <p:spPr>
          <a:xfrm>
            <a:off x="6334125" y="4324350"/>
            <a:ext cx="5143500" cy="628650"/>
          </a:xfrm>
          <a:prstGeom prst="roundRect">
            <a:avLst>
              <a:gd name="adj" fmla="val 12121"/>
            </a:avLst>
          </a:prstGeom>
          <a:solidFill>
            <a:srgbClr val="F3EAD7"/>
          </a:solidFill>
          <a:ln w="12383">
            <a:solidFill>
              <a:srgbClr val="DFC98F"/>
            </a:solidFill>
          </a:ln>
        </p:spPr>
      </p:sp>
      <p:sp>
        <p:nvSpPr>
          <p:cNvPr id="6" name="هل نبدأ التجربة؟">
            <a:extLst>
              <a:ext uri="{FF2B5EF4-FFF2-40B4-BE49-F238E27FC236}">
                <a16:creationId xmlns:a16="http://schemas.microsoft.com/office/drawing/2014/main" id="{6A20AB61-3952-44C6-96B5-A71632912C76}"/>
              </a:ext>
            </a:extLst>
          </p:cNvPr>
          <p:cNvSpPr>
            <a:spLocks noGrp="1"/>
          </p:cNvSpPr>
          <p:nvPr/>
        </p:nvSpPr>
        <p:spPr>
          <a:xfrm>
            <a:off x="6524625" y="4400550"/>
            <a:ext cx="4762500" cy="466725"/>
          </a:xfrm>
          <a:prstGeom prst="rect">
            <a:avLst/>
          </a:prstGeom>
          <a:noFill/>
          <a:ln w="0">
            <a:noFill/>
          </a:ln>
        </p:spPr>
        <p:txBody>
          <a:bodyPr wrap="square" lIns="38100" tIns="28575" rIns="38100" bIns="28575" anchor="ctr">
            <a:noAutofit/>
          </a:bodyPr>
          <a:lstStyle/>
          <a:p>
            <a:pPr algn="ctr" rtl="1">
              <a:lnSpc>
                <a:spcPct val="116000"/>
              </a:lnSpc>
              <a:spcBef>
                <a:spcPts val="0"/>
              </a:spcBef>
              <a:spcAft>
                <a:spcPts val="0"/>
              </a:spcAft>
              <a:buNone/>
              <a:defRPr lang="ar-JO" sz="2250" b="1" kern="0" spc="0">
                <a:solidFill>
                  <a:srgbClr val="013070"/>
                </a:solidFill>
                <a:latin typeface="IBM Plex Sans Arabic"/>
                <a:ea typeface="IBM Plex Sans Arabic"/>
                <a:cs typeface="IBM Plex Sans Arabic"/>
              </a:defRPr>
            </a:pPr>
            <a:r>
              <a:rPr lang="ar-JO" sz="2250" b="1" kern="0" spc="0">
                <a:solidFill>
                  <a:srgbClr val="013070"/>
                </a:solidFill>
                <a:latin typeface="IBM Plex Sans Arabic"/>
                <a:ea typeface="IBM Plex Sans Arabic"/>
                <a:cs typeface="IBM Plex Sans Arabic"/>
              </a:rPr>
              <a:t>هل نبدأ التجربة؟</a:t>
            </a:r>
          </a:p>
        </p:txBody>
      </p:sp>
      <p:sp>
        <p:nvSpPr>
          <p:cNvPr id="7" name="مُرشِدي  •  Vcoders">
            <a:extLst>
              <a:ext uri="{FF2B5EF4-FFF2-40B4-BE49-F238E27FC236}">
                <a16:creationId xmlns:a16="http://schemas.microsoft.com/office/drawing/2014/main" id="{887EFEF1-DA15-4912-B687-415BD2A83978}"/>
              </a:ext>
            </a:extLst>
          </p:cNvPr>
          <p:cNvSpPr>
            <a:spLocks noGrp="1"/>
          </p:cNvSpPr>
          <p:nvPr/>
        </p:nvSpPr>
        <p:spPr>
          <a:xfrm>
            <a:off x="6858000" y="5391150"/>
            <a:ext cx="4619625" cy="476250"/>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2250" b="1" kern="0" spc="0">
                <a:solidFill>
                  <a:srgbClr val="D1DEED"/>
                </a:solidFill>
                <a:latin typeface="IBM Plex Sans Arabic"/>
                <a:ea typeface="IBM Plex Sans Arabic"/>
                <a:cs typeface="IBM Plex Sans Arabic"/>
              </a:defRPr>
            </a:pPr>
            <a:r>
              <a:rPr lang="ar-JO" sz="2250" b="1" kern="0" spc="0">
                <a:solidFill>
                  <a:srgbClr val="D1DEED"/>
                </a:solidFill>
                <a:latin typeface="IBM Plex Sans Arabic"/>
                <a:ea typeface="IBM Plex Sans Arabic"/>
                <a:cs typeface="IBM Plex Sans Arabic"/>
              </a:rPr>
              <a:t>مُرشِدي  •  Vcoders</a:t>
            </a:r>
          </a:p>
        </p:txBody>
      </p:sp>
      <p:sp>
        <p:nvSpPr>
          <p:cNvPr id="8" name="شكرًا لكم">
            <a:extLst>
              <a:ext uri="{FF2B5EF4-FFF2-40B4-BE49-F238E27FC236}">
                <a16:creationId xmlns:a16="http://schemas.microsoft.com/office/drawing/2014/main" id="{BB544DBA-1E2F-4A20-842E-633B5BEBACEA}"/>
              </a:ext>
            </a:extLst>
          </p:cNvPr>
          <p:cNvSpPr>
            <a:spLocks noGrp="1"/>
          </p:cNvSpPr>
          <p:nvPr/>
        </p:nvSpPr>
        <p:spPr>
          <a:xfrm>
            <a:off x="8858250" y="5942648"/>
            <a:ext cx="2619375" cy="363855"/>
          </a:xfrm>
          <a:prstGeom prst="rect">
            <a:avLst/>
          </a:prstGeom>
          <a:noFill/>
          <a:ln w="0">
            <a:noFill/>
          </a:ln>
        </p:spPr>
        <p:txBody>
          <a:bodyPr wrap="square" lIns="38100" tIns="28575" rIns="38100" bIns="28575" anchor="ctr">
            <a:noAutofit/>
          </a:bodyPr>
          <a:lstStyle/>
          <a:p>
            <a:pPr algn="r" rtl="1">
              <a:lnSpc>
                <a:spcPct val="116000"/>
              </a:lnSpc>
              <a:spcBef>
                <a:spcPts val="0"/>
              </a:spcBef>
              <a:spcAft>
                <a:spcPts val="0"/>
              </a:spcAft>
              <a:buNone/>
              <a:defRPr lang="ar-JO" sz="1725" b="0" kern="0" spc="0">
                <a:solidFill>
                  <a:srgbClr val="FFFFFF"/>
                </a:solidFill>
                <a:latin typeface="IBM Plex Sans Arabic"/>
                <a:ea typeface="IBM Plex Sans Arabic"/>
                <a:cs typeface="IBM Plex Sans Arabic"/>
              </a:defRPr>
            </a:pPr>
            <a:r>
              <a:rPr lang="ar-JO" sz="1725" b="0" kern="0" spc="0">
                <a:solidFill>
                  <a:srgbClr val="FFFFFF"/>
                </a:solidFill>
                <a:latin typeface="IBM Plex Sans Arabic"/>
                <a:ea typeface="IBM Plex Sans Arabic"/>
                <a:cs typeface="IBM Plex Sans Arabic"/>
              </a:rPr>
              <a:t>شكرًا لكم</a:t>
            </a:r>
          </a:p>
        </p:txBody>
      </p:sp>
    </p:spTree>
    <p:extLst>
      <p:ext uri="{BB962C8B-B14F-4D97-AF65-F5344CB8AC3E}">
        <p14:creationId xmlns:p14="http://schemas.microsoft.com/office/powerpoint/2010/main" val="1738559244"/>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2021</Words>
  <Application>Microsoft Office PowerPoint</Application>
  <DocSecurity>0</DocSecurity>
  <PresentationFormat>Widescreen</PresentationFormat>
  <Paragraphs>229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IBM Plex Sans Arabic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Abdalrahman AL-Haymouni</cp:lastModifiedBy>
  <cp:revision>1</cp:revision>
  <dcterms:created xsi:type="dcterms:W3CDTF">2026-09-10T21:55:49Z</dcterms:created>
  <dcterms:modified xsi:type="dcterms:W3CDTF">2026-09-10T21:55:57Z</dcterms:modified>
</cp:coreProperties>
</file>