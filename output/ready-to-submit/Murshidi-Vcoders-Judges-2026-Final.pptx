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الفكرة تبدأ من سؤال نسمعه بعد التوجيهي: شو أدرس؟ إجابتنا تجمع اهتمام الطالب، خيارات الجامعة، وكلفة الدراسة في رحلة واحدة يمكنه فهمها ومناقشتها.</a:t>
            </a:r>
          </a:p>
          <a:p>
            <a:endParaRPr/>
          </a:p>
          <a:p>
            <a:r>
              <a:t>المصادر: ملفات المشروع الأصلية؛ اسم الفريق مصحح بتوجيه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في عام 2026 دخل 116,366 ناجحًا في التوجيهي مرحلة قرار ما بعد المدرسة. وأمام الطالب 607 عروض برامج بكالوريوس في القبول الموحد. لكنه لا يحتاج قائمة أطول؛ يحتاج أن يجمع اهتمامه، وشروط القبول، وكلفة الأسرة، وإشارات سوق العمل في صورة واحدة. اليوم تبقى هذه العناصر موزعة بين مصادر وشاشات مختلفة، ثم يُطلب منه اتخاذ قرار يمتد أثره لسنوات. هذه هي المشكلة التي يحلها مُرشِدي.</a:t>
            </a:r>
          </a:p>
          <a:p>
            <a:endParaRPr/>
          </a:p>
          <a:p>
            <a:r>
              <a:t>المصادر: وزارة التربية والتعليم عبر وكالة بترا، 10 آب 2026: 116,366 ناجحًا في التوجيهي، ويشمل العدد النظاميين والدراسة الخاصة. وحدة تنسيق القبول الموحد، 13 آب 2026: 607 عروض برامج بكالوريوس للدورة الصيفية 2026/2027؛ وهي عروض برامج في القبول الموحد وليست تخصصات مهنية فريدة.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1:35 (35 ثانية)</a:t>
            </a:r>
          </a:p>
          <a:p>
            <a:endParaRPr/>
          </a:p>
          <a:p>
            <a:r>
              <a:t>يحوّل مُرشِدي العناصر المتفرقة إلى ثلاث خطوات واضحة. يبدأ الطالب بأسئلة استكشاف ذاتي تبني قائمة أولية، ثم يقارن برامج فعلية وفق القبول والرسوم والكلفة وإشارات السوق، وبعدها يحفظ قائمة قصيرة وخطة كلفة مع مصادر مؤرخة. هذه شاشة حقيقية من التطبيق. المخرج ليس توصية مغلقة، بل قرار مبرر يستطيع الطالب وأسرته مناقشته قبل التقديم.</a:t>
            </a:r>
          </a:p>
          <a:p>
            <a:endParaRPr/>
          </a:p>
          <a:p>
            <a:r>
              <a:t>المصادر: شاشة فعلية من النسخة المحلية المحدثة للسورس؛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 إلى 2:20 (45 ثانية)</a:t>
            </a:r>
          </a:p>
          <a:p>
            <a:endParaRPr/>
          </a:p>
          <a:p>
            <a:r>
              <a:t>لنأخذ طالبًا يفكر في علم الحاسوب. يستطيع مقارنة البرنامج بين جامعات، ويرى رسم الساعة، وشرط التقديم، والحد التنافسي السابق كلًّا على حدة. جمعنا 607 عروض برامج من دليل القبول الموحد 2026 على 2027. وآخر حدود تنافسية منشورة عند التحقق تخص 2025، لذلك تظهر كسجل سابق لا كضمان قبول. هذه الدقة تمنع خلط شرط التقديم بالقبول الفعلي، وتبني الثقة في القرار.</a:t>
            </a:r>
          </a:p>
          <a:p>
            <a:endParaRPr/>
          </a:p>
          <a:p>
            <a:r>
              <a:t>المصادر: وحدة تنسيق القبول الموحد: 607 تخصصات بكالوريوس للدورة 2026/2027، إعلان 13 آب 2026؛ جداول الحدود الدنيا المنشورة 2021–2025، تحقق 10 أيلول 2026.</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 إلى 2:55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تصبح الكلفة السنوية 3,051 دينارًا. إذا تغيرت الميزانية تتغير فجوة التمويل فورًا. نفصل الرقم الرسمي عن تقديرات الأسرة، ولا ندّعي راتبًا أو عائدًا مضمونًا.</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2:55 إلى 3:35 (40 ثانية)</a:t>
            </a:r>
          </a:p>
          <a:p>
            <a:endParaRPr/>
          </a:p>
          <a:p>
            <a:r>
              <a:t>المستفيد هو الطالب وأسرته، والعميل الدافع مدرسة أو جامعة أو شبكة تعليمية. حجم السوق الكلي السنوي هو 116,366 ناجح توجيهي في 2026، والسوق القابل للخدمة عبر المدارس يبدأ من 90,326 ناجحًا نظاميًا. عند سعر مؤسسي مفترض مقداره 20 دينارًا لكل طالب نشط سنويًا، تساوي الفرصتان 2.33 مليون و1.81 مليون دينار. هدفنا الأول 1,500 طالب مدفوع عبر عشر مؤسسات، أي 30 ألف دينار. هذه نمذجة وليست مبيعات محققة.</a:t>
            </a:r>
          </a:p>
          <a:p>
            <a:endParaRPr/>
          </a:p>
          <a:p>
            <a:r>
              <a:t>المصادر: أعداد التوجيهي من وزارة التربية عبر بترا، 10 آب 2026. TAM/SAM/SOM والقيم المالية نمذجة عند سعر مقترح 20 د.أ/طالب نشط/سنة تدفعه المؤسسة، وليست إيرادات أو عملاء قائمين.</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3:35 إلى 4:30 (55 ثانية)</a:t>
            </a:r>
          </a:p>
          <a:p>
            <a:endParaRPr/>
          </a:p>
          <a:p>
            <a:r>
              <a:t>المستفيد هو الطالب وأسرته، والعميل الدافع هو المدرسة أو الجامعة أو شبكة تعليمية. نقدم للطالب الرحلة الأساسية مجانًا، وللمؤسسة أدوات للمرشد وتقارير مجمعة وتدريبًا. التسعير المقترح عشرون دينارًا لكل طالب نشط سنويًا، بحد أدنى 2,400 دينار للمؤسسة، ثم عقود أوسع للجهات العامة. نصل عبر المرشدين والتجارب المدرسية، وتبقى أنشطتنا تحديث البيانات والتحقق وقياس الأثر ودعم المؤسسات. الإيراد لا يغيّر ترتيب التخصصات، ولا نبيع بيانات الطلبة. السعر فرضية سنختبرها بثلاثة عروض قبل اعتماده.</a:t>
            </a:r>
          </a:p>
          <a:p>
            <a:endParaRPr/>
          </a:p>
          <a:p>
            <a:r>
              <a:t>المصادر: نموذج B2B2C وتسعير مقترح للاختبار، لا عقود أو شراكات قائمة. المقترح: 12 و20 و30 د.أ/طالب نشط في تجربة سعرية؛ حد أدنى مستهدف 2,400 د.أ/مؤسسة.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4:30 إلى 5:00 (30 ثانية)</a:t>
            </a:r>
          </a:p>
          <a:p>
            <a:endParaRPr/>
          </a:p>
          <a:p>
            <a:r>
              <a:t>بوابات القبول تعرض الخيارات، والبحث اليدوي يوزع القرار بين صفحات كثيرة. مُرشِدي يجمع أربعة أبعاد حول طالب واحد: اهتماماته، قبول 2026، كلفة أسرته، وإشارات سوق العمل، مع مصدر وتاريخ تحديث لكل رقم. وتدعم الفكرة تجربتان عشوائيتان شملتا 28,186 طالبًا في 243 مدرسة و49,166 مشاركًا؛ إذ وجدت كلتاهما أن تقديم معلومات مخصّصة قبل الاختيار يغيّر قرارات البرامج. سنختبر هذا الأثر محليًا بدل افتراضه.</a:t>
            </a:r>
          </a:p>
          <a:p>
            <a:endParaRPr/>
          </a:p>
          <a:p>
            <a:r>
              <a:t>المصادر: de Koning, Fouarge &amp; Dur، IZA Discussion Paper 17951، 2025: تجربة عشوائية على 28,186 طالبًا في 243 مدرسة. Hastings, Neilson &amp; Zimmerman، NBER Working Paper 21300: تجربة عشوائية على 49,166 مشاركًا. السياقان غير أردنيين ولا يثبتان أثر مُرشِدي محليًا.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 إلى 5:35 (35 ثانية)</a:t>
            </a:r>
          </a:p>
          <a:p>
            <a:endParaRPr/>
          </a:p>
          <a:p>
            <a:r>
              <a:t>لدينا منتج عامل وبيانات رسمية، وما ينقصنا هو إثبات الاستخدام والدفع. نقترح تجربة مع 100 طالب في ثلاث مدارس خلال ستة أسابيع. نعتبرها ناجحة إذا أكمل 70 طالبًا مقارنة ثلاثة برامج، وبلغ متوسط وضوح القرار درجة أربعة على مقياس من خمس درجات، ثم قبلت مؤسستان من خمس تجربة مدفوعة بسعر 12 دينارًا أو أكثر لكل طالب. هذه أهداف معلنة وليست نتائج سابقة؛ وإذا لم تتحقق نعدل الرحلة أو السعر.</a:t>
            </a:r>
          </a:p>
          <a:p>
            <a:endParaRPr/>
          </a:p>
          <a:p>
            <a:r>
              <a:t>المصادر: تصميم تجربة وأهداف قرار مقترحة وليست نتائج محققة: 100 طالب، 3 مدارس، 6 أسابيع، 70 طالبًا يكملون المقارنة، متوسط وضوح 4 من 5، وقبول مؤسستين من 5 بتجربة مدفوعة تبدأ من 12 د.أ/طالب.</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5:35 إلى 6:15 (40 ثانية)</a:t>
            </a:r>
          </a:p>
          <a:p>
            <a:endParaRPr/>
          </a:p>
          <a:p>
            <a:r>
              <a:t>في الفرضية الأساسية، تدفع المؤسسة 20 دينارًا لكل طالب نشط سنويًا، ونقدّر الكلفة المتغيرة بأربعة دنانير؛ فيبقى 16 دينارًا مساهمة لكل طالب قبل التكاليف الثابتة. مع كلفة تشغيل ثابتة مقدرة 30 ألف دينار، ومع 300 طالب في تجارب مجانية، تكون نقطة التعادل عند 1,950 طالبًا مدفوعًا، أي 39 ألف دينار إيراد سنوي ونحو 13 مؤسسة بمتوسط 150 طالبًا. أخطر فرضية هي الاستعداد للدفع، ولذلك نختبر أسعار 12 و20 و30 دينارًا قبل الالتزام.</a:t>
            </a:r>
          </a:p>
          <a:p>
            <a:endParaRPr/>
          </a:p>
          <a:p>
            <a:r>
              <a:t>المصادر: افتراضات مالية للاختبار وليست نتائج: سعر 20 د.أ، كلفة متغيرة 4 د.أ، ثابتة 30,000 د.أ، 300 طالب تجارب مجانية. نقطة التعادل: [30,000+(300×4)]/(20−4)=1,950 طالبًا؛ نحو 13 مؤسسة ×150.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6:15 إلى 6:40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هذا التكامل يربط احتياج الطالب بمنتج يمكن قياسه وتحسينه.</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6:40 إلى 7:00 (20 ثانية)</a:t>
            </a:r>
          </a:p>
          <a:p>
            <a:endParaRPr/>
          </a:p>
          <a:p>
            <a:r>
              <a:t>طلبنا هو الوصول إلى مدارس ومرشدين لتنفيذ تجربة القياس، ثم تجربة مؤسسية مدفوعة تثبت الاستعداد للدفع. لدينا منتج يعمل، وبيانات عامة موثقة، ونموذج مالي نعرف بالضبط كيف نختبره. مُرشِدي: قرار أوضح لمستقبل الطالب. شكرًا لكم.</a:t>
            </a:r>
          </a:p>
          <a:p>
            <a:endParaRPr/>
          </a:p>
          <a:p>
            <a:r>
              <a:t>المصادر: طلب تجربة ودعم مقترح؛ لا شراكات أو عقود قائمة ضمن العرض.</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D841D01C-EED1-4AF5-B38E-0D0506FFADA4}"/>
              </a:ext>
            </a:extLst>
          </p:cNvPr>
          <p:cNvSpPr>
            <a:spLocks noGrp="1"/>
          </p:cNvSpPr>
          <p:nvPr/>
        </p:nvSpPr>
        <p:spPr>
          <a:xfrm>
            <a:off x="6191250" y="1884045"/>
            <a:ext cx="5286375" cy="133731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7200" b="1" kern="0" spc="0">
                <a:solidFill>
                  <a:srgbClr val="FFFFFF"/>
                </a:solidFill>
                <a:latin typeface="IBM Plex Sans Arabic"/>
                <a:ea typeface="IBM Plex Sans Arabic"/>
                <a:cs typeface="IBM Plex Sans Arabic"/>
              </a:defRPr>
            </a:pPr>
            <a:r>
              <a:rPr lang="ar-JO" sz="7200" b="1" kern="0" spc="0">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349E57A6-5A49-453D-A151-7DD6D9617281}"/>
              </a:ext>
            </a:extLst>
          </p:cNvPr>
          <p:cNvSpPr>
            <a:spLocks noGrp="1"/>
          </p:cNvSpPr>
          <p:nvPr/>
        </p:nvSpPr>
        <p:spPr>
          <a:xfrm>
            <a:off x="6143625" y="3195638"/>
            <a:ext cx="5334000" cy="6572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75" b="1" kern="0" spc="0">
                <a:solidFill>
                  <a:srgbClr val="C8A04C"/>
                </a:solidFill>
                <a:latin typeface="IBM Plex Sans Arabic"/>
                <a:ea typeface="IBM Plex Sans Arabic"/>
                <a:cs typeface="IBM Plex Sans Arabic"/>
              </a:defRPr>
            </a:pPr>
            <a:r>
              <a:rPr lang="ar-JO" sz="3375" b="1" kern="0" spc="0">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17E9BFD6-B65C-4565-9FCB-F0172964D207}"/>
              </a:ext>
            </a:extLst>
          </p:cNvPr>
          <p:cNvSpPr>
            <a:spLocks noGrp="1"/>
          </p:cNvSpPr>
          <p:nvPr/>
        </p:nvSpPr>
        <p:spPr>
          <a:xfrm>
            <a:off x="7286625" y="4021455"/>
            <a:ext cx="4191000" cy="51054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2550" b="0" kern="0" spc="0">
                <a:solidFill>
                  <a:srgbClr val="FFFFFF"/>
                </a:solidFill>
                <a:latin typeface="IBM Plex Sans Arabic"/>
                <a:ea typeface="IBM Plex Sans Arabic"/>
                <a:cs typeface="IBM Plex Sans Arabic"/>
              </a:defRPr>
            </a:pPr>
            <a:r>
              <a:rPr lang="ar-JO" sz="2550" b="0" kern="0" spc="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CB342BD9-AE6C-4E27-83C0-C6B38F4A6B3D}"/>
              </a:ext>
            </a:extLst>
          </p:cNvPr>
          <p:cNvSpPr>
            <a:spLocks noGrp="1"/>
          </p:cNvSpPr>
          <p:nvPr/>
        </p:nvSpPr>
        <p:spPr>
          <a:xfrm>
            <a:off x="6096000" y="5534025"/>
            <a:ext cx="5381625" cy="4000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0" kern="0" spc="0">
                <a:solidFill>
                  <a:srgbClr val="D1DEED"/>
                </a:solidFill>
                <a:latin typeface="IBM Plex Sans Arabic"/>
                <a:ea typeface="IBM Plex Sans Arabic"/>
                <a:cs typeface="IBM Plex Sans Arabic"/>
              </a:defRPr>
            </a:pPr>
            <a:r>
              <a:rPr lang="ar-JO" sz="1875" b="0" kern="0" spc="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7B8B42D2-BC21-4C69-961C-A115A6F1EB09}"/>
              </a:ext>
            </a:extLst>
          </p:cNvPr>
          <p:cNvSpPr>
            <a:spLocks noGrp="1"/>
          </p:cNvSpPr>
          <p:nvPr/>
        </p:nvSpPr>
        <p:spPr>
          <a:xfrm>
            <a:off x="7429500" y="5937885"/>
            <a:ext cx="404812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D1DEED"/>
                </a:solidFill>
                <a:latin typeface="IBM Plex Sans Arabic"/>
                <a:ea typeface="IBM Plex Sans Arabic"/>
                <a:cs typeface="IBM Plex Sans Arabic"/>
              </a:defRPr>
            </a:pPr>
            <a:r>
              <a:rPr lang="ar-JO" sz="1725" b="0" kern="0" spc="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181072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9" name="Picture 18"/>
          <p:cNvPicPr>
            <a:picLocks noChangeAspect="1"/>
          </p:cNvPicPr>
          <p:nvPr/>
        </p:nvPicPr>
        <p:blipFill>
          <a:blip r:embed="rId3"/>
          <a:stretch/>
        </p:blipFill>
        <p:spPr>
          <a:xfrm>
            <a:off x="11125200" y="400050"/>
            <a:ext cx="552450" cy="552450"/>
          </a:xfrm>
          <a:prstGeom prst="rect">
            <a:avLst/>
          </a:prstGeom>
        </p:spPr>
      </p:pic>
      <p:sp>
        <p:nvSpPr>
          <p:cNvPr id="2" name="المشكلة: قرار كبير بمعلومات متفرقة">
            <a:extLst>
              <a:ext uri="{FF2B5EF4-FFF2-40B4-BE49-F238E27FC236}">
                <a16:creationId xmlns:a16="http://schemas.microsoft.com/office/drawing/2014/main" id="{DE25E289-E7B7-43B5-B205-78E212D23670}"/>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المشكلة: قرار كبير بمعلومات متفرقة</a:t>
            </a:r>
          </a:p>
        </p:txBody>
      </p:sp>
      <p:sp>
        <p:nvSpPr>
          <p:cNvPr id="3" name="02">
            <a:extLst>
              <a:ext uri="{FF2B5EF4-FFF2-40B4-BE49-F238E27FC236}">
                <a16:creationId xmlns:a16="http://schemas.microsoft.com/office/drawing/2014/main" id="{0537429B-4FB5-482D-8087-805C925BD974}"/>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1A5C394D-B5D0-42C7-BBF8-47EA122C6543}"/>
              </a:ext>
            </a:extLst>
          </p:cNvPr>
          <p:cNvSpPr>
            <a:spLocks noGrp="1"/>
          </p:cNvSpPr>
          <p:nvPr/>
        </p:nvSpPr>
        <p:spPr>
          <a:xfrm>
            <a:off x="8143875" y="1790700"/>
            <a:ext cx="3333750" cy="2914650"/>
          </a:xfrm>
          <a:prstGeom prst="roundRect">
            <a:avLst>
              <a:gd name="adj" fmla="val 2614"/>
            </a:avLst>
          </a:prstGeom>
          <a:solidFill>
            <a:srgbClr val="FFFFFF"/>
          </a:solidFill>
          <a:ln w="12383">
            <a:solidFill>
              <a:srgbClr val="D4DEE9"/>
            </a:solidFill>
          </a:ln>
        </p:spPr>
      </p:sp>
      <p:sp>
        <p:nvSpPr>
          <p:cNvPr id="5" name="116,366">
            <a:extLst>
              <a:ext uri="{FF2B5EF4-FFF2-40B4-BE49-F238E27FC236}">
                <a16:creationId xmlns:a16="http://schemas.microsoft.com/office/drawing/2014/main" id="{032FAAB5-920B-4096-8859-54208F6E302B}"/>
              </a:ext>
            </a:extLst>
          </p:cNvPr>
          <p:cNvSpPr>
            <a:spLocks noGrp="1"/>
          </p:cNvSpPr>
          <p:nvPr/>
        </p:nvSpPr>
        <p:spPr>
          <a:xfrm>
            <a:off x="8315325" y="2025015"/>
            <a:ext cx="2990850" cy="88392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650" b="1" kern="0" spc="0">
                <a:solidFill>
                  <a:srgbClr val="013070"/>
                </a:solidFill>
                <a:latin typeface="IBM Plex Sans Arabic"/>
                <a:ea typeface="IBM Plex Sans Arabic"/>
                <a:cs typeface="IBM Plex Sans Arabic"/>
              </a:defRPr>
            </a:pPr>
            <a:r>
              <a:rPr lang="ar-JO" sz="4650" b="1" kern="0" spc="0">
                <a:solidFill>
                  <a:srgbClr val="013070"/>
                </a:solidFill>
                <a:latin typeface="IBM Plex Sans Arabic"/>
                <a:ea typeface="IBM Plex Sans Arabic"/>
                <a:cs typeface="IBM Plex Sans Arabic"/>
              </a:rPr>
              <a:t>116,366</a:t>
            </a:r>
          </a:p>
        </p:txBody>
      </p:sp>
      <p:sp>
        <p:nvSpPr>
          <p:cNvPr id="6" name="ناجحًا في التوجيهي 2026">
            <a:extLst>
              <a:ext uri="{FF2B5EF4-FFF2-40B4-BE49-F238E27FC236}">
                <a16:creationId xmlns:a16="http://schemas.microsoft.com/office/drawing/2014/main" id="{540E0247-498D-4557-BF84-869CD7FCB65B}"/>
              </a:ext>
            </a:extLst>
          </p:cNvPr>
          <p:cNvSpPr>
            <a:spLocks noGrp="1"/>
          </p:cNvSpPr>
          <p:nvPr/>
        </p:nvSpPr>
        <p:spPr>
          <a:xfrm>
            <a:off x="8334375" y="3009900"/>
            <a:ext cx="295275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00" b="1" kern="0" spc="0">
                <a:solidFill>
                  <a:srgbClr val="013070"/>
                </a:solidFill>
                <a:latin typeface="IBM Plex Sans Arabic"/>
                <a:ea typeface="IBM Plex Sans Arabic"/>
                <a:cs typeface="IBM Plex Sans Arabic"/>
              </a:defRPr>
            </a:pPr>
            <a:r>
              <a:rPr lang="ar-JO" sz="2100" b="1" kern="0" spc="0">
                <a:solidFill>
                  <a:srgbClr val="013070"/>
                </a:solidFill>
                <a:latin typeface="IBM Plex Sans Arabic"/>
                <a:ea typeface="IBM Plex Sans Arabic"/>
                <a:cs typeface="IBM Plex Sans Arabic"/>
              </a:rPr>
              <a:t>ناجحًا في التوجيهي 2026</a:t>
            </a:r>
          </a:p>
        </p:txBody>
      </p:sp>
      <p:sp>
        <p:nvSpPr>
          <p:cNvPr id="7" name="دخلوا مرحلة قرار ما بعد المدرسة">
            <a:extLst>
              <a:ext uri="{FF2B5EF4-FFF2-40B4-BE49-F238E27FC236}">
                <a16:creationId xmlns:a16="http://schemas.microsoft.com/office/drawing/2014/main" id="{1BF04F6F-2671-4C1E-85CF-39FDD1300201}"/>
              </a:ext>
            </a:extLst>
          </p:cNvPr>
          <p:cNvSpPr>
            <a:spLocks noGrp="1"/>
          </p:cNvSpPr>
          <p:nvPr/>
        </p:nvSpPr>
        <p:spPr>
          <a:xfrm>
            <a:off x="8353425" y="3762375"/>
            <a:ext cx="2914650" cy="6381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دخلوا مرحلة قرار ما بعد المدرسة</a:t>
            </a:r>
          </a:p>
        </p:txBody>
      </p:sp>
      <p:sp>
        <p:nvSpPr>
          <p:cNvPr id="8" name="Rectangle: Rounded Corners 7">
            <a:extLst>
              <a:ext uri="{FF2B5EF4-FFF2-40B4-BE49-F238E27FC236}">
                <a16:creationId xmlns:a16="http://schemas.microsoft.com/office/drawing/2014/main" id="{57F9D895-B51B-40B5-889C-A21A58DBB88F}"/>
              </a:ext>
            </a:extLst>
          </p:cNvPr>
          <p:cNvSpPr>
            <a:spLocks noGrp="1"/>
          </p:cNvSpPr>
          <p:nvPr/>
        </p:nvSpPr>
        <p:spPr>
          <a:xfrm>
            <a:off x="4333875" y="1790700"/>
            <a:ext cx="3333750" cy="2914650"/>
          </a:xfrm>
          <a:prstGeom prst="roundRect">
            <a:avLst>
              <a:gd name="adj" fmla="val 2614"/>
            </a:avLst>
          </a:prstGeom>
          <a:solidFill>
            <a:srgbClr val="FFFFFF"/>
          </a:solidFill>
          <a:ln w="12383">
            <a:solidFill>
              <a:srgbClr val="D4DEE9"/>
            </a:solidFill>
          </a:ln>
        </p:spPr>
      </p:sp>
      <p:sp>
        <p:nvSpPr>
          <p:cNvPr id="9" name="607">
            <a:extLst>
              <a:ext uri="{FF2B5EF4-FFF2-40B4-BE49-F238E27FC236}">
                <a16:creationId xmlns:a16="http://schemas.microsoft.com/office/drawing/2014/main" id="{A6B6A2E7-2A1B-492A-AFEB-CEC92740C04E}"/>
              </a:ext>
            </a:extLst>
          </p:cNvPr>
          <p:cNvSpPr>
            <a:spLocks noGrp="1"/>
          </p:cNvSpPr>
          <p:nvPr/>
        </p:nvSpPr>
        <p:spPr>
          <a:xfrm>
            <a:off x="4505325" y="2025015"/>
            <a:ext cx="2990850" cy="88392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650" b="1" kern="0" spc="0">
                <a:solidFill>
                  <a:srgbClr val="013070"/>
                </a:solidFill>
                <a:latin typeface="IBM Plex Sans Arabic"/>
                <a:ea typeface="IBM Plex Sans Arabic"/>
                <a:cs typeface="IBM Plex Sans Arabic"/>
              </a:defRPr>
            </a:pPr>
            <a:r>
              <a:rPr lang="ar-JO" sz="4650" b="1" kern="0" spc="0">
                <a:solidFill>
                  <a:srgbClr val="013070"/>
                </a:solidFill>
                <a:latin typeface="IBM Plex Sans Arabic"/>
                <a:ea typeface="IBM Plex Sans Arabic"/>
                <a:cs typeface="IBM Plex Sans Arabic"/>
              </a:rPr>
              <a:t>607</a:t>
            </a:r>
          </a:p>
        </p:txBody>
      </p:sp>
      <p:sp>
        <p:nvSpPr>
          <p:cNvPr id="10" name="عروض برامج بكالوريوس">
            <a:extLst>
              <a:ext uri="{FF2B5EF4-FFF2-40B4-BE49-F238E27FC236}">
                <a16:creationId xmlns:a16="http://schemas.microsoft.com/office/drawing/2014/main" id="{19EC989F-E981-45CB-9138-AC402A25CA3B}"/>
              </a:ext>
            </a:extLst>
          </p:cNvPr>
          <p:cNvSpPr>
            <a:spLocks noGrp="1"/>
          </p:cNvSpPr>
          <p:nvPr/>
        </p:nvSpPr>
        <p:spPr>
          <a:xfrm>
            <a:off x="4524375" y="3009900"/>
            <a:ext cx="295275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00" b="1" kern="0" spc="0">
                <a:solidFill>
                  <a:srgbClr val="013070"/>
                </a:solidFill>
                <a:latin typeface="IBM Plex Sans Arabic"/>
                <a:ea typeface="IBM Plex Sans Arabic"/>
                <a:cs typeface="IBM Plex Sans Arabic"/>
              </a:defRPr>
            </a:pPr>
            <a:r>
              <a:rPr lang="ar-JO" sz="2100" b="1" kern="0" spc="0">
                <a:solidFill>
                  <a:srgbClr val="013070"/>
                </a:solidFill>
                <a:latin typeface="IBM Plex Sans Arabic"/>
                <a:ea typeface="IBM Plex Sans Arabic"/>
                <a:cs typeface="IBM Plex Sans Arabic"/>
              </a:rPr>
              <a:t>عروض برامج بكالوريوس</a:t>
            </a:r>
          </a:p>
        </p:txBody>
      </p:sp>
      <p:sp>
        <p:nvSpPr>
          <p:cNvPr id="11" name="في القبول الموحد 2026/2027">
            <a:extLst>
              <a:ext uri="{FF2B5EF4-FFF2-40B4-BE49-F238E27FC236}">
                <a16:creationId xmlns:a16="http://schemas.microsoft.com/office/drawing/2014/main" id="{6CD53C75-ABF3-4AA9-8819-127683C49B52}"/>
              </a:ext>
            </a:extLst>
          </p:cNvPr>
          <p:cNvSpPr>
            <a:spLocks noGrp="1"/>
          </p:cNvSpPr>
          <p:nvPr/>
        </p:nvSpPr>
        <p:spPr>
          <a:xfrm>
            <a:off x="4543425" y="3762375"/>
            <a:ext cx="2914650" cy="6381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في القبول الموحد 2026/2027</a:t>
            </a:r>
          </a:p>
        </p:txBody>
      </p:sp>
      <p:sp>
        <p:nvSpPr>
          <p:cNvPr id="12" name="Rectangle: Rounded Corners 11">
            <a:extLst>
              <a:ext uri="{FF2B5EF4-FFF2-40B4-BE49-F238E27FC236}">
                <a16:creationId xmlns:a16="http://schemas.microsoft.com/office/drawing/2014/main" id="{A8AEAEF5-039E-4550-BB69-A0EED173D67A}"/>
              </a:ext>
            </a:extLst>
          </p:cNvPr>
          <p:cNvSpPr>
            <a:spLocks noGrp="1"/>
          </p:cNvSpPr>
          <p:nvPr/>
        </p:nvSpPr>
        <p:spPr>
          <a:xfrm>
            <a:off x="523875" y="1790700"/>
            <a:ext cx="3333750" cy="2914650"/>
          </a:xfrm>
          <a:prstGeom prst="roundRect">
            <a:avLst>
              <a:gd name="adj" fmla="val 2614"/>
            </a:avLst>
          </a:prstGeom>
          <a:solidFill>
            <a:srgbClr val="F3EAD7"/>
          </a:solidFill>
          <a:ln w="12383">
            <a:solidFill>
              <a:srgbClr val="DFC98F"/>
            </a:solidFill>
          </a:ln>
        </p:spPr>
      </p:sp>
      <p:sp>
        <p:nvSpPr>
          <p:cNvPr id="13" name="1">
            <a:extLst>
              <a:ext uri="{FF2B5EF4-FFF2-40B4-BE49-F238E27FC236}">
                <a16:creationId xmlns:a16="http://schemas.microsoft.com/office/drawing/2014/main" id="{EF6F717B-5C6E-483C-93F2-AE5ADF3CCA68}"/>
              </a:ext>
            </a:extLst>
          </p:cNvPr>
          <p:cNvSpPr>
            <a:spLocks noGrp="1"/>
          </p:cNvSpPr>
          <p:nvPr/>
        </p:nvSpPr>
        <p:spPr>
          <a:xfrm>
            <a:off x="695325" y="1918335"/>
            <a:ext cx="2990850" cy="10972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850" b="1" kern="0" spc="0">
                <a:solidFill>
                  <a:srgbClr val="C8A04C"/>
                </a:solidFill>
                <a:latin typeface="IBM Plex Sans Arabic"/>
                <a:ea typeface="IBM Plex Sans Arabic"/>
                <a:cs typeface="IBM Plex Sans Arabic"/>
              </a:defRPr>
            </a:pPr>
            <a:r>
              <a:rPr lang="ar-JO" sz="5850" b="1" kern="0" spc="0">
                <a:solidFill>
                  <a:srgbClr val="C8A04C"/>
                </a:solidFill>
                <a:latin typeface="IBM Plex Sans Arabic"/>
                <a:ea typeface="IBM Plex Sans Arabic"/>
                <a:cs typeface="IBM Plex Sans Arabic"/>
              </a:rPr>
              <a:t>1</a:t>
            </a:r>
          </a:p>
        </p:txBody>
      </p:sp>
      <p:sp>
        <p:nvSpPr>
          <p:cNvPr id="14" name="قرار يمتد لسنوات">
            <a:extLst>
              <a:ext uri="{FF2B5EF4-FFF2-40B4-BE49-F238E27FC236}">
                <a16:creationId xmlns:a16="http://schemas.microsoft.com/office/drawing/2014/main" id="{E881FFC0-22C6-4A68-8DBB-1554D98B39C8}"/>
              </a:ext>
            </a:extLst>
          </p:cNvPr>
          <p:cNvSpPr>
            <a:spLocks noGrp="1"/>
          </p:cNvSpPr>
          <p:nvPr/>
        </p:nvSpPr>
        <p:spPr>
          <a:xfrm>
            <a:off x="714375" y="3009900"/>
            <a:ext cx="295275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00" b="1" kern="0" spc="0">
                <a:solidFill>
                  <a:srgbClr val="013070"/>
                </a:solidFill>
                <a:latin typeface="IBM Plex Sans Arabic"/>
                <a:ea typeface="IBM Plex Sans Arabic"/>
                <a:cs typeface="IBM Plex Sans Arabic"/>
              </a:defRPr>
            </a:pPr>
            <a:r>
              <a:rPr lang="ar-JO" sz="2100" b="1" kern="0" spc="0">
                <a:solidFill>
                  <a:srgbClr val="013070"/>
                </a:solidFill>
                <a:latin typeface="IBM Plex Sans Arabic"/>
                <a:ea typeface="IBM Plex Sans Arabic"/>
                <a:cs typeface="IBM Plex Sans Arabic"/>
              </a:rPr>
              <a:t>قرار يمتد لسنوات</a:t>
            </a:r>
          </a:p>
        </p:txBody>
      </p:sp>
      <p:sp>
        <p:nvSpPr>
          <p:cNvPr id="15" name="يحتاج ملاءمة وقبولًا وكلفة وسوقًا">
            <a:extLst>
              <a:ext uri="{FF2B5EF4-FFF2-40B4-BE49-F238E27FC236}">
                <a16:creationId xmlns:a16="http://schemas.microsoft.com/office/drawing/2014/main" id="{1E901902-5E67-4755-86F7-BC4624924C1A}"/>
              </a:ext>
            </a:extLst>
          </p:cNvPr>
          <p:cNvSpPr>
            <a:spLocks noGrp="1"/>
          </p:cNvSpPr>
          <p:nvPr/>
        </p:nvSpPr>
        <p:spPr>
          <a:xfrm>
            <a:off x="733425" y="3762375"/>
            <a:ext cx="2914650" cy="6381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يحتاج ملاءمة وقبولًا وكلفة وسوقًا</a:t>
            </a:r>
          </a:p>
        </p:txBody>
      </p:sp>
      <p:sp>
        <p:nvSpPr>
          <p:cNvPr id="16" name="Rectangle: Rounded Corners 15">
            <a:extLst>
              <a:ext uri="{FF2B5EF4-FFF2-40B4-BE49-F238E27FC236}">
                <a16:creationId xmlns:a16="http://schemas.microsoft.com/office/drawing/2014/main" id="{18263122-30E7-420D-858E-12F5EB7F3780}"/>
              </a:ext>
            </a:extLst>
          </p:cNvPr>
          <p:cNvSpPr>
            <a:spLocks noGrp="1"/>
          </p:cNvSpPr>
          <p:nvPr/>
        </p:nvSpPr>
        <p:spPr>
          <a:xfrm>
            <a:off x="666750" y="5000625"/>
            <a:ext cx="10810875" cy="685800"/>
          </a:xfrm>
          <a:prstGeom prst="roundRect">
            <a:avLst>
              <a:gd name="adj" fmla="val 11111"/>
            </a:avLst>
          </a:prstGeom>
          <a:solidFill>
            <a:srgbClr val="013070"/>
          </a:solidFill>
          <a:ln w="12383">
            <a:solidFill>
              <a:srgbClr val="013070"/>
            </a:solidFill>
          </a:ln>
        </p:spPr>
      </p:sp>
      <p:sp>
        <p:nvSpPr>
          <p:cNvPr id="17" name="المشكلة: القبول والرسوم والكلفة والسوق موزعة ">
            <a:extLst>
              <a:ext uri="{FF2B5EF4-FFF2-40B4-BE49-F238E27FC236}">
                <a16:creationId xmlns:a16="http://schemas.microsoft.com/office/drawing/2014/main" id="{94A7FD1D-3522-4D0A-BA4C-FEF2EBF4351B}"/>
              </a:ext>
            </a:extLst>
          </p:cNvPr>
          <p:cNvSpPr>
            <a:spLocks noGrp="1"/>
          </p:cNvSpPr>
          <p:nvPr/>
        </p:nvSpPr>
        <p:spPr>
          <a:xfrm>
            <a:off x="904875" y="5095875"/>
            <a:ext cx="10334625"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المشكلة: القبول والرسوم والكلفة والسوق موزعة على مصادر وشاشات مختلفة</a:t>
            </a:r>
          </a:p>
        </p:txBody>
      </p:sp>
      <p:sp>
        <p:nvSpPr>
          <p:cNvPr id="18" name="مصدر الأعداد: وزارة التربية والتعليم • وحدة ت">
            <a:extLst>
              <a:ext uri="{FF2B5EF4-FFF2-40B4-BE49-F238E27FC236}">
                <a16:creationId xmlns:a16="http://schemas.microsoft.com/office/drawing/2014/main" id="{16B05406-1FFB-42B9-83D9-970D38924D9F}"/>
              </a:ext>
            </a:extLst>
          </p:cNvPr>
          <p:cNvSpPr>
            <a:spLocks noGrp="1"/>
          </p:cNvSpPr>
          <p:nvPr/>
        </p:nvSpPr>
        <p:spPr>
          <a:xfrm>
            <a:off x="714375" y="5895975"/>
            <a:ext cx="10763250"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مصدر الأعداد: وزارة التربية والتعليم • وحدة تنسيق القبول الموحد، آب 2026</a:t>
            </a:r>
          </a:p>
        </p:txBody>
      </p:sp>
    </p:spTree>
    <p:extLst>
      <p:ext uri="{BB962C8B-B14F-4D97-AF65-F5344CB8AC3E}">
        <p14:creationId xmlns:p14="http://schemas.microsoft.com/office/powerpoint/2010/main" val="1836762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1125200" y="400050"/>
            <a:ext cx="552450" cy="552450"/>
          </a:xfrm>
          <a:prstGeom prst="rect">
            <a:avLst/>
          </a:prstGeom>
        </p:spPr>
      </p:pic>
      <p:sp>
        <p:nvSpPr>
          <p:cNvPr id="2" name="الحل: رحلة قرار واحدة مع مُرشِدي">
            <a:extLst>
              <a:ext uri="{FF2B5EF4-FFF2-40B4-BE49-F238E27FC236}">
                <a16:creationId xmlns:a16="http://schemas.microsoft.com/office/drawing/2014/main" id="{305AD20D-717B-4260-9F0A-F1BDD8DD8C59}"/>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الحل: رحلة قرار واحدة مع مُرشِدي</a:t>
            </a:r>
          </a:p>
        </p:txBody>
      </p:sp>
      <p:sp>
        <p:nvSpPr>
          <p:cNvPr id="3" name="03">
            <a:extLst>
              <a:ext uri="{FF2B5EF4-FFF2-40B4-BE49-F238E27FC236}">
                <a16:creationId xmlns:a16="http://schemas.microsoft.com/office/drawing/2014/main" id="{2D6E8E47-0578-491F-9EE9-19EA55E1724C}"/>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03</a:t>
            </a:r>
          </a:p>
        </p:txBody>
      </p:sp>
      <p:pic>
        <p:nvPicPr>
          <p:cNvPr id="16" name="Picture 15"/>
          <p:cNvPicPr>
            <a:picLocks noChangeAspect="1"/>
          </p:cNvPicPr>
          <p:nvPr/>
        </p:nvPicPr>
        <p:blipFill>
          <a:blip r:embed="rId4"/>
          <a:stretch/>
        </p:blipFill>
        <p:spPr>
          <a:xfrm>
            <a:off x="0" y="47625"/>
            <a:ext cx="4191000" cy="6286500"/>
          </a:xfrm>
          <a:prstGeom prst="rect">
            <a:avLst/>
          </a:prstGeom>
        </p:spPr>
      </p:pic>
      <p:sp>
        <p:nvSpPr>
          <p:cNvPr id="5" name="1  ابدأ من اهتماماتك">
            <a:extLst>
              <a:ext uri="{FF2B5EF4-FFF2-40B4-BE49-F238E27FC236}">
                <a16:creationId xmlns:a16="http://schemas.microsoft.com/office/drawing/2014/main" id="{709AA792-62D6-4C9B-A697-15FB5A65B6C6}"/>
              </a:ext>
            </a:extLst>
          </p:cNvPr>
          <p:cNvSpPr>
            <a:spLocks noGrp="1"/>
          </p:cNvSpPr>
          <p:nvPr/>
        </p:nvSpPr>
        <p:spPr>
          <a:xfrm>
            <a:off x="4524375" y="1695450"/>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1  ابدأ من اهتماماتك</a:t>
            </a:r>
          </a:p>
        </p:txBody>
      </p:sp>
      <p:sp>
        <p:nvSpPr>
          <p:cNvPr id="6" name="أسئلة استكشاف ذاتي تبني قائمة أولية">
            <a:extLst>
              <a:ext uri="{FF2B5EF4-FFF2-40B4-BE49-F238E27FC236}">
                <a16:creationId xmlns:a16="http://schemas.microsoft.com/office/drawing/2014/main" id="{B6C4AF8B-BCC0-4A07-9FFE-265178971E79}"/>
              </a:ext>
            </a:extLst>
          </p:cNvPr>
          <p:cNvSpPr>
            <a:spLocks noGrp="1"/>
          </p:cNvSpPr>
          <p:nvPr/>
        </p:nvSpPr>
        <p:spPr>
          <a:xfrm>
            <a:off x="4524375" y="2286000"/>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أسئلة استكشاف ذاتي تبني قائمة أولية</a:t>
            </a:r>
          </a:p>
        </p:txBody>
      </p:sp>
      <p:sp>
        <p:nvSpPr>
          <p:cNvPr id="7" name="2  قارن خياراتك">
            <a:extLst>
              <a:ext uri="{FF2B5EF4-FFF2-40B4-BE49-F238E27FC236}">
                <a16:creationId xmlns:a16="http://schemas.microsoft.com/office/drawing/2014/main" id="{8A2D3A9F-D51E-44F1-A690-C4800E5B776E}"/>
              </a:ext>
            </a:extLst>
          </p:cNvPr>
          <p:cNvSpPr>
            <a:spLocks noGrp="1"/>
          </p:cNvSpPr>
          <p:nvPr/>
        </p:nvSpPr>
        <p:spPr>
          <a:xfrm>
            <a:off x="4524375" y="29051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2  قارن خياراتك</a:t>
            </a:r>
          </a:p>
        </p:txBody>
      </p:sp>
      <p:sp>
        <p:nvSpPr>
          <p:cNvPr id="8" name="قبول ورسوم وكلفة وإشارات سوق في شاشة واحدة">
            <a:extLst>
              <a:ext uri="{FF2B5EF4-FFF2-40B4-BE49-F238E27FC236}">
                <a16:creationId xmlns:a16="http://schemas.microsoft.com/office/drawing/2014/main" id="{08958A0D-3C82-47CE-87E2-E495D91D1934}"/>
              </a:ext>
            </a:extLst>
          </p:cNvPr>
          <p:cNvSpPr>
            <a:spLocks noGrp="1"/>
          </p:cNvSpPr>
          <p:nvPr/>
        </p:nvSpPr>
        <p:spPr>
          <a:xfrm>
            <a:off x="4524375" y="34956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قبول ورسوم وكلفة وإشارات سوق في شاشة واحدة</a:t>
            </a:r>
          </a:p>
        </p:txBody>
      </p:sp>
      <p:sp>
        <p:nvSpPr>
          <p:cNvPr id="9" name="3  احفظ قرارك">
            <a:extLst>
              <a:ext uri="{FF2B5EF4-FFF2-40B4-BE49-F238E27FC236}">
                <a16:creationId xmlns:a16="http://schemas.microsoft.com/office/drawing/2014/main" id="{024A8DE5-0714-4234-979C-FC93EDA9B11E}"/>
              </a:ext>
            </a:extLst>
          </p:cNvPr>
          <p:cNvSpPr>
            <a:spLocks noGrp="1"/>
          </p:cNvSpPr>
          <p:nvPr/>
        </p:nvSpPr>
        <p:spPr>
          <a:xfrm>
            <a:off x="4524375" y="4114800"/>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3  احفظ قرارك</a:t>
            </a:r>
          </a:p>
        </p:txBody>
      </p:sp>
      <p:sp>
        <p:nvSpPr>
          <p:cNvPr id="10" name="قائمة قصيرة وخطة كلفة ومصادر مؤرخة">
            <a:extLst>
              <a:ext uri="{FF2B5EF4-FFF2-40B4-BE49-F238E27FC236}">
                <a16:creationId xmlns:a16="http://schemas.microsoft.com/office/drawing/2014/main" id="{F33302AF-B03E-4F8F-8158-81F2C4B1C054}"/>
              </a:ext>
            </a:extLst>
          </p:cNvPr>
          <p:cNvSpPr>
            <a:spLocks noGrp="1"/>
          </p:cNvSpPr>
          <p:nvPr/>
        </p:nvSpPr>
        <p:spPr>
          <a:xfrm>
            <a:off x="4524375" y="4705350"/>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قائمة قصيرة وخطة كلفة ومصادر مؤرخة</a:t>
            </a:r>
          </a:p>
        </p:txBody>
      </p:sp>
      <p:sp>
        <p:nvSpPr>
          <p:cNvPr id="11" name="Rectangle: Rounded Corners 10">
            <a:extLst>
              <a:ext uri="{FF2B5EF4-FFF2-40B4-BE49-F238E27FC236}">
                <a16:creationId xmlns:a16="http://schemas.microsoft.com/office/drawing/2014/main" id="{1AA98FAE-C7D0-4B41-95F7-47A59A4145F4}"/>
              </a:ext>
            </a:extLst>
          </p:cNvPr>
          <p:cNvSpPr>
            <a:spLocks noGrp="1"/>
          </p:cNvSpPr>
          <p:nvPr/>
        </p:nvSpPr>
        <p:spPr>
          <a:xfrm>
            <a:off x="4524375" y="5410200"/>
            <a:ext cx="6953250" cy="666750"/>
          </a:xfrm>
          <a:prstGeom prst="roundRect">
            <a:avLst>
              <a:gd name="adj" fmla="val 11429"/>
            </a:avLst>
          </a:prstGeom>
          <a:solidFill>
            <a:srgbClr val="F3EAD7"/>
          </a:solidFill>
          <a:ln w="12383">
            <a:solidFill>
              <a:srgbClr val="DFC98F"/>
            </a:solidFill>
          </a:ln>
        </p:spPr>
      </p:sp>
      <p:sp>
        <p:nvSpPr>
          <p:cNvPr id="12" name="المخرج: قرار مبرّر يناقشه الطالب مع أسرته">
            <a:extLst>
              <a:ext uri="{FF2B5EF4-FFF2-40B4-BE49-F238E27FC236}">
                <a16:creationId xmlns:a16="http://schemas.microsoft.com/office/drawing/2014/main" id="{9B5EE80D-02A5-4453-ACEF-CA7B3EAD8AB7}"/>
              </a:ext>
            </a:extLst>
          </p:cNvPr>
          <p:cNvSpPr>
            <a:spLocks noGrp="1"/>
          </p:cNvSpPr>
          <p:nvPr/>
        </p:nvSpPr>
        <p:spPr>
          <a:xfrm>
            <a:off x="4714875" y="5486400"/>
            <a:ext cx="6572250" cy="5143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المخرج: قرار مبرّر يناقشه الطالب مع أسرته</a:t>
            </a:r>
          </a:p>
        </p:txBody>
      </p:sp>
    </p:spTree>
    <p:extLst>
      <p:ext uri="{BB962C8B-B14F-4D97-AF65-F5344CB8AC3E}">
        <p14:creationId xmlns:p14="http://schemas.microsoft.com/office/powerpoint/2010/main" val="1630673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مقارنة برامج فعلية">
            <a:extLst>
              <a:ext uri="{FF2B5EF4-FFF2-40B4-BE49-F238E27FC236}">
                <a16:creationId xmlns:a16="http://schemas.microsoft.com/office/drawing/2014/main" id="{830C1F7C-ADB7-44A4-8DE9-E0B297B27D48}"/>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مقارنة برامج فعلية</a:t>
            </a:r>
          </a:p>
        </p:txBody>
      </p:sp>
      <p:sp>
        <p:nvSpPr>
          <p:cNvPr id="3" name="04">
            <a:extLst>
              <a:ext uri="{FF2B5EF4-FFF2-40B4-BE49-F238E27FC236}">
                <a16:creationId xmlns:a16="http://schemas.microsoft.com/office/drawing/2014/main" id="{EDB15FBD-DD85-4EFA-A0CB-E8F405122E2C}"/>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04</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607">
            <a:extLst>
              <a:ext uri="{FF2B5EF4-FFF2-40B4-BE49-F238E27FC236}">
                <a16:creationId xmlns:a16="http://schemas.microsoft.com/office/drawing/2014/main" id="{91F97053-C5CB-4E84-9F41-C6F52527C6D8}"/>
              </a:ext>
            </a:extLst>
          </p:cNvPr>
          <p:cNvSpPr>
            <a:spLocks noGrp="1"/>
          </p:cNvSpPr>
          <p:nvPr/>
        </p:nvSpPr>
        <p:spPr>
          <a:xfrm>
            <a:off x="4524375" y="1689735"/>
            <a:ext cx="6953250" cy="123063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600" b="1" kern="0" spc="0">
                <a:solidFill>
                  <a:srgbClr val="013070"/>
                </a:solidFill>
                <a:latin typeface="IBM Plex Sans Arabic"/>
                <a:ea typeface="IBM Plex Sans Arabic"/>
                <a:cs typeface="IBM Plex Sans Arabic"/>
              </a:defRPr>
            </a:pPr>
            <a:r>
              <a:rPr lang="ar-JO" sz="6600" b="1" kern="0" spc="0">
                <a:solidFill>
                  <a:srgbClr val="013070"/>
                </a:solidFill>
                <a:latin typeface="IBM Plex Sans Arabic"/>
                <a:ea typeface="IBM Plex Sans Arabic"/>
                <a:cs typeface="IBM Plex Sans Arabic"/>
              </a:rPr>
              <a:t>607</a:t>
            </a:r>
          </a:p>
        </p:txBody>
      </p:sp>
      <p:sp>
        <p:nvSpPr>
          <p:cNvPr id="6" name="عروض برامج في دليل القبول الموحد">
            <a:extLst>
              <a:ext uri="{FF2B5EF4-FFF2-40B4-BE49-F238E27FC236}">
                <a16:creationId xmlns:a16="http://schemas.microsoft.com/office/drawing/2014/main" id="{3661A339-73A7-49A6-ADC8-309815681869}"/>
              </a:ext>
            </a:extLst>
          </p:cNvPr>
          <p:cNvSpPr>
            <a:spLocks noGrp="1"/>
          </p:cNvSpPr>
          <p:nvPr/>
        </p:nvSpPr>
        <p:spPr>
          <a:xfrm>
            <a:off x="4429125" y="2838450"/>
            <a:ext cx="7048500" cy="5905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عروض برامج في دليل القبول الموحد</a:t>
            </a:r>
          </a:p>
        </p:txBody>
      </p:sp>
      <p:sp>
        <p:nvSpPr>
          <p:cNvPr id="7" name="دليل البرامج والرسوم 2026/2027">
            <a:extLst>
              <a:ext uri="{FF2B5EF4-FFF2-40B4-BE49-F238E27FC236}">
                <a16:creationId xmlns:a16="http://schemas.microsoft.com/office/drawing/2014/main" id="{C02C4281-812B-40FB-82A3-FCBBF886035E}"/>
              </a:ext>
            </a:extLst>
          </p:cNvPr>
          <p:cNvSpPr>
            <a:spLocks noGrp="1"/>
          </p:cNvSpPr>
          <p:nvPr/>
        </p:nvSpPr>
        <p:spPr>
          <a:xfrm>
            <a:off x="4429125" y="360997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0" kern="0" spc="0">
                <a:solidFill>
                  <a:srgbClr val="53657C"/>
                </a:solidFill>
                <a:latin typeface="IBM Plex Sans Arabic"/>
                <a:ea typeface="IBM Plex Sans Arabic"/>
                <a:cs typeface="IBM Plex Sans Arabic"/>
              </a:defRPr>
            </a:pPr>
            <a:r>
              <a:rPr lang="ar-JO" sz="2400" b="0" kern="0" spc="0">
                <a:solidFill>
                  <a:srgbClr val="53657C"/>
                </a:solidFill>
                <a:latin typeface="IBM Plex Sans Arabic"/>
                <a:ea typeface="IBM Plex Sans Arabic"/>
                <a:cs typeface="IBM Plex Sans Arabic"/>
              </a:rPr>
              <a:t>دليل البرامج والرسوم 2026/2027</a:t>
            </a:r>
          </a:p>
        </p:txBody>
      </p:sp>
      <p:sp>
        <p:nvSpPr>
          <p:cNvPr id="8" name="آخر حدود تنافسية منشورة: 2025">
            <a:extLst>
              <a:ext uri="{FF2B5EF4-FFF2-40B4-BE49-F238E27FC236}">
                <a16:creationId xmlns:a16="http://schemas.microsoft.com/office/drawing/2014/main" id="{EE5980EA-A3EC-461A-BB43-2DDB43713A33}"/>
              </a:ext>
            </a:extLst>
          </p:cNvPr>
          <p:cNvSpPr>
            <a:spLocks noGrp="1"/>
          </p:cNvSpPr>
          <p:nvPr/>
        </p:nvSpPr>
        <p:spPr>
          <a:xfrm>
            <a:off x="4429125" y="427672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0" kern="0" spc="0">
                <a:solidFill>
                  <a:srgbClr val="53657C"/>
                </a:solidFill>
                <a:latin typeface="IBM Plex Sans Arabic"/>
                <a:ea typeface="IBM Plex Sans Arabic"/>
                <a:cs typeface="IBM Plex Sans Arabic"/>
              </a:defRPr>
            </a:pPr>
            <a:r>
              <a:rPr lang="ar-JO" sz="2400" b="0" kern="0" spc="0">
                <a:solidFill>
                  <a:srgbClr val="53657C"/>
                </a:solidFill>
                <a:latin typeface="IBM Plex Sans Arabic"/>
                <a:ea typeface="IBM Plex Sans Arabic"/>
                <a:cs typeface="IBM Plex Sans Arabic"/>
              </a:rPr>
              <a:t>آخر حدود تنافسية منشورة: 2025</a:t>
            </a:r>
          </a:p>
        </p:txBody>
      </p:sp>
      <p:sp>
        <p:nvSpPr>
          <p:cNvPr id="9" name="شرط التقديم ≠ ضمان القبول">
            <a:extLst>
              <a:ext uri="{FF2B5EF4-FFF2-40B4-BE49-F238E27FC236}">
                <a16:creationId xmlns:a16="http://schemas.microsoft.com/office/drawing/2014/main" id="{D8E67E16-A5EA-4C83-B4C3-1D354F4156E6}"/>
              </a:ext>
            </a:extLst>
          </p:cNvPr>
          <p:cNvSpPr>
            <a:spLocks noGrp="1"/>
          </p:cNvSpPr>
          <p:nvPr/>
        </p:nvSpPr>
        <p:spPr>
          <a:xfrm>
            <a:off x="4429125" y="5057775"/>
            <a:ext cx="7048500" cy="6096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شرط التقديم ≠ ضمان القبول</a:t>
            </a:r>
          </a:p>
        </p:txBody>
      </p:sp>
      <p:sp>
        <p:nvSpPr>
          <p:cNvPr id="10" name="المصدر: القبول الموحد، تحقق 10 أيلول 2026؛ دل">
            <a:extLst>
              <a:ext uri="{FF2B5EF4-FFF2-40B4-BE49-F238E27FC236}">
                <a16:creationId xmlns:a16="http://schemas.microsoft.com/office/drawing/2014/main" id="{286387C9-A267-49FB-894A-9701CFCA78BC}"/>
              </a:ext>
            </a:extLst>
          </p:cNvPr>
          <p:cNvSpPr>
            <a:spLocks noGrp="1"/>
          </p:cNvSpPr>
          <p:nvPr/>
        </p:nvSpPr>
        <p:spPr>
          <a:xfrm>
            <a:off x="4429125" y="5943600"/>
            <a:ext cx="7048500" cy="4095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المصدر: القبول الموحد، تحقق 10 أيلول 2026؛ دليل الفرع العلمي</a:t>
            </a:r>
          </a:p>
        </p:txBody>
      </p:sp>
    </p:spTree>
    <p:extLst>
      <p:ext uri="{BB962C8B-B14F-4D97-AF65-F5344CB8AC3E}">
        <p14:creationId xmlns:p14="http://schemas.microsoft.com/office/powerpoint/2010/main" val="144805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خطة تستطيع الأسرة مناقشتها">
            <a:extLst>
              <a:ext uri="{FF2B5EF4-FFF2-40B4-BE49-F238E27FC236}">
                <a16:creationId xmlns:a16="http://schemas.microsoft.com/office/drawing/2014/main" id="{05A965F6-50FE-4ADD-94DD-1B9D26EF41E0}"/>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خطة تستطيع الأسرة مناقشتها</a:t>
            </a:r>
          </a:p>
        </p:txBody>
      </p:sp>
      <p:sp>
        <p:nvSpPr>
          <p:cNvPr id="3" name="05">
            <a:extLst>
              <a:ext uri="{FF2B5EF4-FFF2-40B4-BE49-F238E27FC236}">
                <a16:creationId xmlns:a16="http://schemas.microsoft.com/office/drawing/2014/main" id="{DE031097-FBE1-4829-A206-7B164C15484A}"/>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05</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3,051">
            <a:extLst>
              <a:ext uri="{FF2B5EF4-FFF2-40B4-BE49-F238E27FC236}">
                <a16:creationId xmlns:a16="http://schemas.microsoft.com/office/drawing/2014/main" id="{8EB80702-6187-4A5C-8F39-DDAF93E4C5C8}"/>
              </a:ext>
            </a:extLst>
          </p:cNvPr>
          <p:cNvSpPr>
            <a:spLocks noGrp="1"/>
          </p:cNvSpPr>
          <p:nvPr/>
        </p:nvSpPr>
        <p:spPr>
          <a:xfrm>
            <a:off x="4524375" y="1685925"/>
            <a:ext cx="6953250" cy="125730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750" b="1" kern="0" spc="0">
                <a:solidFill>
                  <a:srgbClr val="FFFFFF"/>
                </a:solidFill>
                <a:latin typeface="IBM Plex Sans Arabic"/>
                <a:ea typeface="IBM Plex Sans Arabic"/>
                <a:cs typeface="IBM Plex Sans Arabic"/>
              </a:defRPr>
            </a:pPr>
            <a:r>
              <a:rPr lang="ar-JO" sz="6750" b="1" kern="0" spc="0">
                <a:solidFill>
                  <a:srgbClr val="FFFFFF"/>
                </a:solidFill>
                <a:latin typeface="IBM Plex Sans Arabic"/>
                <a:ea typeface="IBM Plex Sans Arabic"/>
                <a:cs typeface="IBM Plex Sans Arabic"/>
              </a:rPr>
              <a:t>3,051</a:t>
            </a:r>
          </a:p>
        </p:txBody>
      </p:sp>
      <p:sp>
        <p:nvSpPr>
          <p:cNvPr id="6" name="دينارًا سنويًا في هذا المثال">
            <a:extLst>
              <a:ext uri="{FF2B5EF4-FFF2-40B4-BE49-F238E27FC236}">
                <a16:creationId xmlns:a16="http://schemas.microsoft.com/office/drawing/2014/main" id="{102C10B8-C2A5-4E06-8A2B-D130000C01CB}"/>
              </a:ext>
            </a:extLst>
          </p:cNvPr>
          <p:cNvSpPr>
            <a:spLocks noGrp="1"/>
          </p:cNvSpPr>
          <p:nvPr/>
        </p:nvSpPr>
        <p:spPr>
          <a:xfrm>
            <a:off x="4429125" y="2886075"/>
            <a:ext cx="7048500" cy="5905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000" b="1" kern="0" spc="0">
                <a:solidFill>
                  <a:srgbClr val="C8A04C"/>
                </a:solidFill>
                <a:latin typeface="IBM Plex Sans Arabic"/>
                <a:ea typeface="IBM Plex Sans Arabic"/>
                <a:cs typeface="IBM Plex Sans Arabic"/>
              </a:defRPr>
            </a:pPr>
            <a:r>
              <a:rPr lang="ar-JO" sz="3000" b="1" kern="0" spc="0">
                <a:solidFill>
                  <a:srgbClr val="C8A04C"/>
                </a:solidFill>
                <a:latin typeface="IBM Plex Sans Arabic"/>
                <a:ea typeface="IBM Plex Sans Arabic"/>
                <a:cs typeface="IBM Plex Sans Arabic"/>
              </a:rPr>
              <a:t>دينارًا سنويًا في هذا المثال</a:t>
            </a:r>
          </a:p>
        </p:txBody>
      </p:sp>
      <p:sp>
        <p:nvSpPr>
          <p:cNvPr id="7" name="رسم رسمي: 47 د.أ للساعة">
            <a:extLst>
              <a:ext uri="{FF2B5EF4-FFF2-40B4-BE49-F238E27FC236}">
                <a16:creationId xmlns:a16="http://schemas.microsoft.com/office/drawing/2014/main" id="{8286B4AC-8568-4ED3-93B7-5D31FD4E8729}"/>
              </a:ext>
            </a:extLst>
          </p:cNvPr>
          <p:cNvSpPr>
            <a:spLocks noGrp="1"/>
          </p:cNvSpPr>
          <p:nvPr/>
        </p:nvSpPr>
        <p:spPr>
          <a:xfrm>
            <a:off x="4429125" y="3695700"/>
            <a:ext cx="7048500" cy="4953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1" kern="0" spc="0">
                <a:solidFill>
                  <a:srgbClr val="FFFFFF"/>
                </a:solidFill>
                <a:latin typeface="IBM Plex Sans Arabic"/>
                <a:ea typeface="IBM Plex Sans Arabic"/>
                <a:cs typeface="IBM Plex Sans Arabic"/>
              </a:defRPr>
            </a:pPr>
            <a:r>
              <a:rPr lang="ar-JO" sz="2400" b="1" kern="0" spc="0">
                <a:solidFill>
                  <a:srgbClr val="FFFFFF"/>
                </a:solidFill>
                <a:latin typeface="IBM Plex Sans Arabic"/>
                <a:ea typeface="IBM Plex Sans Arabic"/>
                <a:cs typeface="IBM Plex Sans Arabic"/>
              </a:rPr>
              <a:t>رسم رسمي: 47 د.أ للساعة</a:t>
            </a:r>
          </a:p>
        </p:txBody>
      </p:sp>
      <p:sp>
        <p:nvSpPr>
          <p:cNvPr id="8" name="افتراضات الأسرة: الساعات، المدة، والرسوم والم">
            <a:extLst>
              <a:ext uri="{FF2B5EF4-FFF2-40B4-BE49-F238E27FC236}">
                <a16:creationId xmlns:a16="http://schemas.microsoft.com/office/drawing/2014/main" id="{60E6EA0C-FA02-4C54-85EE-2357C40A7E0E}"/>
              </a:ext>
            </a:extLst>
          </p:cNvPr>
          <p:cNvSpPr>
            <a:spLocks noGrp="1"/>
          </p:cNvSpPr>
          <p:nvPr/>
        </p:nvSpPr>
        <p:spPr>
          <a:xfrm>
            <a:off x="4429125" y="4295775"/>
            <a:ext cx="7048500" cy="838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325" b="0" kern="0" spc="0">
                <a:solidFill>
                  <a:srgbClr val="D1DEED"/>
                </a:solidFill>
                <a:latin typeface="IBM Plex Sans Arabic"/>
                <a:ea typeface="IBM Plex Sans Arabic"/>
                <a:cs typeface="IBM Plex Sans Arabic"/>
              </a:defRPr>
            </a:pPr>
            <a:r>
              <a:rPr lang="ar-JO" sz="2325" b="0" kern="0" spc="0">
                <a:solidFill>
                  <a:srgbClr val="D1DEED"/>
                </a:solidFill>
                <a:latin typeface="IBM Plex Sans Arabic"/>
                <a:ea typeface="IBM Plex Sans Arabic"/>
                <a:cs typeface="IBM Plex Sans Arabic"/>
              </a:rPr>
              <a:t>افتراضات الأسرة: الساعات، المدة، والرسوم والمعيشة</a:t>
            </a:r>
          </a:p>
        </p:txBody>
      </p:sp>
      <p:sp>
        <p:nvSpPr>
          <p:cNvPr id="9" name="تغيير الميزانية يغيّر فجوة التمويل">
            <a:extLst>
              <a:ext uri="{FF2B5EF4-FFF2-40B4-BE49-F238E27FC236}">
                <a16:creationId xmlns:a16="http://schemas.microsoft.com/office/drawing/2014/main" id="{5199C565-E9D2-46DA-9C2D-2973BA95AAEB}"/>
              </a:ext>
            </a:extLst>
          </p:cNvPr>
          <p:cNvSpPr>
            <a:spLocks noGrp="1"/>
          </p:cNvSpPr>
          <p:nvPr/>
        </p:nvSpPr>
        <p:spPr>
          <a:xfrm>
            <a:off x="4429125" y="524827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700" b="1" kern="0" spc="0">
                <a:solidFill>
                  <a:srgbClr val="C8A04C"/>
                </a:solidFill>
                <a:latin typeface="IBM Plex Sans Arabic"/>
                <a:ea typeface="IBM Plex Sans Arabic"/>
                <a:cs typeface="IBM Plex Sans Arabic"/>
              </a:defRPr>
            </a:pPr>
            <a:r>
              <a:rPr lang="ar-JO" sz="2700" b="1" kern="0" spc="0">
                <a:solidFill>
                  <a:srgbClr val="C8A04C"/>
                </a:solidFill>
                <a:latin typeface="IBM Plex Sans Arabic"/>
                <a:ea typeface="IBM Plex Sans Arabic"/>
                <a:cs typeface="IBM Plex Sans Arabic"/>
              </a:rPr>
              <a:t>تغيير الميزانية يغيّر فجوة التمويل</a:t>
            </a:r>
          </a:p>
        </p:txBody>
      </p:sp>
      <p:sp>
        <p:nvSpPr>
          <p:cNvPr id="10" name="مثال علم الحاسوب، الأردنية؛ افتراضات قابلة لل">
            <a:extLst>
              <a:ext uri="{FF2B5EF4-FFF2-40B4-BE49-F238E27FC236}">
                <a16:creationId xmlns:a16="http://schemas.microsoft.com/office/drawing/2014/main" id="{AAB667E3-0000-4641-B801-7E11C9A38470}"/>
              </a:ext>
            </a:extLst>
          </p:cNvPr>
          <p:cNvSpPr>
            <a:spLocks noGrp="1"/>
          </p:cNvSpPr>
          <p:nvPr/>
        </p:nvSpPr>
        <p:spPr>
          <a:xfrm>
            <a:off x="4429125" y="5972175"/>
            <a:ext cx="7048500" cy="3810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D1DEED"/>
                </a:solidFill>
                <a:latin typeface="IBM Plex Sans Arabic"/>
                <a:ea typeface="IBM Plex Sans Arabic"/>
                <a:cs typeface="IBM Plex Sans Arabic"/>
              </a:defRPr>
            </a:pPr>
            <a:r>
              <a:rPr lang="ar-JO" sz="1650" b="0" kern="0" spc="0">
                <a:solidFill>
                  <a:srgbClr val="D1DEED"/>
                </a:solidFill>
                <a:latin typeface="IBM Plex Sans Arabic"/>
                <a:ea typeface="IBM Plex Sans Arabic"/>
                <a:cs typeface="IBM Plex Sans Arabic"/>
              </a:rPr>
              <a:t>مثال علم الحاسوب، الأردنية؛ افتراضات قابلة للتعديل، لا توقع دخل</a:t>
            </a:r>
          </a:p>
        </p:txBody>
      </p:sp>
    </p:spTree>
    <p:extLst>
      <p:ext uri="{BB962C8B-B14F-4D97-AF65-F5344CB8AC3E}">
        <p14:creationId xmlns:p14="http://schemas.microsoft.com/office/powerpoint/2010/main" val="622318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السوق الأول: الطالب مستفيد والمؤسسة تدفع">
            <a:extLst>
              <a:ext uri="{FF2B5EF4-FFF2-40B4-BE49-F238E27FC236}">
                <a16:creationId xmlns:a16="http://schemas.microsoft.com/office/drawing/2014/main" id="{B4022E11-AFE6-4EEF-B5E6-A9B7FBAD1667}"/>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السوق الأول: الطالب مستفيد والمؤسسة تدفع</a:t>
            </a:r>
          </a:p>
        </p:txBody>
      </p:sp>
      <p:sp>
        <p:nvSpPr>
          <p:cNvPr id="3" name="06">
            <a:extLst>
              <a:ext uri="{FF2B5EF4-FFF2-40B4-BE49-F238E27FC236}">
                <a16:creationId xmlns:a16="http://schemas.microsoft.com/office/drawing/2014/main" id="{8E6E87A4-C8AD-4F0D-AAFC-F6B1D15692B7}"/>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0F834946-EC15-43FE-8C85-A4EFCA324902}"/>
              </a:ext>
            </a:extLst>
          </p:cNvPr>
          <p:cNvSpPr>
            <a:spLocks noGrp="1"/>
          </p:cNvSpPr>
          <p:nvPr/>
        </p:nvSpPr>
        <p:spPr>
          <a:xfrm>
            <a:off x="8143875" y="1809750"/>
            <a:ext cx="3333750" cy="3333750"/>
          </a:xfrm>
          <a:prstGeom prst="roundRect">
            <a:avLst>
              <a:gd name="adj" fmla="val 2286"/>
            </a:avLst>
          </a:prstGeom>
          <a:solidFill>
            <a:srgbClr val="FFFFFF"/>
          </a:solidFill>
          <a:ln w="12383">
            <a:solidFill>
              <a:srgbClr val="D4DEE9"/>
            </a:solidFill>
          </a:ln>
        </p:spPr>
      </p:sp>
      <p:sp>
        <p:nvSpPr>
          <p:cNvPr id="5" name="TAM">
            <a:extLst>
              <a:ext uri="{FF2B5EF4-FFF2-40B4-BE49-F238E27FC236}">
                <a16:creationId xmlns:a16="http://schemas.microsoft.com/office/drawing/2014/main" id="{DBDEFAA6-1919-4A11-B20E-FD3720F3AD50}"/>
              </a:ext>
            </a:extLst>
          </p:cNvPr>
          <p:cNvSpPr>
            <a:spLocks noGrp="1"/>
          </p:cNvSpPr>
          <p:nvPr/>
        </p:nvSpPr>
        <p:spPr>
          <a:xfrm>
            <a:off x="838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TAM</a:t>
            </a:r>
          </a:p>
        </p:txBody>
      </p:sp>
      <p:sp>
        <p:nvSpPr>
          <p:cNvPr id="6" name="116,366">
            <a:extLst>
              <a:ext uri="{FF2B5EF4-FFF2-40B4-BE49-F238E27FC236}">
                <a16:creationId xmlns:a16="http://schemas.microsoft.com/office/drawing/2014/main" id="{C93F1FF1-2A80-44DC-9211-1693431D0379}"/>
              </a:ext>
            </a:extLst>
          </p:cNvPr>
          <p:cNvSpPr>
            <a:spLocks noGrp="1"/>
          </p:cNvSpPr>
          <p:nvPr/>
        </p:nvSpPr>
        <p:spPr>
          <a:xfrm>
            <a:off x="833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116,366</a:t>
            </a:r>
          </a:p>
        </p:txBody>
      </p:sp>
      <p:sp>
        <p:nvSpPr>
          <p:cNvPr id="7" name="ناجح توجيهي 2026">
            <a:extLst>
              <a:ext uri="{FF2B5EF4-FFF2-40B4-BE49-F238E27FC236}">
                <a16:creationId xmlns:a16="http://schemas.microsoft.com/office/drawing/2014/main" id="{3CDEB233-07B7-48A5-B5CC-E56084339293}"/>
              </a:ext>
            </a:extLst>
          </p:cNvPr>
          <p:cNvSpPr>
            <a:spLocks noGrp="1"/>
          </p:cNvSpPr>
          <p:nvPr/>
        </p:nvSpPr>
        <p:spPr>
          <a:xfrm>
            <a:off x="8382000" y="3419475"/>
            <a:ext cx="285750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ناجح توجيهي 2026</a:t>
            </a:r>
          </a:p>
        </p:txBody>
      </p:sp>
      <p:sp>
        <p:nvSpPr>
          <p:cNvPr id="8" name="2.33 مليون د.أ*">
            <a:extLst>
              <a:ext uri="{FF2B5EF4-FFF2-40B4-BE49-F238E27FC236}">
                <a16:creationId xmlns:a16="http://schemas.microsoft.com/office/drawing/2014/main" id="{90075051-3E1E-4AE4-9C31-F99A2193F8EA}"/>
              </a:ext>
            </a:extLst>
          </p:cNvPr>
          <p:cNvSpPr>
            <a:spLocks noGrp="1"/>
          </p:cNvSpPr>
          <p:nvPr/>
        </p:nvSpPr>
        <p:spPr>
          <a:xfrm>
            <a:off x="838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2.33 مليون د.أ*</a:t>
            </a:r>
          </a:p>
        </p:txBody>
      </p:sp>
      <p:sp>
        <p:nvSpPr>
          <p:cNvPr id="9" name="Rectangle: Rounded Corners 8">
            <a:extLst>
              <a:ext uri="{FF2B5EF4-FFF2-40B4-BE49-F238E27FC236}">
                <a16:creationId xmlns:a16="http://schemas.microsoft.com/office/drawing/2014/main" id="{9FA0BD58-2DC6-4CC5-9B2D-C245E8FED5FC}"/>
              </a:ext>
            </a:extLst>
          </p:cNvPr>
          <p:cNvSpPr>
            <a:spLocks noGrp="1"/>
          </p:cNvSpPr>
          <p:nvPr/>
        </p:nvSpPr>
        <p:spPr>
          <a:xfrm>
            <a:off x="4333875" y="1809750"/>
            <a:ext cx="3333750" cy="3333750"/>
          </a:xfrm>
          <a:prstGeom prst="roundRect">
            <a:avLst>
              <a:gd name="adj" fmla="val 2286"/>
            </a:avLst>
          </a:prstGeom>
          <a:solidFill>
            <a:srgbClr val="FFFFFF"/>
          </a:solidFill>
          <a:ln w="12383">
            <a:solidFill>
              <a:srgbClr val="D4DEE9"/>
            </a:solidFill>
          </a:ln>
        </p:spPr>
      </p:sp>
      <p:sp>
        <p:nvSpPr>
          <p:cNvPr id="10" name="SAM">
            <a:extLst>
              <a:ext uri="{FF2B5EF4-FFF2-40B4-BE49-F238E27FC236}">
                <a16:creationId xmlns:a16="http://schemas.microsoft.com/office/drawing/2014/main" id="{0351B5E6-E145-4021-B0F4-AEF579A8B5C7}"/>
              </a:ext>
            </a:extLst>
          </p:cNvPr>
          <p:cNvSpPr>
            <a:spLocks noGrp="1"/>
          </p:cNvSpPr>
          <p:nvPr/>
        </p:nvSpPr>
        <p:spPr>
          <a:xfrm>
            <a:off x="457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SAM</a:t>
            </a:r>
          </a:p>
        </p:txBody>
      </p:sp>
      <p:sp>
        <p:nvSpPr>
          <p:cNvPr id="11" name="90,326">
            <a:extLst>
              <a:ext uri="{FF2B5EF4-FFF2-40B4-BE49-F238E27FC236}">
                <a16:creationId xmlns:a16="http://schemas.microsoft.com/office/drawing/2014/main" id="{D66DCB84-ABA8-49F8-B6A4-436EBDC59B2A}"/>
              </a:ext>
            </a:extLst>
          </p:cNvPr>
          <p:cNvSpPr>
            <a:spLocks noGrp="1"/>
          </p:cNvSpPr>
          <p:nvPr/>
        </p:nvSpPr>
        <p:spPr>
          <a:xfrm>
            <a:off x="452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90,326</a:t>
            </a:r>
          </a:p>
        </p:txBody>
      </p:sp>
      <p:sp>
        <p:nvSpPr>
          <p:cNvPr id="12" name="ناجحًا نظاميًا">
            <a:extLst>
              <a:ext uri="{FF2B5EF4-FFF2-40B4-BE49-F238E27FC236}">
                <a16:creationId xmlns:a16="http://schemas.microsoft.com/office/drawing/2014/main" id="{9756A089-0682-4431-96FD-C34AC850F5DA}"/>
              </a:ext>
            </a:extLst>
          </p:cNvPr>
          <p:cNvSpPr>
            <a:spLocks noGrp="1"/>
          </p:cNvSpPr>
          <p:nvPr/>
        </p:nvSpPr>
        <p:spPr>
          <a:xfrm>
            <a:off x="4572000" y="3419475"/>
            <a:ext cx="285750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ناجحًا نظاميًا</a:t>
            </a:r>
          </a:p>
        </p:txBody>
      </p:sp>
      <p:sp>
        <p:nvSpPr>
          <p:cNvPr id="13" name="1.81 مليون د.أ*">
            <a:extLst>
              <a:ext uri="{FF2B5EF4-FFF2-40B4-BE49-F238E27FC236}">
                <a16:creationId xmlns:a16="http://schemas.microsoft.com/office/drawing/2014/main" id="{3BB10950-CE5C-4935-A4B9-6CDCE926E4A5}"/>
              </a:ext>
            </a:extLst>
          </p:cNvPr>
          <p:cNvSpPr>
            <a:spLocks noGrp="1"/>
          </p:cNvSpPr>
          <p:nvPr/>
        </p:nvSpPr>
        <p:spPr>
          <a:xfrm>
            <a:off x="457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1.81 مليون د.أ*</a:t>
            </a:r>
          </a:p>
        </p:txBody>
      </p:sp>
      <p:sp>
        <p:nvSpPr>
          <p:cNvPr id="14" name="Rectangle: Rounded Corners 13">
            <a:extLst>
              <a:ext uri="{FF2B5EF4-FFF2-40B4-BE49-F238E27FC236}">
                <a16:creationId xmlns:a16="http://schemas.microsoft.com/office/drawing/2014/main" id="{46B1A604-3CBE-4223-BB1B-80B1C13BF0A3}"/>
              </a:ext>
            </a:extLst>
          </p:cNvPr>
          <p:cNvSpPr>
            <a:spLocks noGrp="1"/>
          </p:cNvSpPr>
          <p:nvPr/>
        </p:nvSpPr>
        <p:spPr>
          <a:xfrm>
            <a:off x="523875" y="1809750"/>
            <a:ext cx="3333750" cy="3333750"/>
          </a:xfrm>
          <a:prstGeom prst="roundRect">
            <a:avLst>
              <a:gd name="adj" fmla="val 2286"/>
            </a:avLst>
          </a:prstGeom>
          <a:solidFill>
            <a:srgbClr val="F3EAD7"/>
          </a:solidFill>
          <a:ln w="12383">
            <a:solidFill>
              <a:srgbClr val="DFC98F"/>
            </a:solidFill>
          </a:ln>
        </p:spPr>
      </p:sp>
      <p:sp>
        <p:nvSpPr>
          <p:cNvPr id="15" name="SOM">
            <a:extLst>
              <a:ext uri="{FF2B5EF4-FFF2-40B4-BE49-F238E27FC236}">
                <a16:creationId xmlns:a16="http://schemas.microsoft.com/office/drawing/2014/main" id="{91E70317-7694-4EC3-9357-ACED1AE7BFFE}"/>
              </a:ext>
            </a:extLst>
          </p:cNvPr>
          <p:cNvSpPr>
            <a:spLocks noGrp="1"/>
          </p:cNvSpPr>
          <p:nvPr/>
        </p:nvSpPr>
        <p:spPr>
          <a:xfrm>
            <a:off x="76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SOM</a:t>
            </a:r>
          </a:p>
        </p:txBody>
      </p:sp>
      <p:sp>
        <p:nvSpPr>
          <p:cNvPr id="16" name="1,500">
            <a:extLst>
              <a:ext uri="{FF2B5EF4-FFF2-40B4-BE49-F238E27FC236}">
                <a16:creationId xmlns:a16="http://schemas.microsoft.com/office/drawing/2014/main" id="{25F14E2D-43D8-43A9-BF46-E885FBEC1A28}"/>
              </a:ext>
            </a:extLst>
          </p:cNvPr>
          <p:cNvSpPr>
            <a:spLocks noGrp="1"/>
          </p:cNvSpPr>
          <p:nvPr/>
        </p:nvSpPr>
        <p:spPr>
          <a:xfrm>
            <a:off x="71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1,500</a:t>
            </a:r>
          </a:p>
        </p:txBody>
      </p:sp>
      <p:sp>
        <p:nvSpPr>
          <p:cNvPr id="17" name="طالب مدفوع&#10;عبر 10 مؤسسات">
            <a:extLst>
              <a:ext uri="{FF2B5EF4-FFF2-40B4-BE49-F238E27FC236}">
                <a16:creationId xmlns:a16="http://schemas.microsoft.com/office/drawing/2014/main" id="{3192F985-5E0F-4811-BAD9-4B9D5D98DEB3}"/>
              </a:ext>
            </a:extLst>
          </p:cNvPr>
          <p:cNvSpPr>
            <a:spLocks noGrp="1"/>
          </p:cNvSpPr>
          <p:nvPr/>
        </p:nvSpPr>
        <p:spPr>
          <a:xfrm>
            <a:off x="762000" y="3339465"/>
            <a:ext cx="2857500" cy="75057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طالب مدفوع</a:t>
            </a:r>
          </a:p>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عبر 10 مؤسسات</a:t>
            </a:r>
          </a:p>
        </p:txBody>
      </p:sp>
      <p:sp>
        <p:nvSpPr>
          <p:cNvPr id="18" name="30 ألف د.أ*">
            <a:extLst>
              <a:ext uri="{FF2B5EF4-FFF2-40B4-BE49-F238E27FC236}">
                <a16:creationId xmlns:a16="http://schemas.microsoft.com/office/drawing/2014/main" id="{190754E6-4663-476F-A430-065E346009ED}"/>
              </a:ext>
            </a:extLst>
          </p:cNvPr>
          <p:cNvSpPr>
            <a:spLocks noGrp="1"/>
          </p:cNvSpPr>
          <p:nvPr/>
        </p:nvSpPr>
        <p:spPr>
          <a:xfrm>
            <a:off x="76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30 ألف د.أ*</a:t>
            </a:r>
          </a:p>
        </p:txBody>
      </p:sp>
      <p:sp>
        <p:nvSpPr>
          <p:cNvPr id="19" name="* فرصة أو هدف سنوي مفترض عند 20 د.أ لكل طالب ">
            <a:extLst>
              <a:ext uri="{FF2B5EF4-FFF2-40B4-BE49-F238E27FC236}">
                <a16:creationId xmlns:a16="http://schemas.microsoft.com/office/drawing/2014/main" id="{35150C4F-EE59-4B0B-86C0-FDEA2AE88431}"/>
              </a:ext>
            </a:extLst>
          </p:cNvPr>
          <p:cNvSpPr>
            <a:spLocks noGrp="1"/>
          </p:cNvSpPr>
          <p:nvPr/>
        </p:nvSpPr>
        <p:spPr>
          <a:xfrm>
            <a:off x="666750" y="5429250"/>
            <a:ext cx="10810875" cy="4000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 فرصة أو هدف سنوي مفترض عند 20 د.أ لكل طالب نشط تدفعها المؤسسة • الطالب مجانًا</a:t>
            </a:r>
          </a:p>
        </p:txBody>
      </p:sp>
      <p:sp>
        <p:nvSpPr>
          <p:cNvPr id="20" name="الأعداد الرسمية: نتائج التوجيهي 2026 • القيم ">
            <a:extLst>
              <a:ext uri="{FF2B5EF4-FFF2-40B4-BE49-F238E27FC236}">
                <a16:creationId xmlns:a16="http://schemas.microsoft.com/office/drawing/2014/main" id="{DA583AD0-E4EC-4781-B468-ACAEC69CCCD4}"/>
              </a:ext>
            </a:extLst>
          </p:cNvPr>
          <p:cNvSpPr>
            <a:spLocks noGrp="1"/>
          </p:cNvSpPr>
          <p:nvPr/>
        </p:nvSpPr>
        <p:spPr>
          <a:xfrm>
            <a:off x="762000" y="5953125"/>
            <a:ext cx="10668000"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الأعداد الرسمية: نتائج التوجيهي 2026 • القيم المالية وحصة السوق المستهدفة فرضيات وليست مبيعات</a:t>
            </a:r>
          </a:p>
        </p:txBody>
      </p:sp>
    </p:spTree>
    <p:extLst>
      <p:ext uri="{BB962C8B-B14F-4D97-AF65-F5344CB8AC3E}">
        <p14:creationId xmlns:p14="http://schemas.microsoft.com/office/powerpoint/2010/main" val="1737406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وحة نموذج العمل">
            <a:extLst>
              <a:ext uri="{FF2B5EF4-FFF2-40B4-BE49-F238E27FC236}">
                <a16:creationId xmlns:a16="http://schemas.microsoft.com/office/drawing/2014/main" id="{9BF3A44A-9A02-4670-943B-D0409A57ECD5}"/>
              </a:ext>
            </a:extLst>
          </p:cNvPr>
          <p:cNvSpPr>
            <a:spLocks noGrp="1"/>
          </p:cNvSpPr>
          <p:nvPr/>
        </p:nvSpPr>
        <p:spPr>
          <a:xfrm>
            <a:off x="571500" y="7429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لوحة نموذج العمل</a:t>
            </a:r>
          </a:p>
        </p:txBody>
      </p:sp>
      <p:sp>
        <p:nvSpPr>
          <p:cNvPr id="3" name="07">
            <a:extLst>
              <a:ext uri="{FF2B5EF4-FFF2-40B4-BE49-F238E27FC236}">
                <a16:creationId xmlns:a16="http://schemas.microsoft.com/office/drawing/2014/main" id="{72E1A283-0E67-4885-9135-52054FC8ABF9}"/>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07</a:t>
            </a:r>
          </a:p>
        </p:txBody>
      </p:sp>
      <p:sp>
        <p:nvSpPr>
          <p:cNvPr id="4" name="Business Model Canvas">
            <a:extLst>
              <a:ext uri="{FF2B5EF4-FFF2-40B4-BE49-F238E27FC236}">
                <a16:creationId xmlns:a16="http://schemas.microsoft.com/office/drawing/2014/main" id="{C0C7A1D6-2602-4193-966E-C64E12541C4A}"/>
              </a:ext>
            </a:extLst>
          </p:cNvPr>
          <p:cNvSpPr>
            <a:spLocks noGrp="1"/>
          </p:cNvSpPr>
          <p:nvPr/>
        </p:nvSpPr>
        <p:spPr>
          <a:xfrm>
            <a:off x="571500" y="1396365"/>
            <a:ext cx="6096000" cy="35052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Business Model Canvas</a:t>
            </a:r>
          </a:p>
        </p:txBody>
      </p:sp>
      <p:sp>
        <p:nvSpPr>
          <p:cNvPr id="5" name="نموذج مقترح للاختبار">
            <a:extLst>
              <a:ext uri="{FF2B5EF4-FFF2-40B4-BE49-F238E27FC236}">
                <a16:creationId xmlns:a16="http://schemas.microsoft.com/office/drawing/2014/main" id="{1E773BA2-21A9-425E-AC9F-D35F393FED4A}"/>
              </a:ext>
            </a:extLst>
          </p:cNvPr>
          <p:cNvSpPr>
            <a:spLocks noGrp="1"/>
          </p:cNvSpPr>
          <p:nvPr/>
        </p:nvSpPr>
        <p:spPr>
          <a:xfrm>
            <a:off x="6858000" y="1396365"/>
            <a:ext cx="4667250" cy="35052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نموذج مقترح للاختبار</a:t>
            </a:r>
          </a:p>
        </p:txBody>
      </p:sp>
      <p:graphicFrame>
        <p:nvGraphicFramePr>
          <p:cNvPr id="21" name="Table 20"/>
          <p:cNvGraphicFramePr/>
          <p:nvPr/>
        </p:nvGraphicFramePr>
        <p:xfrm>
          <a:off x="5715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الشركاء المحتملون</a:t>
                      </a:r>
                    </a:p>
                    <a:p>
                      <a:pPr rtl="0">
                        <a:lnSpc>
                          <a:spcPct val="116000"/>
                        </a:lnSpc>
                        <a:spcBef>
                          <a:spcPts val="0"/>
                        </a:spcBef>
                        <a:spcAft>
                          <a:spcPts val="0"/>
                        </a:spcAft>
                      </a:pPr>
                      <a:endParaRPr lang="ar-JO" sz="1838" b="0" kern="0" spc="0">
                        <a:solidFill>
                          <a:srgbClr val="102C50"/>
                        </a:solidFill>
                        <a:latin typeface="IBM Plex Sans Arabic"/>
                        <a:ea typeface="IBM Plex Sans Arabic"/>
                        <a:cs typeface="IBM Plex Sans Arabic"/>
                      </a:endParaRP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مدارس وجامعات</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ومرشدون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2" name="Table 21"/>
          <p:cNvGraphicFramePr/>
          <p:nvPr/>
        </p:nvGraphicFramePr>
        <p:xfrm>
          <a:off x="27813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الأنشطة الرئيسية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تطوير وتحديث</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وتحقق وقياس</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3" name="Table 22"/>
          <p:cNvGraphicFramePr/>
          <p:nvPr/>
        </p:nvGraphicFramePr>
        <p:xfrm>
          <a:off x="27813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الموارد الرئيسية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الفريق والمنتج</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وبيانات عامة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4" name="Table 23"/>
          <p:cNvGraphicFramePr/>
          <p:nvPr/>
        </p:nvGraphicFramePr>
        <p:xfrm>
          <a:off x="49911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القيمة المقترحة</a:t>
                      </a:r>
                    </a:p>
                    <a:p>
                      <a:pPr rtl="0">
                        <a:lnSpc>
                          <a:spcPct val="116000"/>
                        </a:lnSpc>
                        <a:spcBef>
                          <a:spcPts val="0"/>
                        </a:spcBef>
                        <a:spcAft>
                          <a:spcPts val="0"/>
                        </a:spcAft>
                      </a:pPr>
                      <a:endParaRPr lang="ar-JO" sz="1838" b="1" kern="0" spc="0">
                        <a:solidFill>
                          <a:srgbClr val="FFFFFF"/>
                        </a:solidFill>
                        <a:latin typeface="IBM Plex Sans Arabic"/>
                        <a:ea typeface="IBM Plex Sans Arabic"/>
                        <a:cs typeface="IBM Plex Sans Arabic"/>
                      </a:endParaRP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ميول ومقارنة وكلفة</a:t>
                      </a: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في قرار واضح</a:t>
                      </a: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بمصادر مؤرخة</a:t>
                      </a:r>
                    </a:p>
                  </a:txBody>
                  <a:tcPr anchor="ctr">
                    <a:solidFill>
                      <a:srgbClr val="013070"/>
                    </a:solidFill>
                  </a:tcPr>
                </a:tc>
                <a:extLst>
                  <a:ext uri="{0D108BD9-81ED-4DB2-BD59-A6C34878D82A}">
                    <a16:rowId xmlns:a16="http://schemas.microsoft.com/office/drawing/2014/main" val="10000"/>
                  </a:ext>
                </a:extLst>
              </a:tr>
            </a:tbl>
          </a:graphicData>
        </a:graphic>
      </p:graphicFrame>
      <p:graphicFrame>
        <p:nvGraphicFramePr>
          <p:cNvPr id="25" name="Table 24"/>
          <p:cNvGraphicFramePr/>
          <p:nvPr/>
        </p:nvGraphicFramePr>
        <p:xfrm>
          <a:off x="72009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علاقة المستفيد</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تجربة سهلة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ودعم للمرشدين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6" name="Table 25"/>
          <p:cNvGraphicFramePr/>
          <p:nvPr/>
        </p:nvGraphicFramePr>
        <p:xfrm>
          <a:off x="72009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قنوات الوصول</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مدارس وجامعات</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وأنشطة إرشاد</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7" name="Table 26"/>
          <p:cNvGraphicFramePr/>
          <p:nvPr/>
        </p:nvGraphicFramePr>
        <p:xfrm>
          <a:off x="94107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شرائح العملاء</a:t>
                      </a:r>
                    </a:p>
                    <a:p>
                      <a:pPr rtl="0">
                        <a:lnSpc>
                          <a:spcPct val="116000"/>
                        </a:lnSpc>
                        <a:spcBef>
                          <a:spcPts val="0"/>
                        </a:spcBef>
                        <a:spcAft>
                          <a:spcPts val="0"/>
                        </a:spcAft>
                      </a:pPr>
                      <a:endParaRPr lang="ar-JO" sz="1838" b="0" kern="0" spc="0">
                        <a:solidFill>
                          <a:srgbClr val="102C50"/>
                        </a:solidFill>
                        <a:latin typeface="IBM Plex Sans Arabic"/>
                        <a:ea typeface="IBM Plex Sans Arabic"/>
                        <a:cs typeface="IBM Plex Sans Arabic"/>
                      </a:endParaRP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طلبة وأهل مستفيدون</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ومؤسسات دافعة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8" name="Table 27"/>
          <p:cNvGraphicFramePr/>
          <p:nvPr/>
        </p:nvGraphicFramePr>
        <p:xfrm>
          <a:off x="5715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هيكل التكاليف</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تطوير وتشغيل وتحقق من البيانات ودعم</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9" name="Table 28"/>
          <p:cNvGraphicFramePr/>
          <p:nvPr/>
        </p:nvGraphicFramePr>
        <p:xfrm>
          <a:off x="60960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الإيراد — فرضية اختبار</a:t>
                      </a:r>
                    </a:p>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20 د.أ/طالب نشط/سنة</a:t>
                      </a:r>
                    </a:p>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حد أدنى 2,400 د.أ/مؤسسة</a:t>
                      </a:r>
                    </a:p>
                  </a:txBody>
                  <a:tcPr anchor="ctr">
                    <a:solidFill>
                      <a:srgbClr val="F3EAD7"/>
                    </a:solidFill>
                  </a:tcPr>
                </a:tc>
                <a:extLst>
                  <a:ext uri="{0D108BD9-81ED-4DB2-BD59-A6C34878D82A}">
                    <a16:rowId xmlns:a16="http://schemas.microsoft.com/office/drawing/2014/main" val="10000"/>
                  </a:ext>
                </a:extLst>
              </a:tr>
            </a:tbl>
          </a:graphicData>
        </a:graphic>
      </p:graphicFrame>
      <p:sp>
        <p:nvSpPr>
          <p:cNvPr id="15" name="الطالب مجانًا  •  لا بيع لبيانات الطلبة  •  ل">
            <a:extLst>
              <a:ext uri="{FF2B5EF4-FFF2-40B4-BE49-F238E27FC236}">
                <a16:creationId xmlns:a16="http://schemas.microsoft.com/office/drawing/2014/main" id="{B799A5D6-D07C-4688-92D8-B1C521B1ECAB}"/>
              </a:ext>
            </a:extLst>
          </p:cNvPr>
          <p:cNvSpPr>
            <a:spLocks noGrp="1"/>
          </p:cNvSpPr>
          <p:nvPr/>
        </p:nvSpPr>
        <p:spPr>
          <a:xfrm>
            <a:off x="619125" y="6086475"/>
            <a:ext cx="10906125" cy="4191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الطالب مجانًا  •  لا بيع لبيانات الطلبة  •  لا دفع لرفع ترتيب تخصص</a:t>
            </a:r>
          </a:p>
        </p:txBody>
      </p:sp>
    </p:spTree>
    <p:extLst>
      <p:ext uri="{BB962C8B-B14F-4D97-AF65-F5344CB8AC3E}">
        <p14:creationId xmlns:p14="http://schemas.microsoft.com/office/powerpoint/2010/main" val="237587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p:blipFill>
        <p:spPr>
          <a:xfrm>
            <a:off x="11125200" y="400050"/>
            <a:ext cx="552450" cy="552450"/>
          </a:xfrm>
          <a:prstGeom prst="rect">
            <a:avLst/>
          </a:prstGeom>
        </p:spPr>
      </p:pic>
      <p:sp>
        <p:nvSpPr>
          <p:cNvPr id="2" name="الميزة: أربعة أبعاد في قرار واحد">
            <a:extLst>
              <a:ext uri="{FF2B5EF4-FFF2-40B4-BE49-F238E27FC236}">
                <a16:creationId xmlns:a16="http://schemas.microsoft.com/office/drawing/2014/main" id="{B1994593-383C-4C1A-8063-89628B9F4F84}"/>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الميزة: أربعة أبعاد في قرار واحد</a:t>
            </a:r>
          </a:p>
        </p:txBody>
      </p:sp>
      <p:sp>
        <p:nvSpPr>
          <p:cNvPr id="3" name="08">
            <a:extLst>
              <a:ext uri="{FF2B5EF4-FFF2-40B4-BE49-F238E27FC236}">
                <a16:creationId xmlns:a16="http://schemas.microsoft.com/office/drawing/2014/main" id="{D54D71E2-AE2B-4376-B2A1-3940CC6C0804}"/>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08</a:t>
            </a:r>
          </a:p>
        </p:txBody>
      </p:sp>
      <p:pic>
        <p:nvPicPr>
          <p:cNvPr id="26" name="Picture 25"/>
          <p:cNvPicPr>
            <a:picLocks noChangeAspect="1"/>
          </p:cNvPicPr>
          <p:nvPr/>
        </p:nvPicPr>
        <p:blipFill>
          <a:blip r:embed="rId4"/>
          <a:stretch/>
        </p:blipFill>
        <p:spPr>
          <a:xfrm>
            <a:off x="0" y="47625"/>
            <a:ext cx="4191000" cy="6286500"/>
          </a:xfrm>
          <a:prstGeom prst="rect">
            <a:avLst/>
          </a:prstGeom>
        </p:spPr>
      </p:pic>
      <p:sp>
        <p:nvSpPr>
          <p:cNvPr id="5" name="Rectangle: Rounded Corners 4">
            <a:extLst>
              <a:ext uri="{FF2B5EF4-FFF2-40B4-BE49-F238E27FC236}">
                <a16:creationId xmlns:a16="http://schemas.microsoft.com/office/drawing/2014/main" id="{1DBEFC0C-1BFF-40A4-B94D-CF496952F4A0}"/>
              </a:ext>
            </a:extLst>
          </p:cNvPr>
          <p:cNvSpPr>
            <a:spLocks noGrp="1"/>
          </p:cNvSpPr>
          <p:nvPr/>
        </p:nvSpPr>
        <p:spPr>
          <a:xfrm>
            <a:off x="4524375" y="1752600"/>
            <a:ext cx="3333750" cy="990600"/>
          </a:xfrm>
          <a:prstGeom prst="roundRect">
            <a:avLst>
              <a:gd name="adj" fmla="val 7692"/>
            </a:avLst>
          </a:prstGeom>
          <a:solidFill>
            <a:srgbClr val="FFFFFF"/>
          </a:solidFill>
          <a:ln w="12383">
            <a:solidFill>
              <a:srgbClr val="D4DEE9"/>
            </a:solidFill>
          </a:ln>
        </p:spPr>
      </p:sp>
      <p:sp>
        <p:nvSpPr>
          <p:cNvPr id="6" name="اهتمامات الطالب">
            <a:extLst>
              <a:ext uri="{FF2B5EF4-FFF2-40B4-BE49-F238E27FC236}">
                <a16:creationId xmlns:a16="http://schemas.microsoft.com/office/drawing/2014/main" id="{6F95CAF6-C600-4983-B203-C6FAA52F0473}"/>
              </a:ext>
            </a:extLst>
          </p:cNvPr>
          <p:cNvSpPr>
            <a:spLocks noGrp="1"/>
          </p:cNvSpPr>
          <p:nvPr/>
        </p:nvSpPr>
        <p:spPr>
          <a:xfrm>
            <a:off x="4676775" y="1824038"/>
            <a:ext cx="3028950" cy="3905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اهتمامات الطالب</a:t>
            </a:r>
          </a:p>
        </p:txBody>
      </p:sp>
      <p:sp>
        <p:nvSpPr>
          <p:cNvPr id="7" name="قائمة أولية شخصية">
            <a:extLst>
              <a:ext uri="{FF2B5EF4-FFF2-40B4-BE49-F238E27FC236}">
                <a16:creationId xmlns:a16="http://schemas.microsoft.com/office/drawing/2014/main" id="{9D3CB6DD-B30C-495B-BC14-4AE3272040DE}"/>
              </a:ext>
            </a:extLst>
          </p:cNvPr>
          <p:cNvSpPr>
            <a:spLocks noGrp="1"/>
          </p:cNvSpPr>
          <p:nvPr/>
        </p:nvSpPr>
        <p:spPr>
          <a:xfrm>
            <a:off x="4667250" y="2219325"/>
            <a:ext cx="3048000" cy="3714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013070"/>
                </a:solidFill>
                <a:latin typeface="IBM Plex Sans Arabic"/>
                <a:ea typeface="IBM Plex Sans Arabic"/>
                <a:cs typeface="IBM Plex Sans Arabic"/>
              </a:defRPr>
            </a:pPr>
            <a:r>
              <a:rPr lang="ar-JO" sz="1500" b="0" kern="0" spc="0">
                <a:solidFill>
                  <a:srgbClr val="013070"/>
                </a:solidFill>
                <a:latin typeface="IBM Plex Sans Arabic"/>
                <a:ea typeface="IBM Plex Sans Arabic"/>
                <a:cs typeface="IBM Plex Sans Arabic"/>
              </a:rPr>
              <a:t>قائمة أولية شخصية</a:t>
            </a:r>
          </a:p>
        </p:txBody>
      </p:sp>
      <p:sp>
        <p:nvSpPr>
          <p:cNvPr id="8" name="Rectangle: Rounded Corners 7">
            <a:extLst>
              <a:ext uri="{FF2B5EF4-FFF2-40B4-BE49-F238E27FC236}">
                <a16:creationId xmlns:a16="http://schemas.microsoft.com/office/drawing/2014/main" id="{018E7DA7-322C-490A-B157-04685C29BE48}"/>
              </a:ext>
            </a:extLst>
          </p:cNvPr>
          <p:cNvSpPr>
            <a:spLocks noGrp="1"/>
          </p:cNvSpPr>
          <p:nvPr/>
        </p:nvSpPr>
        <p:spPr>
          <a:xfrm>
            <a:off x="8048625" y="1752600"/>
            <a:ext cx="3333750" cy="990600"/>
          </a:xfrm>
          <a:prstGeom prst="roundRect">
            <a:avLst>
              <a:gd name="adj" fmla="val 7692"/>
            </a:avLst>
          </a:prstGeom>
          <a:solidFill>
            <a:srgbClr val="FFFFFF"/>
          </a:solidFill>
          <a:ln w="12383">
            <a:solidFill>
              <a:srgbClr val="D4DEE9"/>
            </a:solidFill>
          </a:ln>
        </p:spPr>
      </p:sp>
      <p:sp>
        <p:nvSpPr>
          <p:cNvPr id="9" name="قبول 2026">
            <a:extLst>
              <a:ext uri="{FF2B5EF4-FFF2-40B4-BE49-F238E27FC236}">
                <a16:creationId xmlns:a16="http://schemas.microsoft.com/office/drawing/2014/main" id="{48C24CE4-504A-4C1D-9249-AC54849C8D19}"/>
              </a:ext>
            </a:extLst>
          </p:cNvPr>
          <p:cNvSpPr>
            <a:spLocks noGrp="1"/>
          </p:cNvSpPr>
          <p:nvPr/>
        </p:nvSpPr>
        <p:spPr>
          <a:xfrm>
            <a:off x="8201025" y="1824038"/>
            <a:ext cx="3028950" cy="3905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قبول 2026</a:t>
            </a:r>
          </a:p>
        </p:txBody>
      </p:sp>
      <p:sp>
        <p:nvSpPr>
          <p:cNvPr id="10" name="شروط وحدود بفترتها">
            <a:extLst>
              <a:ext uri="{FF2B5EF4-FFF2-40B4-BE49-F238E27FC236}">
                <a16:creationId xmlns:a16="http://schemas.microsoft.com/office/drawing/2014/main" id="{FE3E1332-B6FB-41C6-8362-ED251F715D36}"/>
              </a:ext>
            </a:extLst>
          </p:cNvPr>
          <p:cNvSpPr>
            <a:spLocks noGrp="1"/>
          </p:cNvSpPr>
          <p:nvPr/>
        </p:nvSpPr>
        <p:spPr>
          <a:xfrm>
            <a:off x="8191500" y="2219325"/>
            <a:ext cx="3048000" cy="3714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013070"/>
                </a:solidFill>
                <a:latin typeface="IBM Plex Sans Arabic"/>
                <a:ea typeface="IBM Plex Sans Arabic"/>
                <a:cs typeface="IBM Plex Sans Arabic"/>
              </a:defRPr>
            </a:pPr>
            <a:r>
              <a:rPr lang="ar-JO" sz="1500" b="0" kern="0" spc="0">
                <a:solidFill>
                  <a:srgbClr val="013070"/>
                </a:solidFill>
                <a:latin typeface="IBM Plex Sans Arabic"/>
                <a:ea typeface="IBM Plex Sans Arabic"/>
                <a:cs typeface="IBM Plex Sans Arabic"/>
              </a:rPr>
              <a:t>شروط وحدود بفترتها</a:t>
            </a:r>
          </a:p>
        </p:txBody>
      </p:sp>
      <p:sp>
        <p:nvSpPr>
          <p:cNvPr id="11" name="Rectangle: Rounded Corners 10">
            <a:extLst>
              <a:ext uri="{FF2B5EF4-FFF2-40B4-BE49-F238E27FC236}">
                <a16:creationId xmlns:a16="http://schemas.microsoft.com/office/drawing/2014/main" id="{45DEA349-8C11-4F3E-82A6-C157CF35B0F6}"/>
              </a:ext>
            </a:extLst>
          </p:cNvPr>
          <p:cNvSpPr>
            <a:spLocks noGrp="1"/>
          </p:cNvSpPr>
          <p:nvPr/>
        </p:nvSpPr>
        <p:spPr>
          <a:xfrm>
            <a:off x="4524375" y="2914650"/>
            <a:ext cx="3333750" cy="990600"/>
          </a:xfrm>
          <a:prstGeom prst="roundRect">
            <a:avLst>
              <a:gd name="adj" fmla="val 7692"/>
            </a:avLst>
          </a:prstGeom>
          <a:solidFill>
            <a:srgbClr val="FFFFFF"/>
          </a:solidFill>
          <a:ln w="12383">
            <a:solidFill>
              <a:srgbClr val="D4DEE9"/>
            </a:solidFill>
          </a:ln>
        </p:spPr>
      </p:sp>
      <p:sp>
        <p:nvSpPr>
          <p:cNvPr id="12" name="كلفة الأسرة">
            <a:extLst>
              <a:ext uri="{FF2B5EF4-FFF2-40B4-BE49-F238E27FC236}">
                <a16:creationId xmlns:a16="http://schemas.microsoft.com/office/drawing/2014/main" id="{7898CEB7-3C16-4386-9B28-634C9EC7194C}"/>
              </a:ext>
            </a:extLst>
          </p:cNvPr>
          <p:cNvSpPr>
            <a:spLocks noGrp="1"/>
          </p:cNvSpPr>
          <p:nvPr/>
        </p:nvSpPr>
        <p:spPr>
          <a:xfrm>
            <a:off x="4676775" y="2986088"/>
            <a:ext cx="3028950" cy="3905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كلفة الأسرة</a:t>
            </a:r>
          </a:p>
        </p:txBody>
      </p:sp>
      <p:sp>
        <p:nvSpPr>
          <p:cNvPr id="13" name="افتراضات قابلة للتعديل">
            <a:extLst>
              <a:ext uri="{FF2B5EF4-FFF2-40B4-BE49-F238E27FC236}">
                <a16:creationId xmlns:a16="http://schemas.microsoft.com/office/drawing/2014/main" id="{F455893F-3370-46BF-8C3B-6BD920EFD452}"/>
              </a:ext>
            </a:extLst>
          </p:cNvPr>
          <p:cNvSpPr>
            <a:spLocks noGrp="1"/>
          </p:cNvSpPr>
          <p:nvPr/>
        </p:nvSpPr>
        <p:spPr>
          <a:xfrm>
            <a:off x="4667250" y="3381375"/>
            <a:ext cx="3048000" cy="3714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013070"/>
                </a:solidFill>
                <a:latin typeface="IBM Plex Sans Arabic"/>
                <a:ea typeface="IBM Plex Sans Arabic"/>
                <a:cs typeface="IBM Plex Sans Arabic"/>
              </a:defRPr>
            </a:pPr>
            <a:r>
              <a:rPr lang="ar-JO" sz="1500" b="0" kern="0" spc="0">
                <a:solidFill>
                  <a:srgbClr val="013070"/>
                </a:solidFill>
                <a:latin typeface="IBM Plex Sans Arabic"/>
                <a:ea typeface="IBM Plex Sans Arabic"/>
                <a:cs typeface="IBM Plex Sans Arabic"/>
              </a:rPr>
              <a:t>افتراضات قابلة للتعديل</a:t>
            </a:r>
          </a:p>
        </p:txBody>
      </p:sp>
      <p:sp>
        <p:nvSpPr>
          <p:cNvPr id="14" name="Rectangle: Rounded Corners 13">
            <a:extLst>
              <a:ext uri="{FF2B5EF4-FFF2-40B4-BE49-F238E27FC236}">
                <a16:creationId xmlns:a16="http://schemas.microsoft.com/office/drawing/2014/main" id="{BFF03916-5D63-44F4-B0F4-666902DE08B8}"/>
              </a:ext>
            </a:extLst>
          </p:cNvPr>
          <p:cNvSpPr>
            <a:spLocks noGrp="1"/>
          </p:cNvSpPr>
          <p:nvPr/>
        </p:nvSpPr>
        <p:spPr>
          <a:xfrm>
            <a:off x="8048625" y="2914650"/>
            <a:ext cx="3333750" cy="990600"/>
          </a:xfrm>
          <a:prstGeom prst="roundRect">
            <a:avLst>
              <a:gd name="adj" fmla="val 7692"/>
            </a:avLst>
          </a:prstGeom>
          <a:solidFill>
            <a:srgbClr val="FFFFFF"/>
          </a:solidFill>
          <a:ln w="12383">
            <a:solidFill>
              <a:srgbClr val="D4DEE9"/>
            </a:solidFill>
          </a:ln>
        </p:spPr>
      </p:sp>
      <p:sp>
        <p:nvSpPr>
          <p:cNvPr id="15" name="سوق العمل">
            <a:extLst>
              <a:ext uri="{FF2B5EF4-FFF2-40B4-BE49-F238E27FC236}">
                <a16:creationId xmlns:a16="http://schemas.microsoft.com/office/drawing/2014/main" id="{A84E27A0-4774-4FEC-BE52-8798F5EA267D}"/>
              </a:ext>
            </a:extLst>
          </p:cNvPr>
          <p:cNvSpPr>
            <a:spLocks noGrp="1"/>
          </p:cNvSpPr>
          <p:nvPr/>
        </p:nvSpPr>
        <p:spPr>
          <a:xfrm>
            <a:off x="8201025" y="2986088"/>
            <a:ext cx="3028950" cy="3905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سوق العمل</a:t>
            </a:r>
          </a:p>
        </p:txBody>
      </p:sp>
      <p:sp>
        <p:nvSpPr>
          <p:cNvPr id="16" name="مؤشر مع مصدر وتاريخ">
            <a:extLst>
              <a:ext uri="{FF2B5EF4-FFF2-40B4-BE49-F238E27FC236}">
                <a16:creationId xmlns:a16="http://schemas.microsoft.com/office/drawing/2014/main" id="{6F1DF78F-010B-4936-8FDE-76DA17717C27}"/>
              </a:ext>
            </a:extLst>
          </p:cNvPr>
          <p:cNvSpPr>
            <a:spLocks noGrp="1"/>
          </p:cNvSpPr>
          <p:nvPr/>
        </p:nvSpPr>
        <p:spPr>
          <a:xfrm>
            <a:off x="8191500" y="3381375"/>
            <a:ext cx="3048000" cy="3714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013070"/>
                </a:solidFill>
                <a:latin typeface="IBM Plex Sans Arabic"/>
                <a:ea typeface="IBM Plex Sans Arabic"/>
                <a:cs typeface="IBM Plex Sans Arabic"/>
              </a:defRPr>
            </a:pPr>
            <a:r>
              <a:rPr lang="ar-JO" sz="1500" b="0" kern="0" spc="0">
                <a:solidFill>
                  <a:srgbClr val="013070"/>
                </a:solidFill>
                <a:latin typeface="IBM Plex Sans Arabic"/>
                <a:ea typeface="IBM Plex Sans Arabic"/>
                <a:cs typeface="IBM Plex Sans Arabic"/>
              </a:rPr>
              <a:t>مؤشر مع مصدر وتاريخ</a:t>
            </a:r>
          </a:p>
        </p:txBody>
      </p:sp>
      <p:sp>
        <p:nvSpPr>
          <p:cNvPr id="17" name="Rectangle: Rounded Corners 16">
            <a:extLst>
              <a:ext uri="{FF2B5EF4-FFF2-40B4-BE49-F238E27FC236}">
                <a16:creationId xmlns:a16="http://schemas.microsoft.com/office/drawing/2014/main" id="{68E2C6F1-C88A-4A5A-8C2B-EBC6310778F6}"/>
              </a:ext>
            </a:extLst>
          </p:cNvPr>
          <p:cNvSpPr>
            <a:spLocks noGrp="1"/>
          </p:cNvSpPr>
          <p:nvPr/>
        </p:nvSpPr>
        <p:spPr>
          <a:xfrm>
            <a:off x="4524375" y="4105275"/>
            <a:ext cx="6953250" cy="609600"/>
          </a:xfrm>
          <a:prstGeom prst="roundRect">
            <a:avLst>
              <a:gd name="adj" fmla="val 12500"/>
            </a:avLst>
          </a:prstGeom>
          <a:solidFill>
            <a:srgbClr val="F3EAD7"/>
          </a:solidFill>
          <a:ln w="12383">
            <a:solidFill>
              <a:srgbClr val="DFC98F"/>
            </a:solidFill>
          </a:ln>
        </p:spPr>
      </p:sp>
      <p:sp>
        <p:nvSpPr>
          <p:cNvPr id="18" name="كلها في رحلة واحدة، مع مصدر وتاريخ تحديث لكل ">
            <a:extLst>
              <a:ext uri="{FF2B5EF4-FFF2-40B4-BE49-F238E27FC236}">
                <a16:creationId xmlns:a16="http://schemas.microsoft.com/office/drawing/2014/main" id="{4168CE45-B1D8-4D03-9F3F-EF79B8DEA7C8}"/>
              </a:ext>
            </a:extLst>
          </p:cNvPr>
          <p:cNvSpPr>
            <a:spLocks noGrp="1"/>
          </p:cNvSpPr>
          <p:nvPr/>
        </p:nvSpPr>
        <p:spPr>
          <a:xfrm>
            <a:off x="4686300" y="4171950"/>
            <a:ext cx="66294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كلها في رحلة واحدة، مع مصدر وتاريخ تحديث لكل رقم</a:t>
            </a:r>
          </a:p>
        </p:txBody>
      </p:sp>
      <p:sp>
        <p:nvSpPr>
          <p:cNvPr id="19" name="Rectangle: Rounded Corners 18">
            <a:extLst>
              <a:ext uri="{FF2B5EF4-FFF2-40B4-BE49-F238E27FC236}">
                <a16:creationId xmlns:a16="http://schemas.microsoft.com/office/drawing/2014/main" id="{3D412836-B5FC-421D-969C-EE4E3AF14086}"/>
              </a:ext>
            </a:extLst>
          </p:cNvPr>
          <p:cNvSpPr>
            <a:spLocks noGrp="1"/>
          </p:cNvSpPr>
          <p:nvPr/>
        </p:nvSpPr>
        <p:spPr>
          <a:xfrm>
            <a:off x="4524375" y="4857750"/>
            <a:ext cx="6953250" cy="857250"/>
          </a:xfrm>
          <a:prstGeom prst="roundRect">
            <a:avLst>
              <a:gd name="adj" fmla="val 8889"/>
            </a:avLst>
          </a:prstGeom>
          <a:solidFill>
            <a:srgbClr val="123D76"/>
          </a:solidFill>
          <a:ln w="12383">
            <a:solidFill>
              <a:srgbClr val="58749B"/>
            </a:solidFill>
          </a:ln>
        </p:spPr>
      </p:sp>
      <p:sp>
        <p:nvSpPr>
          <p:cNvPr id="20" name="28,186 طالبًا في 243 مدرسة  +  49,166 مشاركًا">
            <a:extLst>
              <a:ext uri="{FF2B5EF4-FFF2-40B4-BE49-F238E27FC236}">
                <a16:creationId xmlns:a16="http://schemas.microsoft.com/office/drawing/2014/main" id="{9C24D04C-84E4-4077-AF6A-D64BD2F14554}"/>
              </a:ext>
            </a:extLst>
          </p:cNvPr>
          <p:cNvSpPr>
            <a:spLocks noGrp="1"/>
          </p:cNvSpPr>
          <p:nvPr/>
        </p:nvSpPr>
        <p:spPr>
          <a:xfrm>
            <a:off x="4686300" y="4918710"/>
            <a:ext cx="6629400" cy="36385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725" b="1" kern="0" spc="0">
                <a:solidFill>
                  <a:srgbClr val="FFFFFF"/>
                </a:solidFill>
                <a:latin typeface="IBM Plex Sans Arabic"/>
                <a:ea typeface="IBM Plex Sans Arabic"/>
                <a:cs typeface="IBM Plex Sans Arabic"/>
              </a:defRPr>
            </a:pPr>
            <a:r>
              <a:rPr lang="ar-JO" sz="1725" b="1" kern="0" spc="0">
                <a:solidFill>
                  <a:srgbClr val="FFFFFF"/>
                </a:solidFill>
                <a:latin typeface="IBM Plex Sans Arabic"/>
                <a:ea typeface="IBM Plex Sans Arabic"/>
                <a:cs typeface="IBM Plex Sans Arabic"/>
              </a:rPr>
              <a:t>28,186 طالبًا في 243 مدرسة  +  49,166 مشاركًا</a:t>
            </a:r>
          </a:p>
        </p:txBody>
      </p:sp>
      <p:sp>
        <p:nvSpPr>
          <p:cNvPr id="21" name="تجربتان عشوائيتان تدعمان تقديم معلومات مخصّصة">
            <a:extLst>
              <a:ext uri="{FF2B5EF4-FFF2-40B4-BE49-F238E27FC236}">
                <a16:creationId xmlns:a16="http://schemas.microsoft.com/office/drawing/2014/main" id="{D3F1D50F-A219-4F2A-8ECC-4B959ABB5C78}"/>
              </a:ext>
            </a:extLst>
          </p:cNvPr>
          <p:cNvSpPr>
            <a:spLocks noGrp="1"/>
          </p:cNvSpPr>
          <p:nvPr/>
        </p:nvSpPr>
        <p:spPr>
          <a:xfrm>
            <a:off x="4686300" y="5290185"/>
            <a:ext cx="66294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تجربتان عشوائيتان تدعمان تقديم معلومات مخصّصة قبل الاختيار</a:t>
            </a:r>
          </a:p>
        </p:txBody>
      </p:sp>
      <p:sp>
        <p:nvSpPr>
          <p:cNvPr id="22" name="نقيس أثر مُرشِدي محليًا قبل التوسّع">
            <a:extLst>
              <a:ext uri="{FF2B5EF4-FFF2-40B4-BE49-F238E27FC236}">
                <a16:creationId xmlns:a16="http://schemas.microsoft.com/office/drawing/2014/main" id="{8BBE8FE6-71B5-4A6F-A3BD-D8200DD07578}"/>
              </a:ext>
            </a:extLst>
          </p:cNvPr>
          <p:cNvSpPr>
            <a:spLocks noGrp="1"/>
          </p:cNvSpPr>
          <p:nvPr/>
        </p:nvSpPr>
        <p:spPr>
          <a:xfrm>
            <a:off x="4524375" y="5885498"/>
            <a:ext cx="69532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نقيس أثر مُرشِدي محليًا قبل التوسّع</a:t>
            </a:r>
          </a:p>
        </p:txBody>
      </p:sp>
    </p:spTree>
    <p:extLst>
      <p:ext uri="{BB962C8B-B14F-4D97-AF65-F5344CB8AC3E}">
        <p14:creationId xmlns:p14="http://schemas.microsoft.com/office/powerpoint/2010/main" val="1791429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اختبار قبل التوسّع">
            <a:extLst>
              <a:ext uri="{FF2B5EF4-FFF2-40B4-BE49-F238E27FC236}">
                <a16:creationId xmlns:a16="http://schemas.microsoft.com/office/drawing/2014/main" id="{81A35BBA-8E39-41F1-B061-84EEB815FF39}"/>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اختبار قبل التوسّع</a:t>
            </a:r>
          </a:p>
        </p:txBody>
      </p:sp>
      <p:sp>
        <p:nvSpPr>
          <p:cNvPr id="3" name="09">
            <a:extLst>
              <a:ext uri="{FF2B5EF4-FFF2-40B4-BE49-F238E27FC236}">
                <a16:creationId xmlns:a16="http://schemas.microsoft.com/office/drawing/2014/main" id="{AB00AF02-DFB8-4A38-976F-A98C5C5E8E38}"/>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09</a:t>
            </a:r>
          </a:p>
        </p:txBody>
      </p:sp>
      <p:sp>
        <p:nvSpPr>
          <p:cNvPr id="4" name="100">
            <a:extLst>
              <a:ext uri="{FF2B5EF4-FFF2-40B4-BE49-F238E27FC236}">
                <a16:creationId xmlns:a16="http://schemas.microsoft.com/office/drawing/2014/main" id="{56D0207B-9C1A-49E1-99A8-A7E7669430B3}"/>
              </a:ext>
            </a:extLst>
          </p:cNvPr>
          <p:cNvSpPr>
            <a:spLocks noGrp="1"/>
          </p:cNvSpPr>
          <p:nvPr/>
        </p:nvSpPr>
        <p:spPr>
          <a:xfrm>
            <a:off x="8191500"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100</a:t>
            </a:r>
          </a:p>
        </p:txBody>
      </p:sp>
      <p:sp>
        <p:nvSpPr>
          <p:cNvPr id="5" name="طالب">
            <a:extLst>
              <a:ext uri="{FF2B5EF4-FFF2-40B4-BE49-F238E27FC236}">
                <a16:creationId xmlns:a16="http://schemas.microsoft.com/office/drawing/2014/main" id="{87486352-F47F-4CF6-90C0-77203B4FA183}"/>
              </a:ext>
            </a:extLst>
          </p:cNvPr>
          <p:cNvSpPr>
            <a:spLocks noGrp="1"/>
          </p:cNvSpPr>
          <p:nvPr/>
        </p:nvSpPr>
        <p:spPr>
          <a:xfrm>
            <a:off x="8191500"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طالب</a:t>
            </a:r>
          </a:p>
        </p:txBody>
      </p:sp>
      <p:sp>
        <p:nvSpPr>
          <p:cNvPr id="6" name="3">
            <a:extLst>
              <a:ext uri="{FF2B5EF4-FFF2-40B4-BE49-F238E27FC236}">
                <a16:creationId xmlns:a16="http://schemas.microsoft.com/office/drawing/2014/main" id="{21808CDA-F20D-4BED-AA9E-0B1175DD0044}"/>
              </a:ext>
            </a:extLst>
          </p:cNvPr>
          <p:cNvSpPr>
            <a:spLocks noGrp="1"/>
          </p:cNvSpPr>
          <p:nvPr/>
        </p:nvSpPr>
        <p:spPr>
          <a:xfrm>
            <a:off x="4429125"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3</a:t>
            </a:r>
          </a:p>
        </p:txBody>
      </p:sp>
      <p:sp>
        <p:nvSpPr>
          <p:cNvPr id="7" name="مدارس">
            <a:extLst>
              <a:ext uri="{FF2B5EF4-FFF2-40B4-BE49-F238E27FC236}">
                <a16:creationId xmlns:a16="http://schemas.microsoft.com/office/drawing/2014/main" id="{64999788-9391-43A1-A764-3CC27BE2B00E}"/>
              </a:ext>
            </a:extLst>
          </p:cNvPr>
          <p:cNvSpPr>
            <a:spLocks noGrp="1"/>
          </p:cNvSpPr>
          <p:nvPr/>
        </p:nvSpPr>
        <p:spPr>
          <a:xfrm>
            <a:off x="4429125"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مدارس</a:t>
            </a:r>
          </a:p>
        </p:txBody>
      </p:sp>
      <p:sp>
        <p:nvSpPr>
          <p:cNvPr id="8" name="6">
            <a:extLst>
              <a:ext uri="{FF2B5EF4-FFF2-40B4-BE49-F238E27FC236}">
                <a16:creationId xmlns:a16="http://schemas.microsoft.com/office/drawing/2014/main" id="{AB8329D8-6B52-455A-BE1B-EFF5D38B9BC9}"/>
              </a:ext>
            </a:extLst>
          </p:cNvPr>
          <p:cNvSpPr>
            <a:spLocks noGrp="1"/>
          </p:cNvSpPr>
          <p:nvPr/>
        </p:nvSpPr>
        <p:spPr>
          <a:xfrm>
            <a:off x="666750"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6</a:t>
            </a:r>
          </a:p>
        </p:txBody>
      </p:sp>
      <p:sp>
        <p:nvSpPr>
          <p:cNvPr id="9" name="أسابيع">
            <a:extLst>
              <a:ext uri="{FF2B5EF4-FFF2-40B4-BE49-F238E27FC236}">
                <a16:creationId xmlns:a16="http://schemas.microsoft.com/office/drawing/2014/main" id="{7FC15940-FD44-442F-8FC0-4843A695F777}"/>
              </a:ext>
            </a:extLst>
          </p:cNvPr>
          <p:cNvSpPr>
            <a:spLocks noGrp="1"/>
          </p:cNvSpPr>
          <p:nvPr/>
        </p:nvSpPr>
        <p:spPr>
          <a:xfrm>
            <a:off x="666750"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أسابيع</a:t>
            </a:r>
          </a:p>
        </p:txBody>
      </p:sp>
      <p:sp>
        <p:nvSpPr>
          <p:cNvPr id="10" name="تجربة مقترحة">
            <a:extLst>
              <a:ext uri="{FF2B5EF4-FFF2-40B4-BE49-F238E27FC236}">
                <a16:creationId xmlns:a16="http://schemas.microsoft.com/office/drawing/2014/main" id="{EFBF08C5-D119-43EB-9A43-5700424D7A84}"/>
              </a:ext>
            </a:extLst>
          </p:cNvPr>
          <p:cNvSpPr>
            <a:spLocks noGrp="1"/>
          </p:cNvSpPr>
          <p:nvPr/>
        </p:nvSpPr>
        <p:spPr>
          <a:xfrm>
            <a:off x="571500" y="3669983"/>
            <a:ext cx="10906125" cy="47053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تجربة مقترحة</a:t>
            </a:r>
          </a:p>
        </p:txBody>
      </p:sp>
      <p:sp>
        <p:nvSpPr>
          <p:cNvPr id="11" name="Rectangle: Rounded Corners 10">
            <a:extLst>
              <a:ext uri="{FF2B5EF4-FFF2-40B4-BE49-F238E27FC236}">
                <a16:creationId xmlns:a16="http://schemas.microsoft.com/office/drawing/2014/main" id="{B6BF3647-7933-4CF7-B5CB-4E16FD291441}"/>
              </a:ext>
            </a:extLst>
          </p:cNvPr>
          <p:cNvSpPr>
            <a:spLocks noGrp="1"/>
          </p:cNvSpPr>
          <p:nvPr/>
        </p:nvSpPr>
        <p:spPr>
          <a:xfrm>
            <a:off x="7953375" y="4410075"/>
            <a:ext cx="3238500" cy="1200150"/>
          </a:xfrm>
          <a:prstGeom prst="roundRect">
            <a:avLst>
              <a:gd name="adj" fmla="val 6349"/>
            </a:avLst>
          </a:prstGeom>
          <a:solidFill>
            <a:srgbClr val="F8FAFC"/>
          </a:solidFill>
          <a:ln w="12383">
            <a:solidFill>
              <a:srgbClr val="D4DEE9"/>
            </a:solidFill>
          </a:ln>
        </p:spPr>
      </p:sp>
      <p:sp>
        <p:nvSpPr>
          <p:cNvPr id="12" name="70 طالبًا">
            <a:extLst>
              <a:ext uri="{FF2B5EF4-FFF2-40B4-BE49-F238E27FC236}">
                <a16:creationId xmlns:a16="http://schemas.microsoft.com/office/drawing/2014/main" id="{70AB7566-F706-42B8-9B9A-55C9B2139DE5}"/>
              </a:ext>
            </a:extLst>
          </p:cNvPr>
          <p:cNvSpPr>
            <a:spLocks noGrp="1"/>
          </p:cNvSpPr>
          <p:nvPr/>
        </p:nvSpPr>
        <p:spPr>
          <a:xfrm>
            <a:off x="80962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70 طالبًا</a:t>
            </a:r>
          </a:p>
        </p:txBody>
      </p:sp>
      <p:sp>
        <p:nvSpPr>
          <p:cNvPr id="13" name="يكملون مقارنة 3 برامج">
            <a:extLst>
              <a:ext uri="{FF2B5EF4-FFF2-40B4-BE49-F238E27FC236}">
                <a16:creationId xmlns:a16="http://schemas.microsoft.com/office/drawing/2014/main" id="{0252F7BD-4A26-426B-9DB7-BCB504F09095}"/>
              </a:ext>
            </a:extLst>
          </p:cNvPr>
          <p:cNvSpPr>
            <a:spLocks noGrp="1"/>
          </p:cNvSpPr>
          <p:nvPr/>
        </p:nvSpPr>
        <p:spPr>
          <a:xfrm>
            <a:off x="81248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يكملون مقارنة 3 برامج</a:t>
            </a:r>
          </a:p>
        </p:txBody>
      </p:sp>
      <p:sp>
        <p:nvSpPr>
          <p:cNvPr id="14" name="Rectangle: Rounded Corners 13">
            <a:extLst>
              <a:ext uri="{FF2B5EF4-FFF2-40B4-BE49-F238E27FC236}">
                <a16:creationId xmlns:a16="http://schemas.microsoft.com/office/drawing/2014/main" id="{14DDCA7F-F290-40E8-BAEA-24415341F524}"/>
              </a:ext>
            </a:extLst>
          </p:cNvPr>
          <p:cNvSpPr>
            <a:spLocks noGrp="1"/>
          </p:cNvSpPr>
          <p:nvPr/>
        </p:nvSpPr>
        <p:spPr>
          <a:xfrm>
            <a:off x="4333875" y="4410075"/>
            <a:ext cx="3238500" cy="1200150"/>
          </a:xfrm>
          <a:prstGeom prst="roundRect">
            <a:avLst>
              <a:gd name="adj" fmla="val 6349"/>
            </a:avLst>
          </a:prstGeom>
          <a:solidFill>
            <a:srgbClr val="F8FAFC"/>
          </a:solidFill>
          <a:ln w="12383">
            <a:solidFill>
              <a:srgbClr val="D4DEE9"/>
            </a:solidFill>
          </a:ln>
        </p:spPr>
      </p:sp>
      <p:sp>
        <p:nvSpPr>
          <p:cNvPr id="15" name="درجة 4">
            <a:extLst>
              <a:ext uri="{FF2B5EF4-FFF2-40B4-BE49-F238E27FC236}">
                <a16:creationId xmlns:a16="http://schemas.microsoft.com/office/drawing/2014/main" id="{FF54168C-19C8-460D-A9CF-536A9FE3E104}"/>
              </a:ext>
            </a:extLst>
          </p:cNvPr>
          <p:cNvSpPr>
            <a:spLocks noGrp="1"/>
          </p:cNvSpPr>
          <p:nvPr/>
        </p:nvSpPr>
        <p:spPr>
          <a:xfrm>
            <a:off x="44767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درجة 4</a:t>
            </a:r>
          </a:p>
        </p:txBody>
      </p:sp>
      <p:sp>
        <p:nvSpPr>
          <p:cNvPr id="16" name="على مقياس وضوح من 5">
            <a:extLst>
              <a:ext uri="{FF2B5EF4-FFF2-40B4-BE49-F238E27FC236}">
                <a16:creationId xmlns:a16="http://schemas.microsoft.com/office/drawing/2014/main" id="{111D536B-DBFB-4DF0-9EA8-446D749ED767}"/>
              </a:ext>
            </a:extLst>
          </p:cNvPr>
          <p:cNvSpPr>
            <a:spLocks noGrp="1"/>
          </p:cNvSpPr>
          <p:nvPr/>
        </p:nvSpPr>
        <p:spPr>
          <a:xfrm>
            <a:off x="45053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على مقياس وضوح من 5</a:t>
            </a:r>
          </a:p>
        </p:txBody>
      </p:sp>
      <p:sp>
        <p:nvSpPr>
          <p:cNvPr id="17" name="Rectangle: Rounded Corners 16">
            <a:extLst>
              <a:ext uri="{FF2B5EF4-FFF2-40B4-BE49-F238E27FC236}">
                <a16:creationId xmlns:a16="http://schemas.microsoft.com/office/drawing/2014/main" id="{53626F1D-BE3C-4D02-9202-150F7997439D}"/>
              </a:ext>
            </a:extLst>
          </p:cNvPr>
          <p:cNvSpPr>
            <a:spLocks noGrp="1"/>
          </p:cNvSpPr>
          <p:nvPr/>
        </p:nvSpPr>
        <p:spPr>
          <a:xfrm>
            <a:off x="714375" y="4410075"/>
            <a:ext cx="3238500" cy="1200150"/>
          </a:xfrm>
          <a:prstGeom prst="roundRect">
            <a:avLst>
              <a:gd name="adj" fmla="val 6349"/>
            </a:avLst>
          </a:prstGeom>
          <a:solidFill>
            <a:srgbClr val="F8FAFC"/>
          </a:solidFill>
          <a:ln w="12383">
            <a:solidFill>
              <a:srgbClr val="D4DEE9"/>
            </a:solidFill>
          </a:ln>
        </p:spPr>
      </p:sp>
      <p:sp>
        <p:nvSpPr>
          <p:cNvPr id="18" name="مؤسستان">
            <a:extLst>
              <a:ext uri="{FF2B5EF4-FFF2-40B4-BE49-F238E27FC236}">
                <a16:creationId xmlns:a16="http://schemas.microsoft.com/office/drawing/2014/main" id="{F37BE183-4769-48CE-A47C-CC550B4AB463}"/>
              </a:ext>
            </a:extLst>
          </p:cNvPr>
          <p:cNvSpPr>
            <a:spLocks noGrp="1"/>
          </p:cNvSpPr>
          <p:nvPr/>
        </p:nvSpPr>
        <p:spPr>
          <a:xfrm>
            <a:off x="8572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مؤسستان</a:t>
            </a:r>
          </a:p>
        </p:txBody>
      </p:sp>
      <p:sp>
        <p:nvSpPr>
          <p:cNvPr id="19" name="تقبلان تجربة مدفوعة">
            <a:extLst>
              <a:ext uri="{FF2B5EF4-FFF2-40B4-BE49-F238E27FC236}">
                <a16:creationId xmlns:a16="http://schemas.microsoft.com/office/drawing/2014/main" id="{31BCB9D3-D475-46B6-BC6F-8943B53C706F}"/>
              </a:ext>
            </a:extLst>
          </p:cNvPr>
          <p:cNvSpPr>
            <a:spLocks noGrp="1"/>
          </p:cNvSpPr>
          <p:nvPr/>
        </p:nvSpPr>
        <p:spPr>
          <a:xfrm>
            <a:off x="8858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تقبلان تجربة مدفوعة</a:t>
            </a:r>
          </a:p>
        </p:txBody>
      </p:sp>
      <p:sp>
        <p:nvSpPr>
          <p:cNvPr id="20" name="أهداف قرار معلنة — وليست نتائج محققة">
            <a:extLst>
              <a:ext uri="{FF2B5EF4-FFF2-40B4-BE49-F238E27FC236}">
                <a16:creationId xmlns:a16="http://schemas.microsoft.com/office/drawing/2014/main" id="{52721883-27E7-45B2-867D-6F2A37D4F515}"/>
              </a:ext>
            </a:extLst>
          </p:cNvPr>
          <p:cNvSpPr>
            <a:spLocks noGrp="1"/>
          </p:cNvSpPr>
          <p:nvPr/>
        </p:nvSpPr>
        <p:spPr>
          <a:xfrm>
            <a:off x="1476375" y="5848350"/>
            <a:ext cx="10001250" cy="3333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أهداف قرار معلنة — وليست نتائج محققة</a:t>
            </a:r>
          </a:p>
        </p:txBody>
      </p:sp>
    </p:spTree>
    <p:extLst>
      <p:ext uri="{BB962C8B-B14F-4D97-AF65-F5344CB8AC3E}">
        <p14:creationId xmlns:p14="http://schemas.microsoft.com/office/powerpoint/2010/main" val="996139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11125200" y="400050"/>
            <a:ext cx="552450" cy="552450"/>
          </a:xfrm>
          <a:prstGeom prst="rect">
            <a:avLst/>
          </a:prstGeom>
        </p:spPr>
      </p:pic>
      <p:sp>
        <p:nvSpPr>
          <p:cNvPr id="2" name="اقتصاديات وحدة قابلة للاختبار">
            <a:extLst>
              <a:ext uri="{FF2B5EF4-FFF2-40B4-BE49-F238E27FC236}">
                <a16:creationId xmlns:a16="http://schemas.microsoft.com/office/drawing/2014/main" id="{87D333B7-1192-4DB6-ACDF-E03A34A85B56}"/>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اقتصاديات وحدة قابلة للاختبار</a:t>
            </a:r>
          </a:p>
        </p:txBody>
      </p:sp>
      <p:sp>
        <p:nvSpPr>
          <p:cNvPr id="3" name="10">
            <a:extLst>
              <a:ext uri="{FF2B5EF4-FFF2-40B4-BE49-F238E27FC236}">
                <a16:creationId xmlns:a16="http://schemas.microsoft.com/office/drawing/2014/main" id="{8ABB36FD-7B96-4654-BE5A-74CC0C2EAB7E}"/>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D69ED9C8-8726-470F-A5BF-74985EEC5196}"/>
              </a:ext>
            </a:extLst>
          </p:cNvPr>
          <p:cNvSpPr>
            <a:spLocks noGrp="1"/>
          </p:cNvSpPr>
          <p:nvPr/>
        </p:nvSpPr>
        <p:spPr>
          <a:xfrm>
            <a:off x="619125" y="1771650"/>
            <a:ext cx="2524125" cy="1362075"/>
          </a:xfrm>
          <a:prstGeom prst="roundRect">
            <a:avLst>
              <a:gd name="adj" fmla="val 5594"/>
            </a:avLst>
          </a:prstGeom>
          <a:solidFill>
            <a:srgbClr val="FFFFFF"/>
          </a:solidFill>
          <a:ln w="12383">
            <a:solidFill>
              <a:srgbClr val="58749B"/>
            </a:solidFill>
          </a:ln>
        </p:spPr>
      </p:sp>
      <p:sp>
        <p:nvSpPr>
          <p:cNvPr id="5" name="30 ألف د.أ">
            <a:extLst>
              <a:ext uri="{FF2B5EF4-FFF2-40B4-BE49-F238E27FC236}">
                <a16:creationId xmlns:a16="http://schemas.microsoft.com/office/drawing/2014/main" id="{75194A17-147F-4DCF-8B37-CB83E8AF06BA}"/>
              </a:ext>
            </a:extLst>
          </p:cNvPr>
          <p:cNvSpPr>
            <a:spLocks noGrp="1"/>
          </p:cNvSpPr>
          <p:nvPr/>
        </p:nvSpPr>
        <p:spPr>
          <a:xfrm>
            <a:off x="762000" y="1971675"/>
            <a:ext cx="2238375" cy="5524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400" b="1" kern="0" spc="0">
                <a:solidFill>
                  <a:srgbClr val="013070"/>
                </a:solidFill>
                <a:latin typeface="IBM Plex Sans Arabic"/>
                <a:ea typeface="IBM Plex Sans Arabic"/>
                <a:cs typeface="IBM Plex Sans Arabic"/>
              </a:defRPr>
            </a:pPr>
            <a:r>
              <a:rPr lang="ar-JO" sz="2400" b="1" kern="0" spc="0">
                <a:solidFill>
                  <a:srgbClr val="013070"/>
                </a:solidFill>
                <a:latin typeface="IBM Plex Sans Arabic"/>
                <a:ea typeface="IBM Plex Sans Arabic"/>
                <a:cs typeface="IBM Plex Sans Arabic"/>
              </a:rPr>
              <a:t>30 ألف د.أ</a:t>
            </a:r>
          </a:p>
        </p:txBody>
      </p:sp>
      <p:sp>
        <p:nvSpPr>
          <p:cNvPr id="6" name="تشغيل سنوي مفترض">
            <a:extLst>
              <a:ext uri="{FF2B5EF4-FFF2-40B4-BE49-F238E27FC236}">
                <a16:creationId xmlns:a16="http://schemas.microsoft.com/office/drawing/2014/main" id="{BEF6653B-3891-4275-A96B-4E1905230433}"/>
              </a:ext>
            </a:extLst>
          </p:cNvPr>
          <p:cNvSpPr>
            <a:spLocks noGrp="1"/>
          </p:cNvSpPr>
          <p:nvPr/>
        </p:nvSpPr>
        <p:spPr>
          <a:xfrm>
            <a:off x="7620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تشغيل سنوي مفترض</a:t>
            </a:r>
          </a:p>
        </p:txBody>
      </p:sp>
      <p:sp>
        <p:nvSpPr>
          <p:cNvPr id="7" name="Rectangle: Rounded Corners 6">
            <a:extLst>
              <a:ext uri="{FF2B5EF4-FFF2-40B4-BE49-F238E27FC236}">
                <a16:creationId xmlns:a16="http://schemas.microsoft.com/office/drawing/2014/main" id="{A836AA92-C6C5-4D09-B32F-E57D6CE3D238}"/>
              </a:ext>
            </a:extLst>
          </p:cNvPr>
          <p:cNvSpPr>
            <a:spLocks noGrp="1"/>
          </p:cNvSpPr>
          <p:nvPr/>
        </p:nvSpPr>
        <p:spPr>
          <a:xfrm>
            <a:off x="3476625" y="1771650"/>
            <a:ext cx="2524125" cy="1362075"/>
          </a:xfrm>
          <a:prstGeom prst="roundRect">
            <a:avLst>
              <a:gd name="adj" fmla="val 5594"/>
            </a:avLst>
          </a:prstGeom>
          <a:solidFill>
            <a:srgbClr val="FFFFFF"/>
          </a:solidFill>
          <a:ln w="12383">
            <a:solidFill>
              <a:srgbClr val="58749B"/>
            </a:solidFill>
          </a:ln>
        </p:spPr>
      </p:sp>
      <p:sp>
        <p:nvSpPr>
          <p:cNvPr id="8" name="16 د.أ">
            <a:extLst>
              <a:ext uri="{FF2B5EF4-FFF2-40B4-BE49-F238E27FC236}">
                <a16:creationId xmlns:a16="http://schemas.microsoft.com/office/drawing/2014/main" id="{60FF14C6-440A-42A7-B91A-A8455D4163CA}"/>
              </a:ext>
            </a:extLst>
          </p:cNvPr>
          <p:cNvSpPr>
            <a:spLocks noGrp="1"/>
          </p:cNvSpPr>
          <p:nvPr/>
        </p:nvSpPr>
        <p:spPr>
          <a:xfrm>
            <a:off x="36195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16 د.أ</a:t>
            </a:r>
          </a:p>
        </p:txBody>
      </p:sp>
      <p:sp>
        <p:nvSpPr>
          <p:cNvPr id="9" name="مساهمة / طالب">
            <a:extLst>
              <a:ext uri="{FF2B5EF4-FFF2-40B4-BE49-F238E27FC236}">
                <a16:creationId xmlns:a16="http://schemas.microsoft.com/office/drawing/2014/main" id="{E724F9BD-F460-484D-9499-D56296597755}"/>
              </a:ext>
            </a:extLst>
          </p:cNvPr>
          <p:cNvSpPr>
            <a:spLocks noGrp="1"/>
          </p:cNvSpPr>
          <p:nvPr/>
        </p:nvSpPr>
        <p:spPr>
          <a:xfrm>
            <a:off x="36195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مساهمة / طالب</a:t>
            </a:r>
          </a:p>
        </p:txBody>
      </p:sp>
      <p:sp>
        <p:nvSpPr>
          <p:cNvPr id="10" name="Rectangle: Rounded Corners 9">
            <a:extLst>
              <a:ext uri="{FF2B5EF4-FFF2-40B4-BE49-F238E27FC236}">
                <a16:creationId xmlns:a16="http://schemas.microsoft.com/office/drawing/2014/main" id="{6D7E9941-3D7C-4745-96E2-FB6A5CCE490E}"/>
              </a:ext>
            </a:extLst>
          </p:cNvPr>
          <p:cNvSpPr>
            <a:spLocks noGrp="1"/>
          </p:cNvSpPr>
          <p:nvPr/>
        </p:nvSpPr>
        <p:spPr>
          <a:xfrm>
            <a:off x="6334125" y="1771650"/>
            <a:ext cx="2524125" cy="1362075"/>
          </a:xfrm>
          <a:prstGeom prst="roundRect">
            <a:avLst>
              <a:gd name="adj" fmla="val 5594"/>
            </a:avLst>
          </a:prstGeom>
          <a:solidFill>
            <a:srgbClr val="FFFFFF"/>
          </a:solidFill>
          <a:ln w="12383">
            <a:solidFill>
              <a:srgbClr val="58749B"/>
            </a:solidFill>
          </a:ln>
        </p:spPr>
      </p:sp>
      <p:sp>
        <p:nvSpPr>
          <p:cNvPr id="11" name="4 د.أ">
            <a:extLst>
              <a:ext uri="{FF2B5EF4-FFF2-40B4-BE49-F238E27FC236}">
                <a16:creationId xmlns:a16="http://schemas.microsoft.com/office/drawing/2014/main" id="{51532C99-7133-4CCC-8A29-33F058D98B8C}"/>
              </a:ext>
            </a:extLst>
          </p:cNvPr>
          <p:cNvSpPr>
            <a:spLocks noGrp="1"/>
          </p:cNvSpPr>
          <p:nvPr/>
        </p:nvSpPr>
        <p:spPr>
          <a:xfrm>
            <a:off x="64770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4 د.أ</a:t>
            </a:r>
          </a:p>
        </p:txBody>
      </p:sp>
      <p:sp>
        <p:nvSpPr>
          <p:cNvPr id="12" name="كلفة متغيرة">
            <a:extLst>
              <a:ext uri="{FF2B5EF4-FFF2-40B4-BE49-F238E27FC236}">
                <a16:creationId xmlns:a16="http://schemas.microsoft.com/office/drawing/2014/main" id="{5D1B8EC6-0BAF-44C9-985F-F83172C6DFA8}"/>
              </a:ext>
            </a:extLst>
          </p:cNvPr>
          <p:cNvSpPr>
            <a:spLocks noGrp="1"/>
          </p:cNvSpPr>
          <p:nvPr/>
        </p:nvSpPr>
        <p:spPr>
          <a:xfrm>
            <a:off x="64770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كلفة متغيرة</a:t>
            </a:r>
          </a:p>
        </p:txBody>
      </p:sp>
      <p:sp>
        <p:nvSpPr>
          <p:cNvPr id="13" name="Rectangle: Rounded Corners 12">
            <a:extLst>
              <a:ext uri="{FF2B5EF4-FFF2-40B4-BE49-F238E27FC236}">
                <a16:creationId xmlns:a16="http://schemas.microsoft.com/office/drawing/2014/main" id="{C2127764-6F57-4F8A-8148-CD97B8215B92}"/>
              </a:ext>
            </a:extLst>
          </p:cNvPr>
          <p:cNvSpPr>
            <a:spLocks noGrp="1"/>
          </p:cNvSpPr>
          <p:nvPr/>
        </p:nvSpPr>
        <p:spPr>
          <a:xfrm>
            <a:off x="9191625" y="1771650"/>
            <a:ext cx="2524125" cy="1362075"/>
          </a:xfrm>
          <a:prstGeom prst="roundRect">
            <a:avLst>
              <a:gd name="adj" fmla="val 5594"/>
            </a:avLst>
          </a:prstGeom>
          <a:solidFill>
            <a:srgbClr val="FFFFFF"/>
          </a:solidFill>
          <a:ln w="12383">
            <a:solidFill>
              <a:srgbClr val="58749B"/>
            </a:solidFill>
          </a:ln>
        </p:spPr>
      </p:sp>
      <p:sp>
        <p:nvSpPr>
          <p:cNvPr id="14" name="20 د.أ">
            <a:extLst>
              <a:ext uri="{FF2B5EF4-FFF2-40B4-BE49-F238E27FC236}">
                <a16:creationId xmlns:a16="http://schemas.microsoft.com/office/drawing/2014/main" id="{41F5F9C3-89A3-43A9-BA5A-ED6E711C8211}"/>
              </a:ext>
            </a:extLst>
          </p:cNvPr>
          <p:cNvSpPr>
            <a:spLocks noGrp="1"/>
          </p:cNvSpPr>
          <p:nvPr/>
        </p:nvSpPr>
        <p:spPr>
          <a:xfrm>
            <a:off x="93345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20 د.أ</a:t>
            </a:r>
          </a:p>
        </p:txBody>
      </p:sp>
      <p:sp>
        <p:nvSpPr>
          <p:cNvPr id="15" name="إيراد / طالب">
            <a:extLst>
              <a:ext uri="{FF2B5EF4-FFF2-40B4-BE49-F238E27FC236}">
                <a16:creationId xmlns:a16="http://schemas.microsoft.com/office/drawing/2014/main" id="{F733D839-BB9A-47BD-BBF4-A0BCF9B07CB7}"/>
              </a:ext>
            </a:extLst>
          </p:cNvPr>
          <p:cNvSpPr>
            <a:spLocks noGrp="1"/>
          </p:cNvSpPr>
          <p:nvPr/>
        </p:nvSpPr>
        <p:spPr>
          <a:xfrm>
            <a:off x="93345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إيراد / طالب</a:t>
            </a:r>
          </a:p>
        </p:txBody>
      </p:sp>
      <p:sp>
        <p:nvSpPr>
          <p:cNvPr id="16" name="1,950">
            <a:extLst>
              <a:ext uri="{FF2B5EF4-FFF2-40B4-BE49-F238E27FC236}">
                <a16:creationId xmlns:a16="http://schemas.microsoft.com/office/drawing/2014/main" id="{5EFE6585-3E37-4FCF-83DE-BBEF469780DC}"/>
              </a:ext>
            </a:extLst>
          </p:cNvPr>
          <p:cNvSpPr>
            <a:spLocks noGrp="1"/>
          </p:cNvSpPr>
          <p:nvPr/>
        </p:nvSpPr>
        <p:spPr>
          <a:xfrm>
            <a:off x="571500" y="3406140"/>
            <a:ext cx="11049000" cy="115062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150" b="1" kern="0" spc="0">
                <a:solidFill>
                  <a:srgbClr val="FFFFFF"/>
                </a:solidFill>
                <a:latin typeface="IBM Plex Sans Arabic"/>
                <a:ea typeface="IBM Plex Sans Arabic"/>
                <a:cs typeface="IBM Plex Sans Arabic"/>
              </a:defRPr>
            </a:pPr>
            <a:r>
              <a:rPr lang="ar-JO" sz="6150" b="1" kern="0" spc="0">
                <a:solidFill>
                  <a:srgbClr val="FFFFFF"/>
                </a:solidFill>
                <a:latin typeface="IBM Plex Sans Arabic"/>
                <a:ea typeface="IBM Plex Sans Arabic"/>
                <a:cs typeface="IBM Plex Sans Arabic"/>
              </a:rPr>
              <a:t>1,950</a:t>
            </a:r>
          </a:p>
        </p:txBody>
      </p:sp>
      <p:sp>
        <p:nvSpPr>
          <p:cNvPr id="17" name="طالبًا مدفوعًا = 39 ألف د.أ إيراد سنوي عند نق">
            <a:extLst>
              <a:ext uri="{FF2B5EF4-FFF2-40B4-BE49-F238E27FC236}">
                <a16:creationId xmlns:a16="http://schemas.microsoft.com/office/drawing/2014/main" id="{E27CD834-EC51-4993-89F9-1D3FFA0EDF4A}"/>
              </a:ext>
            </a:extLst>
          </p:cNvPr>
          <p:cNvSpPr>
            <a:spLocks noGrp="1"/>
          </p:cNvSpPr>
          <p:nvPr/>
        </p:nvSpPr>
        <p:spPr>
          <a:xfrm>
            <a:off x="1143000" y="4457700"/>
            <a:ext cx="9906000" cy="5143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C8A04C"/>
                </a:solidFill>
                <a:latin typeface="IBM Plex Sans Arabic"/>
                <a:ea typeface="IBM Plex Sans Arabic"/>
                <a:cs typeface="IBM Plex Sans Arabic"/>
              </a:defRPr>
            </a:pPr>
            <a:r>
              <a:rPr lang="ar-JO" sz="2325" b="1" kern="0" spc="0">
                <a:solidFill>
                  <a:srgbClr val="C8A04C"/>
                </a:solidFill>
                <a:latin typeface="IBM Plex Sans Arabic"/>
                <a:ea typeface="IBM Plex Sans Arabic"/>
                <a:cs typeface="IBM Plex Sans Arabic"/>
              </a:rPr>
              <a:t>طالبًا مدفوعًا = 39 ألف د.أ إيراد سنوي عند نقطة التعادل</a:t>
            </a:r>
          </a:p>
        </p:txBody>
      </p:sp>
      <p:sp>
        <p:nvSpPr>
          <p:cNvPr id="18" name="≈ 13 مؤسسة × 150 طالبًا نشطًا">
            <a:extLst>
              <a:ext uri="{FF2B5EF4-FFF2-40B4-BE49-F238E27FC236}">
                <a16:creationId xmlns:a16="http://schemas.microsoft.com/office/drawing/2014/main" id="{B54C5CAB-3E72-4F1B-8C3A-BFB4C5DFA108}"/>
              </a:ext>
            </a:extLst>
          </p:cNvPr>
          <p:cNvSpPr>
            <a:spLocks noGrp="1"/>
          </p:cNvSpPr>
          <p:nvPr/>
        </p:nvSpPr>
        <p:spPr>
          <a:xfrm>
            <a:off x="1428750" y="5048250"/>
            <a:ext cx="9334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FFFFFF"/>
                </a:solidFill>
                <a:latin typeface="IBM Plex Sans Arabic"/>
                <a:ea typeface="IBM Plex Sans Arabic"/>
                <a:cs typeface="IBM Plex Sans Arabic"/>
              </a:defRPr>
            </a:pPr>
            <a:r>
              <a:rPr lang="ar-JO" sz="2175" b="1" kern="0" spc="0">
                <a:solidFill>
                  <a:srgbClr val="FFFFFF"/>
                </a:solidFill>
                <a:latin typeface="IBM Plex Sans Arabic"/>
                <a:ea typeface="IBM Plex Sans Arabic"/>
                <a:cs typeface="IBM Plex Sans Arabic"/>
              </a:rPr>
              <a:t>≈ 13 مؤسسة × 150 طالبًا نشطًا</a:t>
            </a:r>
          </a:p>
        </p:txBody>
      </p:sp>
      <p:sp>
        <p:nvSpPr>
          <p:cNvPr id="19" name="افتراضات الاختبار: 30 ألف د.أ ثابتة + 300 طال">
            <a:extLst>
              <a:ext uri="{FF2B5EF4-FFF2-40B4-BE49-F238E27FC236}">
                <a16:creationId xmlns:a16="http://schemas.microsoft.com/office/drawing/2014/main" id="{89845F77-9103-4C18-8A7F-A29D1D634817}"/>
              </a:ext>
            </a:extLst>
          </p:cNvPr>
          <p:cNvSpPr>
            <a:spLocks noGrp="1"/>
          </p:cNvSpPr>
          <p:nvPr/>
        </p:nvSpPr>
        <p:spPr>
          <a:xfrm>
            <a:off x="809625" y="5972175"/>
            <a:ext cx="1057275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D1DEED"/>
                </a:solidFill>
                <a:latin typeface="IBM Plex Sans Arabic"/>
                <a:ea typeface="IBM Plex Sans Arabic"/>
                <a:cs typeface="IBM Plex Sans Arabic"/>
              </a:defRPr>
            </a:pPr>
            <a:r>
              <a:rPr lang="ar-JO" sz="1500" b="0" kern="0" spc="0">
                <a:solidFill>
                  <a:srgbClr val="D1DEED"/>
                </a:solidFill>
                <a:latin typeface="IBM Plex Sans Arabic"/>
                <a:ea typeface="IBM Plex Sans Arabic"/>
                <a:cs typeface="IBM Plex Sans Arabic"/>
              </a:rPr>
              <a:t>افتراضات الاختبار: 30 ألف د.أ ثابتة + 300 طالب تجارب مجانية • نختبر 12، 20، و30 د.أ</a:t>
            </a:r>
          </a:p>
        </p:txBody>
      </p:sp>
    </p:spTree>
    <p:extLst>
      <p:ext uri="{BB962C8B-B14F-4D97-AF65-F5344CB8AC3E}">
        <p14:creationId xmlns:p14="http://schemas.microsoft.com/office/powerpoint/2010/main" val="818704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125200" y="400050"/>
            <a:ext cx="552450" cy="552450"/>
          </a:xfrm>
          <a:prstGeom prst="rect">
            <a:avLst/>
          </a:prstGeom>
        </p:spPr>
      </p:pic>
      <p:sp>
        <p:nvSpPr>
          <p:cNvPr id="2" name="Vcoders">
            <a:extLst>
              <a:ext uri="{FF2B5EF4-FFF2-40B4-BE49-F238E27FC236}">
                <a16:creationId xmlns:a16="http://schemas.microsoft.com/office/drawing/2014/main" id="{0AB09FEE-D115-4F0A-8185-9171AE8D6458}"/>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Vcoders</a:t>
            </a:r>
          </a:p>
        </p:txBody>
      </p:sp>
      <p:sp>
        <p:nvSpPr>
          <p:cNvPr id="3" name="11">
            <a:extLst>
              <a:ext uri="{FF2B5EF4-FFF2-40B4-BE49-F238E27FC236}">
                <a16:creationId xmlns:a16="http://schemas.microsoft.com/office/drawing/2014/main" id="{C4EB5A2C-6B2A-4C28-A3D4-3A57E552AD36}"/>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4D95E3E4-45D0-4525-9F33-5147166DD516}"/>
              </a:ext>
            </a:extLst>
          </p:cNvPr>
          <p:cNvSpPr>
            <a:spLocks noGrp="1"/>
          </p:cNvSpPr>
          <p:nvPr/>
        </p:nvSpPr>
        <p:spPr>
          <a:xfrm>
            <a:off x="8229600"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B25FECE8-E96F-4CD9-B61B-58AB9ABDBE9F}"/>
              </a:ext>
            </a:extLst>
          </p:cNvPr>
          <p:cNvSpPr>
            <a:spLocks noGrp="1"/>
          </p:cNvSpPr>
          <p:nvPr/>
        </p:nvSpPr>
        <p:spPr>
          <a:xfrm>
            <a:off x="8229600"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97A53100-8CBE-4342-AEE2-20B767A499FF}"/>
              </a:ext>
            </a:extLst>
          </p:cNvPr>
          <p:cNvSpPr>
            <a:spLocks noGrp="1"/>
          </p:cNvSpPr>
          <p:nvPr/>
        </p:nvSpPr>
        <p:spPr>
          <a:xfrm>
            <a:off x="8229600"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منطق التطبيق والبيانات</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7A32F4F5-013C-4246-A534-4552298CB185}"/>
              </a:ext>
            </a:extLst>
          </p:cNvPr>
          <p:cNvSpPr>
            <a:spLocks noGrp="1"/>
          </p:cNvSpPr>
          <p:nvPr/>
        </p:nvSpPr>
        <p:spPr>
          <a:xfrm>
            <a:off x="4429125"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45A725F1-4665-43F6-822C-1DE71BAEAD87}"/>
              </a:ext>
            </a:extLst>
          </p:cNvPr>
          <p:cNvSpPr>
            <a:spLocks noGrp="1"/>
          </p:cNvSpPr>
          <p:nvPr/>
        </p:nvSpPr>
        <p:spPr>
          <a:xfrm>
            <a:off x="4429125"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26FC6C01-0670-4780-BC5B-C89147AF3246}"/>
              </a:ext>
            </a:extLst>
          </p:cNvPr>
          <p:cNvSpPr>
            <a:spLocks noGrp="1"/>
          </p:cNvSpPr>
          <p:nvPr/>
        </p:nvSpPr>
        <p:spPr>
          <a:xfrm>
            <a:off x="4429125"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الهوية البصرية</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9C5C93E1-91A4-4B7D-8E2D-5A39B6F594B1}"/>
              </a:ext>
            </a:extLst>
          </p:cNvPr>
          <p:cNvSpPr>
            <a:spLocks noGrp="1"/>
          </p:cNvSpPr>
          <p:nvPr/>
        </p:nvSpPr>
        <p:spPr>
          <a:xfrm>
            <a:off x="571500"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زيد</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6687A5DD-637E-42E9-B8B6-7F881675774C}"/>
              </a:ext>
            </a:extLst>
          </p:cNvPr>
          <p:cNvSpPr>
            <a:spLocks noGrp="1"/>
          </p:cNvSpPr>
          <p:nvPr/>
        </p:nvSpPr>
        <p:spPr>
          <a:xfrm>
            <a:off x="571500"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C665515B-889B-49EC-A50E-69D2FC1B1C63}"/>
              </a:ext>
            </a:extLst>
          </p:cNvPr>
          <p:cNvSpPr>
            <a:spLocks noGrp="1"/>
          </p:cNvSpPr>
          <p:nvPr/>
        </p:nvSpPr>
        <p:spPr>
          <a:xfrm>
            <a:off x="571500"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تحويل التصميم</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إلى تجربة قابلة للاستخدام</a:t>
            </a:r>
          </a:p>
        </p:txBody>
      </p:sp>
      <p:sp>
        <p:nvSpPr>
          <p:cNvPr id="13" name="أدوار متكاملة لبناء مُرشِدي وتطويره">
            <a:extLst>
              <a:ext uri="{FF2B5EF4-FFF2-40B4-BE49-F238E27FC236}">
                <a16:creationId xmlns:a16="http://schemas.microsoft.com/office/drawing/2014/main" id="{0F359841-A425-47BA-9CA9-70491EF42A80}"/>
              </a:ext>
            </a:extLst>
          </p:cNvPr>
          <p:cNvSpPr>
            <a:spLocks noGrp="1"/>
          </p:cNvSpPr>
          <p:nvPr/>
        </p:nvSpPr>
        <p:spPr>
          <a:xfrm>
            <a:off x="1428750" y="5762625"/>
            <a:ext cx="10001250" cy="5715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013070"/>
                </a:solidFill>
                <a:latin typeface="IBM Plex Sans Arabic"/>
                <a:ea typeface="IBM Plex Sans Arabic"/>
                <a:cs typeface="IBM Plex Sans Arabic"/>
              </a:defRPr>
            </a:pPr>
            <a:r>
              <a:rPr lang="ar-JO" sz="2550" b="1" kern="0" spc="0">
                <a:solidFill>
                  <a:srgbClr val="013070"/>
                </a:solidFill>
                <a:latin typeface="IBM Plex Sans Arabic"/>
                <a:ea typeface="IBM Plex Sans Arabic"/>
                <a:cs typeface="IBM Plex Sans Arabic"/>
              </a:rPr>
              <a:t>أدوار متكاملة لبناء مُرشِدي وتطويره</a:t>
            </a:r>
          </a:p>
        </p:txBody>
      </p:sp>
    </p:spTree>
    <p:extLst>
      <p:ext uri="{BB962C8B-B14F-4D97-AF65-F5344CB8AC3E}">
        <p14:creationId xmlns:p14="http://schemas.microsoft.com/office/powerpoint/2010/main" val="663449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pic>
        <p:nvPicPr>
          <p:cNvPr id="8" name="Picture 7"/>
          <p:cNvPicPr>
            <a:picLocks noChangeAspect="1"/>
          </p:cNvPicPr>
          <p:nvPr/>
        </p:nvPicPr>
        <p:blipFill>
          <a:blip r:embed="rId4"/>
          <a:stretch/>
        </p:blipFill>
        <p:spPr>
          <a:xfrm>
            <a:off x="10572750" y="523875"/>
            <a:ext cx="933450" cy="933450"/>
          </a:xfrm>
          <a:prstGeom prst="rect">
            <a:avLst/>
          </a:prstGeom>
        </p:spPr>
      </p:pic>
      <p:sp>
        <p:nvSpPr>
          <p:cNvPr id="3" name="خطوتنا القادمة">
            <a:extLst>
              <a:ext uri="{FF2B5EF4-FFF2-40B4-BE49-F238E27FC236}">
                <a16:creationId xmlns:a16="http://schemas.microsoft.com/office/drawing/2014/main" id="{E1F8D02C-AC08-4B04-8667-5F5F5C19A9CF}"/>
              </a:ext>
            </a:extLst>
          </p:cNvPr>
          <p:cNvSpPr>
            <a:spLocks noGrp="1"/>
          </p:cNvSpPr>
          <p:nvPr/>
        </p:nvSpPr>
        <p:spPr>
          <a:xfrm>
            <a:off x="6191250" y="1918335"/>
            <a:ext cx="5286375" cy="69723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600" b="1" kern="0" spc="0">
                <a:solidFill>
                  <a:srgbClr val="C8A04C"/>
                </a:solidFill>
                <a:latin typeface="IBM Plex Sans Arabic"/>
                <a:ea typeface="IBM Plex Sans Arabic"/>
                <a:cs typeface="IBM Plex Sans Arabic"/>
              </a:defRPr>
            </a:pPr>
            <a:r>
              <a:rPr lang="ar-JO" sz="3600" b="1" kern="0" spc="0">
                <a:solidFill>
                  <a:srgbClr val="C8A04C"/>
                </a:solidFill>
                <a:latin typeface="IBM Plex Sans Arabic"/>
                <a:ea typeface="IBM Plex Sans Arabic"/>
                <a:cs typeface="IBM Plex Sans Arabic"/>
              </a:rPr>
              <a:t>خطوتنا القادمة</a:t>
            </a:r>
          </a:p>
        </p:txBody>
      </p:sp>
      <p:sp>
        <p:nvSpPr>
          <p:cNvPr id="4" name="فرصة لتجربة مُرشِدي&#10;مع مؤسسات تعليمية">
            <a:extLst>
              <a:ext uri="{FF2B5EF4-FFF2-40B4-BE49-F238E27FC236}">
                <a16:creationId xmlns:a16="http://schemas.microsoft.com/office/drawing/2014/main" id="{C5167F71-64F7-47DB-9014-D0D7717883A8}"/>
              </a:ext>
            </a:extLst>
          </p:cNvPr>
          <p:cNvSpPr>
            <a:spLocks noGrp="1"/>
          </p:cNvSpPr>
          <p:nvPr/>
        </p:nvSpPr>
        <p:spPr>
          <a:xfrm>
            <a:off x="5381625" y="2886075"/>
            <a:ext cx="6096000" cy="14954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975" b="1" kern="0" spc="0">
                <a:solidFill>
                  <a:srgbClr val="FFFFFF"/>
                </a:solidFill>
                <a:latin typeface="IBM Plex Sans Arabic"/>
                <a:ea typeface="IBM Plex Sans Arabic"/>
                <a:cs typeface="IBM Plex Sans Arabic"/>
              </a:defRPr>
            </a:pPr>
            <a:r>
              <a:rPr lang="ar-JO" sz="3975" b="1" kern="0" spc="0">
                <a:solidFill>
                  <a:srgbClr val="FFFFFF"/>
                </a:solidFill>
                <a:latin typeface="IBM Plex Sans Arabic"/>
                <a:ea typeface="IBM Plex Sans Arabic"/>
                <a:cs typeface="IBM Plex Sans Arabic"/>
              </a:rPr>
              <a:t>فرصة لتجربة مُرشِدي</a:t>
            </a:r>
          </a:p>
          <a:p>
            <a:pPr algn="r" rtl="1">
              <a:lnSpc>
                <a:spcPct val="116000"/>
              </a:lnSpc>
              <a:spcBef>
                <a:spcPts val="0"/>
              </a:spcBef>
              <a:spcAft>
                <a:spcPts val="0"/>
              </a:spcAft>
              <a:buNone/>
              <a:defRPr lang="ar-JO" sz="3975" b="1" kern="0" spc="0">
                <a:solidFill>
                  <a:srgbClr val="FFFFFF"/>
                </a:solidFill>
                <a:latin typeface="IBM Plex Sans Arabic"/>
                <a:ea typeface="IBM Plex Sans Arabic"/>
                <a:cs typeface="IBM Plex Sans Arabic"/>
              </a:defRPr>
            </a:pPr>
            <a:r>
              <a:rPr lang="ar-JO" sz="3975" b="1" kern="0" spc="0">
                <a:solidFill>
                  <a:srgbClr val="FFFFFF"/>
                </a:solidFill>
                <a:latin typeface="IBM Plex Sans Arabic"/>
                <a:ea typeface="IBM Plex Sans Arabic"/>
                <a:cs typeface="IBM Plex Sans Arabic"/>
              </a:rPr>
              <a:t>مع مؤسسات تعليمية</a:t>
            </a:r>
          </a:p>
        </p:txBody>
      </p:sp>
      <p:sp>
        <p:nvSpPr>
          <p:cNvPr id="5" name="شركاء للتجربة وتوجيه لاختبار نموذج العمل">
            <a:extLst>
              <a:ext uri="{FF2B5EF4-FFF2-40B4-BE49-F238E27FC236}">
                <a16:creationId xmlns:a16="http://schemas.microsoft.com/office/drawing/2014/main" id="{D88AC45B-2FA5-4867-92D5-1A5A36579289}"/>
              </a:ext>
            </a:extLst>
          </p:cNvPr>
          <p:cNvSpPr>
            <a:spLocks noGrp="1"/>
          </p:cNvSpPr>
          <p:nvPr/>
        </p:nvSpPr>
        <p:spPr>
          <a:xfrm>
            <a:off x="4619625" y="4752975"/>
            <a:ext cx="6858000" cy="6096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250" b="0" kern="0" spc="0">
                <a:solidFill>
                  <a:srgbClr val="D1DEED"/>
                </a:solidFill>
                <a:latin typeface="IBM Plex Sans Arabic"/>
                <a:ea typeface="IBM Plex Sans Arabic"/>
                <a:cs typeface="IBM Plex Sans Arabic"/>
              </a:defRPr>
            </a:pPr>
            <a:r>
              <a:rPr lang="ar-JO" sz="2250" b="0" kern="0" spc="0">
                <a:solidFill>
                  <a:srgbClr val="D1DEED"/>
                </a:solidFill>
                <a:latin typeface="IBM Plex Sans Arabic"/>
                <a:ea typeface="IBM Plex Sans Arabic"/>
                <a:cs typeface="IBM Plex Sans Arabic"/>
              </a:rPr>
              <a:t>شركاء للتجربة وتوجيه لاختبار نموذج العمل</a:t>
            </a:r>
          </a:p>
        </p:txBody>
      </p:sp>
      <p:sp>
        <p:nvSpPr>
          <p:cNvPr id="6" name="قرار أوضح لمستقبل الطالب">
            <a:extLst>
              <a:ext uri="{FF2B5EF4-FFF2-40B4-BE49-F238E27FC236}">
                <a16:creationId xmlns:a16="http://schemas.microsoft.com/office/drawing/2014/main" id="{6C0AAD0A-0012-4869-B5DF-75F8A834545A}"/>
              </a:ext>
            </a:extLst>
          </p:cNvPr>
          <p:cNvSpPr>
            <a:spLocks noGrp="1"/>
          </p:cNvSpPr>
          <p:nvPr/>
        </p:nvSpPr>
        <p:spPr>
          <a:xfrm>
            <a:off x="5762625" y="5772150"/>
            <a:ext cx="5715000" cy="5715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FFFFFF"/>
                </a:solidFill>
                <a:latin typeface="IBM Plex Sans Arabic"/>
                <a:ea typeface="IBM Plex Sans Arabic"/>
                <a:cs typeface="IBM Plex Sans Arabic"/>
              </a:defRPr>
            </a:pPr>
            <a:r>
              <a:rPr lang="ar-JO" sz="2850" b="1" kern="0" spc="0">
                <a:solidFill>
                  <a:srgbClr val="FFFFFF"/>
                </a:solidFill>
                <a:latin typeface="IBM Plex Sans Arabic"/>
                <a:ea typeface="IBM Plex Sans Arabic"/>
                <a:cs typeface="IBM Plex Sans Arabic"/>
              </a:rPr>
              <a:t>قرار أوضح لمستقبل الطالب</a:t>
            </a:r>
          </a:p>
        </p:txBody>
      </p:sp>
    </p:spTree>
    <p:extLst>
      <p:ext uri="{BB962C8B-B14F-4D97-AF65-F5344CB8AC3E}">
        <p14:creationId xmlns:p14="http://schemas.microsoft.com/office/powerpoint/2010/main" val="69685234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1965</Words>
  <Application>Microsoft Office PowerPoint</Application>
  <DocSecurity>0</DocSecurity>
  <PresentationFormat>Widescreen</PresentationFormat>
  <Paragraphs>226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IBM Plex Sans Arabic</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2026-09-10T20:23:46Z</dcterms:created>
  <dcterms:modified xsi:type="dcterms:W3CDTF">2026-09-10T20:23:53Z</dcterms:modified>
</cp:coreProperties>
</file>