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BM Plex Sans Arabic" panose="020B0503050203000203" pitchFamily="34"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0:20 (20 ثانية)</a:t>
            </a:r>
          </a:p>
          <a:p>
            <a:endParaRPr/>
          </a:p>
          <a:p>
            <a:r>
              <a:t>صباح الخير. نحن فريق Vcoders، ونقدّم مُرشِدي، منصّة تساعد الطالب وأسرته على اتخاذ قرار جامعي أوضح. الفكرة تبدأ من سؤال نسمعه بعد التوجيهي: شو أدرس؟ إجابتنا تجمع اهتمام الطالب، خيارات الجامعة، وكلفة الدراسة في رحلة واحدة يمكنه فهمها ومناقشتها.</a:t>
            </a:r>
          </a:p>
          <a:p>
            <a:endParaRPr/>
          </a:p>
          <a:p>
            <a:r>
              <a:t>المصادر: ملفات المشروع الأصلية؛ اسم الفريق مصحح بتوجيه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إلى 1:00 (40 ثانية)</a:t>
            </a:r>
          </a:p>
          <a:p>
            <a:endParaRPr/>
          </a:p>
          <a:p>
            <a:r>
              <a:t>المشكلة تظهر بعد سنوات من القرار. بلغ معدل البطالة بين حملة البكالوريوس فأعلى 26.2 بالمئة في الربع الثالث من 2025، وفق تقرير البنك المركزي نقلًا عن دائرة الإحصاءات. وفي العام نفسه خفّض مجلس التعليم العالي القبول في التخصصات الراكدة والمشبعة 60 بالمئة. نحن لا نقول إن اختيار التخصص سبب البطالة وحده؛ بل إن الطالب يحتاج رؤية أوضح للميول والكلفة والقبول والسوق قبل أن يلتزم بقرار لسنوات.</a:t>
            </a:r>
          </a:p>
          <a:p>
            <a:endParaRPr/>
          </a:p>
          <a:p>
            <a:r>
              <a:t>المصادر: البنك المركزي الأردني، التقرير الشهري كانون الأول 2025، ص19: بطالة حملة البكالوريوس فأعلى 26.2% في Q3 2025، ومصدر الشكل دائرة الإحصاءات. مجلس التعليم العالي، 27 آب 2025: خفض قبول التخصصات الراكدة والمشبعة 60%. لا يثبت الرقمان أن اختيار التخصص هو سبب البطالة الوحيد.</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إلى 1:35 (35 ثانية)</a:t>
            </a:r>
          </a:p>
          <a:p>
            <a:endParaRPr/>
          </a:p>
          <a:p>
            <a:r>
              <a:t>يبدأ الطالب باستكشاف اهتماماته، ثم يقارن برامج فعلية في جامعات مختلفة، ويحسب كلفة تتناسب مع ظروفه. هذه شاشة حقيقية من التطبيق الذي شغّلناه. القيمة هي تحويل المعلومة إلى قرار: ما الذي يناسب اهتمامه، ما الذي يستطيع تحمّله، وما الذي يجب أن يتحقق منه قبل التقديم؟ تظهر المصادر وفترتها بوضوح، وتبقى النتيجة أداة للحوار والقرار بيد الطالب وأسرته.</a:t>
            </a:r>
          </a:p>
          <a:p>
            <a:endParaRPr/>
          </a:p>
          <a:p>
            <a:r>
              <a:t>المصادر: شاشة فعلية من النسخة المحلية المحدثة للسورس؛ اختبار الميول استكشافي ولا يدعي اعتمادًا نفسيًا.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 إلى 2:20 (45 ثانية)</a:t>
            </a:r>
          </a:p>
          <a:p>
            <a:endParaRPr/>
          </a:p>
          <a:p>
            <a:r>
              <a:t>لنأخذ طالبًا يفكر في علم الحاسوب. يستطيع مقارنة البرنامج بين جامعات، ويرى رسم الساعة، وشرط التقديم، والحد التنافسي السابق كلًّا على حدة. جمعنا 607 عروض برامج من دليل القبول الموحد 2026 على 2027. وآخر حدود تنافسية منشورة عند التحقق تخص 2025، لذلك تظهر كسجل سابق لا كضمان قبول. هذه الدقة تمنع خلط شرط التقديم بالقبول الفعلي، وتبني الثقة في القرار.</a:t>
            </a:r>
          </a:p>
          <a:p>
            <a:endParaRPr/>
          </a:p>
          <a:p>
            <a:r>
              <a:t>المصادر: وحدة تنسيق القبول الموحد: 607 تخصصات بكالوريوس للدورة 2026/2027، إعلان 13 آب 2026؛ جداول الحدود الدنيا المنشورة 2021–2025، تحقق 10 أيلول 2026.</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2:20 إلى 2:55 (35 ثانية)</a:t>
            </a:r>
          </a:p>
          <a:p>
            <a:endParaRPr/>
          </a:p>
          <a:p>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تصبح الكلفة السنوية 3,051 دينارًا. إذا تغيرت الميزانية تتغير فجوة التمويل فورًا. نفصل الرقم الرسمي عن تقديرات الأسرة، ولا ندّعي راتبًا أو عائدًا مضمونًا.</a:t>
            </a:r>
          </a:p>
          <a:p>
            <a:endParaRPr/>
          </a:p>
          <a:p>
            <a:r>
              <a:t>المصادر: رسم الساعة لعلم الحاسوب في الجامعة الأردنية من دليل القبول الموحد؛ بقية المدخلات افتراضات توضيحية قابلة للتعديل. الحساب: (47×132)/4 + 300 + (100×12) = 3,051 د.أ سنويًا.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2:55 إلى 3:35 (40 ثانية)</a:t>
            </a:r>
          </a:p>
          <a:p>
            <a:endParaRPr/>
          </a:p>
          <a:p>
            <a:r>
              <a:t>نفصل بين حجم الحاجة وبين ما نستطيع الوصول إليه. حجم السوق الكلي السنوي هو 116,366 ناجح توجيهي في 2026. السوق القابل للخدمة عبر المدارس يبدأ من 90,326 ناجحًا نظاميًا. وعند سعر مؤسسي مفترض مقداره 20 دينارًا لكل طالب نشط سنويًا، تساوي الفرصتان 2.33 مليون و1.81 مليون دينار. هدفنا الأول 1,500 طالب مدفوع عبر عشر مؤسسات، أي 30 ألف دينار. هذه نمذجة، وليست مبيعات محققة.</a:t>
            </a:r>
          </a:p>
          <a:p>
            <a:endParaRPr/>
          </a:p>
          <a:p>
            <a:r>
              <a:t>المصادر: أعداد التوجيهي من وزارة التربية عبر بترا، 10 آب 2026. TAM/SAM/SOM والقيم المالية نمذجة عند سعر مقترح 20 د.أ/طالب نشط/سنة تدفعه المؤسسة، وليست إيرادات أو عملاء قائمين.</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3:35 إلى 4:30 (55 ثانية)</a:t>
            </a:r>
          </a:p>
          <a:p>
            <a:endParaRPr/>
          </a:p>
          <a:p>
            <a:r>
              <a:t>المستفيد هو الطالب وأسرته، والعميل الدافع هو المدرسة أو الجامعة أو شبكة تعليمية. نقدم للطالب الرحلة الأساسية مجانًا، وللمؤسسة أدوات للمرشد وتقارير مجمعة وتدريبًا. التسعير المقترح عشرون دينارًا لكل طالب نشط سنويًا، بحد أدنى 2,400 دينار للمؤسسة، ثم عقود أوسع للجهات العامة. نصل عبر المرشدين والتجارب المدرسية، وتبقى أنشطتنا تحديث البيانات والتحقق وقياس الأثر ودعم المؤسسات. الإيراد لا يغيّر ترتيب التخصصات، ولا نبيع بيانات الطلبة. السعر فرضية سنختبرها بثلاثة عروض قبل اعتماده.</a:t>
            </a:r>
          </a:p>
          <a:p>
            <a:endParaRPr/>
          </a:p>
          <a:p>
            <a:r>
              <a:t>المصادر: نموذج B2B2C وتسعير مقترح للاختبار، لا عقود أو شراكات قائمة. المقترح: 12 و20 و30 د.أ/طالب نشط في تجربة سعرية؛ حد أدنى مستهدف 2,400 د.أ/مؤسسة.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4:30 إلى 5:00 (30 ثانية)</a:t>
            </a:r>
          </a:p>
          <a:p>
            <a:endParaRPr/>
          </a:p>
          <a:p>
            <a:r>
              <a:t>تجربة عشوائية على 28,186 طالبًا في 243 مدرسة وجدت أن المعلومات المهنية المخصّصة رفعت اختيار برامج بفرص عمل أفضل حتى 2.9 بالمئة. وفي تشيلي خفّضت معلومات الدخل والكلفة الطلب على البرامج منخفضة العائد 3.3 بالمئة. هذا يدعم سلسلة الأثر، لا ادعاء خفض البطالة؛ لذلك سنثبت النتيجة محليًا.</a:t>
            </a:r>
          </a:p>
          <a:p>
            <a:endParaRPr/>
          </a:p>
          <a:p>
            <a:r>
              <a:t>المصادر: de Koning, Fouarge &amp; Dur، IZA DP 17951، 2025: تجربة على 28,186 طالبًا في 243 مدرسة، وتحسن اختيار برامج ذات فرص عمل أفضل حتى 2.9%. Hastings, Neilson &amp; Zimmerman، NBER w21300: 49,166 مستجيبًا؛ انخفاض طلب البرامج منخفضة العائد 3.3%. السياقان غير أردنيين ولا يثبتان أثر مُرشِدي.</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5:00 إلى 5:35 (35 ثانية)</a:t>
            </a:r>
          </a:p>
          <a:p>
            <a:endParaRPr/>
          </a:p>
          <a:p>
            <a:r>
              <a:t>لدينا منتج عامل وبيانات رسمية، وما ينقصنا هو إثبات الاستخدام والدفع. نقترح تجربة مع 100 طالب في ثلاث مدارس خلال ستة أسابيع. نعتبرها ناجحة إذا أكمل 70 بالمئة مقارنة ثلاثة برامج، وبلغ وضوح القرار أربعة من خمسة، ثم تقبل مؤسستان على الأقل من خمس تجربة مدفوعة بسعر 12 دينارًا أو أكثر لكل طالب. هذه أهداف معلنة وليست نتائج سابقة؛ وإذا لم تتحقق نعدل الرحلة أو السعر.</a:t>
            </a:r>
          </a:p>
          <a:p>
            <a:endParaRPr/>
          </a:p>
          <a:p>
            <a:r>
              <a:t>المصادر: تصميم تجربة وأهداف قرار مقترحة: 100 طالب، 3 مدارس، 6 أسابيع، إتمام ≥70%، وضوح ≥4/5، وقبول مدفوع ≥2 من 5 مؤسسات عند ≥12 د.أ/طالب. ليست نتائج محققة.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5:35 إلى 6:15 (40 ثانية)</a:t>
            </a:r>
          </a:p>
          <a:p>
            <a:endParaRPr/>
          </a:p>
          <a:p>
            <a:r>
              <a:t>في الفرضية الأساسية، تدفع المؤسسة 20 دينارًا لكل طالب نشط سنويًا، ونقدّر الكلفة المتغيرة بأربعة دنانير؛ أي هامش مساهمة 16 دينارًا أو 80 بالمئة. مع كلفة تشغيل ثابتة مقدرة 30 ألف دينار، ومع 300 طالب في تجارب مجانية، تكون نقطة التعادل عند 1,950 طالبًا مدفوعًا، أي نحو 13 مؤسسة بمتوسط 150 طالبًا. أخطر فرضية هي الاستعداد للدفع، ولذلك نختبر أسعار 12 و20 و30 دينارًا قبل الالتزام.</a:t>
            </a:r>
          </a:p>
          <a:p>
            <a:endParaRPr/>
          </a:p>
          <a:p>
            <a:r>
              <a:t>المصادر: افتراضات مالية للاختبار وليست نتائج: سعر 20 د.أ، كلفة متغيرة 4 د.أ، ثابتة 30,000 د.أ، 300 طالب تجارب مجانية. نقطة التعادل: [30,000+(300×4)]/(20−4)=1,950 طالبًا؛ نحو 13 مؤسسة ×150.</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6:15 إلى 6:40 (25 ثانية)</a:t>
            </a:r>
          </a:p>
          <a:p>
            <a:endParaRPr/>
          </a:p>
          <a:p>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هذا التكامل يربط احتياج الطالب بمنتج يمكن قياسه وتحسينه.</a:t>
            </a:r>
          </a:p>
          <a:p>
            <a:endParaRPr/>
          </a:p>
          <a:p>
            <a:r>
              <a:t>المصادر: Murshidi-Team-Roles.pdf من حزمة المشروع؛ اسم الفريق Vcoders حسب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6:40 إلى 7:00 (20 ثانية)</a:t>
            </a:r>
          </a:p>
          <a:p>
            <a:endParaRPr/>
          </a:p>
          <a:p>
            <a:r>
              <a:t>طلبنا هو الوصول إلى مدارس ومرشدين لتنفيذ تجربة القياس، ثم تجربة مؤسسية مدفوعة تثبت الاستعداد للدفع. لدينا منتج يعمل، وبيانات عامة موثقة، ونموذج مالي نعرف بالضبط كيف نختبره. مُرشِدي: قرار أوضح لمستقبل الطالب. شكرًا لكم.</a:t>
            </a:r>
          </a:p>
          <a:p>
            <a:endParaRPr/>
          </a:p>
          <a:p>
            <a:r>
              <a:t>المصادر: طلب تجربة ودعم مقترح؛ لا شراكات أو عقود قائمة ضمن العرض.</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287000" y="571500"/>
            <a:ext cx="1181100" cy="1181100"/>
          </a:xfrm>
          <a:prstGeom prst="rect">
            <a:avLst/>
          </a:prstGeom>
        </p:spPr>
      </p:pic>
      <p:sp>
        <p:nvSpPr>
          <p:cNvPr id="3" name="مُرشِدي">
            <a:extLst>
              <a:ext uri="{FF2B5EF4-FFF2-40B4-BE49-F238E27FC236}">
                <a16:creationId xmlns:a16="http://schemas.microsoft.com/office/drawing/2014/main" id="{80D7C17B-A50D-4A4F-8A85-1490A015D47D}"/>
              </a:ext>
            </a:extLst>
          </p:cNvPr>
          <p:cNvSpPr>
            <a:spLocks noGrp="1"/>
          </p:cNvSpPr>
          <p:nvPr/>
        </p:nvSpPr>
        <p:spPr>
          <a:xfrm>
            <a:off x="6191250" y="1884045"/>
            <a:ext cx="5286375" cy="133731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7200" b="1" kern="0" spc="0">
                <a:solidFill>
                  <a:srgbClr val="FFFFFF"/>
                </a:solidFill>
                <a:latin typeface="IBM Plex Sans Arabic"/>
                <a:ea typeface="IBM Plex Sans Arabic"/>
                <a:cs typeface="IBM Plex Sans Arabic"/>
              </a:defRPr>
            </a:pPr>
            <a:r>
              <a:rPr lang="ar-JO" sz="7200" b="1" kern="0" spc="0">
                <a:solidFill>
                  <a:srgbClr val="FFFFFF"/>
                </a:solidFill>
                <a:latin typeface="IBM Plex Sans Arabic"/>
                <a:ea typeface="IBM Plex Sans Arabic"/>
                <a:cs typeface="IBM Plex Sans Arabic"/>
              </a:rPr>
              <a:t>مُرشِدي</a:t>
            </a:r>
          </a:p>
        </p:txBody>
      </p:sp>
      <p:sp>
        <p:nvSpPr>
          <p:cNvPr id="4" name="قرار جامعي أوضح">
            <a:extLst>
              <a:ext uri="{FF2B5EF4-FFF2-40B4-BE49-F238E27FC236}">
                <a16:creationId xmlns:a16="http://schemas.microsoft.com/office/drawing/2014/main" id="{A1CBB836-896B-439B-B57B-E3089094E351}"/>
              </a:ext>
            </a:extLst>
          </p:cNvPr>
          <p:cNvSpPr>
            <a:spLocks noGrp="1"/>
          </p:cNvSpPr>
          <p:nvPr/>
        </p:nvSpPr>
        <p:spPr>
          <a:xfrm>
            <a:off x="6143625" y="3195638"/>
            <a:ext cx="5334000" cy="6572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75" b="1" kern="0" spc="0">
                <a:solidFill>
                  <a:srgbClr val="C8A04C"/>
                </a:solidFill>
                <a:latin typeface="IBM Plex Sans Arabic"/>
                <a:ea typeface="IBM Plex Sans Arabic"/>
                <a:cs typeface="IBM Plex Sans Arabic"/>
              </a:defRPr>
            </a:pPr>
            <a:r>
              <a:rPr lang="ar-JO" sz="3375" b="1" kern="0" spc="0">
                <a:solidFill>
                  <a:srgbClr val="C8A04C"/>
                </a:solidFill>
                <a:latin typeface="IBM Plex Sans Arabic"/>
                <a:ea typeface="IBM Plex Sans Arabic"/>
                <a:cs typeface="IBM Plex Sans Arabic"/>
              </a:rPr>
              <a:t>قرار جامعي أوضح</a:t>
            </a:r>
          </a:p>
        </p:txBody>
      </p:sp>
      <p:sp>
        <p:nvSpPr>
          <p:cNvPr id="5" name="Vcoders">
            <a:extLst>
              <a:ext uri="{FF2B5EF4-FFF2-40B4-BE49-F238E27FC236}">
                <a16:creationId xmlns:a16="http://schemas.microsoft.com/office/drawing/2014/main" id="{0BA1D97D-1D0D-4CE6-B60E-D8B5C3B76E25}"/>
              </a:ext>
            </a:extLst>
          </p:cNvPr>
          <p:cNvSpPr>
            <a:spLocks noGrp="1"/>
          </p:cNvSpPr>
          <p:nvPr/>
        </p:nvSpPr>
        <p:spPr>
          <a:xfrm>
            <a:off x="7286625" y="4021455"/>
            <a:ext cx="4191000" cy="51054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2550" b="0" kern="0" spc="0">
                <a:solidFill>
                  <a:srgbClr val="FFFFFF"/>
                </a:solidFill>
                <a:latin typeface="IBM Plex Sans Arabic"/>
                <a:ea typeface="IBM Plex Sans Arabic"/>
                <a:cs typeface="IBM Plex Sans Arabic"/>
              </a:defRPr>
            </a:pPr>
            <a:r>
              <a:rPr lang="ar-JO" sz="2550" b="0" kern="0" spc="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a:ext uri="{FF2B5EF4-FFF2-40B4-BE49-F238E27FC236}">
                <a16:creationId xmlns:a16="http://schemas.microsoft.com/office/drawing/2014/main" id="{B9CBD98B-C8D4-402C-9A3F-66F1B7F220B2}"/>
              </a:ext>
            </a:extLst>
          </p:cNvPr>
          <p:cNvSpPr>
            <a:spLocks noGrp="1"/>
          </p:cNvSpPr>
          <p:nvPr/>
        </p:nvSpPr>
        <p:spPr>
          <a:xfrm>
            <a:off x="6096000" y="5534025"/>
            <a:ext cx="5381625" cy="4000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0" kern="0" spc="0">
                <a:solidFill>
                  <a:srgbClr val="D1DEED"/>
                </a:solidFill>
                <a:latin typeface="IBM Plex Sans Arabic"/>
                <a:ea typeface="IBM Plex Sans Arabic"/>
                <a:cs typeface="IBM Plex Sans Arabic"/>
              </a:defRPr>
            </a:pPr>
            <a:r>
              <a:rPr lang="ar-JO" sz="1875" b="0" kern="0" spc="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a:ext uri="{FF2B5EF4-FFF2-40B4-BE49-F238E27FC236}">
                <a16:creationId xmlns:a16="http://schemas.microsoft.com/office/drawing/2014/main" id="{2A4ED570-1E66-4F3A-860D-E1F138CFFF69}"/>
              </a:ext>
            </a:extLst>
          </p:cNvPr>
          <p:cNvSpPr>
            <a:spLocks noGrp="1"/>
          </p:cNvSpPr>
          <p:nvPr/>
        </p:nvSpPr>
        <p:spPr>
          <a:xfrm>
            <a:off x="7429500" y="5937885"/>
            <a:ext cx="404812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D1DEED"/>
                </a:solidFill>
                <a:latin typeface="IBM Plex Sans Arabic"/>
                <a:ea typeface="IBM Plex Sans Arabic"/>
                <a:cs typeface="IBM Plex Sans Arabic"/>
              </a:defRPr>
            </a:pPr>
            <a:r>
              <a:rPr lang="ar-JO" sz="1725" b="0" kern="0" spc="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1311337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11125200" y="400050"/>
            <a:ext cx="552450" cy="552450"/>
          </a:xfrm>
          <a:prstGeom prst="rect">
            <a:avLst/>
          </a:prstGeom>
        </p:spPr>
      </p:pic>
      <p:sp>
        <p:nvSpPr>
          <p:cNvPr id="2" name="الفجوة بين الدراسة والعمل">
            <a:extLst>
              <a:ext uri="{FF2B5EF4-FFF2-40B4-BE49-F238E27FC236}">
                <a16:creationId xmlns:a16="http://schemas.microsoft.com/office/drawing/2014/main" id="{8501C5D5-2620-4860-9522-1D3CB0B52AF2}"/>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الفجوة بين الدراسة والعمل</a:t>
            </a:r>
          </a:p>
        </p:txBody>
      </p:sp>
      <p:sp>
        <p:nvSpPr>
          <p:cNvPr id="3" name="02">
            <a:extLst>
              <a:ext uri="{FF2B5EF4-FFF2-40B4-BE49-F238E27FC236}">
                <a16:creationId xmlns:a16="http://schemas.microsoft.com/office/drawing/2014/main" id="{1F873C46-FE69-47DA-A2EB-FBFEAB466668}"/>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02</a:t>
            </a:r>
          </a:p>
        </p:txBody>
      </p:sp>
      <p:sp>
        <p:nvSpPr>
          <p:cNvPr id="4" name="Rectangle: Rounded Corners 3">
            <a:extLst>
              <a:ext uri="{FF2B5EF4-FFF2-40B4-BE49-F238E27FC236}">
                <a16:creationId xmlns:a16="http://schemas.microsoft.com/office/drawing/2014/main" id="{43637A29-4B85-450E-8350-F5B9022CFFA9}"/>
              </a:ext>
            </a:extLst>
          </p:cNvPr>
          <p:cNvSpPr>
            <a:spLocks noGrp="1"/>
          </p:cNvSpPr>
          <p:nvPr/>
        </p:nvSpPr>
        <p:spPr>
          <a:xfrm>
            <a:off x="571500" y="1885950"/>
            <a:ext cx="5095875" cy="3209925"/>
          </a:xfrm>
          <a:prstGeom prst="roundRect">
            <a:avLst>
              <a:gd name="adj" fmla="val 2374"/>
            </a:avLst>
          </a:prstGeom>
          <a:solidFill>
            <a:srgbClr val="FFFFFF"/>
          </a:solidFill>
          <a:ln w="12383">
            <a:solidFill>
              <a:srgbClr val="D4DEE9"/>
            </a:solidFill>
          </a:ln>
        </p:spPr>
      </p:sp>
      <p:sp>
        <p:nvSpPr>
          <p:cNvPr id="5" name="Rectangle: Rounded Corners 4">
            <a:extLst>
              <a:ext uri="{FF2B5EF4-FFF2-40B4-BE49-F238E27FC236}">
                <a16:creationId xmlns:a16="http://schemas.microsoft.com/office/drawing/2014/main" id="{06D499D6-2F4B-4688-9005-C70D6660EAAE}"/>
              </a:ext>
            </a:extLst>
          </p:cNvPr>
          <p:cNvSpPr>
            <a:spLocks noGrp="1"/>
          </p:cNvSpPr>
          <p:nvPr/>
        </p:nvSpPr>
        <p:spPr>
          <a:xfrm>
            <a:off x="6191250" y="1885950"/>
            <a:ext cx="5286375" cy="3209925"/>
          </a:xfrm>
          <a:prstGeom prst="roundRect">
            <a:avLst>
              <a:gd name="adj" fmla="val 2374"/>
            </a:avLst>
          </a:prstGeom>
          <a:solidFill>
            <a:srgbClr val="F3EAD7"/>
          </a:solidFill>
          <a:ln w="12383">
            <a:solidFill>
              <a:srgbClr val="DFC98F"/>
            </a:solidFill>
          </a:ln>
        </p:spPr>
      </p:sp>
      <p:sp>
        <p:nvSpPr>
          <p:cNvPr id="6" name="26.2 بالمئة">
            <a:extLst>
              <a:ext uri="{FF2B5EF4-FFF2-40B4-BE49-F238E27FC236}">
                <a16:creationId xmlns:a16="http://schemas.microsoft.com/office/drawing/2014/main" id="{D24B5970-89FA-4096-9B13-B4B7E395A565}"/>
              </a:ext>
            </a:extLst>
          </p:cNvPr>
          <p:cNvSpPr>
            <a:spLocks noGrp="1"/>
          </p:cNvSpPr>
          <p:nvPr/>
        </p:nvSpPr>
        <p:spPr>
          <a:xfrm>
            <a:off x="809625" y="2257425"/>
            <a:ext cx="4619625" cy="10477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4950" b="1" kern="0" spc="0">
                <a:solidFill>
                  <a:srgbClr val="013070"/>
                </a:solidFill>
                <a:latin typeface="IBM Plex Sans Arabic"/>
                <a:ea typeface="IBM Plex Sans Arabic"/>
                <a:cs typeface="IBM Plex Sans Arabic"/>
              </a:defRPr>
            </a:pPr>
            <a:r>
              <a:rPr lang="ar-JO" sz="4950" b="1" kern="0" spc="0">
                <a:solidFill>
                  <a:srgbClr val="013070"/>
                </a:solidFill>
                <a:latin typeface="IBM Plex Sans Arabic"/>
                <a:ea typeface="IBM Plex Sans Arabic"/>
                <a:cs typeface="IBM Plex Sans Arabic"/>
              </a:rPr>
              <a:t>26.2 بالمئة</a:t>
            </a:r>
          </a:p>
        </p:txBody>
      </p:sp>
      <p:sp>
        <p:nvSpPr>
          <p:cNvPr id="7" name="بطالة حملة البكالوريوس فأعلى">
            <a:extLst>
              <a:ext uri="{FF2B5EF4-FFF2-40B4-BE49-F238E27FC236}">
                <a16:creationId xmlns:a16="http://schemas.microsoft.com/office/drawing/2014/main" id="{AFC50440-90DA-498B-8745-158576495067}"/>
              </a:ext>
            </a:extLst>
          </p:cNvPr>
          <p:cNvSpPr>
            <a:spLocks noGrp="1"/>
          </p:cNvSpPr>
          <p:nvPr/>
        </p:nvSpPr>
        <p:spPr>
          <a:xfrm>
            <a:off x="809625" y="3333750"/>
            <a:ext cx="4619625" cy="6858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بطالة حملة البكالوريوس فأعلى</a:t>
            </a:r>
          </a:p>
        </p:txBody>
      </p:sp>
      <p:sp>
        <p:nvSpPr>
          <p:cNvPr id="8" name="الربع الثالث 2025">
            <a:extLst>
              <a:ext uri="{FF2B5EF4-FFF2-40B4-BE49-F238E27FC236}">
                <a16:creationId xmlns:a16="http://schemas.microsoft.com/office/drawing/2014/main" id="{A8175504-A11B-4DFD-93E0-DA1E4286F61A}"/>
              </a:ext>
            </a:extLst>
          </p:cNvPr>
          <p:cNvSpPr>
            <a:spLocks noGrp="1"/>
          </p:cNvSpPr>
          <p:nvPr/>
        </p:nvSpPr>
        <p:spPr>
          <a:xfrm>
            <a:off x="809625" y="4171950"/>
            <a:ext cx="4619625"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الربع الثالث 2025</a:t>
            </a:r>
          </a:p>
        </p:txBody>
      </p:sp>
      <p:sp>
        <p:nvSpPr>
          <p:cNvPr id="9" name="60 بالمئة">
            <a:extLst>
              <a:ext uri="{FF2B5EF4-FFF2-40B4-BE49-F238E27FC236}">
                <a16:creationId xmlns:a16="http://schemas.microsoft.com/office/drawing/2014/main" id="{8899B6AB-53EB-413D-B490-18725A7AEE22}"/>
              </a:ext>
            </a:extLst>
          </p:cNvPr>
          <p:cNvSpPr>
            <a:spLocks noGrp="1"/>
          </p:cNvSpPr>
          <p:nvPr/>
        </p:nvSpPr>
        <p:spPr>
          <a:xfrm>
            <a:off x="6477000" y="2257425"/>
            <a:ext cx="4714875" cy="10477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4950" b="1" kern="0" spc="0">
                <a:solidFill>
                  <a:srgbClr val="C8A04C"/>
                </a:solidFill>
                <a:latin typeface="IBM Plex Sans Arabic"/>
                <a:ea typeface="IBM Plex Sans Arabic"/>
                <a:cs typeface="IBM Plex Sans Arabic"/>
              </a:defRPr>
            </a:pPr>
            <a:r>
              <a:rPr lang="ar-JO" sz="4950" b="1" kern="0" spc="0">
                <a:solidFill>
                  <a:srgbClr val="C8A04C"/>
                </a:solidFill>
                <a:latin typeface="IBM Plex Sans Arabic"/>
                <a:ea typeface="IBM Plex Sans Arabic"/>
                <a:cs typeface="IBM Plex Sans Arabic"/>
              </a:rPr>
              <a:t>60 بالمئة</a:t>
            </a:r>
          </a:p>
        </p:txBody>
      </p:sp>
      <p:sp>
        <p:nvSpPr>
          <p:cNvPr id="10" name="خفض القبول في التخصصات الراكدة والمشبعة">
            <a:extLst>
              <a:ext uri="{FF2B5EF4-FFF2-40B4-BE49-F238E27FC236}">
                <a16:creationId xmlns:a16="http://schemas.microsoft.com/office/drawing/2014/main" id="{4F59823F-295B-4B15-A29C-FD06BEEF230B}"/>
              </a:ext>
            </a:extLst>
          </p:cNvPr>
          <p:cNvSpPr>
            <a:spLocks noGrp="1"/>
          </p:cNvSpPr>
          <p:nvPr/>
        </p:nvSpPr>
        <p:spPr>
          <a:xfrm>
            <a:off x="6572250" y="3314700"/>
            <a:ext cx="4524375"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خفض القبول في التخصصات الراكدة والمشبعة</a:t>
            </a:r>
          </a:p>
        </p:txBody>
      </p:sp>
      <p:sp>
        <p:nvSpPr>
          <p:cNvPr id="11" name="قرار مجلس التعليم العالي للعام 2025/2026">
            <a:extLst>
              <a:ext uri="{FF2B5EF4-FFF2-40B4-BE49-F238E27FC236}">
                <a16:creationId xmlns:a16="http://schemas.microsoft.com/office/drawing/2014/main" id="{993BE85C-190E-4C04-BD62-C78CDD4031A7}"/>
              </a:ext>
            </a:extLst>
          </p:cNvPr>
          <p:cNvSpPr>
            <a:spLocks noGrp="1"/>
          </p:cNvSpPr>
          <p:nvPr/>
        </p:nvSpPr>
        <p:spPr>
          <a:xfrm>
            <a:off x="6619875" y="4286250"/>
            <a:ext cx="4429125"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قرار مجلس التعليم العالي للعام 2025/2026</a:t>
            </a:r>
          </a:p>
        </p:txBody>
      </p:sp>
      <p:sp>
        <p:nvSpPr>
          <p:cNvPr id="12" name="القرار الدراسي لا يسبب البطالة وحده؛ لكنه يحت">
            <a:extLst>
              <a:ext uri="{FF2B5EF4-FFF2-40B4-BE49-F238E27FC236}">
                <a16:creationId xmlns:a16="http://schemas.microsoft.com/office/drawing/2014/main" id="{5574DC36-AFA0-428A-A2BA-9900342F454F}"/>
              </a:ext>
            </a:extLst>
          </p:cNvPr>
          <p:cNvSpPr>
            <a:spLocks noGrp="1"/>
          </p:cNvSpPr>
          <p:nvPr/>
        </p:nvSpPr>
        <p:spPr>
          <a:xfrm>
            <a:off x="714375" y="5314950"/>
            <a:ext cx="10763250" cy="4000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القرار الدراسي لا يسبب البطالة وحده؛ لكنه يحتاج رؤية السوق قبل الالتزام</a:t>
            </a:r>
          </a:p>
        </p:txBody>
      </p:sp>
      <p:sp>
        <p:nvSpPr>
          <p:cNvPr id="13" name="المصدران: البنك المركزي الأردني نقلًا عن الإح">
            <a:extLst>
              <a:ext uri="{FF2B5EF4-FFF2-40B4-BE49-F238E27FC236}">
                <a16:creationId xmlns:a16="http://schemas.microsoft.com/office/drawing/2014/main" id="{811BEFCF-9121-4076-BAF0-E458EC22FAF9}"/>
              </a:ext>
            </a:extLst>
          </p:cNvPr>
          <p:cNvSpPr>
            <a:spLocks noGrp="1"/>
          </p:cNvSpPr>
          <p:nvPr/>
        </p:nvSpPr>
        <p:spPr>
          <a:xfrm>
            <a:off x="714375" y="5905500"/>
            <a:ext cx="10763250" cy="3238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المصدران: البنك المركزي الأردني نقلًا عن الإحصاءات • مجلس التعليم العالي</a:t>
            </a:r>
          </a:p>
        </p:txBody>
      </p:sp>
    </p:spTree>
    <p:extLst>
      <p:ext uri="{BB962C8B-B14F-4D97-AF65-F5344CB8AC3E}">
        <p14:creationId xmlns:p14="http://schemas.microsoft.com/office/powerpoint/2010/main" val="903251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رحلة قرار يجمعها مُرشِدي">
            <a:extLst>
              <a:ext uri="{FF2B5EF4-FFF2-40B4-BE49-F238E27FC236}">
                <a16:creationId xmlns:a16="http://schemas.microsoft.com/office/drawing/2014/main" id="{1423F2EE-B867-45FE-9D79-80F2BE39CFE2}"/>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رحلة قرار يجمعها مُرشِدي</a:t>
            </a:r>
          </a:p>
        </p:txBody>
      </p:sp>
      <p:sp>
        <p:nvSpPr>
          <p:cNvPr id="3" name="03">
            <a:extLst>
              <a:ext uri="{FF2B5EF4-FFF2-40B4-BE49-F238E27FC236}">
                <a16:creationId xmlns:a16="http://schemas.microsoft.com/office/drawing/2014/main" id="{BF6BFB14-6656-4C40-BA01-B7CE01344481}"/>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03</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استكشف اهتمامك">
            <a:extLst>
              <a:ext uri="{FF2B5EF4-FFF2-40B4-BE49-F238E27FC236}">
                <a16:creationId xmlns:a16="http://schemas.microsoft.com/office/drawing/2014/main" id="{88195CCE-ADAC-4513-A523-9333F0E88999}"/>
              </a:ext>
            </a:extLst>
          </p:cNvPr>
          <p:cNvSpPr>
            <a:spLocks noGrp="1"/>
          </p:cNvSpPr>
          <p:nvPr/>
        </p:nvSpPr>
        <p:spPr>
          <a:xfrm>
            <a:off x="4524375" y="1885950"/>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استكشف اهتمامك</a:t>
            </a:r>
          </a:p>
        </p:txBody>
      </p:sp>
      <p:sp>
        <p:nvSpPr>
          <p:cNvPr id="6" name="تمرين يساعد الطالب على بدء الحوار">
            <a:extLst>
              <a:ext uri="{FF2B5EF4-FFF2-40B4-BE49-F238E27FC236}">
                <a16:creationId xmlns:a16="http://schemas.microsoft.com/office/drawing/2014/main" id="{7290C4B6-9DF9-45C6-B33E-F2CEC3575D94}"/>
              </a:ext>
            </a:extLst>
          </p:cNvPr>
          <p:cNvSpPr>
            <a:spLocks noGrp="1"/>
          </p:cNvSpPr>
          <p:nvPr/>
        </p:nvSpPr>
        <p:spPr>
          <a:xfrm>
            <a:off x="4524375" y="2476500"/>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تمرين يساعد الطالب على بدء الحوار</a:t>
            </a:r>
          </a:p>
        </p:txBody>
      </p:sp>
      <p:sp>
        <p:nvSpPr>
          <p:cNvPr id="7" name="قارن خياراتك">
            <a:extLst>
              <a:ext uri="{FF2B5EF4-FFF2-40B4-BE49-F238E27FC236}">
                <a16:creationId xmlns:a16="http://schemas.microsoft.com/office/drawing/2014/main" id="{D414CCE0-DF6A-48E2-8585-CD0FF1854DEA}"/>
              </a:ext>
            </a:extLst>
          </p:cNvPr>
          <p:cNvSpPr>
            <a:spLocks noGrp="1"/>
          </p:cNvSpPr>
          <p:nvPr/>
        </p:nvSpPr>
        <p:spPr>
          <a:xfrm>
            <a:off x="4524375" y="319087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قارن خياراتك</a:t>
            </a:r>
          </a:p>
        </p:txBody>
      </p:sp>
      <p:sp>
        <p:nvSpPr>
          <p:cNvPr id="8" name="برامج وجامعات ببيانات عامة موثقة">
            <a:extLst>
              <a:ext uri="{FF2B5EF4-FFF2-40B4-BE49-F238E27FC236}">
                <a16:creationId xmlns:a16="http://schemas.microsoft.com/office/drawing/2014/main" id="{25A9A346-5AEF-4B42-8EC5-98154DA109A2}"/>
              </a:ext>
            </a:extLst>
          </p:cNvPr>
          <p:cNvSpPr>
            <a:spLocks noGrp="1"/>
          </p:cNvSpPr>
          <p:nvPr/>
        </p:nvSpPr>
        <p:spPr>
          <a:xfrm>
            <a:off x="4524375" y="378142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برامج وجامعات ببيانات عامة موثقة</a:t>
            </a:r>
          </a:p>
        </p:txBody>
      </p:sp>
      <p:sp>
        <p:nvSpPr>
          <p:cNvPr id="9" name="خطّط مع أسرتك">
            <a:extLst>
              <a:ext uri="{FF2B5EF4-FFF2-40B4-BE49-F238E27FC236}">
                <a16:creationId xmlns:a16="http://schemas.microsoft.com/office/drawing/2014/main" id="{E2B3AF34-2FC4-411C-82FF-A9E8115F25E6}"/>
              </a:ext>
            </a:extLst>
          </p:cNvPr>
          <p:cNvSpPr>
            <a:spLocks noGrp="1"/>
          </p:cNvSpPr>
          <p:nvPr/>
        </p:nvSpPr>
        <p:spPr>
          <a:xfrm>
            <a:off x="4524375" y="4495800"/>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خطّط مع أسرتك</a:t>
            </a:r>
          </a:p>
        </p:txBody>
      </p:sp>
      <p:sp>
        <p:nvSpPr>
          <p:cNvPr id="10" name="كلفة واضحة بافتراضات يستطيع تعديلها">
            <a:extLst>
              <a:ext uri="{FF2B5EF4-FFF2-40B4-BE49-F238E27FC236}">
                <a16:creationId xmlns:a16="http://schemas.microsoft.com/office/drawing/2014/main" id="{4DED5DDA-7990-4477-BA59-2CD3A4F4AC68}"/>
              </a:ext>
            </a:extLst>
          </p:cNvPr>
          <p:cNvSpPr>
            <a:spLocks noGrp="1"/>
          </p:cNvSpPr>
          <p:nvPr/>
        </p:nvSpPr>
        <p:spPr>
          <a:xfrm>
            <a:off x="4524375" y="5086350"/>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كلفة واضحة بافتراضات يستطيع تعديلها</a:t>
            </a:r>
          </a:p>
        </p:txBody>
      </p:sp>
    </p:spTree>
    <p:extLst>
      <p:ext uri="{BB962C8B-B14F-4D97-AF65-F5344CB8AC3E}">
        <p14:creationId xmlns:p14="http://schemas.microsoft.com/office/powerpoint/2010/main" val="1208098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مقارنة برامج فعلية">
            <a:extLst>
              <a:ext uri="{FF2B5EF4-FFF2-40B4-BE49-F238E27FC236}">
                <a16:creationId xmlns:a16="http://schemas.microsoft.com/office/drawing/2014/main" id="{361C0F32-8AA1-48BA-9DF0-61628C8A6781}"/>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مقارنة برامج فعلية</a:t>
            </a:r>
          </a:p>
        </p:txBody>
      </p:sp>
      <p:sp>
        <p:nvSpPr>
          <p:cNvPr id="3" name="04">
            <a:extLst>
              <a:ext uri="{FF2B5EF4-FFF2-40B4-BE49-F238E27FC236}">
                <a16:creationId xmlns:a16="http://schemas.microsoft.com/office/drawing/2014/main" id="{AEFF8364-4EDC-42D4-B67A-3521327FAE29}"/>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04</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607">
            <a:extLst>
              <a:ext uri="{FF2B5EF4-FFF2-40B4-BE49-F238E27FC236}">
                <a16:creationId xmlns:a16="http://schemas.microsoft.com/office/drawing/2014/main" id="{FF983B2E-43C9-4942-AA2B-0988C232E558}"/>
              </a:ext>
            </a:extLst>
          </p:cNvPr>
          <p:cNvSpPr>
            <a:spLocks noGrp="1"/>
          </p:cNvSpPr>
          <p:nvPr/>
        </p:nvSpPr>
        <p:spPr>
          <a:xfrm>
            <a:off x="4524375" y="1689735"/>
            <a:ext cx="6953250" cy="123063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600" b="1" kern="0" spc="0">
                <a:solidFill>
                  <a:srgbClr val="013070"/>
                </a:solidFill>
                <a:latin typeface="IBM Plex Sans Arabic"/>
                <a:ea typeface="IBM Plex Sans Arabic"/>
                <a:cs typeface="IBM Plex Sans Arabic"/>
              </a:defRPr>
            </a:pPr>
            <a:r>
              <a:rPr lang="ar-JO" sz="6600" b="1" kern="0" spc="0">
                <a:solidFill>
                  <a:srgbClr val="013070"/>
                </a:solidFill>
                <a:latin typeface="IBM Plex Sans Arabic"/>
                <a:ea typeface="IBM Plex Sans Arabic"/>
                <a:cs typeface="IBM Plex Sans Arabic"/>
              </a:rPr>
              <a:t>607</a:t>
            </a:r>
          </a:p>
        </p:txBody>
      </p:sp>
      <p:sp>
        <p:nvSpPr>
          <p:cNvPr id="6" name="عروض برامج في دليل القبول الموحد">
            <a:extLst>
              <a:ext uri="{FF2B5EF4-FFF2-40B4-BE49-F238E27FC236}">
                <a16:creationId xmlns:a16="http://schemas.microsoft.com/office/drawing/2014/main" id="{02C53FD8-BF04-4419-9526-DFF1995219E8}"/>
              </a:ext>
            </a:extLst>
          </p:cNvPr>
          <p:cNvSpPr>
            <a:spLocks noGrp="1"/>
          </p:cNvSpPr>
          <p:nvPr/>
        </p:nvSpPr>
        <p:spPr>
          <a:xfrm>
            <a:off x="4429125" y="2838450"/>
            <a:ext cx="7048500" cy="5905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عروض برامج في دليل القبول الموحد</a:t>
            </a:r>
          </a:p>
        </p:txBody>
      </p:sp>
      <p:sp>
        <p:nvSpPr>
          <p:cNvPr id="7" name="دليل البرامج والرسوم 2026/2027">
            <a:extLst>
              <a:ext uri="{FF2B5EF4-FFF2-40B4-BE49-F238E27FC236}">
                <a16:creationId xmlns:a16="http://schemas.microsoft.com/office/drawing/2014/main" id="{27C019C8-BC2C-423A-B7A4-8CBCD9C1B3A4}"/>
              </a:ext>
            </a:extLst>
          </p:cNvPr>
          <p:cNvSpPr>
            <a:spLocks noGrp="1"/>
          </p:cNvSpPr>
          <p:nvPr/>
        </p:nvSpPr>
        <p:spPr>
          <a:xfrm>
            <a:off x="4429125" y="360997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0" kern="0" spc="0">
                <a:solidFill>
                  <a:srgbClr val="53657C"/>
                </a:solidFill>
                <a:latin typeface="IBM Plex Sans Arabic"/>
                <a:ea typeface="IBM Plex Sans Arabic"/>
                <a:cs typeface="IBM Plex Sans Arabic"/>
              </a:defRPr>
            </a:pPr>
            <a:r>
              <a:rPr lang="ar-JO" sz="2400" b="0" kern="0" spc="0">
                <a:solidFill>
                  <a:srgbClr val="53657C"/>
                </a:solidFill>
                <a:latin typeface="IBM Plex Sans Arabic"/>
                <a:ea typeface="IBM Plex Sans Arabic"/>
                <a:cs typeface="IBM Plex Sans Arabic"/>
              </a:rPr>
              <a:t>دليل البرامج والرسوم 2026/2027</a:t>
            </a:r>
          </a:p>
        </p:txBody>
      </p:sp>
      <p:sp>
        <p:nvSpPr>
          <p:cNvPr id="8" name="آخر حدود تنافسية منشورة: 2025">
            <a:extLst>
              <a:ext uri="{FF2B5EF4-FFF2-40B4-BE49-F238E27FC236}">
                <a16:creationId xmlns:a16="http://schemas.microsoft.com/office/drawing/2014/main" id="{D84D941F-054F-4508-80C2-29F9E19B1CE8}"/>
              </a:ext>
            </a:extLst>
          </p:cNvPr>
          <p:cNvSpPr>
            <a:spLocks noGrp="1"/>
          </p:cNvSpPr>
          <p:nvPr/>
        </p:nvSpPr>
        <p:spPr>
          <a:xfrm>
            <a:off x="4429125" y="427672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0" kern="0" spc="0">
                <a:solidFill>
                  <a:srgbClr val="53657C"/>
                </a:solidFill>
                <a:latin typeface="IBM Plex Sans Arabic"/>
                <a:ea typeface="IBM Plex Sans Arabic"/>
                <a:cs typeface="IBM Plex Sans Arabic"/>
              </a:defRPr>
            </a:pPr>
            <a:r>
              <a:rPr lang="ar-JO" sz="2400" b="0" kern="0" spc="0">
                <a:solidFill>
                  <a:srgbClr val="53657C"/>
                </a:solidFill>
                <a:latin typeface="IBM Plex Sans Arabic"/>
                <a:ea typeface="IBM Plex Sans Arabic"/>
                <a:cs typeface="IBM Plex Sans Arabic"/>
              </a:rPr>
              <a:t>آخر حدود تنافسية منشورة: 2025</a:t>
            </a:r>
          </a:p>
        </p:txBody>
      </p:sp>
      <p:sp>
        <p:nvSpPr>
          <p:cNvPr id="9" name="شرط التقديم ≠ ضمان القبول">
            <a:extLst>
              <a:ext uri="{FF2B5EF4-FFF2-40B4-BE49-F238E27FC236}">
                <a16:creationId xmlns:a16="http://schemas.microsoft.com/office/drawing/2014/main" id="{7F436B0E-D7E7-407B-A99E-A6060A881A03}"/>
              </a:ext>
            </a:extLst>
          </p:cNvPr>
          <p:cNvSpPr>
            <a:spLocks noGrp="1"/>
          </p:cNvSpPr>
          <p:nvPr/>
        </p:nvSpPr>
        <p:spPr>
          <a:xfrm>
            <a:off x="4429125" y="5057775"/>
            <a:ext cx="7048500" cy="6096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850" b="1" kern="0" spc="0">
                <a:solidFill>
                  <a:srgbClr val="013070"/>
                </a:solidFill>
                <a:latin typeface="IBM Plex Sans Arabic"/>
                <a:ea typeface="IBM Plex Sans Arabic"/>
                <a:cs typeface="IBM Plex Sans Arabic"/>
              </a:defRPr>
            </a:pPr>
            <a:r>
              <a:rPr lang="ar-JO" sz="2850" b="1" kern="0" spc="0">
                <a:solidFill>
                  <a:srgbClr val="013070"/>
                </a:solidFill>
                <a:latin typeface="IBM Plex Sans Arabic"/>
                <a:ea typeface="IBM Plex Sans Arabic"/>
                <a:cs typeface="IBM Plex Sans Arabic"/>
              </a:rPr>
              <a:t>شرط التقديم ≠ ضمان القبول</a:t>
            </a:r>
          </a:p>
        </p:txBody>
      </p:sp>
      <p:sp>
        <p:nvSpPr>
          <p:cNvPr id="10" name="المصدر: القبول الموحد، تحقق 10 أيلول 2026؛ دل">
            <a:extLst>
              <a:ext uri="{FF2B5EF4-FFF2-40B4-BE49-F238E27FC236}">
                <a16:creationId xmlns:a16="http://schemas.microsoft.com/office/drawing/2014/main" id="{E7F847FA-AA35-4F54-825A-0A30E9FD72E6}"/>
              </a:ext>
            </a:extLst>
          </p:cNvPr>
          <p:cNvSpPr>
            <a:spLocks noGrp="1"/>
          </p:cNvSpPr>
          <p:nvPr/>
        </p:nvSpPr>
        <p:spPr>
          <a:xfrm>
            <a:off x="4429125" y="5943600"/>
            <a:ext cx="7048500" cy="4095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المصدر: القبول الموحد، تحقق 10 أيلول 2026؛ دليل الفرع العلمي</a:t>
            </a:r>
          </a:p>
        </p:txBody>
      </p:sp>
    </p:spTree>
    <p:extLst>
      <p:ext uri="{BB962C8B-B14F-4D97-AF65-F5344CB8AC3E}">
        <p14:creationId xmlns:p14="http://schemas.microsoft.com/office/powerpoint/2010/main" val="542459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خطة تستطيع الأسرة مناقشتها">
            <a:extLst>
              <a:ext uri="{FF2B5EF4-FFF2-40B4-BE49-F238E27FC236}">
                <a16:creationId xmlns:a16="http://schemas.microsoft.com/office/drawing/2014/main" id="{E432254F-ADCA-4A01-AEBA-56E4BB044CF5}"/>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خطة تستطيع الأسرة مناقشتها</a:t>
            </a:r>
          </a:p>
        </p:txBody>
      </p:sp>
      <p:sp>
        <p:nvSpPr>
          <p:cNvPr id="3" name="05">
            <a:extLst>
              <a:ext uri="{FF2B5EF4-FFF2-40B4-BE49-F238E27FC236}">
                <a16:creationId xmlns:a16="http://schemas.microsoft.com/office/drawing/2014/main" id="{B19FF445-D06E-4022-A73A-C4EB9B5CC35B}"/>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05</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3,051">
            <a:extLst>
              <a:ext uri="{FF2B5EF4-FFF2-40B4-BE49-F238E27FC236}">
                <a16:creationId xmlns:a16="http://schemas.microsoft.com/office/drawing/2014/main" id="{1BB5E083-E2DD-47AB-9AE6-4B5F68D2F3DE}"/>
              </a:ext>
            </a:extLst>
          </p:cNvPr>
          <p:cNvSpPr>
            <a:spLocks noGrp="1"/>
          </p:cNvSpPr>
          <p:nvPr/>
        </p:nvSpPr>
        <p:spPr>
          <a:xfrm>
            <a:off x="4524375" y="1685925"/>
            <a:ext cx="6953250" cy="125730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750" b="1" kern="0" spc="0">
                <a:solidFill>
                  <a:srgbClr val="FFFFFF"/>
                </a:solidFill>
                <a:latin typeface="IBM Plex Sans Arabic"/>
                <a:ea typeface="IBM Plex Sans Arabic"/>
                <a:cs typeface="IBM Plex Sans Arabic"/>
              </a:defRPr>
            </a:pPr>
            <a:r>
              <a:rPr lang="ar-JO" sz="6750" b="1" kern="0" spc="0">
                <a:solidFill>
                  <a:srgbClr val="FFFFFF"/>
                </a:solidFill>
                <a:latin typeface="IBM Plex Sans Arabic"/>
                <a:ea typeface="IBM Plex Sans Arabic"/>
                <a:cs typeface="IBM Plex Sans Arabic"/>
              </a:rPr>
              <a:t>3,051</a:t>
            </a:r>
          </a:p>
        </p:txBody>
      </p:sp>
      <p:sp>
        <p:nvSpPr>
          <p:cNvPr id="6" name="دينارًا سنويًا في هذا المثال">
            <a:extLst>
              <a:ext uri="{FF2B5EF4-FFF2-40B4-BE49-F238E27FC236}">
                <a16:creationId xmlns:a16="http://schemas.microsoft.com/office/drawing/2014/main" id="{ABB36950-9D38-43D0-839B-694C6D04790E}"/>
              </a:ext>
            </a:extLst>
          </p:cNvPr>
          <p:cNvSpPr>
            <a:spLocks noGrp="1"/>
          </p:cNvSpPr>
          <p:nvPr/>
        </p:nvSpPr>
        <p:spPr>
          <a:xfrm>
            <a:off x="4429125" y="2886075"/>
            <a:ext cx="7048500" cy="5905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000" b="1" kern="0" spc="0">
                <a:solidFill>
                  <a:srgbClr val="C8A04C"/>
                </a:solidFill>
                <a:latin typeface="IBM Plex Sans Arabic"/>
                <a:ea typeface="IBM Plex Sans Arabic"/>
                <a:cs typeface="IBM Plex Sans Arabic"/>
              </a:defRPr>
            </a:pPr>
            <a:r>
              <a:rPr lang="ar-JO" sz="3000" b="1" kern="0" spc="0">
                <a:solidFill>
                  <a:srgbClr val="C8A04C"/>
                </a:solidFill>
                <a:latin typeface="IBM Plex Sans Arabic"/>
                <a:ea typeface="IBM Plex Sans Arabic"/>
                <a:cs typeface="IBM Plex Sans Arabic"/>
              </a:rPr>
              <a:t>دينارًا سنويًا في هذا المثال</a:t>
            </a:r>
          </a:p>
        </p:txBody>
      </p:sp>
      <p:sp>
        <p:nvSpPr>
          <p:cNvPr id="7" name="رسم رسمي: 47 د.أ للساعة">
            <a:extLst>
              <a:ext uri="{FF2B5EF4-FFF2-40B4-BE49-F238E27FC236}">
                <a16:creationId xmlns:a16="http://schemas.microsoft.com/office/drawing/2014/main" id="{1940E760-2BB6-4713-BF4D-4103CA4F129C}"/>
              </a:ext>
            </a:extLst>
          </p:cNvPr>
          <p:cNvSpPr>
            <a:spLocks noGrp="1"/>
          </p:cNvSpPr>
          <p:nvPr/>
        </p:nvSpPr>
        <p:spPr>
          <a:xfrm>
            <a:off x="4429125" y="3695700"/>
            <a:ext cx="7048500" cy="4953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1" kern="0" spc="0">
                <a:solidFill>
                  <a:srgbClr val="FFFFFF"/>
                </a:solidFill>
                <a:latin typeface="IBM Plex Sans Arabic"/>
                <a:ea typeface="IBM Plex Sans Arabic"/>
                <a:cs typeface="IBM Plex Sans Arabic"/>
              </a:defRPr>
            </a:pPr>
            <a:r>
              <a:rPr lang="ar-JO" sz="2400" b="1" kern="0" spc="0">
                <a:solidFill>
                  <a:srgbClr val="FFFFFF"/>
                </a:solidFill>
                <a:latin typeface="IBM Plex Sans Arabic"/>
                <a:ea typeface="IBM Plex Sans Arabic"/>
                <a:cs typeface="IBM Plex Sans Arabic"/>
              </a:rPr>
              <a:t>رسم رسمي: 47 د.أ للساعة</a:t>
            </a:r>
          </a:p>
        </p:txBody>
      </p:sp>
      <p:sp>
        <p:nvSpPr>
          <p:cNvPr id="8" name="افتراضات الأسرة: الساعات، المدة، والرسوم والم">
            <a:extLst>
              <a:ext uri="{FF2B5EF4-FFF2-40B4-BE49-F238E27FC236}">
                <a16:creationId xmlns:a16="http://schemas.microsoft.com/office/drawing/2014/main" id="{4C5C9DFC-D537-4F81-A187-42F2680DAE9F}"/>
              </a:ext>
            </a:extLst>
          </p:cNvPr>
          <p:cNvSpPr>
            <a:spLocks noGrp="1"/>
          </p:cNvSpPr>
          <p:nvPr/>
        </p:nvSpPr>
        <p:spPr>
          <a:xfrm>
            <a:off x="4429125" y="4295775"/>
            <a:ext cx="7048500" cy="838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325" b="0" kern="0" spc="0">
                <a:solidFill>
                  <a:srgbClr val="D1DEED"/>
                </a:solidFill>
                <a:latin typeface="IBM Plex Sans Arabic"/>
                <a:ea typeface="IBM Plex Sans Arabic"/>
                <a:cs typeface="IBM Plex Sans Arabic"/>
              </a:defRPr>
            </a:pPr>
            <a:r>
              <a:rPr lang="ar-JO" sz="2325" b="0" kern="0" spc="0">
                <a:solidFill>
                  <a:srgbClr val="D1DEED"/>
                </a:solidFill>
                <a:latin typeface="IBM Plex Sans Arabic"/>
                <a:ea typeface="IBM Plex Sans Arabic"/>
                <a:cs typeface="IBM Plex Sans Arabic"/>
              </a:rPr>
              <a:t>افتراضات الأسرة: الساعات، المدة، والرسوم والمعيشة</a:t>
            </a:r>
          </a:p>
        </p:txBody>
      </p:sp>
      <p:sp>
        <p:nvSpPr>
          <p:cNvPr id="9" name="تغيير الميزانية يغيّر فجوة التمويل">
            <a:extLst>
              <a:ext uri="{FF2B5EF4-FFF2-40B4-BE49-F238E27FC236}">
                <a16:creationId xmlns:a16="http://schemas.microsoft.com/office/drawing/2014/main" id="{9C496504-DAE6-45B8-8571-3DC0E40A255E}"/>
              </a:ext>
            </a:extLst>
          </p:cNvPr>
          <p:cNvSpPr>
            <a:spLocks noGrp="1"/>
          </p:cNvSpPr>
          <p:nvPr/>
        </p:nvSpPr>
        <p:spPr>
          <a:xfrm>
            <a:off x="4429125" y="524827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700" b="1" kern="0" spc="0">
                <a:solidFill>
                  <a:srgbClr val="C8A04C"/>
                </a:solidFill>
                <a:latin typeface="IBM Plex Sans Arabic"/>
                <a:ea typeface="IBM Plex Sans Arabic"/>
                <a:cs typeface="IBM Plex Sans Arabic"/>
              </a:defRPr>
            </a:pPr>
            <a:r>
              <a:rPr lang="ar-JO" sz="2700" b="1" kern="0" spc="0">
                <a:solidFill>
                  <a:srgbClr val="C8A04C"/>
                </a:solidFill>
                <a:latin typeface="IBM Plex Sans Arabic"/>
                <a:ea typeface="IBM Plex Sans Arabic"/>
                <a:cs typeface="IBM Plex Sans Arabic"/>
              </a:rPr>
              <a:t>تغيير الميزانية يغيّر فجوة التمويل</a:t>
            </a:r>
          </a:p>
        </p:txBody>
      </p:sp>
      <p:sp>
        <p:nvSpPr>
          <p:cNvPr id="10" name="مثال علم الحاسوب، الأردنية؛ افتراضات قابلة لل">
            <a:extLst>
              <a:ext uri="{FF2B5EF4-FFF2-40B4-BE49-F238E27FC236}">
                <a16:creationId xmlns:a16="http://schemas.microsoft.com/office/drawing/2014/main" id="{A73DD7AD-0EF7-407A-A4D8-433961E565F1}"/>
              </a:ext>
            </a:extLst>
          </p:cNvPr>
          <p:cNvSpPr>
            <a:spLocks noGrp="1"/>
          </p:cNvSpPr>
          <p:nvPr/>
        </p:nvSpPr>
        <p:spPr>
          <a:xfrm>
            <a:off x="4429125" y="5972175"/>
            <a:ext cx="7048500" cy="3810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D1DEED"/>
                </a:solidFill>
                <a:latin typeface="IBM Plex Sans Arabic"/>
                <a:ea typeface="IBM Plex Sans Arabic"/>
                <a:cs typeface="IBM Plex Sans Arabic"/>
              </a:defRPr>
            </a:pPr>
            <a:r>
              <a:rPr lang="ar-JO" sz="1650" b="0" kern="0" spc="0">
                <a:solidFill>
                  <a:srgbClr val="D1DEED"/>
                </a:solidFill>
                <a:latin typeface="IBM Plex Sans Arabic"/>
                <a:ea typeface="IBM Plex Sans Arabic"/>
                <a:cs typeface="IBM Plex Sans Arabic"/>
              </a:rPr>
              <a:t>مثال علم الحاسوب، الأردنية؛ افتراضات قابلة للتعديل، لا توقع دخل</a:t>
            </a:r>
          </a:p>
        </p:txBody>
      </p:sp>
    </p:spTree>
    <p:extLst>
      <p:ext uri="{BB962C8B-B14F-4D97-AF65-F5344CB8AC3E}">
        <p14:creationId xmlns:p14="http://schemas.microsoft.com/office/powerpoint/2010/main" val="441635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سوق كبير وبداية مركّزة">
            <a:extLst>
              <a:ext uri="{FF2B5EF4-FFF2-40B4-BE49-F238E27FC236}">
                <a16:creationId xmlns:a16="http://schemas.microsoft.com/office/drawing/2014/main" id="{3A804DCC-AEAE-4F91-A06B-E3E544914F33}"/>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سوق كبير وبداية مركّزة</a:t>
            </a:r>
          </a:p>
        </p:txBody>
      </p:sp>
      <p:sp>
        <p:nvSpPr>
          <p:cNvPr id="3" name="06">
            <a:extLst>
              <a:ext uri="{FF2B5EF4-FFF2-40B4-BE49-F238E27FC236}">
                <a16:creationId xmlns:a16="http://schemas.microsoft.com/office/drawing/2014/main" id="{7348BB4B-B810-4A99-9C60-33B6B279CDE4}"/>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06</a:t>
            </a:r>
          </a:p>
        </p:txBody>
      </p:sp>
      <p:sp>
        <p:nvSpPr>
          <p:cNvPr id="4" name="Rectangle: Rounded Corners 3">
            <a:extLst>
              <a:ext uri="{FF2B5EF4-FFF2-40B4-BE49-F238E27FC236}">
                <a16:creationId xmlns:a16="http://schemas.microsoft.com/office/drawing/2014/main" id="{59786F94-9741-4404-AB9D-C27605F3E3E9}"/>
              </a:ext>
            </a:extLst>
          </p:cNvPr>
          <p:cNvSpPr>
            <a:spLocks noGrp="1"/>
          </p:cNvSpPr>
          <p:nvPr/>
        </p:nvSpPr>
        <p:spPr>
          <a:xfrm>
            <a:off x="8143875" y="1809750"/>
            <a:ext cx="3333750" cy="3333750"/>
          </a:xfrm>
          <a:prstGeom prst="roundRect">
            <a:avLst>
              <a:gd name="adj" fmla="val 2286"/>
            </a:avLst>
          </a:prstGeom>
          <a:solidFill>
            <a:srgbClr val="FFFFFF"/>
          </a:solidFill>
          <a:ln w="12383">
            <a:solidFill>
              <a:srgbClr val="D4DEE9"/>
            </a:solidFill>
          </a:ln>
        </p:spPr>
      </p:sp>
      <p:sp>
        <p:nvSpPr>
          <p:cNvPr id="5" name="TAM">
            <a:extLst>
              <a:ext uri="{FF2B5EF4-FFF2-40B4-BE49-F238E27FC236}">
                <a16:creationId xmlns:a16="http://schemas.microsoft.com/office/drawing/2014/main" id="{DAFFB8C5-DF2D-4677-9AB4-1F7C3569C104}"/>
              </a:ext>
            </a:extLst>
          </p:cNvPr>
          <p:cNvSpPr>
            <a:spLocks noGrp="1"/>
          </p:cNvSpPr>
          <p:nvPr/>
        </p:nvSpPr>
        <p:spPr>
          <a:xfrm>
            <a:off x="838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TAM</a:t>
            </a:r>
          </a:p>
        </p:txBody>
      </p:sp>
      <p:sp>
        <p:nvSpPr>
          <p:cNvPr id="6" name="116,366">
            <a:extLst>
              <a:ext uri="{FF2B5EF4-FFF2-40B4-BE49-F238E27FC236}">
                <a16:creationId xmlns:a16="http://schemas.microsoft.com/office/drawing/2014/main" id="{E7DD6E7D-9066-415B-B62D-8310F54F5177}"/>
              </a:ext>
            </a:extLst>
          </p:cNvPr>
          <p:cNvSpPr>
            <a:spLocks noGrp="1"/>
          </p:cNvSpPr>
          <p:nvPr/>
        </p:nvSpPr>
        <p:spPr>
          <a:xfrm>
            <a:off x="833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116,366</a:t>
            </a:r>
          </a:p>
        </p:txBody>
      </p:sp>
      <p:sp>
        <p:nvSpPr>
          <p:cNvPr id="7" name="ناجح توجيهي 2026">
            <a:extLst>
              <a:ext uri="{FF2B5EF4-FFF2-40B4-BE49-F238E27FC236}">
                <a16:creationId xmlns:a16="http://schemas.microsoft.com/office/drawing/2014/main" id="{6CDC6CB2-E050-4AB7-B7A8-BF89822A58B2}"/>
              </a:ext>
            </a:extLst>
          </p:cNvPr>
          <p:cNvSpPr>
            <a:spLocks noGrp="1"/>
          </p:cNvSpPr>
          <p:nvPr/>
        </p:nvSpPr>
        <p:spPr>
          <a:xfrm>
            <a:off x="8382000" y="3419475"/>
            <a:ext cx="285750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ناجح توجيهي 2026</a:t>
            </a:r>
          </a:p>
        </p:txBody>
      </p:sp>
      <p:sp>
        <p:nvSpPr>
          <p:cNvPr id="8" name="2.33 مليون د.أ">
            <a:extLst>
              <a:ext uri="{FF2B5EF4-FFF2-40B4-BE49-F238E27FC236}">
                <a16:creationId xmlns:a16="http://schemas.microsoft.com/office/drawing/2014/main" id="{1FC2C1F2-EDCF-4DD2-A1E4-14C55F1930EA}"/>
              </a:ext>
            </a:extLst>
          </p:cNvPr>
          <p:cNvSpPr>
            <a:spLocks noGrp="1"/>
          </p:cNvSpPr>
          <p:nvPr/>
        </p:nvSpPr>
        <p:spPr>
          <a:xfrm>
            <a:off x="838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2.33 مليون د.أ</a:t>
            </a:r>
          </a:p>
        </p:txBody>
      </p:sp>
      <p:sp>
        <p:nvSpPr>
          <p:cNvPr id="9" name="Rectangle: Rounded Corners 8">
            <a:extLst>
              <a:ext uri="{FF2B5EF4-FFF2-40B4-BE49-F238E27FC236}">
                <a16:creationId xmlns:a16="http://schemas.microsoft.com/office/drawing/2014/main" id="{E10A7538-C9DF-44DC-BC9E-88A6D0738F73}"/>
              </a:ext>
            </a:extLst>
          </p:cNvPr>
          <p:cNvSpPr>
            <a:spLocks noGrp="1"/>
          </p:cNvSpPr>
          <p:nvPr/>
        </p:nvSpPr>
        <p:spPr>
          <a:xfrm>
            <a:off x="4333875" y="1809750"/>
            <a:ext cx="3333750" cy="3333750"/>
          </a:xfrm>
          <a:prstGeom prst="roundRect">
            <a:avLst>
              <a:gd name="adj" fmla="val 2286"/>
            </a:avLst>
          </a:prstGeom>
          <a:solidFill>
            <a:srgbClr val="FFFFFF"/>
          </a:solidFill>
          <a:ln w="12383">
            <a:solidFill>
              <a:srgbClr val="D4DEE9"/>
            </a:solidFill>
          </a:ln>
        </p:spPr>
      </p:sp>
      <p:sp>
        <p:nvSpPr>
          <p:cNvPr id="10" name="SAM">
            <a:extLst>
              <a:ext uri="{FF2B5EF4-FFF2-40B4-BE49-F238E27FC236}">
                <a16:creationId xmlns:a16="http://schemas.microsoft.com/office/drawing/2014/main" id="{E69DB273-A5E9-40DC-8057-6BB29C4F60E5}"/>
              </a:ext>
            </a:extLst>
          </p:cNvPr>
          <p:cNvSpPr>
            <a:spLocks noGrp="1"/>
          </p:cNvSpPr>
          <p:nvPr/>
        </p:nvSpPr>
        <p:spPr>
          <a:xfrm>
            <a:off x="457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SAM</a:t>
            </a:r>
          </a:p>
        </p:txBody>
      </p:sp>
      <p:sp>
        <p:nvSpPr>
          <p:cNvPr id="11" name="90,326">
            <a:extLst>
              <a:ext uri="{FF2B5EF4-FFF2-40B4-BE49-F238E27FC236}">
                <a16:creationId xmlns:a16="http://schemas.microsoft.com/office/drawing/2014/main" id="{96A9A6CB-CE55-4A0A-9273-B89E8DF29DA6}"/>
              </a:ext>
            </a:extLst>
          </p:cNvPr>
          <p:cNvSpPr>
            <a:spLocks noGrp="1"/>
          </p:cNvSpPr>
          <p:nvPr/>
        </p:nvSpPr>
        <p:spPr>
          <a:xfrm>
            <a:off x="452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90,326</a:t>
            </a:r>
          </a:p>
        </p:txBody>
      </p:sp>
      <p:sp>
        <p:nvSpPr>
          <p:cNvPr id="12" name="ناجحًا نظاميًا">
            <a:extLst>
              <a:ext uri="{FF2B5EF4-FFF2-40B4-BE49-F238E27FC236}">
                <a16:creationId xmlns:a16="http://schemas.microsoft.com/office/drawing/2014/main" id="{EB781408-3B51-4FC5-A945-3AF6DACF5DCA}"/>
              </a:ext>
            </a:extLst>
          </p:cNvPr>
          <p:cNvSpPr>
            <a:spLocks noGrp="1"/>
          </p:cNvSpPr>
          <p:nvPr/>
        </p:nvSpPr>
        <p:spPr>
          <a:xfrm>
            <a:off x="4572000" y="3419475"/>
            <a:ext cx="285750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ناجحًا نظاميًا</a:t>
            </a:r>
          </a:p>
        </p:txBody>
      </p:sp>
      <p:sp>
        <p:nvSpPr>
          <p:cNvPr id="13" name="1.81 مليون د.أ">
            <a:extLst>
              <a:ext uri="{FF2B5EF4-FFF2-40B4-BE49-F238E27FC236}">
                <a16:creationId xmlns:a16="http://schemas.microsoft.com/office/drawing/2014/main" id="{0DDDB755-A395-4F9D-9A97-5195526FAD9E}"/>
              </a:ext>
            </a:extLst>
          </p:cNvPr>
          <p:cNvSpPr>
            <a:spLocks noGrp="1"/>
          </p:cNvSpPr>
          <p:nvPr/>
        </p:nvSpPr>
        <p:spPr>
          <a:xfrm>
            <a:off x="457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1.81 مليون د.أ</a:t>
            </a:r>
          </a:p>
        </p:txBody>
      </p:sp>
      <p:sp>
        <p:nvSpPr>
          <p:cNvPr id="14" name="Rectangle: Rounded Corners 13">
            <a:extLst>
              <a:ext uri="{FF2B5EF4-FFF2-40B4-BE49-F238E27FC236}">
                <a16:creationId xmlns:a16="http://schemas.microsoft.com/office/drawing/2014/main" id="{D24BA51D-CED4-4735-A48B-AFF036D0452D}"/>
              </a:ext>
            </a:extLst>
          </p:cNvPr>
          <p:cNvSpPr>
            <a:spLocks noGrp="1"/>
          </p:cNvSpPr>
          <p:nvPr/>
        </p:nvSpPr>
        <p:spPr>
          <a:xfrm>
            <a:off x="523875" y="1809750"/>
            <a:ext cx="3333750" cy="3333750"/>
          </a:xfrm>
          <a:prstGeom prst="roundRect">
            <a:avLst>
              <a:gd name="adj" fmla="val 2286"/>
            </a:avLst>
          </a:prstGeom>
          <a:solidFill>
            <a:srgbClr val="F3EAD7"/>
          </a:solidFill>
          <a:ln w="12383">
            <a:solidFill>
              <a:srgbClr val="DFC98F"/>
            </a:solidFill>
          </a:ln>
        </p:spPr>
      </p:sp>
      <p:sp>
        <p:nvSpPr>
          <p:cNvPr id="15" name="SOM">
            <a:extLst>
              <a:ext uri="{FF2B5EF4-FFF2-40B4-BE49-F238E27FC236}">
                <a16:creationId xmlns:a16="http://schemas.microsoft.com/office/drawing/2014/main" id="{DBB86686-1D42-48CC-87EF-B4A7BC032CFC}"/>
              </a:ext>
            </a:extLst>
          </p:cNvPr>
          <p:cNvSpPr>
            <a:spLocks noGrp="1"/>
          </p:cNvSpPr>
          <p:nvPr/>
        </p:nvSpPr>
        <p:spPr>
          <a:xfrm>
            <a:off x="76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SOM</a:t>
            </a:r>
          </a:p>
        </p:txBody>
      </p:sp>
      <p:sp>
        <p:nvSpPr>
          <p:cNvPr id="16" name="1,500">
            <a:extLst>
              <a:ext uri="{FF2B5EF4-FFF2-40B4-BE49-F238E27FC236}">
                <a16:creationId xmlns:a16="http://schemas.microsoft.com/office/drawing/2014/main" id="{860ED590-34C1-4120-8DA1-88DDF2677196}"/>
              </a:ext>
            </a:extLst>
          </p:cNvPr>
          <p:cNvSpPr>
            <a:spLocks noGrp="1"/>
          </p:cNvSpPr>
          <p:nvPr/>
        </p:nvSpPr>
        <p:spPr>
          <a:xfrm>
            <a:off x="71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1,500</a:t>
            </a:r>
          </a:p>
        </p:txBody>
      </p:sp>
      <p:sp>
        <p:nvSpPr>
          <p:cNvPr id="17" name="طالب مدفوع&#10;عبر 10 مؤسسات">
            <a:extLst>
              <a:ext uri="{FF2B5EF4-FFF2-40B4-BE49-F238E27FC236}">
                <a16:creationId xmlns:a16="http://schemas.microsoft.com/office/drawing/2014/main" id="{801BF4CE-444F-4AAD-913F-DB570E8DF6EC}"/>
              </a:ext>
            </a:extLst>
          </p:cNvPr>
          <p:cNvSpPr>
            <a:spLocks noGrp="1"/>
          </p:cNvSpPr>
          <p:nvPr/>
        </p:nvSpPr>
        <p:spPr>
          <a:xfrm>
            <a:off x="762000" y="3339465"/>
            <a:ext cx="2857500" cy="75057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طالب مدفوع</a:t>
            </a:r>
          </a:p>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عبر 10 مؤسسات</a:t>
            </a:r>
          </a:p>
        </p:txBody>
      </p:sp>
      <p:sp>
        <p:nvSpPr>
          <p:cNvPr id="18" name="30 ألف د.أ">
            <a:extLst>
              <a:ext uri="{FF2B5EF4-FFF2-40B4-BE49-F238E27FC236}">
                <a16:creationId xmlns:a16="http://schemas.microsoft.com/office/drawing/2014/main" id="{14885597-CAB2-47F6-8B69-30526E295DF2}"/>
              </a:ext>
            </a:extLst>
          </p:cNvPr>
          <p:cNvSpPr>
            <a:spLocks noGrp="1"/>
          </p:cNvSpPr>
          <p:nvPr/>
        </p:nvSpPr>
        <p:spPr>
          <a:xfrm>
            <a:off x="76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30 ألف د.أ</a:t>
            </a:r>
          </a:p>
        </p:txBody>
      </p:sp>
      <p:sp>
        <p:nvSpPr>
          <p:cNvPr id="19" name="نمذجة عند 20 د.أ لكل طالب نشط سنويًا تدفعها ا">
            <a:extLst>
              <a:ext uri="{FF2B5EF4-FFF2-40B4-BE49-F238E27FC236}">
                <a16:creationId xmlns:a16="http://schemas.microsoft.com/office/drawing/2014/main" id="{97E0FF02-D3FA-486E-AAD3-9F131AF684F8}"/>
              </a:ext>
            </a:extLst>
          </p:cNvPr>
          <p:cNvSpPr>
            <a:spLocks noGrp="1"/>
          </p:cNvSpPr>
          <p:nvPr/>
        </p:nvSpPr>
        <p:spPr>
          <a:xfrm>
            <a:off x="666750" y="5429250"/>
            <a:ext cx="10810875" cy="4000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نمذجة عند 20 د.أ لكل طالب نشط سنويًا تدفعها المؤسسة • الطالب مجانًا</a:t>
            </a:r>
          </a:p>
        </p:txBody>
      </p:sp>
      <p:sp>
        <p:nvSpPr>
          <p:cNvPr id="20" name="الأعداد الرسمية: نتائج التوجيهي 2026 • القيم ">
            <a:extLst>
              <a:ext uri="{FF2B5EF4-FFF2-40B4-BE49-F238E27FC236}">
                <a16:creationId xmlns:a16="http://schemas.microsoft.com/office/drawing/2014/main" id="{7D212212-C410-4A13-96B0-B13A64EDD14F}"/>
              </a:ext>
            </a:extLst>
          </p:cNvPr>
          <p:cNvSpPr>
            <a:spLocks noGrp="1"/>
          </p:cNvSpPr>
          <p:nvPr/>
        </p:nvSpPr>
        <p:spPr>
          <a:xfrm>
            <a:off x="762000" y="5953125"/>
            <a:ext cx="10668000" cy="3238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الأعداد الرسمية: نتائج التوجيهي 2026 • القيم المالية وحصة السوق المستهدفة فرضيات وليست مبيعات</a:t>
            </a:r>
          </a:p>
        </p:txBody>
      </p:sp>
    </p:spTree>
    <p:extLst>
      <p:ext uri="{BB962C8B-B14F-4D97-AF65-F5344CB8AC3E}">
        <p14:creationId xmlns:p14="http://schemas.microsoft.com/office/powerpoint/2010/main" val="343423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لوحة نموذج العمل">
            <a:extLst>
              <a:ext uri="{FF2B5EF4-FFF2-40B4-BE49-F238E27FC236}">
                <a16:creationId xmlns:a16="http://schemas.microsoft.com/office/drawing/2014/main" id="{135D4EB9-92F9-4188-97FB-FD1B8A1FF5DB}"/>
              </a:ext>
            </a:extLst>
          </p:cNvPr>
          <p:cNvSpPr>
            <a:spLocks noGrp="1"/>
          </p:cNvSpPr>
          <p:nvPr/>
        </p:nvSpPr>
        <p:spPr>
          <a:xfrm>
            <a:off x="571500" y="7429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لوحة نموذج العمل</a:t>
            </a:r>
          </a:p>
        </p:txBody>
      </p:sp>
      <p:sp>
        <p:nvSpPr>
          <p:cNvPr id="3" name="07">
            <a:extLst>
              <a:ext uri="{FF2B5EF4-FFF2-40B4-BE49-F238E27FC236}">
                <a16:creationId xmlns:a16="http://schemas.microsoft.com/office/drawing/2014/main" id="{1A757390-ACB5-4BA0-B8B0-A5385882CC56}"/>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07</a:t>
            </a:r>
          </a:p>
        </p:txBody>
      </p:sp>
      <p:sp>
        <p:nvSpPr>
          <p:cNvPr id="4" name="Business Model Canvas">
            <a:extLst>
              <a:ext uri="{FF2B5EF4-FFF2-40B4-BE49-F238E27FC236}">
                <a16:creationId xmlns:a16="http://schemas.microsoft.com/office/drawing/2014/main" id="{834507B9-05C4-4753-9EA3-C146824E66DE}"/>
              </a:ext>
            </a:extLst>
          </p:cNvPr>
          <p:cNvSpPr>
            <a:spLocks noGrp="1"/>
          </p:cNvSpPr>
          <p:nvPr/>
        </p:nvSpPr>
        <p:spPr>
          <a:xfrm>
            <a:off x="571500" y="1396365"/>
            <a:ext cx="6096000" cy="35052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Business Model Canvas</a:t>
            </a:r>
          </a:p>
        </p:txBody>
      </p:sp>
      <p:sp>
        <p:nvSpPr>
          <p:cNvPr id="5" name="نموذج مقترح للاختبار">
            <a:extLst>
              <a:ext uri="{FF2B5EF4-FFF2-40B4-BE49-F238E27FC236}">
                <a16:creationId xmlns:a16="http://schemas.microsoft.com/office/drawing/2014/main" id="{C10E5A9F-C85C-4332-9730-DD1205357F01}"/>
              </a:ext>
            </a:extLst>
          </p:cNvPr>
          <p:cNvSpPr>
            <a:spLocks noGrp="1"/>
          </p:cNvSpPr>
          <p:nvPr/>
        </p:nvSpPr>
        <p:spPr>
          <a:xfrm>
            <a:off x="6858000" y="1396365"/>
            <a:ext cx="4667250" cy="35052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نموذج مقترح للاختبار</a:t>
            </a:r>
          </a:p>
        </p:txBody>
      </p:sp>
      <p:graphicFrame>
        <p:nvGraphicFramePr>
          <p:cNvPr id="21" name="Table 20"/>
          <p:cNvGraphicFramePr/>
          <p:nvPr/>
        </p:nvGraphicFramePr>
        <p:xfrm>
          <a:off x="5715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الشركاء المحتملون</a:t>
                      </a:r>
                    </a:p>
                    <a:p>
                      <a:pPr rtl="0">
                        <a:lnSpc>
                          <a:spcPct val="116000"/>
                        </a:lnSpc>
                        <a:spcBef>
                          <a:spcPts val="0"/>
                        </a:spcBef>
                        <a:spcAft>
                          <a:spcPts val="0"/>
                        </a:spcAft>
                      </a:pPr>
                      <a:endParaRPr lang="ar-JO" sz="1838" b="0" kern="0" spc="0">
                        <a:solidFill>
                          <a:srgbClr val="102C50"/>
                        </a:solidFill>
                        <a:latin typeface="IBM Plex Sans Arabic"/>
                        <a:ea typeface="IBM Plex Sans Arabic"/>
                        <a:cs typeface="IBM Plex Sans Arabic"/>
                      </a:endParaRP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مدارس وجامعات</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ومرشدون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2" name="Table 21"/>
          <p:cNvGraphicFramePr/>
          <p:nvPr/>
        </p:nvGraphicFramePr>
        <p:xfrm>
          <a:off x="27813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الأنشطة الرئيسية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تطوير وتحديث</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وتحقق وقياس</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3" name="Table 22"/>
          <p:cNvGraphicFramePr/>
          <p:nvPr/>
        </p:nvGraphicFramePr>
        <p:xfrm>
          <a:off x="27813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الموارد الرئيسية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الفريق والمنتج</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وبيانات عامة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4" name="Table 23"/>
          <p:cNvGraphicFramePr/>
          <p:nvPr/>
        </p:nvGraphicFramePr>
        <p:xfrm>
          <a:off x="49911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القيمة المقترحة</a:t>
                      </a:r>
                    </a:p>
                    <a:p>
                      <a:pPr rtl="0">
                        <a:lnSpc>
                          <a:spcPct val="116000"/>
                        </a:lnSpc>
                        <a:spcBef>
                          <a:spcPts val="0"/>
                        </a:spcBef>
                        <a:spcAft>
                          <a:spcPts val="0"/>
                        </a:spcAft>
                      </a:pPr>
                      <a:endParaRPr lang="ar-JO" sz="1838" b="1" kern="0" spc="0">
                        <a:solidFill>
                          <a:srgbClr val="FFFFFF"/>
                        </a:solidFill>
                        <a:latin typeface="IBM Plex Sans Arabic"/>
                        <a:ea typeface="IBM Plex Sans Arabic"/>
                        <a:cs typeface="IBM Plex Sans Arabic"/>
                      </a:endParaRP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ميول ومقارنة وكلفة</a:t>
                      </a: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في قرار واضح</a:t>
                      </a: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بمصادر مؤرخة</a:t>
                      </a:r>
                    </a:p>
                  </a:txBody>
                  <a:tcPr anchor="ctr">
                    <a:solidFill>
                      <a:srgbClr val="013070"/>
                    </a:solidFill>
                  </a:tcPr>
                </a:tc>
                <a:extLst>
                  <a:ext uri="{0D108BD9-81ED-4DB2-BD59-A6C34878D82A}">
                    <a16:rowId xmlns:a16="http://schemas.microsoft.com/office/drawing/2014/main" val="10000"/>
                  </a:ext>
                </a:extLst>
              </a:tr>
            </a:tbl>
          </a:graphicData>
        </a:graphic>
      </p:graphicFrame>
      <p:graphicFrame>
        <p:nvGraphicFramePr>
          <p:cNvPr id="25" name="Table 24"/>
          <p:cNvGraphicFramePr/>
          <p:nvPr/>
        </p:nvGraphicFramePr>
        <p:xfrm>
          <a:off x="72009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علاقة المستفيد</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تجربة سهلة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ودعم للمرشدين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6" name="Table 25"/>
          <p:cNvGraphicFramePr/>
          <p:nvPr/>
        </p:nvGraphicFramePr>
        <p:xfrm>
          <a:off x="72009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قنوات الوصول</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مدارس وجامعات</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وأنشطة إرشاد</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7" name="Table 26"/>
          <p:cNvGraphicFramePr/>
          <p:nvPr/>
        </p:nvGraphicFramePr>
        <p:xfrm>
          <a:off x="94107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شرائح العملاء</a:t>
                      </a:r>
                    </a:p>
                    <a:p>
                      <a:pPr rtl="0">
                        <a:lnSpc>
                          <a:spcPct val="116000"/>
                        </a:lnSpc>
                        <a:spcBef>
                          <a:spcPts val="0"/>
                        </a:spcBef>
                        <a:spcAft>
                          <a:spcPts val="0"/>
                        </a:spcAft>
                      </a:pPr>
                      <a:endParaRPr lang="ar-JO" sz="1838" b="0" kern="0" spc="0">
                        <a:solidFill>
                          <a:srgbClr val="102C50"/>
                        </a:solidFill>
                        <a:latin typeface="IBM Plex Sans Arabic"/>
                        <a:ea typeface="IBM Plex Sans Arabic"/>
                        <a:cs typeface="IBM Plex Sans Arabic"/>
                      </a:endParaRP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طلبة وأهل مستفيدون</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ومؤسسات دافعة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8" name="Table 27"/>
          <p:cNvGraphicFramePr/>
          <p:nvPr/>
        </p:nvGraphicFramePr>
        <p:xfrm>
          <a:off x="5715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هيكل التكاليف</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تطوير وتشغيل وتحقق من البيانات ودعم</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9" name="Table 28"/>
          <p:cNvGraphicFramePr/>
          <p:nvPr/>
        </p:nvGraphicFramePr>
        <p:xfrm>
          <a:off x="60960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الإيراد — فرضية اختبار</a:t>
                      </a:r>
                    </a:p>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20 د.أ/طالب نشط/سنة</a:t>
                      </a:r>
                    </a:p>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حد أدنى 2,400 د.أ/مؤسسة</a:t>
                      </a:r>
                    </a:p>
                  </a:txBody>
                  <a:tcPr anchor="ctr">
                    <a:solidFill>
                      <a:srgbClr val="F3EAD7"/>
                    </a:solidFill>
                  </a:tcPr>
                </a:tc>
                <a:extLst>
                  <a:ext uri="{0D108BD9-81ED-4DB2-BD59-A6C34878D82A}">
                    <a16:rowId xmlns:a16="http://schemas.microsoft.com/office/drawing/2014/main" val="10000"/>
                  </a:ext>
                </a:extLst>
              </a:tr>
            </a:tbl>
          </a:graphicData>
        </a:graphic>
      </p:graphicFrame>
      <p:sp>
        <p:nvSpPr>
          <p:cNvPr id="15" name="الطالب مجانًا  •  لا بيع لبيانات الطلبة  •  ل">
            <a:extLst>
              <a:ext uri="{FF2B5EF4-FFF2-40B4-BE49-F238E27FC236}">
                <a16:creationId xmlns:a16="http://schemas.microsoft.com/office/drawing/2014/main" id="{3FDA614E-70B1-4278-95C9-F092293ED209}"/>
              </a:ext>
            </a:extLst>
          </p:cNvPr>
          <p:cNvSpPr>
            <a:spLocks noGrp="1"/>
          </p:cNvSpPr>
          <p:nvPr/>
        </p:nvSpPr>
        <p:spPr>
          <a:xfrm>
            <a:off x="619125" y="6086475"/>
            <a:ext cx="10906125" cy="4191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الطالب مجانًا  •  لا بيع لبيانات الطلبة  •  لا دفع لرفع ترتيب تخصص</a:t>
            </a:r>
          </a:p>
        </p:txBody>
      </p:sp>
    </p:spTree>
    <p:extLst>
      <p:ext uri="{BB962C8B-B14F-4D97-AF65-F5344CB8AC3E}">
        <p14:creationId xmlns:p14="http://schemas.microsoft.com/office/powerpoint/2010/main" val="1390940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الميزة: قرار شخصي تدعمه الأدلة">
            <a:extLst>
              <a:ext uri="{FF2B5EF4-FFF2-40B4-BE49-F238E27FC236}">
                <a16:creationId xmlns:a16="http://schemas.microsoft.com/office/drawing/2014/main" id="{DEE7778C-4379-432F-9EFA-BA0F494353B4}"/>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الميزة: قرار شخصي تدعمه الأدلة</a:t>
            </a:r>
          </a:p>
        </p:txBody>
      </p:sp>
      <p:sp>
        <p:nvSpPr>
          <p:cNvPr id="3" name="08">
            <a:extLst>
              <a:ext uri="{FF2B5EF4-FFF2-40B4-BE49-F238E27FC236}">
                <a16:creationId xmlns:a16="http://schemas.microsoft.com/office/drawing/2014/main" id="{AE506DA8-28C5-4B7B-B166-CEDF97EB5AC8}"/>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08</a:t>
            </a:r>
          </a:p>
        </p:txBody>
      </p:sp>
      <p:pic>
        <p:nvPicPr>
          <p:cNvPr id="19" name="Picture 18"/>
          <p:cNvPicPr>
            <a:picLocks noChangeAspect="1"/>
          </p:cNvPicPr>
          <p:nvPr/>
        </p:nvPicPr>
        <p:blipFill>
          <a:blip r:embed="rId4"/>
          <a:stretch/>
        </p:blipFill>
        <p:spPr>
          <a:xfrm>
            <a:off x="0" y="47625"/>
            <a:ext cx="4191000" cy="6286500"/>
          </a:xfrm>
          <a:prstGeom prst="rect">
            <a:avLst/>
          </a:prstGeom>
        </p:spPr>
      </p:pic>
      <p:sp>
        <p:nvSpPr>
          <p:cNvPr id="5" name="Rectangle: Rounded Corners 4">
            <a:extLst>
              <a:ext uri="{FF2B5EF4-FFF2-40B4-BE49-F238E27FC236}">
                <a16:creationId xmlns:a16="http://schemas.microsoft.com/office/drawing/2014/main" id="{1C48E401-33BC-4807-B119-CB8A32846DD9}"/>
              </a:ext>
            </a:extLst>
          </p:cNvPr>
          <p:cNvSpPr>
            <a:spLocks noGrp="1"/>
          </p:cNvSpPr>
          <p:nvPr/>
        </p:nvSpPr>
        <p:spPr>
          <a:xfrm>
            <a:off x="4524375" y="1752600"/>
            <a:ext cx="6953250" cy="1314450"/>
          </a:xfrm>
          <a:prstGeom prst="roundRect">
            <a:avLst>
              <a:gd name="adj" fmla="val 5797"/>
            </a:avLst>
          </a:prstGeom>
          <a:solidFill>
            <a:srgbClr val="FFFFFF"/>
          </a:solidFill>
          <a:ln w="12383">
            <a:solidFill>
              <a:srgbClr val="D4DEE9"/>
            </a:solidFill>
          </a:ln>
        </p:spPr>
      </p:sp>
      <p:sp>
        <p:nvSpPr>
          <p:cNvPr id="6" name="28,186 طالبًا في 243 مدرسة">
            <a:extLst>
              <a:ext uri="{FF2B5EF4-FFF2-40B4-BE49-F238E27FC236}">
                <a16:creationId xmlns:a16="http://schemas.microsoft.com/office/drawing/2014/main" id="{FB397DD0-A3C1-4858-8952-F535CB94F6B1}"/>
              </a:ext>
            </a:extLst>
          </p:cNvPr>
          <p:cNvSpPr>
            <a:spLocks noGrp="1"/>
          </p:cNvSpPr>
          <p:nvPr/>
        </p:nvSpPr>
        <p:spPr>
          <a:xfrm>
            <a:off x="4714875" y="1828800"/>
            <a:ext cx="6572250" cy="4381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025" b="1" kern="0" spc="0">
                <a:solidFill>
                  <a:srgbClr val="C8A04C"/>
                </a:solidFill>
                <a:latin typeface="IBM Plex Sans Arabic"/>
                <a:ea typeface="IBM Plex Sans Arabic"/>
                <a:cs typeface="IBM Plex Sans Arabic"/>
              </a:defRPr>
            </a:pPr>
            <a:r>
              <a:rPr lang="ar-JO" sz="2025" b="1" kern="0" spc="0">
                <a:solidFill>
                  <a:srgbClr val="C8A04C"/>
                </a:solidFill>
                <a:latin typeface="IBM Plex Sans Arabic"/>
                <a:ea typeface="IBM Plex Sans Arabic"/>
                <a:cs typeface="IBM Plex Sans Arabic"/>
              </a:rPr>
              <a:t>28,186 طالبًا في 243 مدرسة</a:t>
            </a:r>
          </a:p>
        </p:txBody>
      </p:sp>
      <p:sp>
        <p:nvSpPr>
          <p:cNvPr id="7" name="معلومات مخصّصة حسّنت آفاق البرامج المختارة حت">
            <a:extLst>
              <a:ext uri="{FF2B5EF4-FFF2-40B4-BE49-F238E27FC236}">
                <a16:creationId xmlns:a16="http://schemas.microsoft.com/office/drawing/2014/main" id="{EA5E53D3-9D9B-4ABB-91E9-C58869D5E373}"/>
              </a:ext>
            </a:extLst>
          </p:cNvPr>
          <p:cNvSpPr>
            <a:spLocks noGrp="1"/>
          </p:cNvSpPr>
          <p:nvPr/>
        </p:nvSpPr>
        <p:spPr>
          <a:xfrm>
            <a:off x="4714875" y="2305050"/>
            <a:ext cx="6572250" cy="3810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013070"/>
                </a:solidFill>
                <a:latin typeface="IBM Plex Sans Arabic"/>
                <a:ea typeface="IBM Plex Sans Arabic"/>
                <a:cs typeface="IBM Plex Sans Arabic"/>
              </a:defRPr>
            </a:pPr>
            <a:r>
              <a:rPr lang="ar-JO" sz="1725" b="0" kern="0" spc="0">
                <a:solidFill>
                  <a:srgbClr val="013070"/>
                </a:solidFill>
                <a:latin typeface="IBM Plex Sans Arabic"/>
                <a:ea typeface="IBM Plex Sans Arabic"/>
                <a:cs typeface="IBM Plex Sans Arabic"/>
              </a:rPr>
              <a:t>معلومات مخصّصة حسّنت آفاق البرامج المختارة حتى 2.9 بالمئة</a:t>
            </a:r>
          </a:p>
        </p:txBody>
      </p:sp>
      <p:sp>
        <p:nvSpPr>
          <p:cNvPr id="8" name="دراسة عشوائية، هولندا 2025">
            <a:extLst>
              <a:ext uri="{FF2B5EF4-FFF2-40B4-BE49-F238E27FC236}">
                <a16:creationId xmlns:a16="http://schemas.microsoft.com/office/drawing/2014/main" id="{2809F6FD-DA5E-48E5-9664-B0B4C91F8D88}"/>
              </a:ext>
            </a:extLst>
          </p:cNvPr>
          <p:cNvSpPr>
            <a:spLocks noGrp="1"/>
          </p:cNvSpPr>
          <p:nvPr/>
        </p:nvSpPr>
        <p:spPr>
          <a:xfrm>
            <a:off x="4714875" y="2724150"/>
            <a:ext cx="6572250" cy="2952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275" b="0" kern="0" spc="0">
                <a:solidFill>
                  <a:srgbClr val="53657C"/>
                </a:solidFill>
                <a:latin typeface="IBM Plex Sans Arabic"/>
                <a:ea typeface="IBM Plex Sans Arabic"/>
                <a:cs typeface="IBM Plex Sans Arabic"/>
              </a:defRPr>
            </a:pPr>
            <a:r>
              <a:rPr lang="ar-JO" sz="1275" b="0" kern="0" spc="0">
                <a:solidFill>
                  <a:srgbClr val="53657C"/>
                </a:solidFill>
                <a:latin typeface="IBM Plex Sans Arabic"/>
                <a:ea typeface="IBM Plex Sans Arabic"/>
                <a:cs typeface="IBM Plex Sans Arabic"/>
              </a:rPr>
              <a:t>دراسة عشوائية، هولندا 2025</a:t>
            </a:r>
          </a:p>
        </p:txBody>
      </p:sp>
      <p:sp>
        <p:nvSpPr>
          <p:cNvPr id="9" name="Rectangle: Rounded Corners 8">
            <a:extLst>
              <a:ext uri="{FF2B5EF4-FFF2-40B4-BE49-F238E27FC236}">
                <a16:creationId xmlns:a16="http://schemas.microsoft.com/office/drawing/2014/main" id="{8EDBC202-C014-4C9E-92BF-5EFDFF937381}"/>
              </a:ext>
            </a:extLst>
          </p:cNvPr>
          <p:cNvSpPr>
            <a:spLocks noGrp="1"/>
          </p:cNvSpPr>
          <p:nvPr/>
        </p:nvSpPr>
        <p:spPr>
          <a:xfrm>
            <a:off x="4524375" y="3238500"/>
            <a:ext cx="6953250" cy="1314450"/>
          </a:xfrm>
          <a:prstGeom prst="roundRect">
            <a:avLst>
              <a:gd name="adj" fmla="val 5797"/>
            </a:avLst>
          </a:prstGeom>
          <a:solidFill>
            <a:srgbClr val="FFFFFF"/>
          </a:solidFill>
          <a:ln w="12383">
            <a:solidFill>
              <a:srgbClr val="D4DEE9"/>
            </a:solidFill>
          </a:ln>
        </p:spPr>
      </p:sp>
      <p:sp>
        <p:nvSpPr>
          <p:cNvPr id="10" name="49,166 مستجيبًا">
            <a:extLst>
              <a:ext uri="{FF2B5EF4-FFF2-40B4-BE49-F238E27FC236}">
                <a16:creationId xmlns:a16="http://schemas.microsoft.com/office/drawing/2014/main" id="{03B147A2-7E45-4B4B-AD2E-06EB5AD9A03B}"/>
              </a:ext>
            </a:extLst>
          </p:cNvPr>
          <p:cNvSpPr>
            <a:spLocks noGrp="1"/>
          </p:cNvSpPr>
          <p:nvPr/>
        </p:nvSpPr>
        <p:spPr>
          <a:xfrm>
            <a:off x="4714875" y="3314700"/>
            <a:ext cx="6572250" cy="4381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025" b="1" kern="0" spc="0">
                <a:solidFill>
                  <a:srgbClr val="C8A04C"/>
                </a:solidFill>
                <a:latin typeface="IBM Plex Sans Arabic"/>
                <a:ea typeface="IBM Plex Sans Arabic"/>
                <a:cs typeface="IBM Plex Sans Arabic"/>
              </a:defRPr>
            </a:pPr>
            <a:r>
              <a:rPr lang="ar-JO" sz="2025" b="1" kern="0" spc="0">
                <a:solidFill>
                  <a:srgbClr val="C8A04C"/>
                </a:solidFill>
                <a:latin typeface="IBM Plex Sans Arabic"/>
                <a:ea typeface="IBM Plex Sans Arabic"/>
                <a:cs typeface="IBM Plex Sans Arabic"/>
              </a:rPr>
              <a:t>49,166 مستجيبًا</a:t>
            </a:r>
          </a:p>
        </p:txBody>
      </p:sp>
      <p:sp>
        <p:nvSpPr>
          <p:cNvPr id="11" name="معلومات الدخل والكلفة قلّلت طلب البرامج ضعيفة">
            <a:extLst>
              <a:ext uri="{FF2B5EF4-FFF2-40B4-BE49-F238E27FC236}">
                <a16:creationId xmlns:a16="http://schemas.microsoft.com/office/drawing/2014/main" id="{13F828EB-587A-4D4C-9853-713AA76DD43D}"/>
              </a:ext>
            </a:extLst>
          </p:cNvPr>
          <p:cNvSpPr>
            <a:spLocks noGrp="1"/>
          </p:cNvSpPr>
          <p:nvPr/>
        </p:nvSpPr>
        <p:spPr>
          <a:xfrm>
            <a:off x="4714875" y="3790950"/>
            <a:ext cx="6572250" cy="3810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013070"/>
                </a:solidFill>
                <a:latin typeface="IBM Plex Sans Arabic"/>
                <a:ea typeface="IBM Plex Sans Arabic"/>
                <a:cs typeface="IBM Plex Sans Arabic"/>
              </a:defRPr>
            </a:pPr>
            <a:r>
              <a:rPr lang="ar-JO" sz="1725" b="0" kern="0" spc="0">
                <a:solidFill>
                  <a:srgbClr val="013070"/>
                </a:solidFill>
                <a:latin typeface="IBM Plex Sans Arabic"/>
                <a:ea typeface="IBM Plex Sans Arabic"/>
                <a:cs typeface="IBM Plex Sans Arabic"/>
              </a:rPr>
              <a:t>معلومات الدخل والكلفة قلّلت طلب البرامج ضعيفة العائد 3.3 بالمئة</a:t>
            </a:r>
          </a:p>
        </p:txBody>
      </p:sp>
      <p:sp>
        <p:nvSpPr>
          <p:cNvPr id="12" name="دراسة عشوائية، تشيلي">
            <a:extLst>
              <a:ext uri="{FF2B5EF4-FFF2-40B4-BE49-F238E27FC236}">
                <a16:creationId xmlns:a16="http://schemas.microsoft.com/office/drawing/2014/main" id="{95F857F3-5609-4EEE-A787-B325988B5149}"/>
              </a:ext>
            </a:extLst>
          </p:cNvPr>
          <p:cNvSpPr>
            <a:spLocks noGrp="1"/>
          </p:cNvSpPr>
          <p:nvPr/>
        </p:nvSpPr>
        <p:spPr>
          <a:xfrm>
            <a:off x="4714875" y="4210050"/>
            <a:ext cx="6572250" cy="2952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275" b="0" kern="0" spc="0">
                <a:solidFill>
                  <a:srgbClr val="53657C"/>
                </a:solidFill>
                <a:latin typeface="IBM Plex Sans Arabic"/>
                <a:ea typeface="IBM Plex Sans Arabic"/>
                <a:cs typeface="IBM Plex Sans Arabic"/>
              </a:defRPr>
            </a:pPr>
            <a:r>
              <a:rPr lang="ar-JO" sz="1275" b="0" kern="0" spc="0">
                <a:solidFill>
                  <a:srgbClr val="53657C"/>
                </a:solidFill>
                <a:latin typeface="IBM Plex Sans Arabic"/>
                <a:ea typeface="IBM Plex Sans Arabic"/>
                <a:cs typeface="IBM Plex Sans Arabic"/>
              </a:rPr>
              <a:t>دراسة عشوائية، تشيلي</a:t>
            </a:r>
          </a:p>
        </p:txBody>
      </p:sp>
      <p:sp>
        <p:nvSpPr>
          <p:cNvPr id="13" name="Rectangle: Rounded Corners 12">
            <a:extLst>
              <a:ext uri="{FF2B5EF4-FFF2-40B4-BE49-F238E27FC236}">
                <a16:creationId xmlns:a16="http://schemas.microsoft.com/office/drawing/2014/main" id="{29A75F7F-796F-4075-8AB4-463D78792C1E}"/>
              </a:ext>
            </a:extLst>
          </p:cNvPr>
          <p:cNvSpPr>
            <a:spLocks noGrp="1"/>
          </p:cNvSpPr>
          <p:nvPr/>
        </p:nvSpPr>
        <p:spPr>
          <a:xfrm>
            <a:off x="4524375" y="4733925"/>
            <a:ext cx="6953250" cy="885825"/>
          </a:xfrm>
          <a:prstGeom prst="roundRect">
            <a:avLst>
              <a:gd name="adj" fmla="val 8602"/>
            </a:avLst>
          </a:prstGeom>
          <a:solidFill>
            <a:srgbClr val="F3EAD7"/>
          </a:solidFill>
          <a:ln w="12383">
            <a:solidFill>
              <a:srgbClr val="DFC98F"/>
            </a:solidFill>
          </a:ln>
        </p:spPr>
      </p:sp>
      <p:sp>
        <p:nvSpPr>
          <p:cNvPr id="14" name="الأردن 2024: إرشاد شخصي بالتقنية وبيانات سوق ">
            <a:extLst>
              <a:ext uri="{FF2B5EF4-FFF2-40B4-BE49-F238E27FC236}">
                <a16:creationId xmlns:a16="http://schemas.microsoft.com/office/drawing/2014/main" id="{9F49E4BD-DBD2-4544-A47C-A743241BF238}"/>
              </a:ext>
            </a:extLst>
          </p:cNvPr>
          <p:cNvSpPr>
            <a:spLocks noGrp="1"/>
          </p:cNvSpPr>
          <p:nvPr/>
        </p:nvSpPr>
        <p:spPr>
          <a:xfrm>
            <a:off x="4714875" y="4857750"/>
            <a:ext cx="6572250" cy="6191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الأردن 2024: إرشاد شخصي بالتقنية وبيانات سوق العمل الآنية</a:t>
            </a:r>
          </a:p>
        </p:txBody>
      </p:sp>
      <p:sp>
        <p:nvSpPr>
          <p:cNvPr id="15" name="الدراسات تدعم سلسلة الأثر؛ نثبت أثر مُرشِدي م">
            <a:extLst>
              <a:ext uri="{FF2B5EF4-FFF2-40B4-BE49-F238E27FC236}">
                <a16:creationId xmlns:a16="http://schemas.microsoft.com/office/drawing/2014/main" id="{BE00E13F-1FBE-48DA-BDC7-F559127CF211}"/>
              </a:ext>
            </a:extLst>
          </p:cNvPr>
          <p:cNvSpPr>
            <a:spLocks noGrp="1"/>
          </p:cNvSpPr>
          <p:nvPr/>
        </p:nvSpPr>
        <p:spPr>
          <a:xfrm>
            <a:off x="4524375" y="5838825"/>
            <a:ext cx="6953250" cy="3905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الدراسات تدعم سلسلة الأثر؛ نثبت أثر مُرشِدي محليًا ولا ندّعي أنه خفّض البطالة</a:t>
            </a:r>
          </a:p>
        </p:txBody>
      </p:sp>
    </p:spTree>
    <p:extLst>
      <p:ext uri="{BB962C8B-B14F-4D97-AF65-F5344CB8AC3E}">
        <p14:creationId xmlns:p14="http://schemas.microsoft.com/office/powerpoint/2010/main" val="1400727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اختبار قبل التوسّع">
            <a:extLst>
              <a:ext uri="{FF2B5EF4-FFF2-40B4-BE49-F238E27FC236}">
                <a16:creationId xmlns:a16="http://schemas.microsoft.com/office/drawing/2014/main" id="{92AA10B7-782F-4797-BC88-E557C733CA50}"/>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اختبار قبل التوسّع</a:t>
            </a:r>
          </a:p>
        </p:txBody>
      </p:sp>
      <p:sp>
        <p:nvSpPr>
          <p:cNvPr id="3" name="09">
            <a:extLst>
              <a:ext uri="{FF2B5EF4-FFF2-40B4-BE49-F238E27FC236}">
                <a16:creationId xmlns:a16="http://schemas.microsoft.com/office/drawing/2014/main" id="{3206A3EB-BB25-4B13-8E97-9AFCA13028FF}"/>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09</a:t>
            </a:r>
          </a:p>
        </p:txBody>
      </p:sp>
      <p:sp>
        <p:nvSpPr>
          <p:cNvPr id="4" name="100">
            <a:extLst>
              <a:ext uri="{FF2B5EF4-FFF2-40B4-BE49-F238E27FC236}">
                <a16:creationId xmlns:a16="http://schemas.microsoft.com/office/drawing/2014/main" id="{92B3861B-30AD-4693-95E7-3CD23096CD2D}"/>
              </a:ext>
            </a:extLst>
          </p:cNvPr>
          <p:cNvSpPr>
            <a:spLocks noGrp="1"/>
          </p:cNvSpPr>
          <p:nvPr/>
        </p:nvSpPr>
        <p:spPr>
          <a:xfrm>
            <a:off x="8191500"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100</a:t>
            </a:r>
          </a:p>
        </p:txBody>
      </p:sp>
      <p:sp>
        <p:nvSpPr>
          <p:cNvPr id="5" name="طالب">
            <a:extLst>
              <a:ext uri="{FF2B5EF4-FFF2-40B4-BE49-F238E27FC236}">
                <a16:creationId xmlns:a16="http://schemas.microsoft.com/office/drawing/2014/main" id="{1538C76F-C3D6-4B28-AFFC-98435925D4E5}"/>
              </a:ext>
            </a:extLst>
          </p:cNvPr>
          <p:cNvSpPr>
            <a:spLocks noGrp="1"/>
          </p:cNvSpPr>
          <p:nvPr/>
        </p:nvSpPr>
        <p:spPr>
          <a:xfrm>
            <a:off x="8191500"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طالب</a:t>
            </a:r>
          </a:p>
        </p:txBody>
      </p:sp>
      <p:sp>
        <p:nvSpPr>
          <p:cNvPr id="6" name="3">
            <a:extLst>
              <a:ext uri="{FF2B5EF4-FFF2-40B4-BE49-F238E27FC236}">
                <a16:creationId xmlns:a16="http://schemas.microsoft.com/office/drawing/2014/main" id="{2E0BAA07-DBF9-4E21-9577-A8D73E29471F}"/>
              </a:ext>
            </a:extLst>
          </p:cNvPr>
          <p:cNvSpPr>
            <a:spLocks noGrp="1"/>
          </p:cNvSpPr>
          <p:nvPr/>
        </p:nvSpPr>
        <p:spPr>
          <a:xfrm>
            <a:off x="4429125"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3</a:t>
            </a:r>
          </a:p>
        </p:txBody>
      </p:sp>
      <p:sp>
        <p:nvSpPr>
          <p:cNvPr id="7" name="مدارس">
            <a:extLst>
              <a:ext uri="{FF2B5EF4-FFF2-40B4-BE49-F238E27FC236}">
                <a16:creationId xmlns:a16="http://schemas.microsoft.com/office/drawing/2014/main" id="{29472979-B1B5-4C3B-9511-B2E1C4BD2B95}"/>
              </a:ext>
            </a:extLst>
          </p:cNvPr>
          <p:cNvSpPr>
            <a:spLocks noGrp="1"/>
          </p:cNvSpPr>
          <p:nvPr/>
        </p:nvSpPr>
        <p:spPr>
          <a:xfrm>
            <a:off x="4429125"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مدارس</a:t>
            </a:r>
          </a:p>
        </p:txBody>
      </p:sp>
      <p:sp>
        <p:nvSpPr>
          <p:cNvPr id="8" name="6">
            <a:extLst>
              <a:ext uri="{FF2B5EF4-FFF2-40B4-BE49-F238E27FC236}">
                <a16:creationId xmlns:a16="http://schemas.microsoft.com/office/drawing/2014/main" id="{6B66E12B-0052-4725-8F93-09B95129D5F6}"/>
              </a:ext>
            </a:extLst>
          </p:cNvPr>
          <p:cNvSpPr>
            <a:spLocks noGrp="1"/>
          </p:cNvSpPr>
          <p:nvPr/>
        </p:nvSpPr>
        <p:spPr>
          <a:xfrm>
            <a:off x="666750"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6</a:t>
            </a:r>
          </a:p>
        </p:txBody>
      </p:sp>
      <p:sp>
        <p:nvSpPr>
          <p:cNvPr id="9" name="أسابيع">
            <a:extLst>
              <a:ext uri="{FF2B5EF4-FFF2-40B4-BE49-F238E27FC236}">
                <a16:creationId xmlns:a16="http://schemas.microsoft.com/office/drawing/2014/main" id="{84F928E5-0619-428A-AB88-73B2B51BA4F9}"/>
              </a:ext>
            </a:extLst>
          </p:cNvPr>
          <p:cNvSpPr>
            <a:spLocks noGrp="1"/>
          </p:cNvSpPr>
          <p:nvPr/>
        </p:nvSpPr>
        <p:spPr>
          <a:xfrm>
            <a:off x="666750"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أسابيع</a:t>
            </a:r>
          </a:p>
        </p:txBody>
      </p:sp>
      <p:sp>
        <p:nvSpPr>
          <p:cNvPr id="10" name="تجربة مقترحة">
            <a:extLst>
              <a:ext uri="{FF2B5EF4-FFF2-40B4-BE49-F238E27FC236}">
                <a16:creationId xmlns:a16="http://schemas.microsoft.com/office/drawing/2014/main" id="{4149D905-BE10-4EAC-8097-982E49CC8A80}"/>
              </a:ext>
            </a:extLst>
          </p:cNvPr>
          <p:cNvSpPr>
            <a:spLocks noGrp="1"/>
          </p:cNvSpPr>
          <p:nvPr/>
        </p:nvSpPr>
        <p:spPr>
          <a:xfrm>
            <a:off x="571500" y="3669983"/>
            <a:ext cx="10906125" cy="47053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تجربة مقترحة</a:t>
            </a:r>
          </a:p>
        </p:txBody>
      </p:sp>
      <p:sp>
        <p:nvSpPr>
          <p:cNvPr id="11" name="Rectangle: Rounded Corners 10">
            <a:extLst>
              <a:ext uri="{FF2B5EF4-FFF2-40B4-BE49-F238E27FC236}">
                <a16:creationId xmlns:a16="http://schemas.microsoft.com/office/drawing/2014/main" id="{BE5FA685-DE9D-4CA1-B992-C5620B2DAB38}"/>
              </a:ext>
            </a:extLst>
          </p:cNvPr>
          <p:cNvSpPr>
            <a:spLocks noGrp="1"/>
          </p:cNvSpPr>
          <p:nvPr/>
        </p:nvSpPr>
        <p:spPr>
          <a:xfrm>
            <a:off x="7953375" y="4410075"/>
            <a:ext cx="3238500" cy="1200150"/>
          </a:xfrm>
          <a:prstGeom prst="roundRect">
            <a:avLst>
              <a:gd name="adj" fmla="val 6349"/>
            </a:avLst>
          </a:prstGeom>
          <a:solidFill>
            <a:srgbClr val="F8FAFC"/>
          </a:solidFill>
          <a:ln w="12383">
            <a:solidFill>
              <a:srgbClr val="D4DEE9"/>
            </a:solidFill>
          </a:ln>
        </p:spPr>
      </p:sp>
      <p:sp>
        <p:nvSpPr>
          <p:cNvPr id="12" name="70 بالمئة">
            <a:extLst>
              <a:ext uri="{FF2B5EF4-FFF2-40B4-BE49-F238E27FC236}">
                <a16:creationId xmlns:a16="http://schemas.microsoft.com/office/drawing/2014/main" id="{9A06CA02-5FC6-4ECD-894F-677CDBD4FF63}"/>
              </a:ext>
            </a:extLst>
          </p:cNvPr>
          <p:cNvSpPr>
            <a:spLocks noGrp="1"/>
          </p:cNvSpPr>
          <p:nvPr/>
        </p:nvSpPr>
        <p:spPr>
          <a:xfrm>
            <a:off x="80962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70 بالمئة</a:t>
            </a:r>
          </a:p>
        </p:txBody>
      </p:sp>
      <p:sp>
        <p:nvSpPr>
          <p:cNvPr id="13" name="إكمال مقارنة 3 برامج">
            <a:extLst>
              <a:ext uri="{FF2B5EF4-FFF2-40B4-BE49-F238E27FC236}">
                <a16:creationId xmlns:a16="http://schemas.microsoft.com/office/drawing/2014/main" id="{EF1DC533-F7E2-4F78-974B-7FABC1F55104}"/>
              </a:ext>
            </a:extLst>
          </p:cNvPr>
          <p:cNvSpPr>
            <a:spLocks noGrp="1"/>
          </p:cNvSpPr>
          <p:nvPr/>
        </p:nvSpPr>
        <p:spPr>
          <a:xfrm>
            <a:off x="81248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إكمال مقارنة 3 برامج</a:t>
            </a:r>
          </a:p>
        </p:txBody>
      </p:sp>
      <p:sp>
        <p:nvSpPr>
          <p:cNvPr id="14" name="Rectangle: Rounded Corners 13">
            <a:extLst>
              <a:ext uri="{FF2B5EF4-FFF2-40B4-BE49-F238E27FC236}">
                <a16:creationId xmlns:a16="http://schemas.microsoft.com/office/drawing/2014/main" id="{AF05004E-5F42-45D2-8DC5-105DB16210C6}"/>
              </a:ext>
            </a:extLst>
          </p:cNvPr>
          <p:cNvSpPr>
            <a:spLocks noGrp="1"/>
          </p:cNvSpPr>
          <p:nvPr/>
        </p:nvSpPr>
        <p:spPr>
          <a:xfrm>
            <a:off x="4333875" y="4410075"/>
            <a:ext cx="3238500" cy="1200150"/>
          </a:xfrm>
          <a:prstGeom prst="roundRect">
            <a:avLst>
              <a:gd name="adj" fmla="val 6349"/>
            </a:avLst>
          </a:prstGeom>
          <a:solidFill>
            <a:srgbClr val="F8FAFC"/>
          </a:solidFill>
          <a:ln w="12383">
            <a:solidFill>
              <a:srgbClr val="D4DEE9"/>
            </a:solidFill>
          </a:ln>
        </p:spPr>
      </p:sp>
      <p:sp>
        <p:nvSpPr>
          <p:cNvPr id="15" name="4 من 5">
            <a:extLst>
              <a:ext uri="{FF2B5EF4-FFF2-40B4-BE49-F238E27FC236}">
                <a16:creationId xmlns:a16="http://schemas.microsoft.com/office/drawing/2014/main" id="{D2E10089-29A7-40A6-8B70-0E02404C974A}"/>
              </a:ext>
            </a:extLst>
          </p:cNvPr>
          <p:cNvSpPr>
            <a:spLocks noGrp="1"/>
          </p:cNvSpPr>
          <p:nvPr/>
        </p:nvSpPr>
        <p:spPr>
          <a:xfrm>
            <a:off x="44767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4 من 5</a:t>
            </a:r>
          </a:p>
        </p:txBody>
      </p:sp>
      <p:sp>
        <p:nvSpPr>
          <p:cNvPr id="16" name="وضوح القرار">
            <a:extLst>
              <a:ext uri="{FF2B5EF4-FFF2-40B4-BE49-F238E27FC236}">
                <a16:creationId xmlns:a16="http://schemas.microsoft.com/office/drawing/2014/main" id="{9BE7290A-E551-427E-B02C-616CB1BB00E5}"/>
              </a:ext>
            </a:extLst>
          </p:cNvPr>
          <p:cNvSpPr>
            <a:spLocks noGrp="1"/>
          </p:cNvSpPr>
          <p:nvPr/>
        </p:nvSpPr>
        <p:spPr>
          <a:xfrm>
            <a:off x="45053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وضوح القرار</a:t>
            </a:r>
          </a:p>
        </p:txBody>
      </p:sp>
      <p:sp>
        <p:nvSpPr>
          <p:cNvPr id="17" name="Rectangle: Rounded Corners 16">
            <a:extLst>
              <a:ext uri="{FF2B5EF4-FFF2-40B4-BE49-F238E27FC236}">
                <a16:creationId xmlns:a16="http://schemas.microsoft.com/office/drawing/2014/main" id="{1D99A4CE-971D-4B25-A8D7-2D71A9C9E1FA}"/>
              </a:ext>
            </a:extLst>
          </p:cNvPr>
          <p:cNvSpPr>
            <a:spLocks noGrp="1"/>
          </p:cNvSpPr>
          <p:nvPr/>
        </p:nvSpPr>
        <p:spPr>
          <a:xfrm>
            <a:off x="714375" y="4410075"/>
            <a:ext cx="3238500" cy="1200150"/>
          </a:xfrm>
          <a:prstGeom prst="roundRect">
            <a:avLst>
              <a:gd name="adj" fmla="val 6349"/>
            </a:avLst>
          </a:prstGeom>
          <a:solidFill>
            <a:srgbClr val="F8FAFC"/>
          </a:solidFill>
          <a:ln w="12383">
            <a:solidFill>
              <a:srgbClr val="D4DEE9"/>
            </a:solidFill>
          </a:ln>
        </p:spPr>
      </p:sp>
      <p:sp>
        <p:nvSpPr>
          <p:cNvPr id="18" name="2 من 5">
            <a:extLst>
              <a:ext uri="{FF2B5EF4-FFF2-40B4-BE49-F238E27FC236}">
                <a16:creationId xmlns:a16="http://schemas.microsoft.com/office/drawing/2014/main" id="{AD73AC29-2438-4BDB-8AC6-74D1E902322E}"/>
              </a:ext>
            </a:extLst>
          </p:cNvPr>
          <p:cNvSpPr>
            <a:spLocks noGrp="1"/>
          </p:cNvSpPr>
          <p:nvPr/>
        </p:nvSpPr>
        <p:spPr>
          <a:xfrm>
            <a:off x="8572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2 من 5</a:t>
            </a:r>
          </a:p>
        </p:txBody>
      </p:sp>
      <p:sp>
        <p:nvSpPr>
          <p:cNvPr id="19" name="قبول تجربة مدفوعة">
            <a:extLst>
              <a:ext uri="{FF2B5EF4-FFF2-40B4-BE49-F238E27FC236}">
                <a16:creationId xmlns:a16="http://schemas.microsoft.com/office/drawing/2014/main" id="{49B03E3E-18FA-4925-BFBF-8D8312B00961}"/>
              </a:ext>
            </a:extLst>
          </p:cNvPr>
          <p:cNvSpPr>
            <a:spLocks noGrp="1"/>
          </p:cNvSpPr>
          <p:nvPr/>
        </p:nvSpPr>
        <p:spPr>
          <a:xfrm>
            <a:off x="8858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قبول تجربة مدفوعة</a:t>
            </a:r>
          </a:p>
        </p:txBody>
      </p:sp>
      <p:sp>
        <p:nvSpPr>
          <p:cNvPr id="20" name="أهداف قرار معلنة — وليست نتائج محققة">
            <a:extLst>
              <a:ext uri="{FF2B5EF4-FFF2-40B4-BE49-F238E27FC236}">
                <a16:creationId xmlns:a16="http://schemas.microsoft.com/office/drawing/2014/main" id="{745630DA-70CF-4065-AD20-665D0F7943C8}"/>
              </a:ext>
            </a:extLst>
          </p:cNvPr>
          <p:cNvSpPr>
            <a:spLocks noGrp="1"/>
          </p:cNvSpPr>
          <p:nvPr/>
        </p:nvSpPr>
        <p:spPr>
          <a:xfrm>
            <a:off x="1476375" y="5848350"/>
            <a:ext cx="10001250" cy="3333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أهداف قرار معلنة — وليست نتائج محققة</a:t>
            </a:r>
          </a:p>
        </p:txBody>
      </p:sp>
    </p:spTree>
    <p:extLst>
      <p:ext uri="{BB962C8B-B14F-4D97-AF65-F5344CB8AC3E}">
        <p14:creationId xmlns:p14="http://schemas.microsoft.com/office/powerpoint/2010/main" val="1927120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stretch/>
        </p:blipFill>
        <p:spPr>
          <a:xfrm>
            <a:off x="11125200" y="400050"/>
            <a:ext cx="552450" cy="552450"/>
          </a:xfrm>
          <a:prstGeom prst="rect">
            <a:avLst/>
          </a:prstGeom>
        </p:spPr>
      </p:pic>
      <p:sp>
        <p:nvSpPr>
          <p:cNvPr id="2" name="اقتصاديات وحدة قابلة للاختبار">
            <a:extLst>
              <a:ext uri="{FF2B5EF4-FFF2-40B4-BE49-F238E27FC236}">
                <a16:creationId xmlns:a16="http://schemas.microsoft.com/office/drawing/2014/main" id="{8686260A-36F5-4B39-AA5A-9CF79E88212A}"/>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اقتصاديات وحدة قابلة للاختبار</a:t>
            </a:r>
          </a:p>
        </p:txBody>
      </p:sp>
      <p:sp>
        <p:nvSpPr>
          <p:cNvPr id="3" name="10">
            <a:extLst>
              <a:ext uri="{FF2B5EF4-FFF2-40B4-BE49-F238E27FC236}">
                <a16:creationId xmlns:a16="http://schemas.microsoft.com/office/drawing/2014/main" id="{AF3E65AE-95AF-407D-908D-A7B9840FC3A7}"/>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10</a:t>
            </a:r>
          </a:p>
        </p:txBody>
      </p:sp>
      <p:sp>
        <p:nvSpPr>
          <p:cNvPr id="4" name="Rectangle: Rounded Corners 3">
            <a:extLst>
              <a:ext uri="{FF2B5EF4-FFF2-40B4-BE49-F238E27FC236}">
                <a16:creationId xmlns:a16="http://schemas.microsoft.com/office/drawing/2014/main" id="{606858A6-F4BE-439C-9C36-208B6FBDDFFD}"/>
              </a:ext>
            </a:extLst>
          </p:cNvPr>
          <p:cNvSpPr>
            <a:spLocks noGrp="1"/>
          </p:cNvSpPr>
          <p:nvPr/>
        </p:nvSpPr>
        <p:spPr>
          <a:xfrm>
            <a:off x="619125" y="1771650"/>
            <a:ext cx="2524125" cy="1362075"/>
          </a:xfrm>
          <a:prstGeom prst="roundRect">
            <a:avLst>
              <a:gd name="adj" fmla="val 5594"/>
            </a:avLst>
          </a:prstGeom>
          <a:solidFill>
            <a:srgbClr val="FFFFFF"/>
          </a:solidFill>
          <a:ln w="12383">
            <a:solidFill>
              <a:srgbClr val="58749B"/>
            </a:solidFill>
          </a:ln>
        </p:spPr>
      </p:sp>
      <p:sp>
        <p:nvSpPr>
          <p:cNvPr id="5" name="80 بالمئة">
            <a:extLst>
              <a:ext uri="{FF2B5EF4-FFF2-40B4-BE49-F238E27FC236}">
                <a16:creationId xmlns:a16="http://schemas.microsoft.com/office/drawing/2014/main" id="{D4CA04F0-794C-4E4E-8CC4-74FED8CBD54C}"/>
              </a:ext>
            </a:extLst>
          </p:cNvPr>
          <p:cNvSpPr>
            <a:spLocks noGrp="1"/>
          </p:cNvSpPr>
          <p:nvPr/>
        </p:nvSpPr>
        <p:spPr>
          <a:xfrm>
            <a:off x="762000" y="1971675"/>
            <a:ext cx="2238375" cy="5524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80 بالمئة</a:t>
            </a:r>
          </a:p>
        </p:txBody>
      </p:sp>
      <p:sp>
        <p:nvSpPr>
          <p:cNvPr id="6" name="هامش مساهمة">
            <a:extLst>
              <a:ext uri="{FF2B5EF4-FFF2-40B4-BE49-F238E27FC236}">
                <a16:creationId xmlns:a16="http://schemas.microsoft.com/office/drawing/2014/main" id="{0D922C7C-CDDC-4D09-A631-BA5A3EB2DD5A}"/>
              </a:ext>
            </a:extLst>
          </p:cNvPr>
          <p:cNvSpPr>
            <a:spLocks noGrp="1"/>
          </p:cNvSpPr>
          <p:nvPr/>
        </p:nvSpPr>
        <p:spPr>
          <a:xfrm>
            <a:off x="7620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هامش مساهمة</a:t>
            </a:r>
          </a:p>
        </p:txBody>
      </p:sp>
      <p:sp>
        <p:nvSpPr>
          <p:cNvPr id="7" name="Rectangle: Rounded Corners 6">
            <a:extLst>
              <a:ext uri="{FF2B5EF4-FFF2-40B4-BE49-F238E27FC236}">
                <a16:creationId xmlns:a16="http://schemas.microsoft.com/office/drawing/2014/main" id="{0C2F6D4A-E511-48A3-B140-40782F6C8DA6}"/>
              </a:ext>
            </a:extLst>
          </p:cNvPr>
          <p:cNvSpPr>
            <a:spLocks noGrp="1"/>
          </p:cNvSpPr>
          <p:nvPr/>
        </p:nvSpPr>
        <p:spPr>
          <a:xfrm>
            <a:off x="3476625" y="1771650"/>
            <a:ext cx="2524125" cy="1362075"/>
          </a:xfrm>
          <a:prstGeom prst="roundRect">
            <a:avLst>
              <a:gd name="adj" fmla="val 5594"/>
            </a:avLst>
          </a:prstGeom>
          <a:solidFill>
            <a:srgbClr val="FFFFFF"/>
          </a:solidFill>
          <a:ln w="12383">
            <a:solidFill>
              <a:srgbClr val="58749B"/>
            </a:solidFill>
          </a:ln>
        </p:spPr>
      </p:sp>
      <p:sp>
        <p:nvSpPr>
          <p:cNvPr id="8" name="16 د.أ">
            <a:extLst>
              <a:ext uri="{FF2B5EF4-FFF2-40B4-BE49-F238E27FC236}">
                <a16:creationId xmlns:a16="http://schemas.microsoft.com/office/drawing/2014/main" id="{FE8BF5E4-0457-41B6-A92E-8C1F1FB3C299}"/>
              </a:ext>
            </a:extLst>
          </p:cNvPr>
          <p:cNvSpPr>
            <a:spLocks noGrp="1"/>
          </p:cNvSpPr>
          <p:nvPr/>
        </p:nvSpPr>
        <p:spPr>
          <a:xfrm>
            <a:off x="36195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16 د.أ</a:t>
            </a:r>
          </a:p>
        </p:txBody>
      </p:sp>
      <p:sp>
        <p:nvSpPr>
          <p:cNvPr id="9" name="هامش / طالب">
            <a:extLst>
              <a:ext uri="{FF2B5EF4-FFF2-40B4-BE49-F238E27FC236}">
                <a16:creationId xmlns:a16="http://schemas.microsoft.com/office/drawing/2014/main" id="{EF141722-DFAC-4F91-9FF3-AE44098F02B9}"/>
              </a:ext>
            </a:extLst>
          </p:cNvPr>
          <p:cNvSpPr>
            <a:spLocks noGrp="1"/>
          </p:cNvSpPr>
          <p:nvPr/>
        </p:nvSpPr>
        <p:spPr>
          <a:xfrm>
            <a:off x="36195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هامش / طالب</a:t>
            </a:r>
          </a:p>
        </p:txBody>
      </p:sp>
      <p:sp>
        <p:nvSpPr>
          <p:cNvPr id="10" name="Rectangle: Rounded Corners 9">
            <a:extLst>
              <a:ext uri="{FF2B5EF4-FFF2-40B4-BE49-F238E27FC236}">
                <a16:creationId xmlns:a16="http://schemas.microsoft.com/office/drawing/2014/main" id="{8F4FF6BA-DAE5-4C27-993D-15BAD1635B80}"/>
              </a:ext>
            </a:extLst>
          </p:cNvPr>
          <p:cNvSpPr>
            <a:spLocks noGrp="1"/>
          </p:cNvSpPr>
          <p:nvPr/>
        </p:nvSpPr>
        <p:spPr>
          <a:xfrm>
            <a:off x="6334125" y="1771650"/>
            <a:ext cx="2524125" cy="1362075"/>
          </a:xfrm>
          <a:prstGeom prst="roundRect">
            <a:avLst>
              <a:gd name="adj" fmla="val 5594"/>
            </a:avLst>
          </a:prstGeom>
          <a:solidFill>
            <a:srgbClr val="FFFFFF"/>
          </a:solidFill>
          <a:ln w="12383">
            <a:solidFill>
              <a:srgbClr val="58749B"/>
            </a:solidFill>
          </a:ln>
        </p:spPr>
      </p:sp>
      <p:sp>
        <p:nvSpPr>
          <p:cNvPr id="11" name="4 د.أ">
            <a:extLst>
              <a:ext uri="{FF2B5EF4-FFF2-40B4-BE49-F238E27FC236}">
                <a16:creationId xmlns:a16="http://schemas.microsoft.com/office/drawing/2014/main" id="{DA3CBBCE-C9FA-44DC-A059-F508543C0A80}"/>
              </a:ext>
            </a:extLst>
          </p:cNvPr>
          <p:cNvSpPr>
            <a:spLocks noGrp="1"/>
          </p:cNvSpPr>
          <p:nvPr/>
        </p:nvSpPr>
        <p:spPr>
          <a:xfrm>
            <a:off x="64770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4 د.أ</a:t>
            </a:r>
          </a:p>
        </p:txBody>
      </p:sp>
      <p:sp>
        <p:nvSpPr>
          <p:cNvPr id="12" name="كلفة متغيرة">
            <a:extLst>
              <a:ext uri="{FF2B5EF4-FFF2-40B4-BE49-F238E27FC236}">
                <a16:creationId xmlns:a16="http://schemas.microsoft.com/office/drawing/2014/main" id="{F385FE76-A673-4808-BBE8-F8485189A9F6}"/>
              </a:ext>
            </a:extLst>
          </p:cNvPr>
          <p:cNvSpPr>
            <a:spLocks noGrp="1"/>
          </p:cNvSpPr>
          <p:nvPr/>
        </p:nvSpPr>
        <p:spPr>
          <a:xfrm>
            <a:off x="64770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كلفة متغيرة</a:t>
            </a:r>
          </a:p>
        </p:txBody>
      </p:sp>
      <p:sp>
        <p:nvSpPr>
          <p:cNvPr id="13" name="Rectangle: Rounded Corners 12">
            <a:extLst>
              <a:ext uri="{FF2B5EF4-FFF2-40B4-BE49-F238E27FC236}">
                <a16:creationId xmlns:a16="http://schemas.microsoft.com/office/drawing/2014/main" id="{33E5F05E-0B13-4D31-AC01-C6B327688062}"/>
              </a:ext>
            </a:extLst>
          </p:cNvPr>
          <p:cNvSpPr>
            <a:spLocks noGrp="1"/>
          </p:cNvSpPr>
          <p:nvPr/>
        </p:nvSpPr>
        <p:spPr>
          <a:xfrm>
            <a:off x="9191625" y="1771650"/>
            <a:ext cx="2524125" cy="1362075"/>
          </a:xfrm>
          <a:prstGeom prst="roundRect">
            <a:avLst>
              <a:gd name="adj" fmla="val 5594"/>
            </a:avLst>
          </a:prstGeom>
          <a:solidFill>
            <a:srgbClr val="FFFFFF"/>
          </a:solidFill>
          <a:ln w="12383">
            <a:solidFill>
              <a:srgbClr val="58749B"/>
            </a:solidFill>
          </a:ln>
        </p:spPr>
      </p:sp>
      <p:sp>
        <p:nvSpPr>
          <p:cNvPr id="14" name="20 د.أ">
            <a:extLst>
              <a:ext uri="{FF2B5EF4-FFF2-40B4-BE49-F238E27FC236}">
                <a16:creationId xmlns:a16="http://schemas.microsoft.com/office/drawing/2014/main" id="{C053E226-B0E3-42C4-B0AD-4E32F2BAA134}"/>
              </a:ext>
            </a:extLst>
          </p:cNvPr>
          <p:cNvSpPr>
            <a:spLocks noGrp="1"/>
          </p:cNvSpPr>
          <p:nvPr/>
        </p:nvSpPr>
        <p:spPr>
          <a:xfrm>
            <a:off x="93345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20 د.أ</a:t>
            </a:r>
          </a:p>
        </p:txBody>
      </p:sp>
      <p:sp>
        <p:nvSpPr>
          <p:cNvPr id="15" name="إيراد / طالب">
            <a:extLst>
              <a:ext uri="{FF2B5EF4-FFF2-40B4-BE49-F238E27FC236}">
                <a16:creationId xmlns:a16="http://schemas.microsoft.com/office/drawing/2014/main" id="{26AAEB20-AA10-4A82-A51E-8462655D4B11}"/>
              </a:ext>
            </a:extLst>
          </p:cNvPr>
          <p:cNvSpPr>
            <a:spLocks noGrp="1"/>
          </p:cNvSpPr>
          <p:nvPr/>
        </p:nvSpPr>
        <p:spPr>
          <a:xfrm>
            <a:off x="93345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إيراد / طالب</a:t>
            </a:r>
          </a:p>
        </p:txBody>
      </p:sp>
      <p:sp>
        <p:nvSpPr>
          <p:cNvPr id="16" name="1,950">
            <a:extLst>
              <a:ext uri="{FF2B5EF4-FFF2-40B4-BE49-F238E27FC236}">
                <a16:creationId xmlns:a16="http://schemas.microsoft.com/office/drawing/2014/main" id="{7AC3014F-7C7E-4B6B-BB0D-CFDA94477838}"/>
              </a:ext>
            </a:extLst>
          </p:cNvPr>
          <p:cNvSpPr>
            <a:spLocks noGrp="1"/>
          </p:cNvSpPr>
          <p:nvPr/>
        </p:nvSpPr>
        <p:spPr>
          <a:xfrm>
            <a:off x="571500" y="3406140"/>
            <a:ext cx="11049000" cy="115062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150" b="1" kern="0" spc="0">
                <a:solidFill>
                  <a:srgbClr val="FFFFFF"/>
                </a:solidFill>
                <a:latin typeface="IBM Plex Sans Arabic"/>
                <a:ea typeface="IBM Plex Sans Arabic"/>
                <a:cs typeface="IBM Plex Sans Arabic"/>
              </a:defRPr>
            </a:pPr>
            <a:r>
              <a:rPr lang="ar-JO" sz="6150" b="1" kern="0" spc="0">
                <a:solidFill>
                  <a:srgbClr val="FFFFFF"/>
                </a:solidFill>
                <a:latin typeface="IBM Plex Sans Arabic"/>
                <a:ea typeface="IBM Plex Sans Arabic"/>
                <a:cs typeface="IBM Plex Sans Arabic"/>
              </a:rPr>
              <a:t>1,950</a:t>
            </a:r>
          </a:p>
        </p:txBody>
      </p:sp>
      <p:sp>
        <p:nvSpPr>
          <p:cNvPr id="17" name="طالبًا مدفوعًا للوصول إلى نقطة التعادل">
            <a:extLst>
              <a:ext uri="{FF2B5EF4-FFF2-40B4-BE49-F238E27FC236}">
                <a16:creationId xmlns:a16="http://schemas.microsoft.com/office/drawing/2014/main" id="{4680A111-1E51-44EA-8DD2-B21004DA11E9}"/>
              </a:ext>
            </a:extLst>
          </p:cNvPr>
          <p:cNvSpPr>
            <a:spLocks noGrp="1"/>
          </p:cNvSpPr>
          <p:nvPr/>
        </p:nvSpPr>
        <p:spPr>
          <a:xfrm>
            <a:off x="1143000" y="4457700"/>
            <a:ext cx="9906000" cy="5143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طالبًا مدفوعًا للوصول إلى نقطة التعادل</a:t>
            </a:r>
          </a:p>
        </p:txBody>
      </p:sp>
      <p:sp>
        <p:nvSpPr>
          <p:cNvPr id="18" name="≈ 13 مؤسسة × 150 طالبًا نشطًا">
            <a:extLst>
              <a:ext uri="{FF2B5EF4-FFF2-40B4-BE49-F238E27FC236}">
                <a16:creationId xmlns:a16="http://schemas.microsoft.com/office/drawing/2014/main" id="{BC6A346F-B5A2-47F6-B592-FB020F2B3504}"/>
              </a:ext>
            </a:extLst>
          </p:cNvPr>
          <p:cNvSpPr>
            <a:spLocks noGrp="1"/>
          </p:cNvSpPr>
          <p:nvPr/>
        </p:nvSpPr>
        <p:spPr>
          <a:xfrm>
            <a:off x="1428750" y="5048250"/>
            <a:ext cx="9334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FFFFFF"/>
                </a:solidFill>
                <a:latin typeface="IBM Plex Sans Arabic"/>
                <a:ea typeface="IBM Plex Sans Arabic"/>
                <a:cs typeface="IBM Plex Sans Arabic"/>
              </a:defRPr>
            </a:pPr>
            <a:r>
              <a:rPr lang="ar-JO" sz="2175" b="1" kern="0" spc="0">
                <a:solidFill>
                  <a:srgbClr val="FFFFFF"/>
                </a:solidFill>
                <a:latin typeface="IBM Plex Sans Arabic"/>
                <a:ea typeface="IBM Plex Sans Arabic"/>
                <a:cs typeface="IBM Plex Sans Arabic"/>
              </a:rPr>
              <a:t>≈ 13 مؤسسة × 150 طالبًا نشطًا</a:t>
            </a:r>
          </a:p>
        </p:txBody>
      </p:sp>
      <p:sp>
        <p:nvSpPr>
          <p:cNvPr id="19" name="افتراضات الاختبار: 30 ألف د.أ ثابتة + 300 طال">
            <a:extLst>
              <a:ext uri="{FF2B5EF4-FFF2-40B4-BE49-F238E27FC236}">
                <a16:creationId xmlns:a16="http://schemas.microsoft.com/office/drawing/2014/main" id="{3971A0C5-CF93-4335-917F-B244F2800924}"/>
              </a:ext>
            </a:extLst>
          </p:cNvPr>
          <p:cNvSpPr>
            <a:spLocks noGrp="1"/>
          </p:cNvSpPr>
          <p:nvPr/>
        </p:nvSpPr>
        <p:spPr>
          <a:xfrm>
            <a:off x="809625" y="5972175"/>
            <a:ext cx="1057275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D1DEED"/>
                </a:solidFill>
                <a:latin typeface="IBM Plex Sans Arabic"/>
                <a:ea typeface="IBM Plex Sans Arabic"/>
                <a:cs typeface="IBM Plex Sans Arabic"/>
              </a:defRPr>
            </a:pPr>
            <a:r>
              <a:rPr lang="ar-JO" sz="1500" b="0" kern="0" spc="0">
                <a:solidFill>
                  <a:srgbClr val="D1DEED"/>
                </a:solidFill>
                <a:latin typeface="IBM Plex Sans Arabic"/>
                <a:ea typeface="IBM Plex Sans Arabic"/>
                <a:cs typeface="IBM Plex Sans Arabic"/>
              </a:rPr>
              <a:t>افتراضات الاختبار: 30 ألف د.أ ثابتة + 300 طالب تجارب مجانية • نختبر 12، 20، و30 د.أ</a:t>
            </a:r>
          </a:p>
        </p:txBody>
      </p:sp>
    </p:spTree>
    <p:extLst>
      <p:ext uri="{BB962C8B-B14F-4D97-AF65-F5344CB8AC3E}">
        <p14:creationId xmlns:p14="http://schemas.microsoft.com/office/powerpoint/2010/main" val="1124742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11125200" y="400050"/>
            <a:ext cx="552450" cy="552450"/>
          </a:xfrm>
          <a:prstGeom prst="rect">
            <a:avLst/>
          </a:prstGeom>
        </p:spPr>
      </p:pic>
      <p:sp>
        <p:nvSpPr>
          <p:cNvPr id="2" name="Vcoders">
            <a:extLst>
              <a:ext uri="{FF2B5EF4-FFF2-40B4-BE49-F238E27FC236}">
                <a16:creationId xmlns:a16="http://schemas.microsoft.com/office/drawing/2014/main" id="{2191CE60-97A1-409C-AAAA-28E594634793}"/>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Vcoders</a:t>
            </a:r>
          </a:p>
        </p:txBody>
      </p:sp>
      <p:sp>
        <p:nvSpPr>
          <p:cNvPr id="3" name="11">
            <a:extLst>
              <a:ext uri="{FF2B5EF4-FFF2-40B4-BE49-F238E27FC236}">
                <a16:creationId xmlns:a16="http://schemas.microsoft.com/office/drawing/2014/main" id="{8A1B5125-91AF-42B4-B2D8-079C3A410119}"/>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11</a:t>
            </a:r>
          </a:p>
        </p:txBody>
      </p:sp>
      <p:sp>
        <p:nvSpPr>
          <p:cNvPr id="4" name="عبد الرحمن&#10;الهيموني">
            <a:extLst>
              <a:ext uri="{FF2B5EF4-FFF2-40B4-BE49-F238E27FC236}">
                <a16:creationId xmlns:a16="http://schemas.microsoft.com/office/drawing/2014/main" id="{C4E77A08-B0FC-449A-ABC7-FB47EC406DD9}"/>
              </a:ext>
            </a:extLst>
          </p:cNvPr>
          <p:cNvSpPr>
            <a:spLocks noGrp="1"/>
          </p:cNvSpPr>
          <p:nvPr/>
        </p:nvSpPr>
        <p:spPr>
          <a:xfrm>
            <a:off x="8229600"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الهيموني</a:t>
            </a:r>
          </a:p>
        </p:txBody>
      </p:sp>
      <p:sp>
        <p:nvSpPr>
          <p:cNvPr id="5" name="قيادة الفريق">
            <a:extLst>
              <a:ext uri="{FF2B5EF4-FFF2-40B4-BE49-F238E27FC236}">
                <a16:creationId xmlns:a16="http://schemas.microsoft.com/office/drawing/2014/main" id="{C4CACEFB-25A5-4792-970F-F5197FF67C91}"/>
              </a:ext>
            </a:extLst>
          </p:cNvPr>
          <p:cNvSpPr>
            <a:spLocks noGrp="1"/>
          </p:cNvSpPr>
          <p:nvPr/>
        </p:nvSpPr>
        <p:spPr>
          <a:xfrm>
            <a:off x="8229600"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a:ext uri="{FF2B5EF4-FFF2-40B4-BE49-F238E27FC236}">
                <a16:creationId xmlns:a16="http://schemas.microsoft.com/office/drawing/2014/main" id="{288319B4-9A22-414C-BC46-9DCE2C5B247D}"/>
              </a:ext>
            </a:extLst>
          </p:cNvPr>
          <p:cNvSpPr>
            <a:spLocks noGrp="1"/>
          </p:cNvSpPr>
          <p:nvPr/>
        </p:nvSpPr>
        <p:spPr>
          <a:xfrm>
            <a:off x="8229600"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منطق التطبيق والبيانات</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والاختبار</a:t>
            </a:r>
          </a:p>
        </p:txBody>
      </p:sp>
      <p:sp>
        <p:nvSpPr>
          <p:cNvPr id="7" name="عبد الرحمن&#10;الكردي">
            <a:extLst>
              <a:ext uri="{FF2B5EF4-FFF2-40B4-BE49-F238E27FC236}">
                <a16:creationId xmlns:a16="http://schemas.microsoft.com/office/drawing/2014/main" id="{355DDEF1-3133-4267-9F82-BC2FD09E6E8C}"/>
              </a:ext>
            </a:extLst>
          </p:cNvPr>
          <p:cNvSpPr>
            <a:spLocks noGrp="1"/>
          </p:cNvSpPr>
          <p:nvPr/>
        </p:nvSpPr>
        <p:spPr>
          <a:xfrm>
            <a:off x="4429125"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الكردي</a:t>
            </a:r>
          </a:p>
        </p:txBody>
      </p:sp>
      <p:sp>
        <p:nvSpPr>
          <p:cNvPr id="8" name="تجربة المستخدم">
            <a:extLst>
              <a:ext uri="{FF2B5EF4-FFF2-40B4-BE49-F238E27FC236}">
                <a16:creationId xmlns:a16="http://schemas.microsoft.com/office/drawing/2014/main" id="{DDD91466-9B09-4145-A2B9-E2ED3E90FB12}"/>
              </a:ext>
            </a:extLst>
          </p:cNvPr>
          <p:cNvSpPr>
            <a:spLocks noGrp="1"/>
          </p:cNvSpPr>
          <p:nvPr/>
        </p:nvSpPr>
        <p:spPr>
          <a:xfrm>
            <a:off x="4429125"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a:ext uri="{FF2B5EF4-FFF2-40B4-BE49-F238E27FC236}">
                <a16:creationId xmlns:a16="http://schemas.microsoft.com/office/drawing/2014/main" id="{1DAC12AF-744D-4114-BB74-71B37E020AC9}"/>
              </a:ext>
            </a:extLst>
          </p:cNvPr>
          <p:cNvSpPr>
            <a:spLocks noGrp="1"/>
          </p:cNvSpPr>
          <p:nvPr/>
        </p:nvSpPr>
        <p:spPr>
          <a:xfrm>
            <a:off x="4429125"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الهوية البصرية</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وتنظيم رحلة الطالب</a:t>
            </a:r>
          </a:p>
        </p:txBody>
      </p:sp>
      <p:sp>
        <p:nvSpPr>
          <p:cNvPr id="10" name="زيد&#10;أبو الشعر">
            <a:extLst>
              <a:ext uri="{FF2B5EF4-FFF2-40B4-BE49-F238E27FC236}">
                <a16:creationId xmlns:a16="http://schemas.microsoft.com/office/drawing/2014/main" id="{5AAF60CC-C43F-4F04-8FEE-66337BB52548}"/>
              </a:ext>
            </a:extLst>
          </p:cNvPr>
          <p:cNvSpPr>
            <a:spLocks noGrp="1"/>
          </p:cNvSpPr>
          <p:nvPr/>
        </p:nvSpPr>
        <p:spPr>
          <a:xfrm>
            <a:off x="571500"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زيد</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أبو الشعر</a:t>
            </a:r>
          </a:p>
        </p:txBody>
      </p:sp>
      <p:sp>
        <p:nvSpPr>
          <p:cNvPr id="11" name="تنفيذ الواجهات">
            <a:extLst>
              <a:ext uri="{FF2B5EF4-FFF2-40B4-BE49-F238E27FC236}">
                <a16:creationId xmlns:a16="http://schemas.microsoft.com/office/drawing/2014/main" id="{2BCD8FC5-3FF0-400D-96D7-A349C9D3C63D}"/>
              </a:ext>
            </a:extLst>
          </p:cNvPr>
          <p:cNvSpPr>
            <a:spLocks noGrp="1"/>
          </p:cNvSpPr>
          <p:nvPr/>
        </p:nvSpPr>
        <p:spPr>
          <a:xfrm>
            <a:off x="571500"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a:ext uri="{FF2B5EF4-FFF2-40B4-BE49-F238E27FC236}">
                <a16:creationId xmlns:a16="http://schemas.microsoft.com/office/drawing/2014/main" id="{766F5517-1B0D-4D0F-B86C-0FD0BC01D37B}"/>
              </a:ext>
            </a:extLst>
          </p:cNvPr>
          <p:cNvSpPr>
            <a:spLocks noGrp="1"/>
          </p:cNvSpPr>
          <p:nvPr/>
        </p:nvSpPr>
        <p:spPr>
          <a:xfrm>
            <a:off x="571500"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تحويل التصميم</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إلى تجربة قابلة للاستخدام</a:t>
            </a:r>
          </a:p>
        </p:txBody>
      </p:sp>
      <p:sp>
        <p:nvSpPr>
          <p:cNvPr id="13" name="أدوار متكاملة لبناء مُرشِدي وتطويره">
            <a:extLst>
              <a:ext uri="{FF2B5EF4-FFF2-40B4-BE49-F238E27FC236}">
                <a16:creationId xmlns:a16="http://schemas.microsoft.com/office/drawing/2014/main" id="{51FCE24A-C7D1-4FE1-AA11-808013516EF0}"/>
              </a:ext>
            </a:extLst>
          </p:cNvPr>
          <p:cNvSpPr>
            <a:spLocks noGrp="1"/>
          </p:cNvSpPr>
          <p:nvPr/>
        </p:nvSpPr>
        <p:spPr>
          <a:xfrm>
            <a:off x="1428750" y="5762625"/>
            <a:ext cx="10001250" cy="5715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013070"/>
                </a:solidFill>
                <a:latin typeface="IBM Plex Sans Arabic"/>
                <a:ea typeface="IBM Plex Sans Arabic"/>
                <a:cs typeface="IBM Plex Sans Arabic"/>
              </a:defRPr>
            </a:pPr>
            <a:r>
              <a:rPr lang="ar-JO" sz="2550" b="1" kern="0" spc="0">
                <a:solidFill>
                  <a:srgbClr val="013070"/>
                </a:solidFill>
                <a:latin typeface="IBM Plex Sans Arabic"/>
                <a:ea typeface="IBM Plex Sans Arabic"/>
                <a:cs typeface="IBM Plex Sans Arabic"/>
              </a:rPr>
              <a:t>أدوار متكاملة لبناء مُرشِدي وتطويره</a:t>
            </a:r>
          </a:p>
        </p:txBody>
      </p:sp>
    </p:spTree>
    <p:extLst>
      <p:ext uri="{BB962C8B-B14F-4D97-AF65-F5344CB8AC3E}">
        <p14:creationId xmlns:p14="http://schemas.microsoft.com/office/powerpoint/2010/main" val="1291293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pic>
        <p:nvPicPr>
          <p:cNvPr id="8" name="Picture 7"/>
          <p:cNvPicPr>
            <a:picLocks noChangeAspect="1"/>
          </p:cNvPicPr>
          <p:nvPr/>
        </p:nvPicPr>
        <p:blipFill>
          <a:blip r:embed="rId4"/>
          <a:stretch/>
        </p:blipFill>
        <p:spPr>
          <a:xfrm>
            <a:off x="10572750" y="523875"/>
            <a:ext cx="933450" cy="933450"/>
          </a:xfrm>
          <a:prstGeom prst="rect">
            <a:avLst/>
          </a:prstGeom>
        </p:spPr>
      </p:pic>
      <p:sp>
        <p:nvSpPr>
          <p:cNvPr id="3" name="خطوتنا القادمة">
            <a:extLst>
              <a:ext uri="{FF2B5EF4-FFF2-40B4-BE49-F238E27FC236}">
                <a16:creationId xmlns:a16="http://schemas.microsoft.com/office/drawing/2014/main" id="{4DD202DA-56E8-49C9-B6B1-0CA37444DE0E}"/>
              </a:ext>
            </a:extLst>
          </p:cNvPr>
          <p:cNvSpPr>
            <a:spLocks noGrp="1"/>
          </p:cNvSpPr>
          <p:nvPr/>
        </p:nvSpPr>
        <p:spPr>
          <a:xfrm>
            <a:off x="6191250" y="1918335"/>
            <a:ext cx="5286375" cy="69723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600" b="1" kern="0" spc="0">
                <a:solidFill>
                  <a:srgbClr val="C8A04C"/>
                </a:solidFill>
                <a:latin typeface="IBM Plex Sans Arabic"/>
                <a:ea typeface="IBM Plex Sans Arabic"/>
                <a:cs typeface="IBM Plex Sans Arabic"/>
              </a:defRPr>
            </a:pPr>
            <a:r>
              <a:rPr lang="ar-JO" sz="3600" b="1" kern="0" spc="0">
                <a:solidFill>
                  <a:srgbClr val="C8A04C"/>
                </a:solidFill>
                <a:latin typeface="IBM Plex Sans Arabic"/>
                <a:ea typeface="IBM Plex Sans Arabic"/>
                <a:cs typeface="IBM Plex Sans Arabic"/>
              </a:rPr>
              <a:t>خطوتنا القادمة</a:t>
            </a:r>
          </a:p>
        </p:txBody>
      </p:sp>
      <p:sp>
        <p:nvSpPr>
          <p:cNvPr id="4" name="فرصة لتجربة مُرشِدي&#10;مع مؤسسات تعليمية">
            <a:extLst>
              <a:ext uri="{FF2B5EF4-FFF2-40B4-BE49-F238E27FC236}">
                <a16:creationId xmlns:a16="http://schemas.microsoft.com/office/drawing/2014/main" id="{6E78C70C-1F2A-40F7-B312-A347053B9EFA}"/>
              </a:ext>
            </a:extLst>
          </p:cNvPr>
          <p:cNvSpPr>
            <a:spLocks noGrp="1"/>
          </p:cNvSpPr>
          <p:nvPr/>
        </p:nvSpPr>
        <p:spPr>
          <a:xfrm>
            <a:off x="5381625" y="2886075"/>
            <a:ext cx="6096000" cy="14954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975" b="1" kern="0" spc="0">
                <a:solidFill>
                  <a:srgbClr val="FFFFFF"/>
                </a:solidFill>
                <a:latin typeface="IBM Plex Sans Arabic"/>
                <a:ea typeface="IBM Plex Sans Arabic"/>
                <a:cs typeface="IBM Plex Sans Arabic"/>
              </a:defRPr>
            </a:pPr>
            <a:r>
              <a:rPr lang="ar-JO" sz="3975" b="1" kern="0" spc="0">
                <a:solidFill>
                  <a:srgbClr val="FFFFFF"/>
                </a:solidFill>
                <a:latin typeface="IBM Plex Sans Arabic"/>
                <a:ea typeface="IBM Plex Sans Arabic"/>
                <a:cs typeface="IBM Plex Sans Arabic"/>
              </a:rPr>
              <a:t>فرصة لتجربة مُرشِدي</a:t>
            </a:r>
          </a:p>
          <a:p>
            <a:pPr algn="r" rtl="1">
              <a:lnSpc>
                <a:spcPct val="116000"/>
              </a:lnSpc>
              <a:spcBef>
                <a:spcPts val="0"/>
              </a:spcBef>
              <a:spcAft>
                <a:spcPts val="0"/>
              </a:spcAft>
              <a:buNone/>
              <a:defRPr lang="ar-JO" sz="3975" b="1" kern="0" spc="0">
                <a:solidFill>
                  <a:srgbClr val="FFFFFF"/>
                </a:solidFill>
                <a:latin typeface="IBM Plex Sans Arabic"/>
                <a:ea typeface="IBM Plex Sans Arabic"/>
                <a:cs typeface="IBM Plex Sans Arabic"/>
              </a:defRPr>
            </a:pPr>
            <a:r>
              <a:rPr lang="ar-JO" sz="3975" b="1" kern="0" spc="0">
                <a:solidFill>
                  <a:srgbClr val="FFFFFF"/>
                </a:solidFill>
                <a:latin typeface="IBM Plex Sans Arabic"/>
                <a:ea typeface="IBM Plex Sans Arabic"/>
                <a:cs typeface="IBM Plex Sans Arabic"/>
              </a:rPr>
              <a:t>مع مؤسسات تعليمية</a:t>
            </a:r>
          </a:p>
        </p:txBody>
      </p:sp>
      <p:sp>
        <p:nvSpPr>
          <p:cNvPr id="5" name="شركاء للتجربة وتوجيه لاختبار نموذج العمل">
            <a:extLst>
              <a:ext uri="{FF2B5EF4-FFF2-40B4-BE49-F238E27FC236}">
                <a16:creationId xmlns:a16="http://schemas.microsoft.com/office/drawing/2014/main" id="{6831DF4B-A5CE-4045-A68A-79F450A8CB31}"/>
              </a:ext>
            </a:extLst>
          </p:cNvPr>
          <p:cNvSpPr>
            <a:spLocks noGrp="1"/>
          </p:cNvSpPr>
          <p:nvPr/>
        </p:nvSpPr>
        <p:spPr>
          <a:xfrm>
            <a:off x="4619625" y="4752975"/>
            <a:ext cx="6858000" cy="6096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250" b="0" kern="0" spc="0">
                <a:solidFill>
                  <a:srgbClr val="D1DEED"/>
                </a:solidFill>
                <a:latin typeface="IBM Plex Sans Arabic"/>
                <a:ea typeface="IBM Plex Sans Arabic"/>
                <a:cs typeface="IBM Plex Sans Arabic"/>
              </a:defRPr>
            </a:pPr>
            <a:r>
              <a:rPr lang="ar-JO" sz="2250" b="0" kern="0" spc="0">
                <a:solidFill>
                  <a:srgbClr val="D1DEED"/>
                </a:solidFill>
                <a:latin typeface="IBM Plex Sans Arabic"/>
                <a:ea typeface="IBM Plex Sans Arabic"/>
                <a:cs typeface="IBM Plex Sans Arabic"/>
              </a:rPr>
              <a:t>شركاء للتجربة وتوجيه لاختبار نموذج العمل</a:t>
            </a:r>
          </a:p>
        </p:txBody>
      </p:sp>
      <p:sp>
        <p:nvSpPr>
          <p:cNvPr id="6" name="قرار أوضح لمستقبل الطالب">
            <a:extLst>
              <a:ext uri="{FF2B5EF4-FFF2-40B4-BE49-F238E27FC236}">
                <a16:creationId xmlns:a16="http://schemas.microsoft.com/office/drawing/2014/main" id="{9E3820DE-2276-44B3-BF75-43990AB3F02F}"/>
              </a:ext>
            </a:extLst>
          </p:cNvPr>
          <p:cNvSpPr>
            <a:spLocks noGrp="1"/>
          </p:cNvSpPr>
          <p:nvPr/>
        </p:nvSpPr>
        <p:spPr>
          <a:xfrm>
            <a:off x="5762625" y="5772150"/>
            <a:ext cx="5715000" cy="5715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850" b="1" kern="0" spc="0">
                <a:solidFill>
                  <a:srgbClr val="FFFFFF"/>
                </a:solidFill>
                <a:latin typeface="IBM Plex Sans Arabic"/>
                <a:ea typeface="IBM Plex Sans Arabic"/>
                <a:cs typeface="IBM Plex Sans Arabic"/>
              </a:defRPr>
            </a:pPr>
            <a:r>
              <a:rPr lang="ar-JO" sz="2850" b="1" kern="0" spc="0">
                <a:solidFill>
                  <a:srgbClr val="FFFFFF"/>
                </a:solidFill>
                <a:latin typeface="IBM Plex Sans Arabic"/>
                <a:ea typeface="IBM Plex Sans Arabic"/>
                <a:cs typeface="IBM Plex Sans Arabic"/>
              </a:rPr>
              <a:t>قرار أوضح لمستقبل الطالب</a:t>
            </a:r>
          </a:p>
        </p:txBody>
      </p:sp>
    </p:spTree>
    <p:extLst>
      <p:ext uri="{BB962C8B-B14F-4D97-AF65-F5344CB8AC3E}">
        <p14:creationId xmlns:p14="http://schemas.microsoft.com/office/powerpoint/2010/main" val="197095115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1906</Words>
  <Application>Microsoft Office PowerPoint</Application>
  <DocSecurity>0</DocSecurity>
  <PresentationFormat>Widescreen</PresentationFormat>
  <Paragraphs>218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IBM Plex Sans Arabic</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2026-09-10T20:07:29Z</dcterms:created>
  <dcterms:modified xsi:type="dcterms:W3CDTF">2026-09-10T20:07:33Z</dcterms:modified>
</cp:coreProperties>
</file>