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التحدي الحكومي ليس غياب البيانات. في عام 2026 دخل 116,366 ناجحًا في التوجيهي مرحلة قرار ما بعد المدرسة، وأمامهم 607 عروض برامج بكالوريوس في القبول الموحد. لكن القبول والرسوم والكلفة وإشارات سوق العمل تبقى موزعة بين مصادر وشاشات مختلفة، فيجمعها الطالب وأسرته والمرشد يدويًا قبل قرار يمتد لسنوات. مُرشِدي يحوّل هذه البيانات العامة إلى خدمة قرار واحدة.</a:t>
            </a:r>
          </a:p>
          <a:p>
            <a:endParaRPr/>
          </a:p>
          <a:p>
            <a:r>
              <a:t>المصادر: وزارة التربية والتعليم عبر وكالة بترا، 10 آب 2026: 116,366 ناجحًا في التوجيهي، ويشمل العدد النظاميين والدراسة الخاصة. وحدة تنسيق القبول الموحد، 13 آب 2026: 607 عروض برامج بكالوريوس للدورة الصيفية 2026/2027؛ وهي عروض برامج في القبول الموحد وليست تخصصات مهنية فريدة.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يحوّل مُرشِدي العناصر المتفرقة إلى ثلاث خطوات واضحة. يبدأ الطالب بأسئلة استكشاف ذاتي تبني قائمة أولية، ثم يقارن برامج فعلية وفق القبول والرسوم والكلفة وإشارات السوق، وبعدها يحفظ قائمة قصيرة وخطة كلفة مع مصادر مؤرخة. هذه شاشة حقيقية من نسخة عاملة بالعربية والإنجليزية. المخرج ليس توصية مغلقة، بل قرار مبرر يستطيع الطالب وأسرته مناقشته قبل التقديم.</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المستفيد هو الطالب وأسرته، والعميل الدافع مدرسة أو جامعة أو شبكة تعليمية. حجم السوق الكلي السنوي هو 116,366 ناجح توجيهي في 2026، والسوق القابل للخدمة عبر المدارس يبدأ من 90,326 ناجحًا نظاميًا. 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لا نستبدل القبول الموحد أو المصدر الحكومي. مُرشِدي يحوّل ثلاثة مصادر منفصلة، هي القبول والرسوم وسوق العمل، إلى قرار شخصي يراعي اهتمام الطالب وميزانية أسرته، ويُظهر مصدر كل رقم وتاريخه. القرار قابل للتفسير، ولا يوجد دفع لرفع ترتيب تخصص. وتدعم المبدأ تجربتان عشوائيتان شملتا 28,186 طالبًا في 243 مدرسة و49,166 مشاركًا؛ ثم نثبت أثره محليًا.</a:t>
            </a:r>
          </a:p>
          <a:p>
            <a:endParaRPr/>
          </a:p>
          <a:p>
            <a:r>
              <a:t>المصادر: de Koning, Fouarge &amp; Dur، IZA Discussion Paper 17951، 2025: تجربة عشوائية على 28,186 طالبًا في 243 مدرسة. Hastings, Neilson &amp; Zimmerman، NBER Working Paper 21300: تجربة عشوائية على 49,166 مشاركًا. السياقان غير أردنيين ولا يثبتان أثر مُرشِدي محليًا.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نختبر الأثر قبل التوسع مع 100 طالب في ثلاث مدارس خلال ستة أسابيع. نقيس قبل الاستخدام وبعده: زمن بناء مقارنة ثلاثة برامج، فهم الطالب للقبول والكلفة من مصدر صحيح، ووضوح قراره. أهداف النجاح هي أن يكمل 70 طالبًا مقارنة موثقة، وأن يتحسن وضوح القرار بنقطة واحدة على مقياس من خمس نقاط، وأن تبدأ مؤسستان تجربة مدفوعة. هذه أهداف تجربة وليست نتائج محققة.</a:t>
            </a:r>
          </a:p>
          <a:p>
            <a:endParaRPr/>
          </a:p>
          <a:p>
            <a:r>
              <a:t>المصادر: تصميم تجربة وأهداف قرار مقترحة وليست نتائج محققة: 100 طالب، 3 مدارس، 6 أسابيع، 70 طالبًا يكملون مقارنة موثقة، تحسن نقطة واحدة على مقياس من 5، ومؤسستان تبدآن تجربة مدفوعة. دليل الجائزة، ص29-30، يطلب أثرًا قابلًا للقياس مثل تقليل الجهد وتحسين تجربة المواطن.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تدفع المؤسسة في الفرضية الأساسية 20 دينارًا لكل طالب نشط سنويًا، والكلفة المتغيرة أربعة دنانير، فيبقى 16 دينارًا مساهمة قبل التكاليف الثابتة. عند 30 ألف دينار تشغيل و300 طالب في تجارب مجانية، نصل إلى التعادل عند 1,950 طالبًا، أي 39 ألف دينار إيراد ونحو 13 مؤسسة. نتوسع من ثلاث مدارس، إلى عشر مؤسسات، ثم التعادل؛ والإيراد يمول تحديث البيانات ودعم المؤسسات. ونختبر أسعار 12 و20 و30 دينارًا قبل الاعتماد.</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نربط العمل في مسار واحد: بيانات صحيحة، ثم رحلة مفهومة، ثم واجهة عاملة، ثم مراجعة مشتركة؛ لذلك تظهر النتيجة كمنتج واحد لا كأجزاء منفصلة.</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حتى الآن لا توجد شراكة حكومية رسمية. طلبنا المحدد هو ربطنا بثلاث مدارس ومرشدين وجهة بيانات تعليمية، لتنفيذ تجربة 100 طالب خلال ستة أسابيع وتسليم تقرير أثر. هكذا ننتقل من منتج عامل إلى خدمة قابلة للتبني. مُرشِدي: قرار أوضح لمستقبل الطالب. شكرًا لكم.</a:t>
            </a:r>
          </a:p>
          <a:p>
            <a:endParaRPr/>
          </a:p>
          <a:p>
            <a:r>
              <a:t>المصادر: طلب تجربة وتنسيق مقترح؛ لا شراكات أو عقود قائمة. دليل الجائزة، ص34، يطلب توضيح أي تنسيق حكومي ورد الجهة، إضافة إلى الأثر والإيراد المستدام.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43F88E89-CDEF-443F-9930-FE09FC5D6084}"/>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7DFD1AC2-7F9F-4888-9D15-58ACACEDF674}"/>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83BAFD05-B2BE-4E26-A95F-19198CEEB1BA}"/>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B91FB106-1E27-4796-84D1-980BF7F58B47}"/>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81B913E2-D8CC-437E-ABDD-C2AC8082D190}"/>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1424998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p:blipFill>
        <p:spPr>
          <a:xfrm>
            <a:off x="11125200" y="400050"/>
            <a:ext cx="552450" cy="552450"/>
          </a:xfrm>
          <a:prstGeom prst="rect">
            <a:avLst/>
          </a:prstGeom>
        </p:spPr>
      </p:pic>
      <p:sp>
        <p:nvSpPr>
          <p:cNvPr id="2" name="التحدي الحكومي: بيانات كثيرة وقرار واحد">
            <a:extLst>
              <a:ext uri="{FF2B5EF4-FFF2-40B4-BE49-F238E27FC236}">
                <a16:creationId xmlns:a16="http://schemas.microsoft.com/office/drawing/2014/main" id="{2F8E4FB9-4D19-4AC6-BEAA-F4C82B3B4B31}"/>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التحدي الحكومي: بيانات كثيرة وقرار واحد</a:t>
            </a:r>
          </a:p>
        </p:txBody>
      </p:sp>
      <p:sp>
        <p:nvSpPr>
          <p:cNvPr id="3" name="02">
            <a:extLst>
              <a:ext uri="{FF2B5EF4-FFF2-40B4-BE49-F238E27FC236}">
                <a16:creationId xmlns:a16="http://schemas.microsoft.com/office/drawing/2014/main" id="{0489CCED-DBD6-479D-979A-FE714120C51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BE7379BD-B96F-4DCA-834C-0165A4B13990}"/>
              </a:ext>
            </a:extLst>
          </p:cNvPr>
          <p:cNvSpPr>
            <a:spLocks noGrp="1"/>
          </p:cNvSpPr>
          <p:nvPr/>
        </p:nvSpPr>
        <p:spPr>
          <a:xfrm>
            <a:off x="8143875" y="1790700"/>
            <a:ext cx="3333750" cy="2914650"/>
          </a:xfrm>
          <a:prstGeom prst="roundRect">
            <a:avLst>
              <a:gd name="adj" fmla="val 2614"/>
            </a:avLst>
          </a:prstGeom>
          <a:solidFill>
            <a:srgbClr val="FFFFFF"/>
          </a:solidFill>
          <a:ln w="12383">
            <a:solidFill>
              <a:srgbClr val="D4DEE9"/>
            </a:solidFill>
          </a:ln>
        </p:spPr>
      </p:sp>
      <p:sp>
        <p:nvSpPr>
          <p:cNvPr id="5" name="116,366">
            <a:extLst>
              <a:ext uri="{FF2B5EF4-FFF2-40B4-BE49-F238E27FC236}">
                <a16:creationId xmlns:a16="http://schemas.microsoft.com/office/drawing/2014/main" id="{75700B63-1C5E-4C3C-80EF-75775C7C9CA3}"/>
              </a:ext>
            </a:extLst>
          </p:cNvPr>
          <p:cNvSpPr>
            <a:spLocks noGrp="1"/>
          </p:cNvSpPr>
          <p:nvPr/>
        </p:nvSpPr>
        <p:spPr>
          <a:xfrm>
            <a:off x="8315325" y="2025015"/>
            <a:ext cx="2990850" cy="8839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650" b="1" kern="0" spc="0">
                <a:solidFill>
                  <a:srgbClr val="013070"/>
                </a:solidFill>
                <a:latin typeface="IBM Plex Sans Arabic"/>
                <a:ea typeface="IBM Plex Sans Arabic"/>
                <a:cs typeface="IBM Plex Sans Arabic"/>
              </a:defRPr>
            </a:pPr>
            <a:r>
              <a:rPr lang="ar-JO" sz="4650" b="1" kern="0" spc="0">
                <a:solidFill>
                  <a:srgbClr val="013070"/>
                </a:solidFill>
                <a:latin typeface="IBM Plex Sans Arabic"/>
                <a:ea typeface="IBM Plex Sans Arabic"/>
                <a:cs typeface="IBM Plex Sans Arabic"/>
              </a:rPr>
              <a:t>116,366</a:t>
            </a:r>
          </a:p>
        </p:txBody>
      </p:sp>
      <p:sp>
        <p:nvSpPr>
          <p:cNvPr id="6" name="ناجحًا في التوجيهي 2026">
            <a:extLst>
              <a:ext uri="{FF2B5EF4-FFF2-40B4-BE49-F238E27FC236}">
                <a16:creationId xmlns:a16="http://schemas.microsoft.com/office/drawing/2014/main" id="{1B857B6C-FD2B-44B7-87E1-DE3DB4C6E84E}"/>
              </a:ext>
            </a:extLst>
          </p:cNvPr>
          <p:cNvSpPr>
            <a:spLocks noGrp="1"/>
          </p:cNvSpPr>
          <p:nvPr/>
        </p:nvSpPr>
        <p:spPr>
          <a:xfrm>
            <a:off x="8334375" y="3009900"/>
            <a:ext cx="295275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013070"/>
                </a:solidFill>
                <a:latin typeface="IBM Plex Sans Arabic"/>
                <a:ea typeface="IBM Plex Sans Arabic"/>
                <a:cs typeface="IBM Plex Sans Arabic"/>
              </a:defRPr>
            </a:pPr>
            <a:r>
              <a:rPr lang="ar-JO" sz="2100" b="1" kern="0" spc="0">
                <a:solidFill>
                  <a:srgbClr val="013070"/>
                </a:solidFill>
                <a:latin typeface="IBM Plex Sans Arabic"/>
                <a:ea typeface="IBM Plex Sans Arabic"/>
                <a:cs typeface="IBM Plex Sans Arabic"/>
              </a:rPr>
              <a:t>ناجحًا في التوجيهي 2026</a:t>
            </a:r>
          </a:p>
        </p:txBody>
      </p:sp>
      <p:sp>
        <p:nvSpPr>
          <p:cNvPr id="7" name="دخلوا مرحلة قرار ما بعد المدرسة">
            <a:extLst>
              <a:ext uri="{FF2B5EF4-FFF2-40B4-BE49-F238E27FC236}">
                <a16:creationId xmlns:a16="http://schemas.microsoft.com/office/drawing/2014/main" id="{35562D21-97D8-429B-957C-A2A78E6A9460}"/>
              </a:ext>
            </a:extLst>
          </p:cNvPr>
          <p:cNvSpPr>
            <a:spLocks noGrp="1"/>
          </p:cNvSpPr>
          <p:nvPr/>
        </p:nvSpPr>
        <p:spPr>
          <a:xfrm>
            <a:off x="8353425" y="3762375"/>
            <a:ext cx="2914650" cy="6381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دخلوا مرحلة قرار ما بعد المدرسة</a:t>
            </a:r>
          </a:p>
        </p:txBody>
      </p:sp>
      <p:sp>
        <p:nvSpPr>
          <p:cNvPr id="8" name="Rectangle: Rounded Corners 7">
            <a:extLst>
              <a:ext uri="{FF2B5EF4-FFF2-40B4-BE49-F238E27FC236}">
                <a16:creationId xmlns:a16="http://schemas.microsoft.com/office/drawing/2014/main" id="{6DDFAC74-5345-4A94-96C6-8C07D1902405}"/>
              </a:ext>
            </a:extLst>
          </p:cNvPr>
          <p:cNvSpPr>
            <a:spLocks noGrp="1"/>
          </p:cNvSpPr>
          <p:nvPr/>
        </p:nvSpPr>
        <p:spPr>
          <a:xfrm>
            <a:off x="4333875" y="1790700"/>
            <a:ext cx="3333750" cy="2914650"/>
          </a:xfrm>
          <a:prstGeom prst="roundRect">
            <a:avLst>
              <a:gd name="adj" fmla="val 2614"/>
            </a:avLst>
          </a:prstGeom>
          <a:solidFill>
            <a:srgbClr val="FFFFFF"/>
          </a:solidFill>
          <a:ln w="12383">
            <a:solidFill>
              <a:srgbClr val="D4DEE9"/>
            </a:solidFill>
          </a:ln>
        </p:spPr>
      </p:sp>
      <p:sp>
        <p:nvSpPr>
          <p:cNvPr id="9" name="607">
            <a:extLst>
              <a:ext uri="{FF2B5EF4-FFF2-40B4-BE49-F238E27FC236}">
                <a16:creationId xmlns:a16="http://schemas.microsoft.com/office/drawing/2014/main" id="{2FE9C69D-C391-4716-A291-2AFE178710F8}"/>
              </a:ext>
            </a:extLst>
          </p:cNvPr>
          <p:cNvSpPr>
            <a:spLocks noGrp="1"/>
          </p:cNvSpPr>
          <p:nvPr/>
        </p:nvSpPr>
        <p:spPr>
          <a:xfrm>
            <a:off x="4505325" y="2025015"/>
            <a:ext cx="2990850" cy="88392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650" b="1" kern="0" spc="0">
                <a:solidFill>
                  <a:srgbClr val="013070"/>
                </a:solidFill>
                <a:latin typeface="IBM Plex Sans Arabic"/>
                <a:ea typeface="IBM Plex Sans Arabic"/>
                <a:cs typeface="IBM Plex Sans Arabic"/>
              </a:defRPr>
            </a:pPr>
            <a:r>
              <a:rPr lang="ar-JO" sz="4650" b="1" kern="0" spc="0">
                <a:solidFill>
                  <a:srgbClr val="013070"/>
                </a:solidFill>
                <a:latin typeface="IBM Plex Sans Arabic"/>
                <a:ea typeface="IBM Plex Sans Arabic"/>
                <a:cs typeface="IBM Plex Sans Arabic"/>
              </a:rPr>
              <a:t>607</a:t>
            </a:r>
          </a:p>
        </p:txBody>
      </p:sp>
      <p:sp>
        <p:nvSpPr>
          <p:cNvPr id="10" name="عروض برامج بكالوريوس">
            <a:extLst>
              <a:ext uri="{FF2B5EF4-FFF2-40B4-BE49-F238E27FC236}">
                <a16:creationId xmlns:a16="http://schemas.microsoft.com/office/drawing/2014/main" id="{04C2372F-DC90-475C-8CF3-31E591C31714}"/>
              </a:ext>
            </a:extLst>
          </p:cNvPr>
          <p:cNvSpPr>
            <a:spLocks noGrp="1"/>
          </p:cNvSpPr>
          <p:nvPr/>
        </p:nvSpPr>
        <p:spPr>
          <a:xfrm>
            <a:off x="4524375" y="3009900"/>
            <a:ext cx="295275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013070"/>
                </a:solidFill>
                <a:latin typeface="IBM Plex Sans Arabic"/>
                <a:ea typeface="IBM Plex Sans Arabic"/>
                <a:cs typeface="IBM Plex Sans Arabic"/>
              </a:defRPr>
            </a:pPr>
            <a:r>
              <a:rPr lang="ar-JO" sz="2100" b="1" kern="0" spc="0">
                <a:solidFill>
                  <a:srgbClr val="013070"/>
                </a:solidFill>
                <a:latin typeface="IBM Plex Sans Arabic"/>
                <a:ea typeface="IBM Plex Sans Arabic"/>
                <a:cs typeface="IBM Plex Sans Arabic"/>
              </a:rPr>
              <a:t>عروض برامج بكالوريوس</a:t>
            </a:r>
          </a:p>
        </p:txBody>
      </p:sp>
      <p:sp>
        <p:nvSpPr>
          <p:cNvPr id="11" name="في القبول الموحد 2026/2027">
            <a:extLst>
              <a:ext uri="{FF2B5EF4-FFF2-40B4-BE49-F238E27FC236}">
                <a16:creationId xmlns:a16="http://schemas.microsoft.com/office/drawing/2014/main" id="{91B12337-E4B7-43A5-B4FF-FA36CF6BBBD3}"/>
              </a:ext>
            </a:extLst>
          </p:cNvPr>
          <p:cNvSpPr>
            <a:spLocks noGrp="1"/>
          </p:cNvSpPr>
          <p:nvPr/>
        </p:nvSpPr>
        <p:spPr>
          <a:xfrm>
            <a:off x="4543425" y="3762375"/>
            <a:ext cx="2914650" cy="6381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في القبول الموحد 2026/2027</a:t>
            </a:r>
          </a:p>
        </p:txBody>
      </p:sp>
      <p:sp>
        <p:nvSpPr>
          <p:cNvPr id="12" name="Rectangle: Rounded Corners 11">
            <a:extLst>
              <a:ext uri="{FF2B5EF4-FFF2-40B4-BE49-F238E27FC236}">
                <a16:creationId xmlns:a16="http://schemas.microsoft.com/office/drawing/2014/main" id="{3599D0BC-6753-4F7F-8185-5AD09C992B4D}"/>
              </a:ext>
            </a:extLst>
          </p:cNvPr>
          <p:cNvSpPr>
            <a:spLocks noGrp="1"/>
          </p:cNvSpPr>
          <p:nvPr/>
        </p:nvSpPr>
        <p:spPr>
          <a:xfrm>
            <a:off x="523875" y="1790700"/>
            <a:ext cx="3333750" cy="2914650"/>
          </a:xfrm>
          <a:prstGeom prst="roundRect">
            <a:avLst>
              <a:gd name="adj" fmla="val 2614"/>
            </a:avLst>
          </a:prstGeom>
          <a:solidFill>
            <a:srgbClr val="F3EAD7"/>
          </a:solidFill>
          <a:ln w="12383">
            <a:solidFill>
              <a:srgbClr val="DFC98F"/>
            </a:solidFill>
          </a:ln>
        </p:spPr>
      </p:sp>
      <p:sp>
        <p:nvSpPr>
          <p:cNvPr id="13" name="1">
            <a:extLst>
              <a:ext uri="{FF2B5EF4-FFF2-40B4-BE49-F238E27FC236}">
                <a16:creationId xmlns:a16="http://schemas.microsoft.com/office/drawing/2014/main" id="{04747905-6FA5-41BE-BD5C-30523D73AD14}"/>
              </a:ext>
            </a:extLst>
          </p:cNvPr>
          <p:cNvSpPr>
            <a:spLocks noGrp="1"/>
          </p:cNvSpPr>
          <p:nvPr/>
        </p:nvSpPr>
        <p:spPr>
          <a:xfrm>
            <a:off x="695325" y="1918335"/>
            <a:ext cx="299085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C8A04C"/>
                </a:solidFill>
                <a:latin typeface="IBM Plex Sans Arabic"/>
                <a:ea typeface="IBM Plex Sans Arabic"/>
                <a:cs typeface="IBM Plex Sans Arabic"/>
              </a:defRPr>
            </a:pPr>
            <a:r>
              <a:rPr lang="ar-JO" sz="5850" b="1" kern="0" spc="0">
                <a:solidFill>
                  <a:srgbClr val="C8A04C"/>
                </a:solidFill>
                <a:latin typeface="IBM Plex Sans Arabic"/>
                <a:ea typeface="IBM Plex Sans Arabic"/>
                <a:cs typeface="IBM Plex Sans Arabic"/>
              </a:rPr>
              <a:t>1</a:t>
            </a:r>
          </a:p>
        </p:txBody>
      </p:sp>
      <p:sp>
        <p:nvSpPr>
          <p:cNvPr id="14" name="قرار يمتد لسنوات">
            <a:extLst>
              <a:ext uri="{FF2B5EF4-FFF2-40B4-BE49-F238E27FC236}">
                <a16:creationId xmlns:a16="http://schemas.microsoft.com/office/drawing/2014/main" id="{C5C230F8-D817-4642-95D9-B697FCB72112}"/>
              </a:ext>
            </a:extLst>
          </p:cNvPr>
          <p:cNvSpPr>
            <a:spLocks noGrp="1"/>
          </p:cNvSpPr>
          <p:nvPr/>
        </p:nvSpPr>
        <p:spPr>
          <a:xfrm>
            <a:off x="714375" y="3009900"/>
            <a:ext cx="295275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013070"/>
                </a:solidFill>
                <a:latin typeface="IBM Plex Sans Arabic"/>
                <a:ea typeface="IBM Plex Sans Arabic"/>
                <a:cs typeface="IBM Plex Sans Arabic"/>
              </a:defRPr>
            </a:pPr>
            <a:r>
              <a:rPr lang="ar-JO" sz="2100" b="1" kern="0" spc="0">
                <a:solidFill>
                  <a:srgbClr val="013070"/>
                </a:solidFill>
                <a:latin typeface="IBM Plex Sans Arabic"/>
                <a:ea typeface="IBM Plex Sans Arabic"/>
                <a:cs typeface="IBM Plex Sans Arabic"/>
              </a:rPr>
              <a:t>قرار يمتد لسنوات</a:t>
            </a:r>
          </a:p>
        </p:txBody>
      </p:sp>
      <p:sp>
        <p:nvSpPr>
          <p:cNvPr id="15" name="يحتاج ملاءمة وقبولًا وكلفة وسوقًا">
            <a:extLst>
              <a:ext uri="{FF2B5EF4-FFF2-40B4-BE49-F238E27FC236}">
                <a16:creationId xmlns:a16="http://schemas.microsoft.com/office/drawing/2014/main" id="{568A0A8B-7A92-4E25-BB79-1523EA80028D}"/>
              </a:ext>
            </a:extLst>
          </p:cNvPr>
          <p:cNvSpPr>
            <a:spLocks noGrp="1"/>
          </p:cNvSpPr>
          <p:nvPr/>
        </p:nvSpPr>
        <p:spPr>
          <a:xfrm>
            <a:off x="733425" y="3762375"/>
            <a:ext cx="2914650" cy="6381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يحتاج ملاءمة وقبولًا وكلفة وسوقًا</a:t>
            </a:r>
          </a:p>
        </p:txBody>
      </p:sp>
      <p:sp>
        <p:nvSpPr>
          <p:cNvPr id="16" name="Rectangle: Rounded Corners 15">
            <a:extLst>
              <a:ext uri="{FF2B5EF4-FFF2-40B4-BE49-F238E27FC236}">
                <a16:creationId xmlns:a16="http://schemas.microsoft.com/office/drawing/2014/main" id="{E3E74F7D-9BC0-4CD3-BA65-CCEDBD52BFD8}"/>
              </a:ext>
            </a:extLst>
          </p:cNvPr>
          <p:cNvSpPr>
            <a:spLocks noGrp="1"/>
          </p:cNvSpPr>
          <p:nvPr/>
        </p:nvSpPr>
        <p:spPr>
          <a:xfrm>
            <a:off x="666750" y="5000625"/>
            <a:ext cx="10810875" cy="685800"/>
          </a:xfrm>
          <a:prstGeom prst="roundRect">
            <a:avLst>
              <a:gd name="adj" fmla="val 11111"/>
            </a:avLst>
          </a:prstGeom>
          <a:solidFill>
            <a:srgbClr val="013070"/>
          </a:solidFill>
          <a:ln w="12383">
            <a:solidFill>
              <a:srgbClr val="013070"/>
            </a:solidFill>
          </a:ln>
        </p:spPr>
      </p:sp>
      <p:sp>
        <p:nvSpPr>
          <p:cNvPr id="17" name="التحدي: البيانات منشورة، لكنها لا تجتمع حول ا">
            <a:extLst>
              <a:ext uri="{FF2B5EF4-FFF2-40B4-BE49-F238E27FC236}">
                <a16:creationId xmlns:a16="http://schemas.microsoft.com/office/drawing/2014/main" id="{E914AB62-C2B2-4479-93C0-65838F65964B}"/>
              </a:ext>
            </a:extLst>
          </p:cNvPr>
          <p:cNvSpPr>
            <a:spLocks noGrp="1"/>
          </p:cNvSpPr>
          <p:nvPr/>
        </p:nvSpPr>
        <p:spPr>
          <a:xfrm>
            <a:off x="904875" y="5095875"/>
            <a:ext cx="10334625"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التحدي: البيانات منشورة، لكنها لا تجتمع حول الطالب في خدمة قرار واحدة</a:t>
            </a:r>
          </a:p>
        </p:txBody>
      </p:sp>
      <p:sp>
        <p:nvSpPr>
          <p:cNvPr id="18" name="مصدر الأعداد: وزارة التربية والتعليم • وحدة ت">
            <a:extLst>
              <a:ext uri="{FF2B5EF4-FFF2-40B4-BE49-F238E27FC236}">
                <a16:creationId xmlns:a16="http://schemas.microsoft.com/office/drawing/2014/main" id="{544EDB5E-E977-4907-B8E1-4528E4C00E12}"/>
              </a:ext>
            </a:extLst>
          </p:cNvPr>
          <p:cNvSpPr>
            <a:spLocks noGrp="1"/>
          </p:cNvSpPr>
          <p:nvPr/>
        </p:nvSpPr>
        <p:spPr>
          <a:xfrm>
            <a:off x="714375" y="5895975"/>
            <a:ext cx="1076325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مصدر الأعداد: وزارة التربية والتعليم • وحدة تنسيق القبول الموحد، آب 2026</a:t>
            </a:r>
          </a:p>
        </p:txBody>
      </p:sp>
    </p:spTree>
    <p:extLst>
      <p:ext uri="{BB962C8B-B14F-4D97-AF65-F5344CB8AC3E}">
        <p14:creationId xmlns:p14="http://schemas.microsoft.com/office/powerpoint/2010/main" val="1508456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الحل: رحلة قرار واحدة مع مُرشِدي">
            <a:extLst>
              <a:ext uri="{FF2B5EF4-FFF2-40B4-BE49-F238E27FC236}">
                <a16:creationId xmlns:a16="http://schemas.microsoft.com/office/drawing/2014/main" id="{8EE1924C-4055-4721-93BA-F29764843B0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الحل: رحلة قرار واحدة مع مُرشِدي</a:t>
            </a:r>
          </a:p>
        </p:txBody>
      </p:sp>
      <p:sp>
        <p:nvSpPr>
          <p:cNvPr id="3" name="03">
            <a:extLst>
              <a:ext uri="{FF2B5EF4-FFF2-40B4-BE49-F238E27FC236}">
                <a16:creationId xmlns:a16="http://schemas.microsoft.com/office/drawing/2014/main" id="{CC5424A6-A5A2-4359-81D4-09317BE0CD0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8" name="Picture 17"/>
          <p:cNvPicPr>
            <a:picLocks noChangeAspect="1"/>
          </p:cNvPicPr>
          <p:nvPr/>
        </p:nvPicPr>
        <p:blipFill>
          <a:blip r:embed="rId4"/>
          <a:stretch/>
        </p:blipFill>
        <p:spPr>
          <a:xfrm>
            <a:off x="0" y="47625"/>
            <a:ext cx="4191000" cy="6286500"/>
          </a:xfrm>
          <a:prstGeom prst="rect">
            <a:avLst/>
          </a:prstGeom>
        </p:spPr>
      </p:pic>
      <p:sp>
        <p:nvSpPr>
          <p:cNvPr id="5" name="Rectangle: Rounded Corners 4">
            <a:extLst>
              <a:ext uri="{FF2B5EF4-FFF2-40B4-BE49-F238E27FC236}">
                <a16:creationId xmlns:a16="http://schemas.microsoft.com/office/drawing/2014/main" id="{6C50BB17-1E09-414C-8120-2AA9BEB8BBA2}"/>
              </a:ext>
            </a:extLst>
          </p:cNvPr>
          <p:cNvSpPr>
            <a:spLocks noGrp="1"/>
          </p:cNvSpPr>
          <p:nvPr/>
        </p:nvSpPr>
        <p:spPr>
          <a:xfrm>
            <a:off x="9505950" y="1381125"/>
            <a:ext cx="1971675" cy="400050"/>
          </a:xfrm>
          <a:prstGeom prst="roundRect">
            <a:avLst>
              <a:gd name="adj" fmla="val 19048"/>
            </a:avLst>
          </a:prstGeom>
          <a:solidFill>
            <a:srgbClr val="123D76"/>
          </a:solidFill>
          <a:ln w="12383">
            <a:solidFill>
              <a:srgbClr val="58749B"/>
            </a:solidFill>
          </a:ln>
        </p:spPr>
      </p:sp>
      <p:sp>
        <p:nvSpPr>
          <p:cNvPr id="6" name="عربي  +  English">
            <a:extLst>
              <a:ext uri="{FF2B5EF4-FFF2-40B4-BE49-F238E27FC236}">
                <a16:creationId xmlns:a16="http://schemas.microsoft.com/office/drawing/2014/main" id="{16CF45EE-73A3-4810-8B41-3DEBFFC4F51B}"/>
              </a:ext>
            </a:extLst>
          </p:cNvPr>
          <p:cNvSpPr>
            <a:spLocks noGrp="1"/>
          </p:cNvSpPr>
          <p:nvPr/>
        </p:nvSpPr>
        <p:spPr>
          <a:xfrm>
            <a:off x="9601200" y="1418273"/>
            <a:ext cx="178117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عربي  +  English</a:t>
            </a:r>
          </a:p>
        </p:txBody>
      </p:sp>
      <p:sp>
        <p:nvSpPr>
          <p:cNvPr id="7" name="1  ابدأ من اهتماماتك">
            <a:extLst>
              <a:ext uri="{FF2B5EF4-FFF2-40B4-BE49-F238E27FC236}">
                <a16:creationId xmlns:a16="http://schemas.microsoft.com/office/drawing/2014/main" id="{5ED6900F-93D0-4F8F-A729-DA567607C234}"/>
              </a:ext>
            </a:extLst>
          </p:cNvPr>
          <p:cNvSpPr>
            <a:spLocks noGrp="1"/>
          </p:cNvSpPr>
          <p:nvPr/>
        </p:nvSpPr>
        <p:spPr>
          <a:xfrm>
            <a:off x="4524375" y="169545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1  ابدأ من اهتماماتك</a:t>
            </a:r>
          </a:p>
        </p:txBody>
      </p:sp>
      <p:sp>
        <p:nvSpPr>
          <p:cNvPr id="8" name="أسئلة استكشاف ذاتي تبني قائمة أولية">
            <a:extLst>
              <a:ext uri="{FF2B5EF4-FFF2-40B4-BE49-F238E27FC236}">
                <a16:creationId xmlns:a16="http://schemas.microsoft.com/office/drawing/2014/main" id="{1D94DE1A-61CA-4149-A4C9-494F3A3D788F}"/>
              </a:ext>
            </a:extLst>
          </p:cNvPr>
          <p:cNvSpPr>
            <a:spLocks noGrp="1"/>
          </p:cNvSpPr>
          <p:nvPr/>
        </p:nvSpPr>
        <p:spPr>
          <a:xfrm>
            <a:off x="4524375" y="228600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أسئلة استكشاف ذاتي تبني قائمة أولية</a:t>
            </a:r>
          </a:p>
        </p:txBody>
      </p:sp>
      <p:sp>
        <p:nvSpPr>
          <p:cNvPr id="9" name="2  قارن خياراتك">
            <a:extLst>
              <a:ext uri="{FF2B5EF4-FFF2-40B4-BE49-F238E27FC236}">
                <a16:creationId xmlns:a16="http://schemas.microsoft.com/office/drawing/2014/main" id="{995D518E-99C1-4F9A-94BC-F3C8AC70FBF9}"/>
              </a:ext>
            </a:extLst>
          </p:cNvPr>
          <p:cNvSpPr>
            <a:spLocks noGrp="1"/>
          </p:cNvSpPr>
          <p:nvPr/>
        </p:nvSpPr>
        <p:spPr>
          <a:xfrm>
            <a:off x="4524375" y="29051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2  قارن خياراتك</a:t>
            </a:r>
          </a:p>
        </p:txBody>
      </p:sp>
      <p:sp>
        <p:nvSpPr>
          <p:cNvPr id="10" name="قبول ورسوم وكلفة وإشارات سوق في شاشة واحدة">
            <a:extLst>
              <a:ext uri="{FF2B5EF4-FFF2-40B4-BE49-F238E27FC236}">
                <a16:creationId xmlns:a16="http://schemas.microsoft.com/office/drawing/2014/main" id="{E1BA7AB0-4773-47D6-B174-471F98854E98}"/>
              </a:ext>
            </a:extLst>
          </p:cNvPr>
          <p:cNvSpPr>
            <a:spLocks noGrp="1"/>
          </p:cNvSpPr>
          <p:nvPr/>
        </p:nvSpPr>
        <p:spPr>
          <a:xfrm>
            <a:off x="4524375" y="34956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قبول ورسوم وكلفة وإشارات سوق في شاشة واحدة</a:t>
            </a:r>
          </a:p>
        </p:txBody>
      </p:sp>
      <p:sp>
        <p:nvSpPr>
          <p:cNvPr id="11" name="3  احفظ قرارك">
            <a:extLst>
              <a:ext uri="{FF2B5EF4-FFF2-40B4-BE49-F238E27FC236}">
                <a16:creationId xmlns:a16="http://schemas.microsoft.com/office/drawing/2014/main" id="{AEF200E5-6A43-43C5-A5FA-3D0698BF82CB}"/>
              </a:ext>
            </a:extLst>
          </p:cNvPr>
          <p:cNvSpPr>
            <a:spLocks noGrp="1"/>
          </p:cNvSpPr>
          <p:nvPr/>
        </p:nvSpPr>
        <p:spPr>
          <a:xfrm>
            <a:off x="4524375" y="4114800"/>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3  احفظ قرارك</a:t>
            </a:r>
          </a:p>
        </p:txBody>
      </p:sp>
      <p:sp>
        <p:nvSpPr>
          <p:cNvPr id="12" name="قائمة قصيرة وخطة كلفة ومصادر مؤرخة">
            <a:extLst>
              <a:ext uri="{FF2B5EF4-FFF2-40B4-BE49-F238E27FC236}">
                <a16:creationId xmlns:a16="http://schemas.microsoft.com/office/drawing/2014/main" id="{3EFCFE34-DC54-49EB-A68F-7F8D662E109E}"/>
              </a:ext>
            </a:extLst>
          </p:cNvPr>
          <p:cNvSpPr>
            <a:spLocks noGrp="1"/>
          </p:cNvSpPr>
          <p:nvPr/>
        </p:nvSpPr>
        <p:spPr>
          <a:xfrm>
            <a:off x="4524375" y="4705350"/>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قائمة قصيرة وخطة كلفة ومصادر مؤرخة</a:t>
            </a:r>
          </a:p>
        </p:txBody>
      </p:sp>
      <p:sp>
        <p:nvSpPr>
          <p:cNvPr id="13" name="Rectangle: Rounded Corners 12">
            <a:extLst>
              <a:ext uri="{FF2B5EF4-FFF2-40B4-BE49-F238E27FC236}">
                <a16:creationId xmlns:a16="http://schemas.microsoft.com/office/drawing/2014/main" id="{0E56A72A-ACFC-4D1A-96BD-3100B448F199}"/>
              </a:ext>
            </a:extLst>
          </p:cNvPr>
          <p:cNvSpPr>
            <a:spLocks noGrp="1"/>
          </p:cNvSpPr>
          <p:nvPr/>
        </p:nvSpPr>
        <p:spPr>
          <a:xfrm>
            <a:off x="4524375" y="5410200"/>
            <a:ext cx="6953250" cy="666750"/>
          </a:xfrm>
          <a:prstGeom prst="roundRect">
            <a:avLst>
              <a:gd name="adj" fmla="val 11429"/>
            </a:avLst>
          </a:prstGeom>
          <a:solidFill>
            <a:srgbClr val="F3EAD7"/>
          </a:solidFill>
          <a:ln w="12383">
            <a:solidFill>
              <a:srgbClr val="DFC98F"/>
            </a:solidFill>
          </a:ln>
        </p:spPr>
      </p:sp>
      <p:sp>
        <p:nvSpPr>
          <p:cNvPr id="14" name="المخرج: قرار مبرّر يناقشه الطالب مع أسرته">
            <a:extLst>
              <a:ext uri="{FF2B5EF4-FFF2-40B4-BE49-F238E27FC236}">
                <a16:creationId xmlns:a16="http://schemas.microsoft.com/office/drawing/2014/main" id="{60CA0DF5-71D6-411E-9A2C-44D81B9D44AE}"/>
              </a:ext>
            </a:extLst>
          </p:cNvPr>
          <p:cNvSpPr>
            <a:spLocks noGrp="1"/>
          </p:cNvSpPr>
          <p:nvPr/>
        </p:nvSpPr>
        <p:spPr>
          <a:xfrm>
            <a:off x="4714875" y="5486400"/>
            <a:ext cx="6572250" cy="5143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المخرج: قرار مبرّر يناقشه الطالب مع أسرته</a:t>
            </a:r>
          </a:p>
        </p:txBody>
      </p:sp>
    </p:spTree>
    <p:extLst>
      <p:ext uri="{BB962C8B-B14F-4D97-AF65-F5344CB8AC3E}">
        <p14:creationId xmlns:p14="http://schemas.microsoft.com/office/powerpoint/2010/main" val="1165866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منتج عامل: مقارنة برامج فعلية">
            <a:extLst>
              <a:ext uri="{FF2B5EF4-FFF2-40B4-BE49-F238E27FC236}">
                <a16:creationId xmlns:a16="http://schemas.microsoft.com/office/drawing/2014/main" id="{F4E62003-5C66-491F-9EFB-12E2E156A0D3}"/>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منتج عامل: مقارنة برامج فعلية</a:t>
            </a:r>
          </a:p>
        </p:txBody>
      </p:sp>
      <p:sp>
        <p:nvSpPr>
          <p:cNvPr id="3" name="04">
            <a:extLst>
              <a:ext uri="{FF2B5EF4-FFF2-40B4-BE49-F238E27FC236}">
                <a16:creationId xmlns:a16="http://schemas.microsoft.com/office/drawing/2014/main" id="{A8E97652-9E68-4055-AD48-1DFB00CAC20C}"/>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607">
            <a:extLst>
              <a:ext uri="{FF2B5EF4-FFF2-40B4-BE49-F238E27FC236}">
                <a16:creationId xmlns:a16="http://schemas.microsoft.com/office/drawing/2014/main" id="{2B1D93F4-6B88-46EA-A74A-491EDC2E02A9}"/>
              </a:ext>
            </a:extLst>
          </p:cNvPr>
          <p:cNvSpPr>
            <a:spLocks noGrp="1"/>
          </p:cNvSpPr>
          <p:nvPr/>
        </p:nvSpPr>
        <p:spPr>
          <a:xfrm>
            <a:off x="4524375" y="16897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013070"/>
                </a:solidFill>
                <a:latin typeface="IBM Plex Sans Arabic"/>
                <a:ea typeface="IBM Plex Sans Arabic"/>
                <a:cs typeface="IBM Plex Sans Arabic"/>
              </a:defRPr>
            </a:pPr>
            <a:r>
              <a:rPr lang="ar-JO" sz="6600" b="1" kern="0" spc="0">
                <a:solidFill>
                  <a:srgbClr val="013070"/>
                </a:solidFill>
                <a:latin typeface="IBM Plex Sans Arabic"/>
                <a:ea typeface="IBM Plex Sans Arabic"/>
                <a:cs typeface="IBM Plex Sans Arabic"/>
              </a:rPr>
              <a:t>607</a:t>
            </a:r>
          </a:p>
        </p:txBody>
      </p:sp>
      <p:sp>
        <p:nvSpPr>
          <p:cNvPr id="6" name="عروض برامج في دليل القبول الموحد">
            <a:extLst>
              <a:ext uri="{FF2B5EF4-FFF2-40B4-BE49-F238E27FC236}">
                <a16:creationId xmlns:a16="http://schemas.microsoft.com/office/drawing/2014/main" id="{195E6347-ED32-457B-9B40-CAD2CA4D72DB}"/>
              </a:ext>
            </a:extLst>
          </p:cNvPr>
          <p:cNvSpPr>
            <a:spLocks noGrp="1"/>
          </p:cNvSpPr>
          <p:nvPr/>
        </p:nvSpPr>
        <p:spPr>
          <a:xfrm>
            <a:off x="4429125" y="2838450"/>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عروض برامج في دليل القبول الموحد</a:t>
            </a:r>
          </a:p>
        </p:txBody>
      </p:sp>
      <p:sp>
        <p:nvSpPr>
          <p:cNvPr id="7" name="دليل البرامج والرسوم 2026/2027">
            <a:extLst>
              <a:ext uri="{FF2B5EF4-FFF2-40B4-BE49-F238E27FC236}">
                <a16:creationId xmlns:a16="http://schemas.microsoft.com/office/drawing/2014/main" id="{007C5E5F-5836-4119-8BEE-981378C66324}"/>
              </a:ext>
            </a:extLst>
          </p:cNvPr>
          <p:cNvSpPr>
            <a:spLocks noGrp="1"/>
          </p:cNvSpPr>
          <p:nvPr/>
        </p:nvSpPr>
        <p:spPr>
          <a:xfrm>
            <a:off x="4429125" y="36099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دليل البرامج والرسوم 2026/2027</a:t>
            </a:r>
          </a:p>
        </p:txBody>
      </p:sp>
      <p:sp>
        <p:nvSpPr>
          <p:cNvPr id="8" name="آخر حدود تنافسية منشورة: 2025">
            <a:extLst>
              <a:ext uri="{FF2B5EF4-FFF2-40B4-BE49-F238E27FC236}">
                <a16:creationId xmlns:a16="http://schemas.microsoft.com/office/drawing/2014/main" id="{0D5B4AA9-EE19-4839-8923-80F9F2B85834}"/>
              </a:ext>
            </a:extLst>
          </p:cNvPr>
          <p:cNvSpPr>
            <a:spLocks noGrp="1"/>
          </p:cNvSpPr>
          <p:nvPr/>
        </p:nvSpPr>
        <p:spPr>
          <a:xfrm>
            <a:off x="4429125" y="427672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0" kern="0" spc="0">
                <a:solidFill>
                  <a:srgbClr val="53657C"/>
                </a:solidFill>
                <a:latin typeface="IBM Plex Sans Arabic"/>
                <a:ea typeface="IBM Plex Sans Arabic"/>
                <a:cs typeface="IBM Plex Sans Arabic"/>
              </a:defRPr>
            </a:pPr>
            <a:r>
              <a:rPr lang="ar-JO" sz="2400" b="0" kern="0" spc="0">
                <a:solidFill>
                  <a:srgbClr val="53657C"/>
                </a:solidFill>
                <a:latin typeface="IBM Plex Sans Arabic"/>
                <a:ea typeface="IBM Plex Sans Arabic"/>
                <a:cs typeface="IBM Plex Sans Arabic"/>
              </a:rPr>
              <a:t>آخر حدود تنافسية منشورة: 2025</a:t>
            </a:r>
          </a:p>
        </p:txBody>
      </p:sp>
      <p:sp>
        <p:nvSpPr>
          <p:cNvPr id="9" name="شرط التقديم ≠ ضمان القبول">
            <a:extLst>
              <a:ext uri="{FF2B5EF4-FFF2-40B4-BE49-F238E27FC236}">
                <a16:creationId xmlns:a16="http://schemas.microsoft.com/office/drawing/2014/main" id="{89B2A0BF-6D33-488E-8F5A-E4696CA2530F}"/>
              </a:ext>
            </a:extLst>
          </p:cNvPr>
          <p:cNvSpPr>
            <a:spLocks noGrp="1"/>
          </p:cNvSpPr>
          <p:nvPr/>
        </p:nvSpPr>
        <p:spPr>
          <a:xfrm>
            <a:off x="4429125" y="5057775"/>
            <a:ext cx="7048500" cy="6096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شرط التقديم ≠ ضمان القبول</a:t>
            </a:r>
          </a:p>
        </p:txBody>
      </p:sp>
      <p:sp>
        <p:nvSpPr>
          <p:cNvPr id="10" name="المصدر: القبول الموحد، تحقق 10 أيلول 2026؛ دل">
            <a:extLst>
              <a:ext uri="{FF2B5EF4-FFF2-40B4-BE49-F238E27FC236}">
                <a16:creationId xmlns:a16="http://schemas.microsoft.com/office/drawing/2014/main" id="{39CA9C5A-7336-4106-BE64-BDD8695FC486}"/>
              </a:ext>
            </a:extLst>
          </p:cNvPr>
          <p:cNvSpPr>
            <a:spLocks noGrp="1"/>
          </p:cNvSpPr>
          <p:nvPr/>
        </p:nvSpPr>
        <p:spPr>
          <a:xfrm>
            <a:off x="4429125" y="5943600"/>
            <a:ext cx="7048500" cy="4095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1820328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11125200" y="400050"/>
            <a:ext cx="552450" cy="552450"/>
          </a:xfrm>
          <a:prstGeom prst="rect">
            <a:avLst/>
          </a:prstGeom>
        </p:spPr>
      </p:pic>
      <p:sp>
        <p:nvSpPr>
          <p:cNvPr id="2" name="منتج عامل: كلفة تناقشها الأسرة">
            <a:extLst>
              <a:ext uri="{FF2B5EF4-FFF2-40B4-BE49-F238E27FC236}">
                <a16:creationId xmlns:a16="http://schemas.microsoft.com/office/drawing/2014/main" id="{1550F5F2-2A67-4EAA-9FB4-BB1708684D05}"/>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منتج عامل: كلفة تناقشها الأسرة</a:t>
            </a:r>
          </a:p>
        </p:txBody>
      </p:sp>
      <p:sp>
        <p:nvSpPr>
          <p:cNvPr id="3" name="05">
            <a:extLst>
              <a:ext uri="{FF2B5EF4-FFF2-40B4-BE49-F238E27FC236}">
                <a16:creationId xmlns:a16="http://schemas.microsoft.com/office/drawing/2014/main" id="{EDE9FA61-CA03-4154-9488-18F17A18E804}"/>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4" name="Picture 13"/>
          <p:cNvPicPr>
            <a:picLocks noChangeAspect="1"/>
          </p:cNvPicPr>
          <p:nvPr/>
        </p:nvPicPr>
        <p:blipFill>
          <a:blip r:embed="rId4"/>
          <a:stretch/>
        </p:blipFill>
        <p:spPr>
          <a:xfrm>
            <a:off x="0" y="47625"/>
            <a:ext cx="4191000" cy="6286500"/>
          </a:xfrm>
          <a:prstGeom prst="rect">
            <a:avLst/>
          </a:prstGeom>
        </p:spPr>
      </p:pic>
      <p:sp>
        <p:nvSpPr>
          <p:cNvPr id="5" name="3,051">
            <a:extLst>
              <a:ext uri="{FF2B5EF4-FFF2-40B4-BE49-F238E27FC236}">
                <a16:creationId xmlns:a16="http://schemas.microsoft.com/office/drawing/2014/main" id="{49D6B7C4-EA08-4C93-9099-3AC5715DD4E4}"/>
              </a:ext>
            </a:extLst>
          </p:cNvPr>
          <p:cNvSpPr>
            <a:spLocks noGrp="1"/>
          </p:cNvSpPr>
          <p:nvPr/>
        </p:nvSpPr>
        <p:spPr>
          <a:xfrm>
            <a:off x="4524375" y="1685925"/>
            <a:ext cx="6953250" cy="125730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750" b="1" kern="0" spc="0">
                <a:solidFill>
                  <a:srgbClr val="FFFFFF"/>
                </a:solidFill>
                <a:latin typeface="IBM Plex Sans Arabic"/>
                <a:ea typeface="IBM Plex Sans Arabic"/>
                <a:cs typeface="IBM Plex Sans Arabic"/>
              </a:defRPr>
            </a:pPr>
            <a:r>
              <a:rPr lang="ar-JO" sz="6750" b="1" kern="0" spc="0">
                <a:solidFill>
                  <a:srgbClr val="FFFFFF"/>
                </a:solidFill>
                <a:latin typeface="IBM Plex Sans Arabic"/>
                <a:ea typeface="IBM Plex Sans Arabic"/>
                <a:cs typeface="IBM Plex Sans Arabic"/>
              </a:rPr>
              <a:t>3,051</a:t>
            </a:r>
          </a:p>
        </p:txBody>
      </p:sp>
      <p:sp>
        <p:nvSpPr>
          <p:cNvPr id="6" name="دينارًا سنويًا في هذا المثال">
            <a:extLst>
              <a:ext uri="{FF2B5EF4-FFF2-40B4-BE49-F238E27FC236}">
                <a16:creationId xmlns:a16="http://schemas.microsoft.com/office/drawing/2014/main" id="{D151FB86-0884-426E-9495-D9F5D1438E93}"/>
              </a:ext>
            </a:extLst>
          </p:cNvPr>
          <p:cNvSpPr>
            <a:spLocks noGrp="1"/>
          </p:cNvSpPr>
          <p:nvPr/>
        </p:nvSpPr>
        <p:spPr>
          <a:xfrm>
            <a:off x="4429125" y="2886075"/>
            <a:ext cx="7048500" cy="5905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C8A04C"/>
                </a:solidFill>
                <a:latin typeface="IBM Plex Sans Arabic"/>
                <a:ea typeface="IBM Plex Sans Arabic"/>
                <a:cs typeface="IBM Plex Sans Arabic"/>
              </a:defRPr>
            </a:pPr>
            <a:r>
              <a:rPr lang="ar-JO" sz="3000" b="1" kern="0" spc="0">
                <a:solidFill>
                  <a:srgbClr val="C8A04C"/>
                </a:solidFill>
                <a:latin typeface="IBM Plex Sans Arabic"/>
                <a:ea typeface="IBM Plex Sans Arabic"/>
                <a:cs typeface="IBM Plex Sans Arabic"/>
              </a:rPr>
              <a:t>دينارًا سنويًا في هذا المثال</a:t>
            </a:r>
          </a:p>
        </p:txBody>
      </p:sp>
      <p:sp>
        <p:nvSpPr>
          <p:cNvPr id="7" name="رسم رسمي: 47 د.أ للساعة">
            <a:extLst>
              <a:ext uri="{FF2B5EF4-FFF2-40B4-BE49-F238E27FC236}">
                <a16:creationId xmlns:a16="http://schemas.microsoft.com/office/drawing/2014/main" id="{07394AD8-C6B1-4FD1-BBD9-99E6FA8FF2C0}"/>
              </a:ext>
            </a:extLst>
          </p:cNvPr>
          <p:cNvSpPr>
            <a:spLocks noGrp="1"/>
          </p:cNvSpPr>
          <p:nvPr/>
        </p:nvSpPr>
        <p:spPr>
          <a:xfrm>
            <a:off x="4429125" y="3695700"/>
            <a:ext cx="7048500" cy="4953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00" b="1" kern="0" spc="0">
                <a:solidFill>
                  <a:srgbClr val="FFFFFF"/>
                </a:solidFill>
                <a:latin typeface="IBM Plex Sans Arabic"/>
                <a:ea typeface="IBM Plex Sans Arabic"/>
                <a:cs typeface="IBM Plex Sans Arabic"/>
              </a:defRPr>
            </a:pPr>
            <a:r>
              <a:rPr lang="ar-JO" sz="2400" b="1" kern="0" spc="0">
                <a:solidFill>
                  <a:srgbClr val="FFFFFF"/>
                </a:solidFill>
                <a:latin typeface="IBM Plex Sans Arabic"/>
                <a:ea typeface="IBM Plex Sans Arabic"/>
                <a:cs typeface="IBM Plex Sans Arabic"/>
              </a:rPr>
              <a:t>رسم رسمي: 47 د.أ للساعة</a:t>
            </a:r>
          </a:p>
        </p:txBody>
      </p:sp>
      <p:sp>
        <p:nvSpPr>
          <p:cNvPr id="8" name="افتراضات الأسرة: الساعات، المدة، والرسوم والم">
            <a:extLst>
              <a:ext uri="{FF2B5EF4-FFF2-40B4-BE49-F238E27FC236}">
                <a16:creationId xmlns:a16="http://schemas.microsoft.com/office/drawing/2014/main" id="{F5E976DD-0AF4-4DD7-8609-500CB17801D4}"/>
              </a:ext>
            </a:extLst>
          </p:cNvPr>
          <p:cNvSpPr>
            <a:spLocks noGrp="1"/>
          </p:cNvSpPr>
          <p:nvPr/>
        </p:nvSpPr>
        <p:spPr>
          <a:xfrm>
            <a:off x="4429125" y="4295775"/>
            <a:ext cx="7048500" cy="838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325" b="0" kern="0" spc="0">
                <a:solidFill>
                  <a:srgbClr val="D1DEED"/>
                </a:solidFill>
                <a:latin typeface="IBM Plex Sans Arabic"/>
                <a:ea typeface="IBM Plex Sans Arabic"/>
                <a:cs typeface="IBM Plex Sans Arabic"/>
              </a:defRPr>
            </a:pPr>
            <a:r>
              <a:rPr lang="ar-JO" sz="2325" b="0" kern="0" spc="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9" name="تغيير الميزانية يغيّر فجوة التمويل">
            <a:extLst>
              <a:ext uri="{FF2B5EF4-FFF2-40B4-BE49-F238E27FC236}">
                <a16:creationId xmlns:a16="http://schemas.microsoft.com/office/drawing/2014/main" id="{85B266C2-8EA9-40ED-9C1C-FF1FD16CAE5C}"/>
              </a:ext>
            </a:extLst>
          </p:cNvPr>
          <p:cNvSpPr>
            <a:spLocks noGrp="1"/>
          </p:cNvSpPr>
          <p:nvPr/>
        </p:nvSpPr>
        <p:spPr>
          <a:xfrm>
            <a:off x="4429125" y="5248275"/>
            <a:ext cx="7048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700" b="1" kern="0" spc="0">
                <a:solidFill>
                  <a:srgbClr val="C8A04C"/>
                </a:solidFill>
                <a:latin typeface="IBM Plex Sans Arabic"/>
                <a:ea typeface="IBM Plex Sans Arabic"/>
                <a:cs typeface="IBM Plex Sans Arabic"/>
              </a:defRPr>
            </a:pPr>
            <a:r>
              <a:rPr lang="ar-JO" sz="2700" b="1" kern="0" spc="0">
                <a:solidFill>
                  <a:srgbClr val="C8A04C"/>
                </a:solidFill>
                <a:latin typeface="IBM Plex Sans Arabic"/>
                <a:ea typeface="IBM Plex Sans Arabic"/>
                <a:cs typeface="IBM Plex Sans Arabic"/>
              </a:rPr>
              <a:t>تغيير الميزانية يغيّر فجوة التمويل</a:t>
            </a:r>
          </a:p>
        </p:txBody>
      </p:sp>
      <p:sp>
        <p:nvSpPr>
          <p:cNvPr id="10" name="مثال علم الحاسوب، الأردنية؛ افتراضات قابلة لل">
            <a:extLst>
              <a:ext uri="{FF2B5EF4-FFF2-40B4-BE49-F238E27FC236}">
                <a16:creationId xmlns:a16="http://schemas.microsoft.com/office/drawing/2014/main" id="{9710C953-8810-4BEB-8D16-6E9735CB4A7C}"/>
              </a:ext>
            </a:extLst>
          </p:cNvPr>
          <p:cNvSpPr>
            <a:spLocks noGrp="1"/>
          </p:cNvSpPr>
          <p:nvPr/>
        </p:nvSpPr>
        <p:spPr>
          <a:xfrm>
            <a:off x="4429125" y="5972175"/>
            <a:ext cx="7048500" cy="3810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D1DEED"/>
                </a:solidFill>
                <a:latin typeface="IBM Plex Sans Arabic"/>
                <a:ea typeface="IBM Plex Sans Arabic"/>
                <a:cs typeface="IBM Plex Sans Arabic"/>
              </a:defRPr>
            </a:pPr>
            <a:r>
              <a:rPr lang="ar-JO" sz="1650" b="0" kern="0" spc="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134968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لسوق الأول: الطالب مستفيد والمؤسسة تدفع">
            <a:extLst>
              <a:ext uri="{FF2B5EF4-FFF2-40B4-BE49-F238E27FC236}">
                <a16:creationId xmlns:a16="http://schemas.microsoft.com/office/drawing/2014/main" id="{3AD5A69A-96B4-466D-9C75-EF9408E0100B}"/>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السوق الأول: الطالب مستفيد والمؤسسة تدفع</a:t>
            </a:r>
          </a:p>
        </p:txBody>
      </p:sp>
      <p:sp>
        <p:nvSpPr>
          <p:cNvPr id="3" name="06">
            <a:extLst>
              <a:ext uri="{FF2B5EF4-FFF2-40B4-BE49-F238E27FC236}">
                <a16:creationId xmlns:a16="http://schemas.microsoft.com/office/drawing/2014/main" id="{4F9513E8-6AE8-4E9F-AEF8-DAFA2A2325DF}"/>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A35DD246-1B11-429C-8B02-9E3C09742C58}"/>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20FB5D2F-43D4-4C1F-B390-AB7D41EBAC2A}"/>
              </a:ext>
            </a:extLst>
          </p:cNvPr>
          <p:cNvSpPr>
            <a:spLocks noGrp="1"/>
          </p:cNvSpPr>
          <p:nvPr/>
        </p:nvSpPr>
        <p:spPr>
          <a:xfrm>
            <a:off x="838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3989DDE1-E6E3-499B-A52C-2265C432C45A}"/>
              </a:ext>
            </a:extLst>
          </p:cNvPr>
          <p:cNvSpPr>
            <a:spLocks noGrp="1"/>
          </p:cNvSpPr>
          <p:nvPr/>
        </p:nvSpPr>
        <p:spPr>
          <a:xfrm>
            <a:off x="833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F42B33B8-7135-4EB8-861D-D755B088FE7A}"/>
              </a:ext>
            </a:extLst>
          </p:cNvPr>
          <p:cNvSpPr>
            <a:spLocks noGrp="1"/>
          </p:cNvSpPr>
          <p:nvPr/>
        </p:nvSpPr>
        <p:spPr>
          <a:xfrm>
            <a:off x="838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2617454E-CF29-45F6-9F0E-F00018544E9E}"/>
              </a:ext>
            </a:extLst>
          </p:cNvPr>
          <p:cNvSpPr>
            <a:spLocks noGrp="1"/>
          </p:cNvSpPr>
          <p:nvPr/>
        </p:nvSpPr>
        <p:spPr>
          <a:xfrm>
            <a:off x="838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F6FFC4DD-9CD4-4843-8B77-6073A234E3A9}"/>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546C12B5-AA3D-4BB8-AF48-884EEFDB60AA}"/>
              </a:ext>
            </a:extLst>
          </p:cNvPr>
          <p:cNvSpPr>
            <a:spLocks noGrp="1"/>
          </p:cNvSpPr>
          <p:nvPr/>
        </p:nvSpPr>
        <p:spPr>
          <a:xfrm>
            <a:off x="457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1D6AF24F-7CE5-4858-B30B-965881124979}"/>
              </a:ext>
            </a:extLst>
          </p:cNvPr>
          <p:cNvSpPr>
            <a:spLocks noGrp="1"/>
          </p:cNvSpPr>
          <p:nvPr/>
        </p:nvSpPr>
        <p:spPr>
          <a:xfrm>
            <a:off x="452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5E8662AD-9366-405B-9FE3-867D70DC90F4}"/>
              </a:ext>
            </a:extLst>
          </p:cNvPr>
          <p:cNvSpPr>
            <a:spLocks noGrp="1"/>
          </p:cNvSpPr>
          <p:nvPr/>
        </p:nvSpPr>
        <p:spPr>
          <a:xfrm>
            <a:off x="4572000" y="3419475"/>
            <a:ext cx="2857500" cy="5905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ED408D0C-AFB1-4C5B-84E4-14A6BDA105B2}"/>
              </a:ext>
            </a:extLst>
          </p:cNvPr>
          <p:cNvSpPr>
            <a:spLocks noGrp="1"/>
          </p:cNvSpPr>
          <p:nvPr/>
        </p:nvSpPr>
        <p:spPr>
          <a:xfrm>
            <a:off x="457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FBE8B857-2167-4276-B9A3-F206D9DA7BA3}"/>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BF4E7DA0-335C-4453-8E21-C1DFBFA0D49E}"/>
              </a:ext>
            </a:extLst>
          </p:cNvPr>
          <p:cNvSpPr>
            <a:spLocks noGrp="1"/>
          </p:cNvSpPr>
          <p:nvPr/>
        </p:nvSpPr>
        <p:spPr>
          <a:xfrm>
            <a:off x="762000" y="2038350"/>
            <a:ext cx="2857500" cy="40005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00" b="1" kern="0" spc="0">
                <a:solidFill>
                  <a:srgbClr val="C8A04C"/>
                </a:solidFill>
                <a:latin typeface="IBM Plex Sans Arabic"/>
                <a:ea typeface="IBM Plex Sans Arabic"/>
                <a:cs typeface="IBM Plex Sans Arabic"/>
              </a:defRPr>
            </a:pPr>
            <a:r>
              <a:rPr lang="ar-JO" sz="1800" b="1" kern="0" spc="0">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9364E48D-E38B-4BE4-BD31-3CD93D1C12E3}"/>
              </a:ext>
            </a:extLst>
          </p:cNvPr>
          <p:cNvSpPr>
            <a:spLocks noGrp="1"/>
          </p:cNvSpPr>
          <p:nvPr/>
        </p:nvSpPr>
        <p:spPr>
          <a:xfrm>
            <a:off x="714375" y="2527935"/>
            <a:ext cx="2952750" cy="8305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350" b="1" kern="0" spc="0">
                <a:solidFill>
                  <a:srgbClr val="013070"/>
                </a:solidFill>
                <a:latin typeface="IBM Plex Sans Arabic"/>
                <a:ea typeface="IBM Plex Sans Arabic"/>
                <a:cs typeface="IBM Plex Sans Arabic"/>
              </a:defRPr>
            </a:pPr>
            <a:r>
              <a:rPr lang="ar-JO" sz="4350" b="1" kern="0" spc="0">
                <a:solidFill>
                  <a:srgbClr val="013070"/>
                </a:solidFill>
                <a:latin typeface="IBM Plex Sans Arabic"/>
                <a:ea typeface="IBM Plex Sans Arabic"/>
                <a:cs typeface="IBM Plex Sans Arabic"/>
              </a:rPr>
              <a:t>1,500</a:t>
            </a:r>
          </a:p>
        </p:txBody>
      </p:sp>
      <p:sp>
        <p:nvSpPr>
          <p:cNvPr id="17" name="طالب مدفوع&#10;عبر 10 مؤسسات">
            <a:extLst>
              <a:ext uri="{FF2B5EF4-FFF2-40B4-BE49-F238E27FC236}">
                <a16:creationId xmlns:a16="http://schemas.microsoft.com/office/drawing/2014/main" id="{6E8A7BC3-1837-44DD-9BCC-7C528925B8F8}"/>
              </a:ext>
            </a:extLst>
          </p:cNvPr>
          <p:cNvSpPr>
            <a:spLocks noGrp="1"/>
          </p:cNvSpPr>
          <p:nvPr/>
        </p:nvSpPr>
        <p:spPr>
          <a:xfrm>
            <a:off x="762000" y="3339465"/>
            <a:ext cx="2857500" cy="75057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طالب مدفوع</a:t>
            </a:r>
          </a:p>
          <a:p>
            <a:pPr algn="ctr" rtl="1">
              <a:lnSpc>
                <a:spcPct val="116000"/>
              </a:lnSpc>
              <a:spcBef>
                <a:spcPts val="0"/>
              </a:spcBef>
              <a:spcAft>
                <a:spcPts val="0"/>
              </a:spcAft>
              <a:buNone/>
              <a:defRPr lang="ar-JO" sz="1950" b="1" kern="0" spc="0">
                <a:solidFill>
                  <a:srgbClr val="102C50"/>
                </a:solidFill>
                <a:latin typeface="IBM Plex Sans Arabic"/>
                <a:ea typeface="IBM Plex Sans Arabic"/>
                <a:cs typeface="IBM Plex Sans Arabic"/>
              </a:defRPr>
            </a:pPr>
            <a:r>
              <a:rPr lang="ar-JO" sz="1950" b="1" kern="0" spc="0">
                <a:solidFill>
                  <a:srgbClr val="102C50"/>
                </a:solidFill>
                <a:latin typeface="IBM Plex Sans Arabic"/>
                <a:ea typeface="IBM Plex Sans Arabic"/>
                <a:cs typeface="IBM Plex Sans Arabic"/>
              </a:rPr>
              <a:t>عبر 10 مؤسسات</a:t>
            </a:r>
          </a:p>
        </p:txBody>
      </p:sp>
      <p:sp>
        <p:nvSpPr>
          <p:cNvPr id="18" name="30 ألف د.أ*">
            <a:extLst>
              <a:ext uri="{FF2B5EF4-FFF2-40B4-BE49-F238E27FC236}">
                <a16:creationId xmlns:a16="http://schemas.microsoft.com/office/drawing/2014/main" id="{922169DC-4FFE-4AC0-BDEB-BE717CE104F0}"/>
              </a:ext>
            </a:extLst>
          </p:cNvPr>
          <p:cNvSpPr>
            <a:spLocks noGrp="1"/>
          </p:cNvSpPr>
          <p:nvPr/>
        </p:nvSpPr>
        <p:spPr>
          <a:xfrm>
            <a:off x="762000" y="4210050"/>
            <a:ext cx="2857500" cy="5334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30 ألف د.أ*</a:t>
            </a:r>
          </a:p>
        </p:txBody>
      </p:sp>
      <p:sp>
        <p:nvSpPr>
          <p:cNvPr id="19" name="* فرصة أو هدف سنوي مفترض عند 20 د.أ لكل طالب ">
            <a:extLst>
              <a:ext uri="{FF2B5EF4-FFF2-40B4-BE49-F238E27FC236}">
                <a16:creationId xmlns:a16="http://schemas.microsoft.com/office/drawing/2014/main" id="{2F8115B3-162F-479A-910B-BFAB136C8A18}"/>
              </a:ext>
            </a:extLst>
          </p:cNvPr>
          <p:cNvSpPr>
            <a:spLocks noGrp="1"/>
          </p:cNvSpPr>
          <p:nvPr/>
        </p:nvSpPr>
        <p:spPr>
          <a:xfrm>
            <a:off x="666750" y="5429250"/>
            <a:ext cx="10810875"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 فرصة أو هدف سنوي مفترض عند 20 د.أ لكل طالب نشط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A9B798B2-7936-40EA-AF05-02184577BEE4}"/>
              </a:ext>
            </a:extLst>
          </p:cNvPr>
          <p:cNvSpPr>
            <a:spLocks noGrp="1"/>
          </p:cNvSpPr>
          <p:nvPr/>
        </p:nvSpPr>
        <p:spPr>
          <a:xfrm>
            <a:off x="762000" y="5953125"/>
            <a:ext cx="10668000"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الأعداد الرسمية: نتائج التوجيهي 2026 • القيم المالية وحصة السوق المستهدفة فرضيات وليست مبيعات</a:t>
            </a:r>
          </a:p>
        </p:txBody>
      </p:sp>
    </p:spTree>
    <p:extLst>
      <p:ext uri="{BB962C8B-B14F-4D97-AF65-F5344CB8AC3E}">
        <p14:creationId xmlns:p14="http://schemas.microsoft.com/office/powerpoint/2010/main" val="490711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8D59EF1E-4F6B-4578-BF2E-C2780D036CB7}"/>
              </a:ext>
            </a:extLst>
          </p:cNvPr>
          <p:cNvSpPr>
            <a:spLocks noGrp="1"/>
          </p:cNvSpPr>
          <p:nvPr/>
        </p:nvSpPr>
        <p:spPr>
          <a:xfrm>
            <a:off x="571500" y="7429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14AD3F15-DCCE-41D7-9ABD-008D1E26AAC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B34894AC-7179-4963-AEF9-3CD5EBDF385B}"/>
              </a:ext>
            </a:extLst>
          </p:cNvPr>
          <p:cNvSpPr>
            <a:spLocks noGrp="1"/>
          </p:cNvSpPr>
          <p:nvPr/>
        </p:nvSpPr>
        <p:spPr>
          <a:xfrm>
            <a:off x="571500" y="1396365"/>
            <a:ext cx="6096000" cy="35052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9831813E-4CB5-4163-8B2B-FCCE2FB64F88}"/>
              </a:ext>
            </a:extLst>
          </p:cNvPr>
          <p:cNvSpPr>
            <a:spLocks noGrp="1"/>
          </p:cNvSpPr>
          <p:nvPr/>
        </p:nvSpPr>
        <p:spPr>
          <a:xfrm>
            <a:off x="6858000" y="1396365"/>
            <a:ext cx="4667250" cy="35052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نموذج مقترح للاختبار</a:t>
            </a:r>
          </a:p>
        </p:txBody>
      </p:sp>
      <p:graphicFrame>
        <p:nvGraphicFramePr>
          <p:cNvPr id="21" name="Table 20"/>
          <p:cNvGraphicFramePr/>
          <p:nvPr/>
        </p:nvGraphicFramePr>
        <p:xfrm>
          <a:off x="5715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الشركاء المحتملون</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ومرشدون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p:cNvGraphicFramePr/>
          <p:nvPr/>
        </p:nvGraphicFramePr>
        <p:xfrm>
          <a:off x="27813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الأنشطة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وتحديث</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وتحقق وقياس</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Table 22"/>
          <p:cNvGraphicFramePr/>
          <p:nvPr/>
        </p:nvGraphicFramePr>
        <p:xfrm>
          <a:off x="27813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الموارد الرئيسية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الفريق والمنتج</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وبيانات عامة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Table 23"/>
          <p:cNvGraphicFramePr/>
          <p:nvPr/>
        </p:nvGraphicFramePr>
        <p:xfrm>
          <a:off x="49911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القيمة المقترحة</a:t>
                      </a:r>
                    </a:p>
                    <a:p>
                      <a:pPr rtl="0">
                        <a:lnSpc>
                          <a:spcPct val="116000"/>
                        </a:lnSpc>
                        <a:spcBef>
                          <a:spcPts val="0"/>
                        </a:spcBef>
                        <a:spcAft>
                          <a:spcPts val="0"/>
                        </a:spcAft>
                      </a:pPr>
                      <a:endParaRPr lang="ar-JO" sz="1838" b="1" kern="0" spc="0">
                        <a:solidFill>
                          <a:srgbClr val="FFFFFF"/>
                        </a:solidFill>
                        <a:latin typeface="IBM Plex Sans Arabic"/>
                        <a:ea typeface="IBM Plex Sans Arabic"/>
                        <a:cs typeface="IBM Plex Sans Arabic"/>
                      </a:endParaRP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ميول ومقارنة وكلفة</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في قرار واضح</a:t>
                      </a:r>
                    </a:p>
                    <a:p>
                      <a:pPr algn="r" rtl="1">
                        <a:lnSpc>
                          <a:spcPct val="116000"/>
                        </a:lnSpc>
                        <a:spcBef>
                          <a:spcPts val="0"/>
                        </a:spcBef>
                        <a:spcAft>
                          <a:spcPts val="0"/>
                        </a:spcAft>
                      </a:pPr>
                      <a:r>
                        <a:rPr lang="ar-JO" sz="1838" b="1" kern="0" spc="0">
                          <a:solidFill>
                            <a:srgbClr val="FFFFFF"/>
                          </a:solidFill>
                          <a:latin typeface="IBM Plex Sans Arabic"/>
                          <a:ea typeface="IBM Plex Sans Arabic"/>
                          <a:cs typeface="IBM Plex Sans Arabic"/>
                        </a:rPr>
                        <a:t>بمصادر مؤرخة</a:t>
                      </a:r>
                    </a:p>
                  </a:txBody>
                  <a:tcPr anchor="ctr">
                    <a:solidFill>
                      <a:srgbClr val="013070"/>
                    </a:solidFill>
                  </a:tcPr>
                </a:tc>
                <a:extLst>
                  <a:ext uri="{0D108BD9-81ED-4DB2-BD59-A6C34878D82A}">
                    <a16:rowId xmlns:a16="http://schemas.microsoft.com/office/drawing/2014/main" val="10000"/>
                  </a:ext>
                </a:extLst>
              </a:tr>
            </a:tbl>
          </a:graphicData>
        </a:graphic>
      </p:graphicFrame>
      <p:graphicFrame>
        <p:nvGraphicFramePr>
          <p:cNvPr id="25" name="Table 24"/>
          <p:cNvGraphicFramePr/>
          <p:nvPr/>
        </p:nvGraphicFramePr>
        <p:xfrm>
          <a:off x="72009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علاقة المستفيد</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تجربة سهلة</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ودعم للمرشدين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Table 25"/>
          <p:cNvGraphicFramePr/>
          <p:nvPr/>
        </p:nvGraphicFramePr>
        <p:xfrm>
          <a:off x="72009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قنوات الوصول</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مدارس وجامعات</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وأنشطة إرشاد</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7" name="Table 26"/>
          <p:cNvGraphicFramePr/>
          <p:nvPr/>
        </p:nvGraphicFramePr>
        <p:xfrm>
          <a:off x="94107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شرائح العملاء</a:t>
                      </a:r>
                    </a:p>
                    <a:p>
                      <a:pPr rtl="0">
                        <a:lnSpc>
                          <a:spcPct val="116000"/>
                        </a:lnSpc>
                        <a:spcBef>
                          <a:spcPts val="0"/>
                        </a:spcBef>
                        <a:spcAft>
                          <a:spcPts val="0"/>
                        </a:spcAft>
                      </a:pPr>
                      <a:endParaRPr lang="ar-JO" sz="1838" b="0" kern="0" spc="0">
                        <a:solidFill>
                          <a:srgbClr val="102C50"/>
                        </a:solidFill>
                        <a:latin typeface="IBM Plex Sans Arabic"/>
                        <a:ea typeface="IBM Plex Sans Arabic"/>
                        <a:cs typeface="IBM Plex Sans Arabic"/>
                      </a:endParaRP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طلبة وأهل مستفيدون</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ومؤسسات دافعة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8" name="Table 27"/>
          <p:cNvGraphicFramePr/>
          <p:nvPr/>
        </p:nvGraphicFramePr>
        <p:xfrm>
          <a:off x="5715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هيكل التكاليف</a:t>
                      </a:r>
                    </a:p>
                    <a:p>
                      <a:pPr algn="r" rtl="1">
                        <a:lnSpc>
                          <a:spcPct val="116000"/>
                        </a:lnSpc>
                        <a:spcBef>
                          <a:spcPts val="0"/>
                        </a:spcBef>
                        <a:spcAft>
                          <a:spcPts val="0"/>
                        </a:spcAft>
                      </a:pPr>
                      <a:r>
                        <a:rPr lang="ar-JO" sz="1838" b="0" kern="0" spc="0">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Table 28"/>
          <p:cNvGraphicFramePr/>
          <p:nvPr/>
        </p:nvGraphicFramePr>
        <p:xfrm>
          <a:off x="60960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الإيراد — فرضية اختبار</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20 د.أ/طالب نشط/سنة</a:t>
                      </a:r>
                    </a:p>
                    <a:p>
                      <a:pPr algn="r" rtl="1">
                        <a:lnSpc>
                          <a:spcPct val="116000"/>
                        </a:lnSpc>
                        <a:spcBef>
                          <a:spcPts val="0"/>
                        </a:spcBef>
                        <a:spcAft>
                          <a:spcPts val="0"/>
                        </a:spcAft>
                      </a:pPr>
                      <a:r>
                        <a:rPr lang="ar-JO" sz="1688" b="1" kern="0" spc="0">
                          <a:solidFill>
                            <a:srgbClr val="102C50"/>
                          </a:solidFill>
                          <a:latin typeface="IBM Plex Sans Arabic"/>
                          <a:ea typeface="IBM Plex Sans Arabic"/>
                          <a:cs typeface="IBM Plex Sans Arabic"/>
                        </a:rPr>
                        <a:t>حد أدنى 2,400 د.أ/مؤسسة</a:t>
                      </a:r>
                    </a:p>
                  </a:txBody>
                  <a:tcPr anchor="ctr">
                    <a:solidFill>
                      <a:srgbClr val="F3EAD7"/>
                    </a:solidFill>
                  </a:tcPr>
                </a:tc>
                <a:extLst>
                  <a:ext uri="{0D108BD9-81ED-4DB2-BD59-A6C34878D82A}">
                    <a16:rowId xmlns:a16="http://schemas.microsoft.com/office/drawing/2014/main" val="10000"/>
                  </a:ext>
                </a:extLst>
              </a:tr>
            </a:tbl>
          </a:graphicData>
        </a:graphic>
      </p:graphicFrame>
      <p:sp>
        <p:nvSpPr>
          <p:cNvPr id="15" name="الطالب مجانًا  •  لا بيع لبيانات الطلبة  •  ل">
            <a:extLst>
              <a:ext uri="{FF2B5EF4-FFF2-40B4-BE49-F238E27FC236}">
                <a16:creationId xmlns:a16="http://schemas.microsoft.com/office/drawing/2014/main" id="{B57C2990-E1B7-4975-A601-A443D4AFF497}"/>
              </a:ext>
            </a:extLst>
          </p:cNvPr>
          <p:cNvSpPr>
            <a:spLocks noGrp="1"/>
          </p:cNvSpPr>
          <p:nvPr/>
        </p:nvSpPr>
        <p:spPr>
          <a:xfrm>
            <a:off x="619125" y="6086475"/>
            <a:ext cx="10906125" cy="4191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1212421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7" name="Picture 26"/>
          <p:cNvPicPr>
            <a:picLocks noChangeAspect="1"/>
          </p:cNvPicPr>
          <p:nvPr/>
        </p:nvPicPr>
        <p:blipFill>
          <a:blip r:embed="rId3"/>
          <a:stretch/>
        </p:blipFill>
        <p:spPr>
          <a:xfrm>
            <a:off x="11125200" y="400050"/>
            <a:ext cx="552450" cy="552450"/>
          </a:xfrm>
          <a:prstGeom prst="rect">
            <a:avLst/>
          </a:prstGeom>
        </p:spPr>
      </p:pic>
      <p:sp>
        <p:nvSpPr>
          <p:cNvPr id="2" name="الابتكار: من بيانات حكومية إلى قرار شخصي">
            <a:extLst>
              <a:ext uri="{FF2B5EF4-FFF2-40B4-BE49-F238E27FC236}">
                <a16:creationId xmlns:a16="http://schemas.microsoft.com/office/drawing/2014/main" id="{7E784922-0A50-4C05-B3C2-B7F7C5410CAD}"/>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الابتكار: من بيانات حكومية إلى قرار شخصي</a:t>
            </a:r>
          </a:p>
        </p:txBody>
      </p:sp>
      <p:sp>
        <p:nvSpPr>
          <p:cNvPr id="3" name="08">
            <a:extLst>
              <a:ext uri="{FF2B5EF4-FFF2-40B4-BE49-F238E27FC236}">
                <a16:creationId xmlns:a16="http://schemas.microsoft.com/office/drawing/2014/main" id="{C7690719-0CF2-46B5-9853-B0C00F8F0B32}"/>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pic>
        <p:nvPicPr>
          <p:cNvPr id="30" name="Picture 29"/>
          <p:cNvPicPr>
            <a:picLocks noChangeAspect="1"/>
          </p:cNvPicPr>
          <p:nvPr/>
        </p:nvPicPr>
        <p:blipFill>
          <a:blip r:embed="rId4"/>
          <a:stretch/>
        </p:blipFill>
        <p:spPr>
          <a:xfrm>
            <a:off x="0" y="47625"/>
            <a:ext cx="4191000" cy="6286500"/>
          </a:xfrm>
          <a:prstGeom prst="rect">
            <a:avLst/>
          </a:prstGeom>
        </p:spPr>
      </p:pic>
      <p:sp>
        <p:nvSpPr>
          <p:cNvPr id="5" name="Rectangle: Rounded Corners 4">
            <a:extLst>
              <a:ext uri="{FF2B5EF4-FFF2-40B4-BE49-F238E27FC236}">
                <a16:creationId xmlns:a16="http://schemas.microsoft.com/office/drawing/2014/main" id="{19438758-2743-4B60-B9C4-955F8C29AC6C}"/>
              </a:ext>
            </a:extLst>
          </p:cNvPr>
          <p:cNvSpPr>
            <a:spLocks noGrp="1"/>
          </p:cNvSpPr>
          <p:nvPr/>
        </p:nvSpPr>
        <p:spPr>
          <a:xfrm>
            <a:off x="4524375" y="1752600"/>
            <a:ext cx="2190750" cy="876300"/>
          </a:xfrm>
          <a:prstGeom prst="roundRect">
            <a:avLst>
              <a:gd name="adj" fmla="val 8696"/>
            </a:avLst>
          </a:prstGeom>
          <a:solidFill>
            <a:srgbClr val="FFFFFF"/>
          </a:solidFill>
          <a:ln w="12383">
            <a:solidFill>
              <a:srgbClr val="D4DEE9"/>
            </a:solidFill>
          </a:ln>
        </p:spPr>
      </p:sp>
      <p:sp>
        <p:nvSpPr>
          <p:cNvPr id="6" name="إحصاءات العمل">
            <a:extLst>
              <a:ext uri="{FF2B5EF4-FFF2-40B4-BE49-F238E27FC236}">
                <a16:creationId xmlns:a16="http://schemas.microsoft.com/office/drawing/2014/main" id="{BBCA39E8-ACA3-47CF-8CF8-115A68E264B5}"/>
              </a:ext>
            </a:extLst>
          </p:cNvPr>
          <p:cNvSpPr>
            <a:spLocks noGrp="1"/>
          </p:cNvSpPr>
          <p:nvPr/>
        </p:nvSpPr>
        <p:spPr>
          <a:xfrm>
            <a:off x="4638675" y="1809750"/>
            <a:ext cx="19621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C8A04C"/>
                </a:solidFill>
                <a:latin typeface="IBM Plex Sans Arabic"/>
                <a:ea typeface="IBM Plex Sans Arabic"/>
                <a:cs typeface="IBM Plex Sans Arabic"/>
              </a:defRPr>
            </a:pPr>
            <a:r>
              <a:rPr lang="ar-JO" sz="1650" b="1" kern="0" spc="0">
                <a:solidFill>
                  <a:srgbClr val="C8A04C"/>
                </a:solidFill>
                <a:latin typeface="IBM Plex Sans Arabic"/>
                <a:ea typeface="IBM Plex Sans Arabic"/>
                <a:cs typeface="IBM Plex Sans Arabic"/>
              </a:rPr>
              <a:t>إحصاءات العمل</a:t>
            </a:r>
          </a:p>
        </p:txBody>
      </p:sp>
      <p:sp>
        <p:nvSpPr>
          <p:cNvPr id="7" name="مؤشرات السوق">
            <a:extLst>
              <a:ext uri="{FF2B5EF4-FFF2-40B4-BE49-F238E27FC236}">
                <a16:creationId xmlns:a16="http://schemas.microsoft.com/office/drawing/2014/main" id="{3CB72611-BEB2-4B3F-A330-CDA24BF81F35}"/>
              </a:ext>
            </a:extLst>
          </p:cNvPr>
          <p:cNvSpPr>
            <a:spLocks noGrp="1"/>
          </p:cNvSpPr>
          <p:nvPr/>
        </p:nvSpPr>
        <p:spPr>
          <a:xfrm>
            <a:off x="4638675" y="2189798"/>
            <a:ext cx="19621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013070"/>
                </a:solidFill>
                <a:latin typeface="IBM Plex Sans Arabic"/>
                <a:ea typeface="IBM Plex Sans Arabic"/>
                <a:cs typeface="IBM Plex Sans Arabic"/>
              </a:defRPr>
            </a:pPr>
            <a:r>
              <a:rPr lang="ar-JO" sz="1350" b="0" kern="0" spc="0">
                <a:solidFill>
                  <a:srgbClr val="013070"/>
                </a:solidFill>
                <a:latin typeface="IBM Plex Sans Arabic"/>
                <a:ea typeface="IBM Plex Sans Arabic"/>
                <a:cs typeface="IBM Plex Sans Arabic"/>
              </a:rPr>
              <a:t>مؤشرات السوق</a:t>
            </a:r>
          </a:p>
        </p:txBody>
      </p:sp>
      <p:sp>
        <p:nvSpPr>
          <p:cNvPr id="8" name="↓">
            <a:extLst>
              <a:ext uri="{FF2B5EF4-FFF2-40B4-BE49-F238E27FC236}">
                <a16:creationId xmlns:a16="http://schemas.microsoft.com/office/drawing/2014/main" id="{C6004E73-34F6-4466-9D1F-6C1CFB0DF38B}"/>
              </a:ext>
            </a:extLst>
          </p:cNvPr>
          <p:cNvSpPr>
            <a:spLocks noGrp="1"/>
          </p:cNvSpPr>
          <p:nvPr/>
        </p:nvSpPr>
        <p:spPr>
          <a:xfrm>
            <a:off x="5324475" y="2614613"/>
            <a:ext cx="59055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9" name="Rectangle: Rounded Corners 8">
            <a:extLst>
              <a:ext uri="{FF2B5EF4-FFF2-40B4-BE49-F238E27FC236}">
                <a16:creationId xmlns:a16="http://schemas.microsoft.com/office/drawing/2014/main" id="{9D362212-9B69-478B-A8F2-5FD56E4CDE31}"/>
              </a:ext>
            </a:extLst>
          </p:cNvPr>
          <p:cNvSpPr>
            <a:spLocks noGrp="1"/>
          </p:cNvSpPr>
          <p:nvPr/>
        </p:nvSpPr>
        <p:spPr>
          <a:xfrm>
            <a:off x="6877050" y="1752600"/>
            <a:ext cx="2190750" cy="876300"/>
          </a:xfrm>
          <a:prstGeom prst="roundRect">
            <a:avLst>
              <a:gd name="adj" fmla="val 8696"/>
            </a:avLst>
          </a:prstGeom>
          <a:solidFill>
            <a:srgbClr val="FFFFFF"/>
          </a:solidFill>
          <a:ln w="12383">
            <a:solidFill>
              <a:srgbClr val="D4DEE9"/>
            </a:solidFill>
          </a:ln>
        </p:spPr>
      </p:sp>
      <p:sp>
        <p:nvSpPr>
          <p:cNvPr id="10" name="مواقع الجامعات">
            <a:extLst>
              <a:ext uri="{FF2B5EF4-FFF2-40B4-BE49-F238E27FC236}">
                <a16:creationId xmlns:a16="http://schemas.microsoft.com/office/drawing/2014/main" id="{D58E6F9F-57F8-4C86-9629-4E62F27CDDA4}"/>
              </a:ext>
            </a:extLst>
          </p:cNvPr>
          <p:cNvSpPr>
            <a:spLocks noGrp="1"/>
          </p:cNvSpPr>
          <p:nvPr/>
        </p:nvSpPr>
        <p:spPr>
          <a:xfrm>
            <a:off x="6991350" y="1809750"/>
            <a:ext cx="19621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C8A04C"/>
                </a:solidFill>
                <a:latin typeface="IBM Plex Sans Arabic"/>
                <a:ea typeface="IBM Plex Sans Arabic"/>
                <a:cs typeface="IBM Plex Sans Arabic"/>
              </a:defRPr>
            </a:pPr>
            <a:r>
              <a:rPr lang="ar-JO" sz="1650" b="1" kern="0" spc="0">
                <a:solidFill>
                  <a:srgbClr val="C8A04C"/>
                </a:solidFill>
                <a:latin typeface="IBM Plex Sans Arabic"/>
                <a:ea typeface="IBM Plex Sans Arabic"/>
                <a:cs typeface="IBM Plex Sans Arabic"/>
              </a:rPr>
              <a:t>مواقع الجامعات</a:t>
            </a:r>
          </a:p>
        </p:txBody>
      </p:sp>
      <p:sp>
        <p:nvSpPr>
          <p:cNvPr id="11" name="الرسوم">
            <a:extLst>
              <a:ext uri="{FF2B5EF4-FFF2-40B4-BE49-F238E27FC236}">
                <a16:creationId xmlns:a16="http://schemas.microsoft.com/office/drawing/2014/main" id="{BF19A52A-76E9-4E47-ABAE-9CB589FBC736}"/>
              </a:ext>
            </a:extLst>
          </p:cNvPr>
          <p:cNvSpPr>
            <a:spLocks noGrp="1"/>
          </p:cNvSpPr>
          <p:nvPr/>
        </p:nvSpPr>
        <p:spPr>
          <a:xfrm>
            <a:off x="6991350" y="2189798"/>
            <a:ext cx="19621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013070"/>
                </a:solidFill>
                <a:latin typeface="IBM Plex Sans Arabic"/>
                <a:ea typeface="IBM Plex Sans Arabic"/>
                <a:cs typeface="IBM Plex Sans Arabic"/>
              </a:defRPr>
            </a:pPr>
            <a:r>
              <a:rPr lang="ar-JO" sz="1350" b="0" kern="0" spc="0">
                <a:solidFill>
                  <a:srgbClr val="013070"/>
                </a:solidFill>
                <a:latin typeface="IBM Plex Sans Arabic"/>
                <a:ea typeface="IBM Plex Sans Arabic"/>
                <a:cs typeface="IBM Plex Sans Arabic"/>
              </a:rPr>
              <a:t>الرسوم</a:t>
            </a:r>
          </a:p>
        </p:txBody>
      </p:sp>
      <p:sp>
        <p:nvSpPr>
          <p:cNvPr id="12" name="↓">
            <a:extLst>
              <a:ext uri="{FF2B5EF4-FFF2-40B4-BE49-F238E27FC236}">
                <a16:creationId xmlns:a16="http://schemas.microsoft.com/office/drawing/2014/main" id="{CE6A435F-744E-4280-858D-71E8CBCC74D8}"/>
              </a:ext>
            </a:extLst>
          </p:cNvPr>
          <p:cNvSpPr>
            <a:spLocks noGrp="1"/>
          </p:cNvSpPr>
          <p:nvPr/>
        </p:nvSpPr>
        <p:spPr>
          <a:xfrm>
            <a:off x="7677150" y="2614613"/>
            <a:ext cx="59055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3" name="Rectangle: Rounded Corners 12">
            <a:extLst>
              <a:ext uri="{FF2B5EF4-FFF2-40B4-BE49-F238E27FC236}">
                <a16:creationId xmlns:a16="http://schemas.microsoft.com/office/drawing/2014/main" id="{3CA604CC-4FFD-4575-B97B-1349A665A938}"/>
              </a:ext>
            </a:extLst>
          </p:cNvPr>
          <p:cNvSpPr>
            <a:spLocks noGrp="1"/>
          </p:cNvSpPr>
          <p:nvPr/>
        </p:nvSpPr>
        <p:spPr>
          <a:xfrm>
            <a:off x="9229725" y="1752600"/>
            <a:ext cx="2190750" cy="876300"/>
          </a:xfrm>
          <a:prstGeom prst="roundRect">
            <a:avLst>
              <a:gd name="adj" fmla="val 8696"/>
            </a:avLst>
          </a:prstGeom>
          <a:solidFill>
            <a:srgbClr val="FFFFFF"/>
          </a:solidFill>
          <a:ln w="12383">
            <a:solidFill>
              <a:srgbClr val="D4DEE9"/>
            </a:solidFill>
          </a:ln>
        </p:spPr>
      </p:sp>
      <p:sp>
        <p:nvSpPr>
          <p:cNvPr id="14" name="القبول الموحد">
            <a:extLst>
              <a:ext uri="{FF2B5EF4-FFF2-40B4-BE49-F238E27FC236}">
                <a16:creationId xmlns:a16="http://schemas.microsoft.com/office/drawing/2014/main" id="{F2BA5424-5E39-4228-BC49-81E812710488}"/>
              </a:ext>
            </a:extLst>
          </p:cNvPr>
          <p:cNvSpPr>
            <a:spLocks noGrp="1"/>
          </p:cNvSpPr>
          <p:nvPr/>
        </p:nvSpPr>
        <p:spPr>
          <a:xfrm>
            <a:off x="9344025" y="1809750"/>
            <a:ext cx="19621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C8A04C"/>
                </a:solidFill>
                <a:latin typeface="IBM Plex Sans Arabic"/>
                <a:ea typeface="IBM Plex Sans Arabic"/>
                <a:cs typeface="IBM Plex Sans Arabic"/>
              </a:defRPr>
            </a:pPr>
            <a:r>
              <a:rPr lang="ar-JO" sz="1650" b="1" kern="0" spc="0">
                <a:solidFill>
                  <a:srgbClr val="C8A04C"/>
                </a:solidFill>
                <a:latin typeface="IBM Plex Sans Arabic"/>
                <a:ea typeface="IBM Plex Sans Arabic"/>
                <a:cs typeface="IBM Plex Sans Arabic"/>
              </a:rPr>
              <a:t>القبول الموحد</a:t>
            </a:r>
          </a:p>
        </p:txBody>
      </p:sp>
      <p:sp>
        <p:nvSpPr>
          <p:cNvPr id="15" name="البرامج والقبول">
            <a:extLst>
              <a:ext uri="{FF2B5EF4-FFF2-40B4-BE49-F238E27FC236}">
                <a16:creationId xmlns:a16="http://schemas.microsoft.com/office/drawing/2014/main" id="{2E0DF74C-C913-4BDC-9209-5B844E03480F}"/>
              </a:ext>
            </a:extLst>
          </p:cNvPr>
          <p:cNvSpPr>
            <a:spLocks noGrp="1"/>
          </p:cNvSpPr>
          <p:nvPr/>
        </p:nvSpPr>
        <p:spPr>
          <a:xfrm>
            <a:off x="9344025" y="2189798"/>
            <a:ext cx="19621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013070"/>
                </a:solidFill>
                <a:latin typeface="IBM Plex Sans Arabic"/>
                <a:ea typeface="IBM Plex Sans Arabic"/>
                <a:cs typeface="IBM Plex Sans Arabic"/>
              </a:defRPr>
            </a:pPr>
            <a:r>
              <a:rPr lang="ar-JO" sz="1350" b="0" kern="0" spc="0">
                <a:solidFill>
                  <a:srgbClr val="013070"/>
                </a:solidFill>
                <a:latin typeface="IBM Plex Sans Arabic"/>
                <a:ea typeface="IBM Plex Sans Arabic"/>
                <a:cs typeface="IBM Plex Sans Arabic"/>
              </a:rPr>
              <a:t>البرامج والقبول</a:t>
            </a:r>
          </a:p>
        </p:txBody>
      </p:sp>
      <p:sp>
        <p:nvSpPr>
          <p:cNvPr id="16" name="↓">
            <a:extLst>
              <a:ext uri="{FF2B5EF4-FFF2-40B4-BE49-F238E27FC236}">
                <a16:creationId xmlns:a16="http://schemas.microsoft.com/office/drawing/2014/main" id="{8A1187EB-DC89-49C7-9492-34FF6D4D7031}"/>
              </a:ext>
            </a:extLst>
          </p:cNvPr>
          <p:cNvSpPr>
            <a:spLocks noGrp="1"/>
          </p:cNvSpPr>
          <p:nvPr/>
        </p:nvSpPr>
        <p:spPr>
          <a:xfrm>
            <a:off x="10029825" y="2614613"/>
            <a:ext cx="59055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7" name="Rectangle: Rounded Corners 16">
            <a:extLst>
              <a:ext uri="{FF2B5EF4-FFF2-40B4-BE49-F238E27FC236}">
                <a16:creationId xmlns:a16="http://schemas.microsoft.com/office/drawing/2014/main" id="{D02B1962-905A-46D3-8B10-5C403C4B3069}"/>
              </a:ext>
            </a:extLst>
          </p:cNvPr>
          <p:cNvSpPr>
            <a:spLocks noGrp="1"/>
          </p:cNvSpPr>
          <p:nvPr/>
        </p:nvSpPr>
        <p:spPr>
          <a:xfrm>
            <a:off x="4524375" y="3028950"/>
            <a:ext cx="6896100" cy="876300"/>
          </a:xfrm>
          <a:prstGeom prst="roundRect">
            <a:avLst>
              <a:gd name="adj" fmla="val 8696"/>
            </a:avLst>
          </a:prstGeom>
          <a:solidFill>
            <a:srgbClr val="F3EAD7"/>
          </a:solidFill>
          <a:ln w="12383">
            <a:solidFill>
              <a:srgbClr val="DFC98F"/>
            </a:solidFill>
          </a:ln>
        </p:spPr>
      </p:sp>
      <p:sp>
        <p:nvSpPr>
          <p:cNvPr id="18" name="مُرشِدي يضيف سياق الطالب">
            <a:extLst>
              <a:ext uri="{FF2B5EF4-FFF2-40B4-BE49-F238E27FC236}">
                <a16:creationId xmlns:a16="http://schemas.microsoft.com/office/drawing/2014/main" id="{B7AA273A-E607-4020-B20D-F886492CD490}"/>
              </a:ext>
            </a:extLst>
          </p:cNvPr>
          <p:cNvSpPr>
            <a:spLocks noGrp="1"/>
          </p:cNvSpPr>
          <p:nvPr/>
        </p:nvSpPr>
        <p:spPr>
          <a:xfrm>
            <a:off x="4695825" y="3068003"/>
            <a:ext cx="6553200" cy="41719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مُرشِدي يضيف سياق الطالب</a:t>
            </a:r>
          </a:p>
        </p:txBody>
      </p:sp>
      <p:sp>
        <p:nvSpPr>
          <p:cNvPr id="19" name="الاهتمامات  +  ميزانية الأسرة  +  مقارنة موحّ">
            <a:extLst>
              <a:ext uri="{FF2B5EF4-FFF2-40B4-BE49-F238E27FC236}">
                <a16:creationId xmlns:a16="http://schemas.microsoft.com/office/drawing/2014/main" id="{41A383D9-5616-4A1E-8EC6-2DA712CD06D8}"/>
              </a:ext>
            </a:extLst>
          </p:cNvPr>
          <p:cNvSpPr>
            <a:spLocks noGrp="1"/>
          </p:cNvSpPr>
          <p:nvPr/>
        </p:nvSpPr>
        <p:spPr>
          <a:xfrm>
            <a:off x="4695825" y="3469005"/>
            <a:ext cx="6553200"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الاهتمامات  +  ميزانية الأسرة  +  مقارنة موحّدة</a:t>
            </a:r>
          </a:p>
        </p:txBody>
      </p:sp>
      <p:sp>
        <p:nvSpPr>
          <p:cNvPr id="20" name="Rectangle: Rounded Corners 19">
            <a:extLst>
              <a:ext uri="{FF2B5EF4-FFF2-40B4-BE49-F238E27FC236}">
                <a16:creationId xmlns:a16="http://schemas.microsoft.com/office/drawing/2014/main" id="{54B4EA20-77D5-4743-9C5D-63A9D49CBB4B}"/>
              </a:ext>
            </a:extLst>
          </p:cNvPr>
          <p:cNvSpPr>
            <a:spLocks noGrp="1"/>
          </p:cNvSpPr>
          <p:nvPr/>
        </p:nvSpPr>
        <p:spPr>
          <a:xfrm>
            <a:off x="4524375" y="4067175"/>
            <a:ext cx="6896100" cy="781050"/>
          </a:xfrm>
          <a:prstGeom prst="roundRect">
            <a:avLst>
              <a:gd name="adj" fmla="val 9756"/>
            </a:avLst>
          </a:prstGeom>
          <a:solidFill>
            <a:srgbClr val="123D76"/>
          </a:solidFill>
          <a:ln w="12383">
            <a:solidFill>
              <a:srgbClr val="58749B"/>
            </a:solidFill>
          </a:ln>
        </p:spPr>
      </p:sp>
      <p:sp>
        <p:nvSpPr>
          <p:cNvPr id="21" name="قرار شخصي قابل للتفسير">
            <a:extLst>
              <a:ext uri="{FF2B5EF4-FFF2-40B4-BE49-F238E27FC236}">
                <a16:creationId xmlns:a16="http://schemas.microsoft.com/office/drawing/2014/main" id="{63A945F3-B59E-4794-B1F3-CDEA28075285}"/>
              </a:ext>
            </a:extLst>
          </p:cNvPr>
          <p:cNvSpPr>
            <a:spLocks noGrp="1"/>
          </p:cNvSpPr>
          <p:nvPr/>
        </p:nvSpPr>
        <p:spPr>
          <a:xfrm>
            <a:off x="4695825" y="4077653"/>
            <a:ext cx="6553200" cy="41719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قرار شخصي قابل للتفسير</a:t>
            </a:r>
          </a:p>
        </p:txBody>
      </p:sp>
      <p:sp>
        <p:nvSpPr>
          <p:cNvPr id="22" name="قائمة قصيرة  +  كلفة  +  مصدر وتاريخ لكل رقم">
            <a:extLst>
              <a:ext uri="{FF2B5EF4-FFF2-40B4-BE49-F238E27FC236}">
                <a16:creationId xmlns:a16="http://schemas.microsoft.com/office/drawing/2014/main" id="{7280AE1D-6F68-4DF8-B098-B428E4BADB2C}"/>
              </a:ext>
            </a:extLst>
          </p:cNvPr>
          <p:cNvSpPr>
            <a:spLocks noGrp="1"/>
          </p:cNvSpPr>
          <p:nvPr/>
        </p:nvSpPr>
        <p:spPr>
          <a:xfrm>
            <a:off x="4695825" y="4461510"/>
            <a:ext cx="65532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قائمة قصيرة  +  كلفة  +  مصدر وتاريخ لكل رقم</a:t>
            </a:r>
          </a:p>
        </p:txBody>
      </p:sp>
      <p:sp>
        <p:nvSpPr>
          <p:cNvPr id="23" name="Rectangle: Rounded Corners 22">
            <a:extLst>
              <a:ext uri="{FF2B5EF4-FFF2-40B4-BE49-F238E27FC236}">
                <a16:creationId xmlns:a16="http://schemas.microsoft.com/office/drawing/2014/main" id="{DA9CEBDE-4892-4D59-B728-516DFC71F691}"/>
              </a:ext>
            </a:extLst>
          </p:cNvPr>
          <p:cNvSpPr>
            <a:spLocks noGrp="1"/>
          </p:cNvSpPr>
          <p:nvPr/>
        </p:nvSpPr>
        <p:spPr>
          <a:xfrm>
            <a:off x="4524375" y="5010150"/>
            <a:ext cx="6896100" cy="742950"/>
          </a:xfrm>
          <a:prstGeom prst="roundRect">
            <a:avLst>
              <a:gd name="adj" fmla="val 10256"/>
            </a:avLst>
          </a:prstGeom>
          <a:solidFill>
            <a:srgbClr val="0A2D61"/>
          </a:solidFill>
          <a:ln w="12383">
            <a:solidFill>
              <a:srgbClr val="58749B"/>
            </a:solidFill>
          </a:ln>
        </p:spPr>
      </p:sp>
      <p:sp>
        <p:nvSpPr>
          <p:cNvPr id="24" name="28,186 طالبًا في 243 مدرسة  +  49,166 مشاركًا">
            <a:extLst>
              <a:ext uri="{FF2B5EF4-FFF2-40B4-BE49-F238E27FC236}">
                <a16:creationId xmlns:a16="http://schemas.microsoft.com/office/drawing/2014/main" id="{B2504B2A-784A-4740-908B-84BD24924293}"/>
              </a:ext>
            </a:extLst>
          </p:cNvPr>
          <p:cNvSpPr>
            <a:spLocks noGrp="1"/>
          </p:cNvSpPr>
          <p:nvPr/>
        </p:nvSpPr>
        <p:spPr>
          <a:xfrm>
            <a:off x="4695825" y="5055870"/>
            <a:ext cx="6553200"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1" kern="0" spc="0">
                <a:solidFill>
                  <a:srgbClr val="FFFFFF"/>
                </a:solidFill>
                <a:latin typeface="IBM Plex Sans Arabic"/>
                <a:ea typeface="IBM Plex Sans Arabic"/>
                <a:cs typeface="IBM Plex Sans Arabic"/>
              </a:defRPr>
            </a:pPr>
            <a:r>
              <a:rPr lang="ar-JO" sz="1575" b="1" kern="0" spc="0">
                <a:solidFill>
                  <a:srgbClr val="FFFFFF"/>
                </a:solidFill>
                <a:latin typeface="IBM Plex Sans Arabic"/>
                <a:ea typeface="IBM Plex Sans Arabic"/>
                <a:cs typeface="IBM Plex Sans Arabic"/>
              </a:rPr>
              <a:t>28,186 طالبًا في 243 مدرسة  +  49,166 مشاركًا</a:t>
            </a:r>
          </a:p>
        </p:txBody>
      </p:sp>
      <p:sp>
        <p:nvSpPr>
          <p:cNvPr id="25" name="تجربتان عشوائيتان تدعمان تخصيص المعلومات قبل ">
            <a:extLst>
              <a:ext uri="{FF2B5EF4-FFF2-40B4-BE49-F238E27FC236}">
                <a16:creationId xmlns:a16="http://schemas.microsoft.com/office/drawing/2014/main" id="{83B3CCBD-44A4-42A5-BF5C-5980CF07D490}"/>
              </a:ext>
            </a:extLst>
          </p:cNvPr>
          <p:cNvSpPr>
            <a:spLocks noGrp="1"/>
          </p:cNvSpPr>
          <p:nvPr/>
        </p:nvSpPr>
        <p:spPr>
          <a:xfrm>
            <a:off x="4695825" y="5373053"/>
            <a:ext cx="6553200" cy="2838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275" b="0" kern="0" spc="0">
                <a:solidFill>
                  <a:srgbClr val="D1DEED"/>
                </a:solidFill>
                <a:latin typeface="IBM Plex Sans Arabic"/>
                <a:ea typeface="IBM Plex Sans Arabic"/>
                <a:cs typeface="IBM Plex Sans Arabic"/>
              </a:defRPr>
            </a:pPr>
            <a:r>
              <a:rPr lang="ar-JO" sz="1275" b="0" kern="0" spc="0">
                <a:solidFill>
                  <a:srgbClr val="D1DEED"/>
                </a:solidFill>
                <a:latin typeface="IBM Plex Sans Arabic"/>
                <a:ea typeface="IBM Plex Sans Arabic"/>
                <a:cs typeface="IBM Plex Sans Arabic"/>
              </a:rPr>
              <a:t>تجربتان عشوائيتان تدعمان تخصيص المعلومات قبل الاختيار</a:t>
            </a:r>
          </a:p>
        </p:txBody>
      </p:sp>
      <p:sp>
        <p:nvSpPr>
          <p:cNvPr id="26" name="مكمّل للمصادر الحكومية  •  لا يغيّر القبول  •">
            <a:extLst>
              <a:ext uri="{FF2B5EF4-FFF2-40B4-BE49-F238E27FC236}">
                <a16:creationId xmlns:a16="http://schemas.microsoft.com/office/drawing/2014/main" id="{4F6B5F91-1C0C-4647-9A6A-B9D9CE29F9BF}"/>
              </a:ext>
            </a:extLst>
          </p:cNvPr>
          <p:cNvSpPr>
            <a:spLocks noGrp="1"/>
          </p:cNvSpPr>
          <p:nvPr/>
        </p:nvSpPr>
        <p:spPr>
          <a:xfrm>
            <a:off x="4524375" y="5886450"/>
            <a:ext cx="6896100" cy="295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275" b="0" kern="0" spc="0">
                <a:solidFill>
                  <a:srgbClr val="D1DEED"/>
                </a:solidFill>
                <a:latin typeface="IBM Plex Sans Arabic"/>
                <a:ea typeface="IBM Plex Sans Arabic"/>
                <a:cs typeface="IBM Plex Sans Arabic"/>
              </a:defRPr>
            </a:pPr>
            <a:r>
              <a:rPr lang="ar-JO" sz="1275" b="0" kern="0" spc="0">
                <a:solidFill>
                  <a:srgbClr val="D1DEED"/>
                </a:solidFill>
                <a:latin typeface="IBM Plex Sans Arabic"/>
                <a:ea typeface="IBM Plex Sans Arabic"/>
                <a:cs typeface="IBM Plex Sans Arabic"/>
              </a:rPr>
              <a:t>مكمّل للمصادر الحكومية  •  لا يغيّر القبول  •  لا يبيع ترتيبًا</a:t>
            </a:r>
          </a:p>
        </p:txBody>
      </p:sp>
    </p:spTree>
    <p:extLst>
      <p:ext uri="{BB962C8B-B14F-4D97-AF65-F5344CB8AC3E}">
        <p14:creationId xmlns:p14="http://schemas.microsoft.com/office/powerpoint/2010/main" val="2006942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الأثر: نقيس القرار قبل التوسّع">
            <a:extLst>
              <a:ext uri="{FF2B5EF4-FFF2-40B4-BE49-F238E27FC236}">
                <a16:creationId xmlns:a16="http://schemas.microsoft.com/office/drawing/2014/main" id="{5B4A835F-A2BA-47C7-BE63-F854C2EBBF45}"/>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الأثر: نقيس القرار قبل التوسّع</a:t>
            </a:r>
          </a:p>
        </p:txBody>
      </p:sp>
      <p:sp>
        <p:nvSpPr>
          <p:cNvPr id="3" name="09">
            <a:extLst>
              <a:ext uri="{FF2B5EF4-FFF2-40B4-BE49-F238E27FC236}">
                <a16:creationId xmlns:a16="http://schemas.microsoft.com/office/drawing/2014/main" id="{F99D3C79-EB57-429D-AA0D-263DAB7A1A6D}"/>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60C46627-8758-46EC-ABA3-334FBF4722F2}"/>
              </a:ext>
            </a:extLst>
          </p:cNvPr>
          <p:cNvSpPr>
            <a:spLocks noGrp="1"/>
          </p:cNvSpPr>
          <p:nvPr/>
        </p:nvSpPr>
        <p:spPr>
          <a:xfrm>
            <a:off x="819150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E81A22A7-7396-47B2-BE91-60AC8A4C244B}"/>
              </a:ext>
            </a:extLst>
          </p:cNvPr>
          <p:cNvSpPr>
            <a:spLocks noGrp="1"/>
          </p:cNvSpPr>
          <p:nvPr/>
        </p:nvSpPr>
        <p:spPr>
          <a:xfrm>
            <a:off x="819150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FCC5519D-9F59-41C9-9CC3-5A92CEA070D6}"/>
              </a:ext>
            </a:extLst>
          </p:cNvPr>
          <p:cNvSpPr>
            <a:spLocks noGrp="1"/>
          </p:cNvSpPr>
          <p:nvPr/>
        </p:nvSpPr>
        <p:spPr>
          <a:xfrm>
            <a:off x="4429125"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82EF5680-7E42-49AC-872F-D226D4D54592}"/>
              </a:ext>
            </a:extLst>
          </p:cNvPr>
          <p:cNvSpPr>
            <a:spLocks noGrp="1"/>
          </p:cNvSpPr>
          <p:nvPr/>
        </p:nvSpPr>
        <p:spPr>
          <a:xfrm>
            <a:off x="4429125"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B202B456-E5DE-4DEE-9F51-4BC512FD8895}"/>
              </a:ext>
            </a:extLst>
          </p:cNvPr>
          <p:cNvSpPr>
            <a:spLocks noGrp="1"/>
          </p:cNvSpPr>
          <p:nvPr/>
        </p:nvSpPr>
        <p:spPr>
          <a:xfrm>
            <a:off x="666750" y="1830705"/>
            <a:ext cx="3238500" cy="117729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6300" b="1" kern="0" spc="0">
                <a:solidFill>
                  <a:srgbClr val="013070"/>
                </a:solidFill>
                <a:latin typeface="IBM Plex Sans Arabic"/>
                <a:ea typeface="IBM Plex Sans Arabic"/>
                <a:cs typeface="IBM Plex Sans Arabic"/>
              </a:defRPr>
            </a:pPr>
            <a:r>
              <a:rPr lang="ar-JO" sz="6300" b="1" kern="0" spc="0">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F32A734F-60C5-40C5-8932-8C38677CDA66}"/>
              </a:ext>
            </a:extLst>
          </p:cNvPr>
          <p:cNvSpPr>
            <a:spLocks noGrp="1"/>
          </p:cNvSpPr>
          <p:nvPr/>
        </p:nvSpPr>
        <p:spPr>
          <a:xfrm>
            <a:off x="666750" y="2914650"/>
            <a:ext cx="323850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7BBD9B1B-7930-48F3-BB46-98F51B7EF89C}"/>
              </a:ext>
            </a:extLst>
          </p:cNvPr>
          <p:cNvSpPr>
            <a:spLocks noGrp="1"/>
          </p:cNvSpPr>
          <p:nvPr/>
        </p:nvSpPr>
        <p:spPr>
          <a:xfrm>
            <a:off x="571500" y="3669983"/>
            <a:ext cx="10906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6D9B19D8-B885-4434-A953-A601E3A01B3A}"/>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طالبًا">
            <a:extLst>
              <a:ext uri="{FF2B5EF4-FFF2-40B4-BE49-F238E27FC236}">
                <a16:creationId xmlns:a16="http://schemas.microsoft.com/office/drawing/2014/main" id="{314254A0-68E5-423D-A556-20E027AC897E}"/>
              </a:ext>
            </a:extLst>
          </p:cNvPr>
          <p:cNvSpPr>
            <a:spLocks noGrp="1"/>
          </p:cNvSpPr>
          <p:nvPr/>
        </p:nvSpPr>
        <p:spPr>
          <a:xfrm>
            <a:off x="8096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70 طالبًا</a:t>
            </a:r>
          </a:p>
        </p:txBody>
      </p:sp>
      <p:sp>
        <p:nvSpPr>
          <p:cNvPr id="13" name="يكملون مقارنة موثقة">
            <a:extLst>
              <a:ext uri="{FF2B5EF4-FFF2-40B4-BE49-F238E27FC236}">
                <a16:creationId xmlns:a16="http://schemas.microsoft.com/office/drawing/2014/main" id="{98D6D999-D137-4189-B825-EAC91D3DCCDA}"/>
              </a:ext>
            </a:extLst>
          </p:cNvPr>
          <p:cNvSpPr>
            <a:spLocks noGrp="1"/>
          </p:cNvSpPr>
          <p:nvPr/>
        </p:nvSpPr>
        <p:spPr>
          <a:xfrm>
            <a:off x="8124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يكملون مقارنة موثقة</a:t>
            </a:r>
          </a:p>
        </p:txBody>
      </p:sp>
      <p:sp>
        <p:nvSpPr>
          <p:cNvPr id="14" name="Rectangle: Rounded Corners 13">
            <a:extLst>
              <a:ext uri="{FF2B5EF4-FFF2-40B4-BE49-F238E27FC236}">
                <a16:creationId xmlns:a16="http://schemas.microsoft.com/office/drawing/2014/main" id="{55B9E329-DC55-47F0-BC1F-C38F8531105C}"/>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1 نقطة">
            <a:extLst>
              <a:ext uri="{FF2B5EF4-FFF2-40B4-BE49-F238E27FC236}">
                <a16:creationId xmlns:a16="http://schemas.microsoft.com/office/drawing/2014/main" id="{6E9F9001-BD08-4A35-828C-EBC5E80FCB5C}"/>
              </a:ext>
            </a:extLst>
          </p:cNvPr>
          <p:cNvSpPr>
            <a:spLocks noGrp="1"/>
          </p:cNvSpPr>
          <p:nvPr/>
        </p:nvSpPr>
        <p:spPr>
          <a:xfrm>
            <a:off x="44767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+1 نقطة</a:t>
            </a:r>
          </a:p>
        </p:txBody>
      </p:sp>
      <p:sp>
        <p:nvSpPr>
          <p:cNvPr id="16" name="تحسن وضوح القرار">
            <a:extLst>
              <a:ext uri="{FF2B5EF4-FFF2-40B4-BE49-F238E27FC236}">
                <a16:creationId xmlns:a16="http://schemas.microsoft.com/office/drawing/2014/main" id="{C28EF02A-4FAB-4738-9661-4E7C5999801B}"/>
              </a:ext>
            </a:extLst>
          </p:cNvPr>
          <p:cNvSpPr>
            <a:spLocks noGrp="1"/>
          </p:cNvSpPr>
          <p:nvPr/>
        </p:nvSpPr>
        <p:spPr>
          <a:xfrm>
            <a:off x="45053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تحسن وضوح القرار</a:t>
            </a:r>
          </a:p>
        </p:txBody>
      </p:sp>
      <p:sp>
        <p:nvSpPr>
          <p:cNvPr id="17" name="Rectangle: Rounded Corners 16">
            <a:extLst>
              <a:ext uri="{FF2B5EF4-FFF2-40B4-BE49-F238E27FC236}">
                <a16:creationId xmlns:a16="http://schemas.microsoft.com/office/drawing/2014/main" id="{7E2F22E5-9A19-476D-8CED-41903C74224A}"/>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مؤسستان">
            <a:extLst>
              <a:ext uri="{FF2B5EF4-FFF2-40B4-BE49-F238E27FC236}">
                <a16:creationId xmlns:a16="http://schemas.microsoft.com/office/drawing/2014/main" id="{560802C8-12AC-428A-A909-54A57F791AE7}"/>
              </a:ext>
            </a:extLst>
          </p:cNvPr>
          <p:cNvSpPr>
            <a:spLocks noGrp="1"/>
          </p:cNvSpPr>
          <p:nvPr/>
        </p:nvSpPr>
        <p:spPr>
          <a:xfrm>
            <a:off x="857250" y="4521518"/>
            <a:ext cx="2952750" cy="5772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925" b="1" kern="0" spc="0">
                <a:solidFill>
                  <a:srgbClr val="013070"/>
                </a:solidFill>
                <a:latin typeface="IBM Plex Sans Arabic"/>
                <a:ea typeface="IBM Plex Sans Arabic"/>
                <a:cs typeface="IBM Plex Sans Arabic"/>
              </a:defRPr>
            </a:pPr>
            <a:r>
              <a:rPr lang="ar-JO" sz="2925" b="1" kern="0" spc="0">
                <a:solidFill>
                  <a:srgbClr val="013070"/>
                </a:solidFill>
                <a:latin typeface="IBM Plex Sans Arabic"/>
                <a:ea typeface="IBM Plex Sans Arabic"/>
                <a:cs typeface="IBM Plex Sans Arabic"/>
              </a:rPr>
              <a:t>مؤسستان</a:t>
            </a:r>
          </a:p>
        </p:txBody>
      </p:sp>
      <p:sp>
        <p:nvSpPr>
          <p:cNvPr id="19" name="تبدآن تجربة مدفوعة">
            <a:extLst>
              <a:ext uri="{FF2B5EF4-FFF2-40B4-BE49-F238E27FC236}">
                <a16:creationId xmlns:a16="http://schemas.microsoft.com/office/drawing/2014/main" id="{1DB7FD56-9DFA-4C46-B215-603B0D5796A2}"/>
              </a:ext>
            </a:extLst>
          </p:cNvPr>
          <p:cNvSpPr>
            <a:spLocks noGrp="1"/>
          </p:cNvSpPr>
          <p:nvPr/>
        </p:nvSpPr>
        <p:spPr>
          <a:xfrm>
            <a:off x="885825" y="5114925"/>
            <a:ext cx="2895600" cy="3524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تبدآن تجربة مدفوعة</a:t>
            </a:r>
          </a:p>
        </p:txBody>
      </p:sp>
      <p:sp>
        <p:nvSpPr>
          <p:cNvPr id="20" name="قياس قبل/بعد: زمن المقارنة  •  صحة المصدر  • ">
            <a:extLst>
              <a:ext uri="{FF2B5EF4-FFF2-40B4-BE49-F238E27FC236}">
                <a16:creationId xmlns:a16="http://schemas.microsoft.com/office/drawing/2014/main" id="{C108CF3D-AF05-4B24-BDCA-2475D9858581}"/>
              </a:ext>
            </a:extLst>
          </p:cNvPr>
          <p:cNvSpPr>
            <a:spLocks noGrp="1"/>
          </p:cNvSpPr>
          <p:nvPr/>
        </p:nvSpPr>
        <p:spPr>
          <a:xfrm>
            <a:off x="1476375" y="5848350"/>
            <a:ext cx="10001250" cy="3333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قياس قبل/بعد: زمن المقارنة  •  صحة المصدر  •  وضوح القرار</a:t>
            </a:r>
          </a:p>
        </p:txBody>
      </p:sp>
    </p:spTree>
    <p:extLst>
      <p:ext uri="{BB962C8B-B14F-4D97-AF65-F5344CB8AC3E}">
        <p14:creationId xmlns:p14="http://schemas.microsoft.com/office/powerpoint/2010/main" val="1461095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8" name="Picture 27"/>
          <p:cNvPicPr>
            <a:picLocks noChangeAspect="1"/>
          </p:cNvPicPr>
          <p:nvPr/>
        </p:nvPicPr>
        <p:blipFill>
          <a:blip r:embed="rId3"/>
          <a:stretch/>
        </p:blipFill>
        <p:spPr>
          <a:xfrm>
            <a:off x="11125200" y="400050"/>
            <a:ext cx="552450" cy="552450"/>
          </a:xfrm>
          <a:prstGeom prst="rect">
            <a:avLst/>
          </a:prstGeom>
        </p:spPr>
      </p:pic>
      <p:sp>
        <p:nvSpPr>
          <p:cNvPr id="2" name="الاستدامة: اقتصاديات واضحة وتوسّع مرحلي">
            <a:extLst>
              <a:ext uri="{FF2B5EF4-FFF2-40B4-BE49-F238E27FC236}">
                <a16:creationId xmlns:a16="http://schemas.microsoft.com/office/drawing/2014/main" id="{500CC91F-FEA9-49F5-BEEC-209E178EBB4C}"/>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الاستدامة: اقتصاديات واضحة وتوسّع مرحلي</a:t>
            </a:r>
          </a:p>
        </p:txBody>
      </p:sp>
      <p:sp>
        <p:nvSpPr>
          <p:cNvPr id="3" name="10">
            <a:extLst>
              <a:ext uri="{FF2B5EF4-FFF2-40B4-BE49-F238E27FC236}">
                <a16:creationId xmlns:a16="http://schemas.microsoft.com/office/drawing/2014/main" id="{648047FC-56E8-40E6-8006-2FA4B4194A68}"/>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95FD92BE-8DC3-442A-842D-5DA4CA6C9F7A}"/>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30 ألف د.أ">
            <a:extLst>
              <a:ext uri="{FF2B5EF4-FFF2-40B4-BE49-F238E27FC236}">
                <a16:creationId xmlns:a16="http://schemas.microsoft.com/office/drawing/2014/main" id="{3FFDE69D-2746-461D-BB4E-A0B80D4BFAB4}"/>
              </a:ext>
            </a:extLst>
          </p:cNvPr>
          <p:cNvSpPr>
            <a:spLocks noGrp="1"/>
          </p:cNvSpPr>
          <p:nvPr/>
        </p:nvSpPr>
        <p:spPr>
          <a:xfrm>
            <a:off x="762000" y="1971675"/>
            <a:ext cx="2238375" cy="5524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013070"/>
                </a:solidFill>
                <a:latin typeface="IBM Plex Sans Arabic"/>
                <a:ea typeface="IBM Plex Sans Arabic"/>
                <a:cs typeface="IBM Plex Sans Arabic"/>
              </a:defRPr>
            </a:pPr>
            <a:r>
              <a:rPr lang="ar-JO" sz="2400" b="1" kern="0" spc="0">
                <a:solidFill>
                  <a:srgbClr val="013070"/>
                </a:solidFill>
                <a:latin typeface="IBM Plex Sans Arabic"/>
                <a:ea typeface="IBM Plex Sans Arabic"/>
                <a:cs typeface="IBM Plex Sans Arabic"/>
              </a:rPr>
              <a:t>30 ألف د.أ</a:t>
            </a:r>
          </a:p>
        </p:txBody>
      </p:sp>
      <p:sp>
        <p:nvSpPr>
          <p:cNvPr id="6" name="تشغيل سنوي مفترض">
            <a:extLst>
              <a:ext uri="{FF2B5EF4-FFF2-40B4-BE49-F238E27FC236}">
                <a16:creationId xmlns:a16="http://schemas.microsoft.com/office/drawing/2014/main" id="{7AEBCCDC-BA42-460B-8E00-F8829DEA4758}"/>
              </a:ext>
            </a:extLst>
          </p:cNvPr>
          <p:cNvSpPr>
            <a:spLocks noGrp="1"/>
          </p:cNvSpPr>
          <p:nvPr/>
        </p:nvSpPr>
        <p:spPr>
          <a:xfrm>
            <a:off x="762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تشغيل سنوي مفترض</a:t>
            </a:r>
          </a:p>
        </p:txBody>
      </p:sp>
      <p:sp>
        <p:nvSpPr>
          <p:cNvPr id="7" name="Rectangle: Rounded Corners 6">
            <a:extLst>
              <a:ext uri="{FF2B5EF4-FFF2-40B4-BE49-F238E27FC236}">
                <a16:creationId xmlns:a16="http://schemas.microsoft.com/office/drawing/2014/main" id="{2D468C8D-772D-4093-A508-15F0724766EC}"/>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F75AD7C7-3D79-4E7C-B651-027B8ADD5A14}"/>
              </a:ext>
            </a:extLst>
          </p:cNvPr>
          <p:cNvSpPr>
            <a:spLocks noGrp="1"/>
          </p:cNvSpPr>
          <p:nvPr/>
        </p:nvSpPr>
        <p:spPr>
          <a:xfrm>
            <a:off x="3619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16 د.أ</a:t>
            </a:r>
          </a:p>
        </p:txBody>
      </p:sp>
      <p:sp>
        <p:nvSpPr>
          <p:cNvPr id="9" name="مساهمة / طالب">
            <a:extLst>
              <a:ext uri="{FF2B5EF4-FFF2-40B4-BE49-F238E27FC236}">
                <a16:creationId xmlns:a16="http://schemas.microsoft.com/office/drawing/2014/main" id="{A078CE14-7723-4953-AACA-2BDB7C42F0C6}"/>
              </a:ext>
            </a:extLst>
          </p:cNvPr>
          <p:cNvSpPr>
            <a:spLocks noGrp="1"/>
          </p:cNvSpPr>
          <p:nvPr/>
        </p:nvSpPr>
        <p:spPr>
          <a:xfrm>
            <a:off x="3619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مساهمة / طالب</a:t>
            </a:r>
          </a:p>
        </p:txBody>
      </p:sp>
      <p:sp>
        <p:nvSpPr>
          <p:cNvPr id="10" name="Rectangle: Rounded Corners 9">
            <a:extLst>
              <a:ext uri="{FF2B5EF4-FFF2-40B4-BE49-F238E27FC236}">
                <a16:creationId xmlns:a16="http://schemas.microsoft.com/office/drawing/2014/main" id="{24D28916-E6DE-46BA-95B2-78E9238085AE}"/>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DC5055EE-125B-4221-9108-58AD46762529}"/>
              </a:ext>
            </a:extLst>
          </p:cNvPr>
          <p:cNvSpPr>
            <a:spLocks noGrp="1"/>
          </p:cNvSpPr>
          <p:nvPr/>
        </p:nvSpPr>
        <p:spPr>
          <a:xfrm>
            <a:off x="64770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0CF1E534-81C1-49EB-A49F-7CA6F58BF179}"/>
              </a:ext>
            </a:extLst>
          </p:cNvPr>
          <p:cNvSpPr>
            <a:spLocks noGrp="1"/>
          </p:cNvSpPr>
          <p:nvPr/>
        </p:nvSpPr>
        <p:spPr>
          <a:xfrm>
            <a:off x="64770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30646A21-DC76-4502-998B-EC934CFB9ED1}"/>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09CDB9E1-F298-496D-B1E0-29010BB9A7B7}"/>
              </a:ext>
            </a:extLst>
          </p:cNvPr>
          <p:cNvSpPr>
            <a:spLocks noGrp="1"/>
          </p:cNvSpPr>
          <p:nvPr/>
        </p:nvSpPr>
        <p:spPr>
          <a:xfrm>
            <a:off x="9334500" y="1939290"/>
            <a:ext cx="2238375"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B1478A33-728E-488E-BF20-269ACA970BCA}"/>
              </a:ext>
            </a:extLst>
          </p:cNvPr>
          <p:cNvSpPr>
            <a:spLocks noGrp="1"/>
          </p:cNvSpPr>
          <p:nvPr/>
        </p:nvSpPr>
        <p:spPr>
          <a:xfrm>
            <a:off x="9334500" y="2569845"/>
            <a:ext cx="223837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إيراد / طالب</a:t>
            </a:r>
          </a:p>
        </p:txBody>
      </p:sp>
      <p:sp>
        <p:nvSpPr>
          <p:cNvPr id="16" name="1,950 طالبًا مدفوعًا">
            <a:extLst>
              <a:ext uri="{FF2B5EF4-FFF2-40B4-BE49-F238E27FC236}">
                <a16:creationId xmlns:a16="http://schemas.microsoft.com/office/drawing/2014/main" id="{A6BDD55D-2F10-4F0A-8A70-7CF9332041BD}"/>
              </a:ext>
            </a:extLst>
          </p:cNvPr>
          <p:cNvSpPr>
            <a:spLocks noGrp="1"/>
          </p:cNvSpPr>
          <p:nvPr/>
        </p:nvSpPr>
        <p:spPr>
          <a:xfrm>
            <a:off x="571500" y="3332798"/>
            <a:ext cx="11049000" cy="8305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350" b="1" kern="0" spc="0">
                <a:solidFill>
                  <a:srgbClr val="FFFFFF"/>
                </a:solidFill>
                <a:latin typeface="IBM Plex Sans Arabic"/>
                <a:ea typeface="IBM Plex Sans Arabic"/>
                <a:cs typeface="IBM Plex Sans Arabic"/>
              </a:defRPr>
            </a:pPr>
            <a:r>
              <a:rPr lang="ar-JO" sz="4350" b="1" kern="0" spc="0">
                <a:solidFill>
                  <a:srgbClr val="FFFFFF"/>
                </a:solidFill>
                <a:latin typeface="IBM Plex Sans Arabic"/>
                <a:ea typeface="IBM Plex Sans Arabic"/>
                <a:cs typeface="IBM Plex Sans Arabic"/>
              </a:rPr>
              <a:t>1,950 طالبًا مدفوعًا</a:t>
            </a:r>
          </a:p>
        </p:txBody>
      </p:sp>
      <p:sp>
        <p:nvSpPr>
          <p:cNvPr id="17" name="= 39 ألف د.أ إيراد سنوي عند نقطة التعادل">
            <a:extLst>
              <a:ext uri="{FF2B5EF4-FFF2-40B4-BE49-F238E27FC236}">
                <a16:creationId xmlns:a16="http://schemas.microsoft.com/office/drawing/2014/main" id="{AFDA7369-53FA-4746-AC20-FF82A44E84E2}"/>
              </a:ext>
            </a:extLst>
          </p:cNvPr>
          <p:cNvSpPr>
            <a:spLocks noGrp="1"/>
          </p:cNvSpPr>
          <p:nvPr/>
        </p:nvSpPr>
        <p:spPr>
          <a:xfrm>
            <a:off x="1143000" y="4057650"/>
            <a:ext cx="990600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 39 ألف د.أ إيراد سنوي عند نقطة التعادل</a:t>
            </a:r>
          </a:p>
        </p:txBody>
      </p:sp>
      <p:sp>
        <p:nvSpPr>
          <p:cNvPr id="18" name="Rectangle: Rounded Corners 17">
            <a:extLst>
              <a:ext uri="{FF2B5EF4-FFF2-40B4-BE49-F238E27FC236}">
                <a16:creationId xmlns:a16="http://schemas.microsoft.com/office/drawing/2014/main" id="{93212906-7D2D-453F-A6F1-033C0B9DA015}"/>
              </a:ext>
            </a:extLst>
          </p:cNvPr>
          <p:cNvSpPr>
            <a:spLocks noGrp="1"/>
          </p:cNvSpPr>
          <p:nvPr/>
        </p:nvSpPr>
        <p:spPr>
          <a:xfrm>
            <a:off x="8143875" y="4686300"/>
            <a:ext cx="3333750" cy="876300"/>
          </a:xfrm>
          <a:prstGeom prst="roundRect">
            <a:avLst>
              <a:gd name="adj" fmla="val 8696"/>
            </a:avLst>
          </a:prstGeom>
          <a:solidFill>
            <a:srgbClr val="123D76"/>
          </a:solidFill>
          <a:ln w="12383">
            <a:solidFill>
              <a:srgbClr val="58749B"/>
            </a:solidFill>
          </a:ln>
        </p:spPr>
      </p:sp>
      <p:sp>
        <p:nvSpPr>
          <p:cNvPr id="19" name="3">
            <a:extLst>
              <a:ext uri="{FF2B5EF4-FFF2-40B4-BE49-F238E27FC236}">
                <a16:creationId xmlns:a16="http://schemas.microsoft.com/office/drawing/2014/main" id="{C5A3098D-46EA-4F22-A571-45A549A7ED9B}"/>
              </a:ext>
            </a:extLst>
          </p:cNvPr>
          <p:cNvSpPr>
            <a:spLocks noGrp="1"/>
          </p:cNvSpPr>
          <p:nvPr/>
        </p:nvSpPr>
        <p:spPr>
          <a:xfrm>
            <a:off x="8315325" y="4743450"/>
            <a:ext cx="781050" cy="5715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3</a:t>
            </a:r>
          </a:p>
        </p:txBody>
      </p:sp>
      <p:sp>
        <p:nvSpPr>
          <p:cNvPr id="20" name="مدارس للتجربة">
            <a:extLst>
              <a:ext uri="{FF2B5EF4-FFF2-40B4-BE49-F238E27FC236}">
                <a16:creationId xmlns:a16="http://schemas.microsoft.com/office/drawing/2014/main" id="{3A374927-008A-4F49-850B-CAA697A615B5}"/>
              </a:ext>
            </a:extLst>
          </p:cNvPr>
          <p:cNvSpPr>
            <a:spLocks noGrp="1"/>
          </p:cNvSpPr>
          <p:nvPr/>
        </p:nvSpPr>
        <p:spPr>
          <a:xfrm>
            <a:off x="9058275" y="4800600"/>
            <a:ext cx="22288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1" kern="0" spc="0">
                <a:solidFill>
                  <a:srgbClr val="FFFFFF"/>
                </a:solidFill>
                <a:latin typeface="IBM Plex Sans Arabic"/>
                <a:ea typeface="IBM Plex Sans Arabic"/>
                <a:cs typeface="IBM Plex Sans Arabic"/>
              </a:defRPr>
            </a:pPr>
            <a:r>
              <a:rPr lang="ar-JO" sz="1500" b="1" kern="0" spc="0">
                <a:solidFill>
                  <a:srgbClr val="FFFFFF"/>
                </a:solidFill>
                <a:latin typeface="IBM Plex Sans Arabic"/>
                <a:ea typeface="IBM Plex Sans Arabic"/>
                <a:cs typeface="IBM Plex Sans Arabic"/>
              </a:rPr>
              <a:t>مدارس للتجربة</a:t>
            </a:r>
          </a:p>
        </p:txBody>
      </p:sp>
      <p:sp>
        <p:nvSpPr>
          <p:cNvPr id="21" name="Rectangle: Rounded Corners 20">
            <a:extLst>
              <a:ext uri="{FF2B5EF4-FFF2-40B4-BE49-F238E27FC236}">
                <a16:creationId xmlns:a16="http://schemas.microsoft.com/office/drawing/2014/main" id="{3F1088FC-861F-488C-846B-A51A19741C77}"/>
              </a:ext>
            </a:extLst>
          </p:cNvPr>
          <p:cNvSpPr>
            <a:spLocks noGrp="1"/>
          </p:cNvSpPr>
          <p:nvPr/>
        </p:nvSpPr>
        <p:spPr>
          <a:xfrm>
            <a:off x="4333875" y="4686300"/>
            <a:ext cx="3333750" cy="876300"/>
          </a:xfrm>
          <a:prstGeom prst="roundRect">
            <a:avLst>
              <a:gd name="adj" fmla="val 8696"/>
            </a:avLst>
          </a:prstGeom>
          <a:solidFill>
            <a:srgbClr val="123D76"/>
          </a:solidFill>
          <a:ln w="12383">
            <a:solidFill>
              <a:srgbClr val="58749B"/>
            </a:solidFill>
          </a:ln>
        </p:spPr>
      </p:sp>
      <p:sp>
        <p:nvSpPr>
          <p:cNvPr id="22" name="10">
            <a:extLst>
              <a:ext uri="{FF2B5EF4-FFF2-40B4-BE49-F238E27FC236}">
                <a16:creationId xmlns:a16="http://schemas.microsoft.com/office/drawing/2014/main" id="{B8BD043E-3491-4B19-9958-FD80CBD92AD7}"/>
              </a:ext>
            </a:extLst>
          </p:cNvPr>
          <p:cNvSpPr>
            <a:spLocks noGrp="1"/>
          </p:cNvSpPr>
          <p:nvPr/>
        </p:nvSpPr>
        <p:spPr>
          <a:xfrm>
            <a:off x="4505325" y="4743450"/>
            <a:ext cx="781050" cy="5715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10</a:t>
            </a:r>
          </a:p>
        </p:txBody>
      </p:sp>
      <p:sp>
        <p:nvSpPr>
          <p:cNvPr id="23" name="مؤسسات / 1,500 طالب">
            <a:extLst>
              <a:ext uri="{FF2B5EF4-FFF2-40B4-BE49-F238E27FC236}">
                <a16:creationId xmlns:a16="http://schemas.microsoft.com/office/drawing/2014/main" id="{072F35C6-5995-42EE-8D88-6352ECDBB517}"/>
              </a:ext>
            </a:extLst>
          </p:cNvPr>
          <p:cNvSpPr>
            <a:spLocks noGrp="1"/>
          </p:cNvSpPr>
          <p:nvPr/>
        </p:nvSpPr>
        <p:spPr>
          <a:xfrm>
            <a:off x="5248275" y="4800600"/>
            <a:ext cx="22288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1" kern="0" spc="0">
                <a:solidFill>
                  <a:srgbClr val="FFFFFF"/>
                </a:solidFill>
                <a:latin typeface="IBM Plex Sans Arabic"/>
                <a:ea typeface="IBM Plex Sans Arabic"/>
                <a:cs typeface="IBM Plex Sans Arabic"/>
              </a:defRPr>
            </a:pPr>
            <a:r>
              <a:rPr lang="ar-JO" sz="1500" b="1" kern="0" spc="0">
                <a:solidFill>
                  <a:srgbClr val="FFFFFF"/>
                </a:solidFill>
                <a:latin typeface="IBM Plex Sans Arabic"/>
                <a:ea typeface="IBM Plex Sans Arabic"/>
                <a:cs typeface="IBM Plex Sans Arabic"/>
              </a:rPr>
              <a:t>مؤسسات / 1,500 طالب</a:t>
            </a:r>
          </a:p>
        </p:txBody>
      </p:sp>
      <p:sp>
        <p:nvSpPr>
          <p:cNvPr id="24" name="Rectangle: Rounded Corners 23">
            <a:extLst>
              <a:ext uri="{FF2B5EF4-FFF2-40B4-BE49-F238E27FC236}">
                <a16:creationId xmlns:a16="http://schemas.microsoft.com/office/drawing/2014/main" id="{DD448208-62B8-4263-8608-68CBD02C2160}"/>
              </a:ext>
            </a:extLst>
          </p:cNvPr>
          <p:cNvSpPr>
            <a:spLocks noGrp="1"/>
          </p:cNvSpPr>
          <p:nvPr/>
        </p:nvSpPr>
        <p:spPr>
          <a:xfrm>
            <a:off x="523875" y="4686300"/>
            <a:ext cx="3333750" cy="876300"/>
          </a:xfrm>
          <a:prstGeom prst="roundRect">
            <a:avLst>
              <a:gd name="adj" fmla="val 8696"/>
            </a:avLst>
          </a:prstGeom>
          <a:solidFill>
            <a:srgbClr val="123D76"/>
          </a:solidFill>
          <a:ln w="12383">
            <a:solidFill>
              <a:srgbClr val="58749B"/>
            </a:solidFill>
          </a:ln>
        </p:spPr>
      </p:sp>
      <p:sp>
        <p:nvSpPr>
          <p:cNvPr id="25" name="13">
            <a:extLst>
              <a:ext uri="{FF2B5EF4-FFF2-40B4-BE49-F238E27FC236}">
                <a16:creationId xmlns:a16="http://schemas.microsoft.com/office/drawing/2014/main" id="{DB2D4DD4-12E5-4B5C-B8FB-6FF69BBC110F}"/>
              </a:ext>
            </a:extLst>
          </p:cNvPr>
          <p:cNvSpPr>
            <a:spLocks noGrp="1"/>
          </p:cNvSpPr>
          <p:nvPr/>
        </p:nvSpPr>
        <p:spPr>
          <a:xfrm>
            <a:off x="695325" y="4743450"/>
            <a:ext cx="781050" cy="5715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13</a:t>
            </a:r>
          </a:p>
        </p:txBody>
      </p:sp>
      <p:sp>
        <p:nvSpPr>
          <p:cNvPr id="26" name="مؤسسة عند التعادل">
            <a:extLst>
              <a:ext uri="{FF2B5EF4-FFF2-40B4-BE49-F238E27FC236}">
                <a16:creationId xmlns:a16="http://schemas.microsoft.com/office/drawing/2014/main" id="{C147C502-9633-4C19-99C3-55CEBE7EF024}"/>
              </a:ext>
            </a:extLst>
          </p:cNvPr>
          <p:cNvSpPr>
            <a:spLocks noGrp="1"/>
          </p:cNvSpPr>
          <p:nvPr/>
        </p:nvSpPr>
        <p:spPr>
          <a:xfrm>
            <a:off x="1438275" y="4800600"/>
            <a:ext cx="22288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1" kern="0" spc="0">
                <a:solidFill>
                  <a:srgbClr val="FFFFFF"/>
                </a:solidFill>
                <a:latin typeface="IBM Plex Sans Arabic"/>
                <a:ea typeface="IBM Plex Sans Arabic"/>
                <a:cs typeface="IBM Plex Sans Arabic"/>
              </a:defRPr>
            </a:pPr>
            <a:r>
              <a:rPr lang="ar-JO" sz="1500" b="1" kern="0" spc="0">
                <a:solidFill>
                  <a:srgbClr val="FFFFFF"/>
                </a:solidFill>
                <a:latin typeface="IBM Plex Sans Arabic"/>
                <a:ea typeface="IBM Plex Sans Arabic"/>
                <a:cs typeface="IBM Plex Sans Arabic"/>
              </a:rPr>
              <a:t>مؤسسة عند التعادل</a:t>
            </a:r>
          </a:p>
        </p:txBody>
      </p:sp>
      <p:sp>
        <p:nvSpPr>
          <p:cNvPr id="27" name="تحديث القبول والرسوم كل دورة  •  سوق العمل وف">
            <a:extLst>
              <a:ext uri="{FF2B5EF4-FFF2-40B4-BE49-F238E27FC236}">
                <a16:creationId xmlns:a16="http://schemas.microsoft.com/office/drawing/2014/main" id="{1EDEB09A-4D8F-4C81-BC53-ADAF3D3615BF}"/>
              </a:ext>
            </a:extLst>
          </p:cNvPr>
          <p:cNvSpPr>
            <a:spLocks noGrp="1"/>
          </p:cNvSpPr>
          <p:nvPr/>
        </p:nvSpPr>
        <p:spPr>
          <a:xfrm>
            <a:off x="809625" y="5924550"/>
            <a:ext cx="1057275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تحديث القبول والرسوم كل دورة  •  سوق العمل وفق نشر المصدر  •  نختبر 12 و20 و30 د.أ</a:t>
            </a:r>
          </a:p>
        </p:txBody>
      </p:sp>
    </p:spTree>
    <p:extLst>
      <p:ext uri="{BB962C8B-B14F-4D97-AF65-F5344CB8AC3E}">
        <p14:creationId xmlns:p14="http://schemas.microsoft.com/office/powerpoint/2010/main" val="1926622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Vcoders: ثلاث مسؤوليات وملكية مشتركة">
            <a:extLst>
              <a:ext uri="{FF2B5EF4-FFF2-40B4-BE49-F238E27FC236}">
                <a16:creationId xmlns:a16="http://schemas.microsoft.com/office/drawing/2014/main" id="{0666917D-ACA1-45DC-84F7-AF6B4602E3F8}"/>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Vcoders: ثلاث مسؤوليات وملكية مشتركة</a:t>
            </a:r>
          </a:p>
        </p:txBody>
      </p:sp>
      <p:sp>
        <p:nvSpPr>
          <p:cNvPr id="3" name="11">
            <a:extLst>
              <a:ext uri="{FF2B5EF4-FFF2-40B4-BE49-F238E27FC236}">
                <a16:creationId xmlns:a16="http://schemas.microsoft.com/office/drawing/2014/main" id="{E125B9EA-EDC3-42A8-BA4A-C185AA356282}"/>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CEBCFEB5-4282-4839-9907-5BE13ED3EE2F}"/>
              </a:ext>
            </a:extLst>
          </p:cNvPr>
          <p:cNvSpPr>
            <a:spLocks noGrp="1"/>
          </p:cNvSpPr>
          <p:nvPr/>
        </p:nvSpPr>
        <p:spPr>
          <a:xfrm>
            <a:off x="82296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8B245B09-2A3D-43E5-B4CF-3E4F0AB092E6}"/>
              </a:ext>
            </a:extLst>
          </p:cNvPr>
          <p:cNvSpPr>
            <a:spLocks noGrp="1"/>
          </p:cNvSpPr>
          <p:nvPr/>
        </p:nvSpPr>
        <p:spPr>
          <a:xfrm>
            <a:off x="82296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AAB5F55D-7A7D-4E97-8AEE-544B5CF7B800}"/>
              </a:ext>
            </a:extLst>
          </p:cNvPr>
          <p:cNvSpPr>
            <a:spLocks noGrp="1"/>
          </p:cNvSpPr>
          <p:nvPr/>
        </p:nvSpPr>
        <p:spPr>
          <a:xfrm>
            <a:off x="82296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13CED9EA-FF8B-4B5B-9494-7DB63841E7F3}"/>
              </a:ext>
            </a:extLst>
          </p:cNvPr>
          <p:cNvSpPr>
            <a:spLocks noGrp="1"/>
          </p:cNvSpPr>
          <p:nvPr/>
        </p:nvSpPr>
        <p:spPr>
          <a:xfrm>
            <a:off x="4429125"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F29A7601-2FFD-43D5-BB77-46933F0CA296}"/>
              </a:ext>
            </a:extLst>
          </p:cNvPr>
          <p:cNvSpPr>
            <a:spLocks noGrp="1"/>
          </p:cNvSpPr>
          <p:nvPr/>
        </p:nvSpPr>
        <p:spPr>
          <a:xfrm>
            <a:off x="4429125"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E6B853DE-112F-45B0-902F-01640AFF8DD7}"/>
              </a:ext>
            </a:extLst>
          </p:cNvPr>
          <p:cNvSpPr>
            <a:spLocks noGrp="1"/>
          </p:cNvSpPr>
          <p:nvPr/>
        </p:nvSpPr>
        <p:spPr>
          <a:xfrm>
            <a:off x="4429125"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5D411719-7D91-4E7B-8115-731EFC8AA556}"/>
              </a:ext>
            </a:extLst>
          </p:cNvPr>
          <p:cNvSpPr>
            <a:spLocks noGrp="1"/>
          </p:cNvSpPr>
          <p:nvPr/>
        </p:nvSpPr>
        <p:spPr>
          <a:xfrm>
            <a:off x="571500" y="205740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C679C64B-5F24-40B7-9450-AB1C24350798}"/>
              </a:ext>
            </a:extLst>
          </p:cNvPr>
          <p:cNvSpPr>
            <a:spLocks noGrp="1"/>
          </p:cNvSpPr>
          <p:nvPr/>
        </p:nvSpPr>
        <p:spPr>
          <a:xfrm>
            <a:off x="571500" y="3419475"/>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27CF885D-B050-442E-B8CA-1C96B5FBD3FB}"/>
              </a:ext>
            </a:extLst>
          </p:cNvPr>
          <p:cNvSpPr>
            <a:spLocks noGrp="1"/>
          </p:cNvSpPr>
          <p:nvPr/>
        </p:nvSpPr>
        <p:spPr>
          <a:xfrm>
            <a:off x="571500" y="40957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2025" b="0" kern="0" spc="0">
                <a:solidFill>
                  <a:srgbClr val="53657C"/>
                </a:solidFill>
                <a:latin typeface="IBM Plex Sans Arabic"/>
                <a:ea typeface="IBM Plex Sans Arabic"/>
                <a:cs typeface="IBM Plex Sans Arabic"/>
              </a:defRPr>
            </a:pPr>
            <a:r>
              <a:rPr lang="ar-JO" sz="2025" b="0" kern="0" spc="0">
                <a:solidFill>
                  <a:srgbClr val="53657C"/>
                </a:solidFill>
                <a:latin typeface="IBM Plex Sans Arabic"/>
                <a:ea typeface="IBM Plex Sans Arabic"/>
                <a:cs typeface="IBM Plex Sans Arabic"/>
              </a:rPr>
              <a:t>إلى تجربة قابلة للاستخدام</a:t>
            </a:r>
          </a:p>
        </p:txBody>
      </p:sp>
      <p:sp>
        <p:nvSpPr>
          <p:cNvPr id="13" name="Rectangle: Rounded Corners 12">
            <a:extLst>
              <a:ext uri="{FF2B5EF4-FFF2-40B4-BE49-F238E27FC236}">
                <a16:creationId xmlns:a16="http://schemas.microsoft.com/office/drawing/2014/main" id="{F982E8E8-308D-4922-A72F-D3D32AB508A9}"/>
              </a:ext>
            </a:extLst>
          </p:cNvPr>
          <p:cNvSpPr>
            <a:spLocks noGrp="1"/>
          </p:cNvSpPr>
          <p:nvPr/>
        </p:nvSpPr>
        <p:spPr>
          <a:xfrm>
            <a:off x="1381125" y="5619750"/>
            <a:ext cx="10096500" cy="685800"/>
          </a:xfrm>
          <a:prstGeom prst="roundRect">
            <a:avLst>
              <a:gd name="adj" fmla="val 11111"/>
            </a:avLst>
          </a:prstGeom>
          <a:solidFill>
            <a:srgbClr val="F3EAD7"/>
          </a:solidFill>
          <a:ln w="12383">
            <a:solidFill>
              <a:srgbClr val="DFC98F"/>
            </a:solidFill>
          </a:ln>
        </p:spPr>
      </p:sp>
      <p:sp>
        <p:nvSpPr>
          <p:cNvPr id="14" name="بيانات صحيحة  ←  رحلة مفهومة  ←  واجهة عاملة ">
            <a:extLst>
              <a:ext uri="{FF2B5EF4-FFF2-40B4-BE49-F238E27FC236}">
                <a16:creationId xmlns:a16="http://schemas.microsoft.com/office/drawing/2014/main" id="{D70FE9EF-3313-4976-94A6-6703DCD8F8F5}"/>
              </a:ext>
            </a:extLst>
          </p:cNvPr>
          <p:cNvSpPr>
            <a:spLocks noGrp="1"/>
          </p:cNvSpPr>
          <p:nvPr/>
        </p:nvSpPr>
        <p:spPr>
          <a:xfrm>
            <a:off x="1571625" y="5705475"/>
            <a:ext cx="9715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بيانات صحيحة  ←  رحلة مفهومة  ←  واجهة عاملة  ←  مراجعة مشتركة</a:t>
            </a:r>
          </a:p>
        </p:txBody>
      </p:sp>
    </p:spTree>
    <p:extLst>
      <p:ext uri="{BB962C8B-B14F-4D97-AF65-F5344CB8AC3E}">
        <p14:creationId xmlns:p14="http://schemas.microsoft.com/office/powerpoint/2010/main" val="1636695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10572750" y="523875"/>
            <a:ext cx="933450" cy="933450"/>
          </a:xfrm>
          <a:prstGeom prst="rect">
            <a:avLst/>
          </a:prstGeom>
        </p:spPr>
      </p:pic>
      <p:sp>
        <p:nvSpPr>
          <p:cNvPr id="3" name="طلبنا من اللجنة">
            <a:extLst>
              <a:ext uri="{FF2B5EF4-FFF2-40B4-BE49-F238E27FC236}">
                <a16:creationId xmlns:a16="http://schemas.microsoft.com/office/drawing/2014/main" id="{1B3B9F46-48A2-4CF3-877D-449617921C92}"/>
              </a:ext>
            </a:extLst>
          </p:cNvPr>
          <p:cNvSpPr>
            <a:spLocks noGrp="1"/>
          </p:cNvSpPr>
          <p:nvPr/>
        </p:nvSpPr>
        <p:spPr>
          <a:xfrm>
            <a:off x="6191250" y="1714500"/>
            <a:ext cx="5286375"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طلبنا من اللجنة</a:t>
            </a:r>
          </a:p>
        </p:txBody>
      </p:sp>
      <p:sp>
        <p:nvSpPr>
          <p:cNvPr id="4" name="تجربة 100 طالب&#10;في 3 مدارس خلال 6 أسابيع">
            <a:extLst>
              <a:ext uri="{FF2B5EF4-FFF2-40B4-BE49-F238E27FC236}">
                <a16:creationId xmlns:a16="http://schemas.microsoft.com/office/drawing/2014/main" id="{98E52669-2F0A-4A22-839E-BD9E863139B0}"/>
              </a:ext>
            </a:extLst>
          </p:cNvPr>
          <p:cNvSpPr>
            <a:spLocks noGrp="1"/>
          </p:cNvSpPr>
          <p:nvPr/>
        </p:nvSpPr>
        <p:spPr>
          <a:xfrm>
            <a:off x="5191125" y="2571750"/>
            <a:ext cx="6286500" cy="1428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675" b="1" kern="0" spc="0">
                <a:solidFill>
                  <a:srgbClr val="FFFFFF"/>
                </a:solidFill>
                <a:latin typeface="IBM Plex Sans Arabic"/>
                <a:ea typeface="IBM Plex Sans Arabic"/>
                <a:cs typeface="IBM Plex Sans Arabic"/>
              </a:defRPr>
            </a:pPr>
            <a:r>
              <a:rPr lang="ar-JO" sz="3675" b="1" kern="0" spc="0">
                <a:solidFill>
                  <a:srgbClr val="FFFFFF"/>
                </a:solidFill>
                <a:latin typeface="IBM Plex Sans Arabic"/>
                <a:ea typeface="IBM Plex Sans Arabic"/>
                <a:cs typeface="IBM Plex Sans Arabic"/>
              </a:rPr>
              <a:t>تجربة 100 طالب</a:t>
            </a:r>
          </a:p>
          <a:p>
            <a:pPr algn="r" rtl="1">
              <a:lnSpc>
                <a:spcPct val="116000"/>
              </a:lnSpc>
              <a:spcBef>
                <a:spcPts val="0"/>
              </a:spcBef>
              <a:spcAft>
                <a:spcPts val="0"/>
              </a:spcAft>
              <a:buNone/>
              <a:defRPr lang="ar-JO" sz="3675" b="1" kern="0" spc="0">
                <a:solidFill>
                  <a:srgbClr val="FFFFFF"/>
                </a:solidFill>
                <a:latin typeface="IBM Plex Sans Arabic"/>
                <a:ea typeface="IBM Plex Sans Arabic"/>
                <a:cs typeface="IBM Plex Sans Arabic"/>
              </a:defRPr>
            </a:pPr>
            <a:r>
              <a:rPr lang="ar-JO" sz="3675" b="1" kern="0" spc="0">
                <a:solidFill>
                  <a:srgbClr val="FFFFFF"/>
                </a:solidFill>
                <a:latin typeface="IBM Plex Sans Arabic"/>
                <a:ea typeface="IBM Plex Sans Arabic"/>
                <a:cs typeface="IBM Plex Sans Arabic"/>
              </a:rPr>
              <a:t>في 3 مدارس خلال 6 أسابيع</a:t>
            </a:r>
          </a:p>
        </p:txBody>
      </p:sp>
      <p:sp>
        <p:nvSpPr>
          <p:cNvPr id="5" name="مرشدون  +  جهة بيانات تعليمية  +  تقرير أثر">
            <a:extLst>
              <a:ext uri="{FF2B5EF4-FFF2-40B4-BE49-F238E27FC236}">
                <a16:creationId xmlns:a16="http://schemas.microsoft.com/office/drawing/2014/main" id="{EACBB4F7-6DF8-4AE7-91C5-762FB39B0886}"/>
              </a:ext>
            </a:extLst>
          </p:cNvPr>
          <p:cNvSpPr>
            <a:spLocks noGrp="1"/>
          </p:cNvSpPr>
          <p:nvPr/>
        </p:nvSpPr>
        <p:spPr>
          <a:xfrm>
            <a:off x="4810125" y="4171950"/>
            <a:ext cx="6667500" cy="5524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025" b="0" kern="0" spc="0">
                <a:solidFill>
                  <a:srgbClr val="D1DEED"/>
                </a:solidFill>
                <a:latin typeface="IBM Plex Sans Arabic"/>
                <a:ea typeface="IBM Plex Sans Arabic"/>
                <a:cs typeface="IBM Plex Sans Arabic"/>
              </a:defRPr>
            </a:pPr>
            <a:r>
              <a:rPr lang="ar-JO" sz="2025" b="0" kern="0" spc="0">
                <a:solidFill>
                  <a:srgbClr val="D1DEED"/>
                </a:solidFill>
                <a:latin typeface="IBM Plex Sans Arabic"/>
                <a:ea typeface="IBM Plex Sans Arabic"/>
                <a:cs typeface="IBM Plex Sans Arabic"/>
              </a:rPr>
              <a:t>مرشدون  +  جهة بيانات تعليمية  +  تقرير أثر</a:t>
            </a:r>
          </a:p>
        </p:txBody>
      </p:sp>
      <p:sp>
        <p:nvSpPr>
          <p:cNvPr id="6" name="Rectangle: Rounded Corners 5">
            <a:extLst>
              <a:ext uri="{FF2B5EF4-FFF2-40B4-BE49-F238E27FC236}">
                <a16:creationId xmlns:a16="http://schemas.microsoft.com/office/drawing/2014/main" id="{34F94F49-68EF-463D-BBB9-85A1BEFEB8A3}"/>
              </a:ext>
            </a:extLst>
          </p:cNvPr>
          <p:cNvSpPr>
            <a:spLocks noGrp="1"/>
          </p:cNvSpPr>
          <p:nvPr/>
        </p:nvSpPr>
        <p:spPr>
          <a:xfrm>
            <a:off x="5286375" y="4914900"/>
            <a:ext cx="6191250" cy="552450"/>
          </a:xfrm>
          <a:prstGeom prst="roundRect">
            <a:avLst>
              <a:gd name="adj" fmla="val 13793"/>
            </a:avLst>
          </a:prstGeom>
          <a:solidFill>
            <a:srgbClr val="F3EAD7"/>
          </a:solidFill>
          <a:ln w="12383">
            <a:solidFill>
              <a:srgbClr val="DFC98F"/>
            </a:solidFill>
          </a:ln>
        </p:spPr>
      </p:sp>
      <p:sp>
        <p:nvSpPr>
          <p:cNvPr id="7" name="التنسيق الرسمي: لم يبدأ بعد — ونحن جاهزون">
            <a:extLst>
              <a:ext uri="{FF2B5EF4-FFF2-40B4-BE49-F238E27FC236}">
                <a16:creationId xmlns:a16="http://schemas.microsoft.com/office/drawing/2014/main" id="{7E5988BE-AA36-4CFE-B90D-723C0274EE54}"/>
              </a:ext>
            </a:extLst>
          </p:cNvPr>
          <p:cNvSpPr>
            <a:spLocks noGrp="1"/>
          </p:cNvSpPr>
          <p:nvPr/>
        </p:nvSpPr>
        <p:spPr>
          <a:xfrm>
            <a:off x="5438775" y="4972050"/>
            <a:ext cx="58864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التنسيق الرسمي: لم يبدأ بعد — ونحن جاهزون</a:t>
            </a:r>
          </a:p>
        </p:txBody>
      </p:sp>
      <p:sp>
        <p:nvSpPr>
          <p:cNvPr id="8" name="من منتج عامل إلى خدمة قابلة للتبنّي">
            <a:extLst>
              <a:ext uri="{FF2B5EF4-FFF2-40B4-BE49-F238E27FC236}">
                <a16:creationId xmlns:a16="http://schemas.microsoft.com/office/drawing/2014/main" id="{A124B635-644D-486D-9BDF-3DC8C34A3778}"/>
              </a:ext>
            </a:extLst>
          </p:cNvPr>
          <p:cNvSpPr>
            <a:spLocks noGrp="1"/>
          </p:cNvSpPr>
          <p:nvPr/>
        </p:nvSpPr>
        <p:spPr>
          <a:xfrm>
            <a:off x="5762625" y="5809298"/>
            <a:ext cx="5715000" cy="49720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75" b="1" kern="0" spc="0">
                <a:solidFill>
                  <a:srgbClr val="FFFFFF"/>
                </a:solidFill>
                <a:latin typeface="IBM Plex Sans Arabic"/>
                <a:ea typeface="IBM Plex Sans Arabic"/>
                <a:cs typeface="IBM Plex Sans Arabic"/>
              </a:defRPr>
            </a:pPr>
            <a:r>
              <a:rPr lang="ar-JO" sz="2475" b="1" kern="0" spc="0">
                <a:solidFill>
                  <a:srgbClr val="FFFFFF"/>
                </a:solidFill>
                <a:latin typeface="IBM Plex Sans Arabic"/>
                <a:ea typeface="IBM Plex Sans Arabic"/>
                <a:cs typeface="IBM Plex Sans Arabic"/>
              </a:rPr>
              <a:t>من منتج عامل إلى خدمة قابلة للتبنّي</a:t>
            </a:r>
          </a:p>
        </p:txBody>
      </p:sp>
    </p:spTree>
    <p:extLst>
      <p:ext uri="{BB962C8B-B14F-4D97-AF65-F5344CB8AC3E}">
        <p14:creationId xmlns:p14="http://schemas.microsoft.com/office/powerpoint/2010/main" val="10415632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2054</Words>
  <Application>Microsoft Office PowerPoint</Application>
  <DocSecurity>0</DocSecurity>
  <PresentationFormat>Widescreen</PresentationFormat>
  <Paragraphs>237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IBM Plex Sans Arabic</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2026-09-10T20:47:39Z</dcterms:created>
  <dcterms:modified xsi:type="dcterms:W3CDTF">2026-09-10T20:47:52Z</dcterms:modified>
</cp:coreProperties>
</file>