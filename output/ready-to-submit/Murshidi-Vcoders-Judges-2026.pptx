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المشكلة تظهر بعد سنوات من القرار. بلغ معدل البطالة بين حملة البكالوريوس فأعلى 26.2 بالمئة في الربع الثالث من 2025، وفق تقرير البنك المركزي نقلًا عن دائرة الإحصاءات. وفي العام نفسه خفّض مجلس التعليم العالي القبول في التخصصات الراكدة والمشبعة 60 بالمئة. نحن لا نقول إن اختيار التخصص سبب البطالة وحده؛ بل إن الطالب يحتاج رؤية أوضح للميول والكلفة والقبول والسوق قبل أن يلتزم بقرار لسنوات.</a:t>
            </a:r>
          </a:p>
          <a:p>
            <a:endParaRPr/>
          </a:p>
          <a:p>
            <a:r>
              <a:t>المصادر: البنك المركزي الأردني، التقرير الشهري كانون الأول 2025، ص19: بطالة حملة البكالوريوس فأعلى 26.2% في Q3 2025، ومصدر الشكل دائرة الإحصاءات. مجلس التعليم العالي، 27 آب 2025: خفض قبول التخصصات الراكدة والمشبعة 60%. لا يثبت الرقمان أن اختيار التخصص هو سبب البطالة الوحيد.</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يبدأ الطالب باستكشاف اهتماماته، ثم يقارن برامج فعلية في جامعات مختلفة، ويحسب كلفة تتناسب مع ظروفه. هذه شاشة حقيقية من التطبيق الذي شغّلناه. القيمة هي تحويل المعلومة إلى قرار: ما الذي يناسب اهتمامه، ما الذي يستطيع تحمّله، وما الذي يجب أن يتحقق منه قبل التقديم؟ تظهر المصادر وفترتها بوضوح، وتبقى النتيجة أداة للحوار والقرار بيد الطالب وأسرته.</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نفصل بين حجم الحاجة وبين ما نستطيع الوصول إليه. حجم السوق الكلي السنوي هو 116,366 ناجح توجيهي في 2026. السوق القابل للخدمة عبر المدارس يبدأ من 90,326 ناجحًا نظاميًا. وعند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تجربة عشوائية على 28,186 طالبًا في 243 مدرسة وجدت أن المعلومات المهنية المخصّصة رفعت اختيار برامج بفرص عمل أفضل حتى 2.9 بالمئة. وفي تشيلي خفّضت معلومات الدخل والكلفة الطلب على البرامج منخفضة العائد 3.3 بالمئة. هذا يدعم سلسلة الأثر، لا ادعاء خفض البطالة؛ لذلك سنثبت النتيجة محليًا.</a:t>
            </a:r>
          </a:p>
          <a:p>
            <a:endParaRPr/>
          </a:p>
          <a:p>
            <a:r>
              <a:t>المصادر: de Koning, Fouarge &amp; Dur، IZA DP 17951، 2025: تجربة على 28,186 طالبًا في 243 مدرسة، وتحسن اختيار برامج ذات فرص عمل أفضل حتى 2.9%. Hastings, Neilson &amp; Zimmerman، NBER w21300: 49,166 مستجيبًا؛ انخفاض طلب البرامج منخفضة العائد 3.3%. السياقان غير أردنيين ولا يثبتان أثر مُرشِدي.</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لدينا منتج عامل وبيانات رسمية، وما ينقصنا هو إثبات الاستخدام والدفع. نقترح تجربة مع 100 طالب في ثلاث مدارس خلال ستة أسابيع. نعتبرها ناجحة إذا أكمل 70 بالمئة مقارنة ثلاثة برامج، وبلغ وضوح القرار أربعة من خمسة، ثم تقبل مؤسستان على الأقل من خمس تجربة مدفوعة بسعر 12 دينارًا أو أكثر لكل طالب. هذه أهداف معلنة وليست نتائج سابقة؛ وإذا لم تتحقق نعدل الرحلة أو السعر.</a:t>
            </a:r>
          </a:p>
          <a:p>
            <a:endParaRPr/>
          </a:p>
          <a:p>
            <a:r>
              <a:t>المصادر: تصميم تجربة وأهداف قرار مقترحة: 100 طالب، 3 مدارس، 6 أسابيع، إتمام ≥70%، وضوح ≥4/5، وقبول مدفوع ≥2 من 5 مؤسسات عند ≥12 د.أ/طالب. ليست نتائج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أي هامش مساهمة 16 دينارًا أو 80 بالمئة. مع كلفة تشغيل ثابتة مقدرة 30 ألف دينار، ومع 300 طالب في تجارب مجانية، تكون نقطة التعادل عند 1,950 طالبًا مدفوعًا، أي 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82E918B1-B79F-4FC4-9A58-9DCABFD59C8F}"/>
              </a:ext>
            </a:extLst>
          </p:cNvPr>
          <p:cNvSpPr>
            <a:spLocks noGrp="1"/>
          </p:cNvSpPr>
          <p:nvPr/>
        </p:nvSpPr>
        <p:spPr>
          <a:xfrm>
            <a:off x="6191250" y="1971675"/>
            <a:ext cx="5286375" cy="1162050"/>
          </a:xfrm>
          <a:prstGeom prst="rect">
            <a:avLst/>
          </a:prstGeom>
          <a:noFill/>
          <a:ln w="0">
            <a:noFill/>
          </a:ln>
        </p:spPr>
        <p:txBody>
          <a:bodyPr wrap="square" lIns="0" tIns="0" rIns="0" bIns="0" anchor="ctr">
            <a:noAutofit/>
          </a:bodyPr>
          <a:lstStyle/>
          <a:p>
            <a:pPr algn="r">
              <a:defRPr lang="ar-JO" sz="7200" b="1">
                <a:solidFill>
                  <a:srgbClr val="FFFFFF"/>
                </a:solidFill>
                <a:latin typeface="IBM Plex Sans Arabic"/>
                <a:ea typeface="IBM Plex Sans Arabic"/>
                <a:cs typeface="IBM Plex Sans Arabic"/>
              </a:defRPr>
            </a:pPr>
            <a:r>
              <a:rPr lang="ar-JO" sz="7200" b="1">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E331AEEC-4077-48F4-9EBB-E6ECF431A1A3}"/>
              </a:ext>
            </a:extLst>
          </p:cNvPr>
          <p:cNvSpPr>
            <a:spLocks noGrp="1"/>
          </p:cNvSpPr>
          <p:nvPr/>
        </p:nvSpPr>
        <p:spPr>
          <a:xfrm>
            <a:off x="6143625" y="3209925"/>
            <a:ext cx="5334000" cy="628650"/>
          </a:xfrm>
          <a:prstGeom prst="rect">
            <a:avLst/>
          </a:prstGeom>
          <a:noFill/>
          <a:ln w="0">
            <a:noFill/>
          </a:ln>
        </p:spPr>
        <p:txBody>
          <a:bodyPr wrap="square" lIns="0" tIns="0" rIns="0" bIns="0" anchor="ctr">
            <a:noAutofit/>
          </a:bodyPr>
          <a:lstStyle/>
          <a:p>
            <a:pPr algn="r">
              <a:defRPr lang="ar-JO" sz="3375" b="1">
                <a:solidFill>
                  <a:srgbClr val="C8A04C"/>
                </a:solidFill>
                <a:latin typeface="IBM Plex Sans Arabic"/>
                <a:ea typeface="IBM Plex Sans Arabic"/>
                <a:cs typeface="IBM Plex Sans Arabic"/>
              </a:defRPr>
            </a:pPr>
            <a:r>
              <a:rPr lang="ar-JO" sz="3375" b="1">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505E76AB-ED54-461D-BD6E-67C3FC92AD9C}"/>
              </a:ext>
            </a:extLst>
          </p:cNvPr>
          <p:cNvSpPr>
            <a:spLocks noGrp="1"/>
          </p:cNvSpPr>
          <p:nvPr/>
        </p:nvSpPr>
        <p:spPr>
          <a:xfrm>
            <a:off x="7286625" y="4038600"/>
            <a:ext cx="4191000" cy="476250"/>
          </a:xfrm>
          <a:prstGeom prst="rect">
            <a:avLst/>
          </a:prstGeom>
          <a:noFill/>
          <a:ln w="0">
            <a:noFill/>
          </a:ln>
        </p:spPr>
        <p:txBody>
          <a:bodyPr wrap="square" lIns="0" tIns="0" rIns="0" bIns="0" anchor="ctr">
            <a:noAutofit/>
          </a:bodyPr>
          <a:lstStyle/>
          <a:p>
            <a:pPr algn="r">
              <a:defRPr lang="ar-JO" sz="2550" b="0">
                <a:solidFill>
                  <a:srgbClr val="FFFFFF"/>
                </a:solidFill>
                <a:latin typeface="IBM Plex Sans Arabic"/>
                <a:ea typeface="IBM Plex Sans Arabic"/>
                <a:cs typeface="IBM Plex Sans Arabic"/>
              </a:defRPr>
            </a:pPr>
            <a:r>
              <a:rPr lang="ar-JO" sz="2550" b="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49147F5A-C4A3-4754-AD3F-DF89F868E6E1}"/>
              </a:ext>
            </a:extLst>
          </p:cNvPr>
          <p:cNvSpPr>
            <a:spLocks noGrp="1"/>
          </p:cNvSpPr>
          <p:nvPr/>
        </p:nvSpPr>
        <p:spPr>
          <a:xfrm>
            <a:off x="6096000" y="5534025"/>
            <a:ext cx="5381625" cy="400050"/>
          </a:xfrm>
          <a:prstGeom prst="rect">
            <a:avLst/>
          </a:prstGeom>
          <a:noFill/>
          <a:ln w="0">
            <a:noFill/>
          </a:ln>
        </p:spPr>
        <p:txBody>
          <a:bodyPr wrap="square" lIns="0" tIns="0" rIns="0" bIns="0" anchor="ctr">
            <a:noAutofit/>
          </a:bodyPr>
          <a:lstStyle/>
          <a:p>
            <a:pPr algn="r">
              <a:defRPr lang="ar-JO" sz="1875" b="0">
                <a:solidFill>
                  <a:srgbClr val="D1DEED"/>
                </a:solidFill>
                <a:latin typeface="IBM Plex Sans Arabic"/>
                <a:ea typeface="IBM Plex Sans Arabic"/>
                <a:cs typeface="IBM Plex Sans Arabic"/>
              </a:defRPr>
            </a:pPr>
            <a:r>
              <a:rPr lang="ar-JO"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3F375A03-D775-4464-B948-D530F114D687}"/>
              </a:ext>
            </a:extLst>
          </p:cNvPr>
          <p:cNvSpPr>
            <a:spLocks noGrp="1"/>
          </p:cNvSpPr>
          <p:nvPr/>
        </p:nvSpPr>
        <p:spPr>
          <a:xfrm>
            <a:off x="7429500" y="5953125"/>
            <a:ext cx="4048125" cy="333375"/>
          </a:xfrm>
          <a:prstGeom prst="rect">
            <a:avLst/>
          </a:prstGeom>
          <a:noFill/>
          <a:ln w="0">
            <a:noFill/>
          </a:ln>
        </p:spPr>
        <p:txBody>
          <a:bodyPr wrap="square" lIns="0" tIns="0" rIns="0" bIns="0" anchor="ctr">
            <a:noAutofit/>
          </a:bodyPr>
          <a:lstStyle/>
          <a:p>
            <a:pPr algn="r">
              <a:defRPr lang="ar-JO" sz="1725" b="0">
                <a:solidFill>
                  <a:srgbClr val="D1DEED"/>
                </a:solidFill>
                <a:latin typeface="IBM Plex Sans Arabic"/>
                <a:ea typeface="IBM Plex Sans Arabic"/>
                <a:cs typeface="IBM Plex Sans Arabic"/>
              </a:defRPr>
            </a:pPr>
            <a:r>
              <a:rPr lang="ar-JO" sz="1725" b="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506952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الفجوة بين الدراسة والعمل">
            <a:extLst>
              <a:ext uri="{FF2B5EF4-FFF2-40B4-BE49-F238E27FC236}">
                <a16:creationId xmlns:a16="http://schemas.microsoft.com/office/drawing/2014/main" id="{9BC57412-FB00-4973-ACC4-E2804386DF38}"/>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الفجوة بين الدراسة والعمل</a:t>
            </a:r>
          </a:p>
        </p:txBody>
      </p:sp>
      <p:sp>
        <p:nvSpPr>
          <p:cNvPr id="3" name="02">
            <a:extLst>
              <a:ext uri="{FF2B5EF4-FFF2-40B4-BE49-F238E27FC236}">
                <a16:creationId xmlns:a16="http://schemas.microsoft.com/office/drawing/2014/main" id="{1FD8E17B-466E-49BE-9E40-895B578B251D}"/>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5332E7E9-5A91-49FF-8BF2-E3FD68C06412}"/>
              </a:ext>
            </a:extLst>
          </p:cNvPr>
          <p:cNvSpPr>
            <a:spLocks noGrp="1"/>
          </p:cNvSpPr>
          <p:nvPr/>
        </p:nvSpPr>
        <p:spPr>
          <a:xfrm>
            <a:off x="571500" y="1885950"/>
            <a:ext cx="5095875" cy="3209925"/>
          </a:xfrm>
          <a:prstGeom prst="roundRect">
            <a:avLst>
              <a:gd name="adj" fmla="val 2374"/>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FF2CC14A-03F2-4641-9466-E4CCD1E8FE7D}"/>
              </a:ext>
            </a:extLst>
          </p:cNvPr>
          <p:cNvSpPr>
            <a:spLocks noGrp="1"/>
          </p:cNvSpPr>
          <p:nvPr/>
        </p:nvSpPr>
        <p:spPr>
          <a:xfrm>
            <a:off x="6191250" y="1885950"/>
            <a:ext cx="5286375" cy="3209925"/>
          </a:xfrm>
          <a:prstGeom prst="roundRect">
            <a:avLst>
              <a:gd name="adj" fmla="val 2374"/>
            </a:avLst>
          </a:prstGeom>
          <a:solidFill>
            <a:srgbClr val="F3EAD7"/>
          </a:solidFill>
          <a:ln w="12383">
            <a:solidFill>
              <a:srgbClr val="DFC98F"/>
            </a:solidFill>
          </a:ln>
        </p:spPr>
      </p:sp>
      <p:sp>
        <p:nvSpPr>
          <p:cNvPr id="6" name="26.2 بالمئة">
            <a:extLst>
              <a:ext uri="{FF2B5EF4-FFF2-40B4-BE49-F238E27FC236}">
                <a16:creationId xmlns:a16="http://schemas.microsoft.com/office/drawing/2014/main" id="{7CB2ADA2-7ACC-4C28-89AC-5A99A5C6C7C6}"/>
              </a:ext>
            </a:extLst>
          </p:cNvPr>
          <p:cNvSpPr>
            <a:spLocks noGrp="1"/>
          </p:cNvSpPr>
          <p:nvPr/>
        </p:nvSpPr>
        <p:spPr>
          <a:xfrm>
            <a:off x="809625" y="2257425"/>
            <a:ext cx="4619625" cy="1047750"/>
          </a:xfrm>
          <a:prstGeom prst="rect">
            <a:avLst/>
          </a:prstGeom>
          <a:noFill/>
          <a:ln w="0">
            <a:noFill/>
          </a:ln>
        </p:spPr>
        <p:txBody>
          <a:bodyPr wrap="square" lIns="0" tIns="0" rIns="0" bIns="0" anchor="ctr">
            <a:noAutofit/>
          </a:bodyPr>
          <a:lstStyle/>
          <a:p>
            <a:pPr algn="ctr">
              <a:defRPr lang="ar-JO" sz="4950" b="1">
                <a:solidFill>
                  <a:srgbClr val="013070"/>
                </a:solidFill>
                <a:latin typeface="IBM Plex Sans Arabic"/>
                <a:ea typeface="IBM Plex Sans Arabic"/>
                <a:cs typeface="IBM Plex Sans Arabic"/>
              </a:defRPr>
            </a:pPr>
            <a:r>
              <a:rPr lang="ar-JO" sz="4950" b="1">
                <a:solidFill>
                  <a:srgbClr val="013070"/>
                </a:solidFill>
                <a:latin typeface="IBM Plex Sans Arabic"/>
                <a:ea typeface="IBM Plex Sans Arabic"/>
                <a:cs typeface="IBM Plex Sans Arabic"/>
              </a:rPr>
              <a:t>26.2 بالمئة</a:t>
            </a:r>
          </a:p>
        </p:txBody>
      </p:sp>
      <p:sp>
        <p:nvSpPr>
          <p:cNvPr id="7" name="بطالة حملة البكالوريوس فأعلى">
            <a:extLst>
              <a:ext uri="{FF2B5EF4-FFF2-40B4-BE49-F238E27FC236}">
                <a16:creationId xmlns:a16="http://schemas.microsoft.com/office/drawing/2014/main" id="{92554163-C038-4D9E-8E76-B5AA3295B7AD}"/>
              </a:ext>
            </a:extLst>
          </p:cNvPr>
          <p:cNvSpPr>
            <a:spLocks noGrp="1"/>
          </p:cNvSpPr>
          <p:nvPr/>
        </p:nvSpPr>
        <p:spPr>
          <a:xfrm>
            <a:off x="809625" y="3333750"/>
            <a:ext cx="4619625" cy="685800"/>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بطالة حملة البكالوريوس فأعلى</a:t>
            </a:r>
          </a:p>
        </p:txBody>
      </p:sp>
      <p:sp>
        <p:nvSpPr>
          <p:cNvPr id="8" name="الربع الثالث 2025">
            <a:extLst>
              <a:ext uri="{FF2B5EF4-FFF2-40B4-BE49-F238E27FC236}">
                <a16:creationId xmlns:a16="http://schemas.microsoft.com/office/drawing/2014/main" id="{DBEB31E8-5A62-4062-8164-FBBC230BC8FD}"/>
              </a:ext>
            </a:extLst>
          </p:cNvPr>
          <p:cNvSpPr>
            <a:spLocks noGrp="1"/>
          </p:cNvSpPr>
          <p:nvPr/>
        </p:nvSpPr>
        <p:spPr>
          <a:xfrm>
            <a:off x="809625" y="4171950"/>
            <a:ext cx="4619625" cy="419100"/>
          </a:xfrm>
          <a:prstGeom prst="rect">
            <a:avLst/>
          </a:prstGeom>
          <a:noFill/>
          <a:ln w="0">
            <a:noFill/>
          </a:ln>
        </p:spPr>
        <p:txBody>
          <a:bodyPr wrap="square" lIns="0" tIns="0" rIns="0" bIns="0" anchor="ctr">
            <a:noAutofit/>
          </a:bodyPr>
          <a:lstStyle/>
          <a:p>
            <a:pPr algn="ct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الربع الثالث 2025</a:t>
            </a:r>
          </a:p>
        </p:txBody>
      </p:sp>
      <p:sp>
        <p:nvSpPr>
          <p:cNvPr id="9" name="60 بالمئة">
            <a:extLst>
              <a:ext uri="{FF2B5EF4-FFF2-40B4-BE49-F238E27FC236}">
                <a16:creationId xmlns:a16="http://schemas.microsoft.com/office/drawing/2014/main" id="{E238AA1C-F366-4667-9FB2-19F8ED20F595}"/>
              </a:ext>
            </a:extLst>
          </p:cNvPr>
          <p:cNvSpPr>
            <a:spLocks noGrp="1"/>
          </p:cNvSpPr>
          <p:nvPr/>
        </p:nvSpPr>
        <p:spPr>
          <a:xfrm>
            <a:off x="6477000" y="2257425"/>
            <a:ext cx="4714875" cy="1047750"/>
          </a:xfrm>
          <a:prstGeom prst="rect">
            <a:avLst/>
          </a:prstGeom>
          <a:noFill/>
          <a:ln w="0">
            <a:noFill/>
          </a:ln>
        </p:spPr>
        <p:txBody>
          <a:bodyPr wrap="square" lIns="0" tIns="0" rIns="0" bIns="0" anchor="ctr">
            <a:noAutofit/>
          </a:bodyPr>
          <a:lstStyle/>
          <a:p>
            <a:pPr algn="ctr">
              <a:defRPr lang="ar-JO" sz="4950" b="1">
                <a:solidFill>
                  <a:srgbClr val="C8A04C"/>
                </a:solidFill>
                <a:latin typeface="IBM Plex Sans Arabic"/>
                <a:ea typeface="IBM Plex Sans Arabic"/>
                <a:cs typeface="IBM Plex Sans Arabic"/>
              </a:defRPr>
            </a:pPr>
            <a:r>
              <a:rPr lang="ar-JO" sz="4950" b="1">
                <a:solidFill>
                  <a:srgbClr val="C8A04C"/>
                </a:solidFill>
                <a:latin typeface="IBM Plex Sans Arabic"/>
                <a:ea typeface="IBM Plex Sans Arabic"/>
                <a:cs typeface="IBM Plex Sans Arabic"/>
              </a:rPr>
              <a:t>60 بالمئة</a:t>
            </a:r>
          </a:p>
        </p:txBody>
      </p:sp>
      <p:sp>
        <p:nvSpPr>
          <p:cNvPr id="10" name="خفض القبول في التخصصات الراكدة والمشبعة">
            <a:extLst>
              <a:ext uri="{FF2B5EF4-FFF2-40B4-BE49-F238E27FC236}">
                <a16:creationId xmlns:a16="http://schemas.microsoft.com/office/drawing/2014/main" id="{8B187FCB-0E42-4087-B07D-C4D1B177E029}"/>
              </a:ext>
            </a:extLst>
          </p:cNvPr>
          <p:cNvSpPr>
            <a:spLocks noGrp="1"/>
          </p:cNvSpPr>
          <p:nvPr/>
        </p:nvSpPr>
        <p:spPr>
          <a:xfrm>
            <a:off x="6572250" y="3314700"/>
            <a:ext cx="4524375" cy="866775"/>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خفض القبول في التخصصات الراكدة والمشبعة</a:t>
            </a:r>
          </a:p>
        </p:txBody>
      </p:sp>
      <p:sp>
        <p:nvSpPr>
          <p:cNvPr id="11" name="قرار مجلس التعليم العالي للعام 2025/2026">
            <a:extLst>
              <a:ext uri="{FF2B5EF4-FFF2-40B4-BE49-F238E27FC236}">
                <a16:creationId xmlns:a16="http://schemas.microsoft.com/office/drawing/2014/main" id="{B1BEC2C1-41DE-4AA6-AE91-A12E0FC11419}"/>
              </a:ext>
            </a:extLst>
          </p:cNvPr>
          <p:cNvSpPr>
            <a:spLocks noGrp="1"/>
          </p:cNvSpPr>
          <p:nvPr/>
        </p:nvSpPr>
        <p:spPr>
          <a:xfrm>
            <a:off x="6619875" y="4286250"/>
            <a:ext cx="4429125" cy="4667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قرار مجلس التعليم العالي للعام 2025/2026</a:t>
            </a:r>
          </a:p>
        </p:txBody>
      </p:sp>
      <p:sp>
        <p:nvSpPr>
          <p:cNvPr id="12" name="القرار الدراسي لا يسبب البطالة وحده؛ لكنه يحت">
            <a:extLst>
              <a:ext uri="{FF2B5EF4-FFF2-40B4-BE49-F238E27FC236}">
                <a16:creationId xmlns:a16="http://schemas.microsoft.com/office/drawing/2014/main" id="{DCFB92D0-1FC0-46A0-8A2B-7CBBA576B9BE}"/>
              </a:ext>
            </a:extLst>
          </p:cNvPr>
          <p:cNvSpPr>
            <a:spLocks noGrp="1"/>
          </p:cNvSpPr>
          <p:nvPr/>
        </p:nvSpPr>
        <p:spPr>
          <a:xfrm>
            <a:off x="714375" y="5314950"/>
            <a:ext cx="10763250" cy="400050"/>
          </a:xfrm>
          <a:prstGeom prst="rect">
            <a:avLst/>
          </a:prstGeom>
          <a:noFill/>
          <a:ln w="0">
            <a:noFill/>
          </a:ln>
        </p:spPr>
        <p:txBody>
          <a:bodyPr wrap="square" lIns="0" tIns="0" rIns="0" bIns="0" anchor="ctr">
            <a:noAutofit/>
          </a:bodyPr>
          <a:lstStyle/>
          <a:p>
            <a:pPr algn="ct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القرار الدراسي لا يسبب البطالة وحده؛ لكنه يحتاج رؤية السوق قبل الالتزام</a:t>
            </a:r>
          </a:p>
        </p:txBody>
      </p:sp>
      <p:sp>
        <p:nvSpPr>
          <p:cNvPr id="13" name="المصدران: البنك المركزي الأردني نقلًا عن الإح">
            <a:extLst>
              <a:ext uri="{FF2B5EF4-FFF2-40B4-BE49-F238E27FC236}">
                <a16:creationId xmlns:a16="http://schemas.microsoft.com/office/drawing/2014/main" id="{B9D26119-87D4-4626-926E-8D9D469CE7BB}"/>
              </a:ext>
            </a:extLst>
          </p:cNvPr>
          <p:cNvSpPr>
            <a:spLocks noGrp="1"/>
          </p:cNvSpPr>
          <p:nvPr/>
        </p:nvSpPr>
        <p:spPr>
          <a:xfrm>
            <a:off x="714375" y="5905500"/>
            <a:ext cx="10763250" cy="323850"/>
          </a:xfrm>
          <a:prstGeom prst="rect">
            <a:avLst/>
          </a:prstGeom>
          <a:noFill/>
          <a:ln w="0">
            <a:noFill/>
          </a:ln>
        </p:spPr>
        <p:txBody>
          <a:bodyPr wrap="square" lIns="0" tIns="0" rIns="0" bIns="0" anchor="ctr">
            <a:noAutofit/>
          </a:bodyPr>
          <a:lstStyle/>
          <a:p>
            <a:pPr algn="ctr">
              <a:defRPr lang="ar-JO" sz="1425" b="0">
                <a:solidFill>
                  <a:srgbClr val="53657C"/>
                </a:solidFill>
                <a:latin typeface="IBM Plex Sans Arabic"/>
                <a:ea typeface="IBM Plex Sans Arabic"/>
                <a:cs typeface="IBM Plex Sans Arabic"/>
              </a:defRPr>
            </a:pPr>
            <a:r>
              <a:rPr lang="ar-JO" sz="1425" b="0">
                <a:solidFill>
                  <a:srgbClr val="53657C"/>
                </a:solidFill>
                <a:latin typeface="IBM Plex Sans Arabic"/>
                <a:ea typeface="IBM Plex Sans Arabic"/>
                <a:cs typeface="IBM Plex Sans Arabic"/>
              </a:rPr>
              <a:t>المصدران: البنك المركزي الأردني نقلًا عن الإحصاءات • مجلس التعليم العالي</a:t>
            </a:r>
          </a:p>
        </p:txBody>
      </p:sp>
    </p:spTree>
    <p:extLst>
      <p:ext uri="{BB962C8B-B14F-4D97-AF65-F5344CB8AC3E}">
        <p14:creationId xmlns:p14="http://schemas.microsoft.com/office/powerpoint/2010/main" val="814788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رحلة قرار يجمعها مُرشِدي">
            <a:extLst>
              <a:ext uri="{FF2B5EF4-FFF2-40B4-BE49-F238E27FC236}">
                <a16:creationId xmlns:a16="http://schemas.microsoft.com/office/drawing/2014/main" id="{3B54CDEF-6B36-4C4B-9498-452463FA2F34}"/>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رحلة قرار يجمعها مُرشِدي</a:t>
            </a:r>
          </a:p>
        </p:txBody>
      </p:sp>
      <p:sp>
        <p:nvSpPr>
          <p:cNvPr id="3" name="03">
            <a:extLst>
              <a:ext uri="{FF2B5EF4-FFF2-40B4-BE49-F238E27FC236}">
                <a16:creationId xmlns:a16="http://schemas.microsoft.com/office/drawing/2014/main" id="{33443E07-1E38-4A89-9A8D-C4A63BEE95D4}"/>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03</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استكشف اهتمامك">
            <a:extLst>
              <a:ext uri="{FF2B5EF4-FFF2-40B4-BE49-F238E27FC236}">
                <a16:creationId xmlns:a16="http://schemas.microsoft.com/office/drawing/2014/main" id="{617C10BF-129F-49E0-8CD9-15934B214D82}"/>
              </a:ext>
            </a:extLst>
          </p:cNvPr>
          <p:cNvSpPr>
            <a:spLocks noGrp="1"/>
          </p:cNvSpPr>
          <p:nvPr/>
        </p:nvSpPr>
        <p:spPr>
          <a:xfrm>
            <a:off x="4524375" y="1885950"/>
            <a:ext cx="6953250" cy="457200"/>
          </a:xfrm>
          <a:prstGeom prst="rect">
            <a:avLst/>
          </a:prstGeom>
          <a:noFill/>
          <a:ln w="0">
            <a:noFill/>
          </a:ln>
        </p:spPr>
        <p:txBody>
          <a:bodyPr wrap="square" lIns="0" tIns="0" rIns="0" bIns="0" anchor="ctr">
            <a:noAutofit/>
          </a:bodyPr>
          <a:lstStyle/>
          <a:p>
            <a:pPr algn="r">
              <a:defRPr lang="ar-JO" sz="2700" b="1">
                <a:solidFill>
                  <a:srgbClr val="C8A04C"/>
                </a:solidFill>
                <a:latin typeface="IBM Plex Sans Arabic"/>
                <a:ea typeface="IBM Plex Sans Arabic"/>
                <a:cs typeface="IBM Plex Sans Arabic"/>
              </a:defRPr>
            </a:pPr>
            <a:r>
              <a:rPr lang="ar-JO" sz="2700" b="1">
                <a:solidFill>
                  <a:srgbClr val="C8A04C"/>
                </a:solidFill>
                <a:latin typeface="IBM Plex Sans Arabic"/>
                <a:ea typeface="IBM Plex Sans Arabic"/>
                <a:cs typeface="IBM Plex Sans Arabic"/>
              </a:rPr>
              <a:t>استكشف اهتمامك</a:t>
            </a:r>
          </a:p>
        </p:txBody>
      </p:sp>
      <p:sp>
        <p:nvSpPr>
          <p:cNvPr id="6" name="تمرين يساعد الطالب على بدء الحوار">
            <a:extLst>
              <a:ext uri="{FF2B5EF4-FFF2-40B4-BE49-F238E27FC236}">
                <a16:creationId xmlns:a16="http://schemas.microsoft.com/office/drawing/2014/main" id="{27471FF3-F559-49DA-8587-25C0C4463210}"/>
              </a:ext>
            </a:extLst>
          </p:cNvPr>
          <p:cNvSpPr>
            <a:spLocks noGrp="1"/>
          </p:cNvSpPr>
          <p:nvPr/>
        </p:nvSpPr>
        <p:spPr>
          <a:xfrm>
            <a:off x="4524375" y="2438400"/>
            <a:ext cx="6953250" cy="64770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تمرين يساعد الطالب على بدء الحوار</a:t>
            </a:r>
          </a:p>
        </p:txBody>
      </p:sp>
      <p:sp>
        <p:nvSpPr>
          <p:cNvPr id="7" name="قارن خياراتك">
            <a:extLst>
              <a:ext uri="{FF2B5EF4-FFF2-40B4-BE49-F238E27FC236}">
                <a16:creationId xmlns:a16="http://schemas.microsoft.com/office/drawing/2014/main" id="{2BE39037-2983-41A8-8331-7AFA18AADFD7}"/>
              </a:ext>
            </a:extLst>
          </p:cNvPr>
          <p:cNvSpPr>
            <a:spLocks noGrp="1"/>
          </p:cNvSpPr>
          <p:nvPr/>
        </p:nvSpPr>
        <p:spPr>
          <a:xfrm>
            <a:off x="4524375" y="3190875"/>
            <a:ext cx="6953250" cy="457200"/>
          </a:xfrm>
          <a:prstGeom prst="rect">
            <a:avLst/>
          </a:prstGeom>
          <a:noFill/>
          <a:ln w="0">
            <a:noFill/>
          </a:ln>
        </p:spPr>
        <p:txBody>
          <a:bodyPr wrap="square" lIns="0" tIns="0" rIns="0" bIns="0" anchor="ctr">
            <a:noAutofit/>
          </a:bodyPr>
          <a:lstStyle/>
          <a:p>
            <a:pPr algn="r">
              <a:defRPr lang="ar-JO" sz="2700" b="1">
                <a:solidFill>
                  <a:srgbClr val="C8A04C"/>
                </a:solidFill>
                <a:latin typeface="IBM Plex Sans Arabic"/>
                <a:ea typeface="IBM Plex Sans Arabic"/>
                <a:cs typeface="IBM Plex Sans Arabic"/>
              </a:defRPr>
            </a:pPr>
            <a:r>
              <a:rPr lang="ar-JO" sz="2700" b="1">
                <a:solidFill>
                  <a:srgbClr val="C8A04C"/>
                </a:solidFill>
                <a:latin typeface="IBM Plex Sans Arabic"/>
                <a:ea typeface="IBM Plex Sans Arabic"/>
                <a:cs typeface="IBM Plex Sans Arabic"/>
              </a:rPr>
              <a:t>قارن خياراتك</a:t>
            </a:r>
          </a:p>
        </p:txBody>
      </p:sp>
      <p:sp>
        <p:nvSpPr>
          <p:cNvPr id="8" name="برامج وجامعات ببيانات عامة موثقة">
            <a:extLst>
              <a:ext uri="{FF2B5EF4-FFF2-40B4-BE49-F238E27FC236}">
                <a16:creationId xmlns:a16="http://schemas.microsoft.com/office/drawing/2014/main" id="{64894AF2-2C95-4B2E-8755-C2FA2DCA52BE}"/>
              </a:ext>
            </a:extLst>
          </p:cNvPr>
          <p:cNvSpPr>
            <a:spLocks noGrp="1"/>
          </p:cNvSpPr>
          <p:nvPr/>
        </p:nvSpPr>
        <p:spPr>
          <a:xfrm>
            <a:off x="4524375" y="3743325"/>
            <a:ext cx="6953250" cy="64770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برامج وجامعات ببيانات عامة موثقة</a:t>
            </a:r>
          </a:p>
        </p:txBody>
      </p:sp>
      <p:sp>
        <p:nvSpPr>
          <p:cNvPr id="9" name="خطّط مع أسرتك">
            <a:extLst>
              <a:ext uri="{FF2B5EF4-FFF2-40B4-BE49-F238E27FC236}">
                <a16:creationId xmlns:a16="http://schemas.microsoft.com/office/drawing/2014/main" id="{F95A8E16-5659-4EDD-B035-A21B14E412A4}"/>
              </a:ext>
            </a:extLst>
          </p:cNvPr>
          <p:cNvSpPr>
            <a:spLocks noGrp="1"/>
          </p:cNvSpPr>
          <p:nvPr/>
        </p:nvSpPr>
        <p:spPr>
          <a:xfrm>
            <a:off x="4524375" y="4495800"/>
            <a:ext cx="6953250" cy="457200"/>
          </a:xfrm>
          <a:prstGeom prst="rect">
            <a:avLst/>
          </a:prstGeom>
          <a:noFill/>
          <a:ln w="0">
            <a:noFill/>
          </a:ln>
        </p:spPr>
        <p:txBody>
          <a:bodyPr wrap="square" lIns="0" tIns="0" rIns="0" bIns="0" anchor="ctr">
            <a:noAutofit/>
          </a:bodyPr>
          <a:lstStyle/>
          <a:p>
            <a:pPr algn="r">
              <a:defRPr lang="ar-JO" sz="2700" b="1">
                <a:solidFill>
                  <a:srgbClr val="C8A04C"/>
                </a:solidFill>
                <a:latin typeface="IBM Plex Sans Arabic"/>
                <a:ea typeface="IBM Plex Sans Arabic"/>
                <a:cs typeface="IBM Plex Sans Arabic"/>
              </a:defRPr>
            </a:pPr>
            <a:r>
              <a:rPr lang="ar-JO" sz="2700" b="1">
                <a:solidFill>
                  <a:srgbClr val="C8A04C"/>
                </a:solidFill>
                <a:latin typeface="IBM Plex Sans Arabic"/>
                <a:ea typeface="IBM Plex Sans Arabic"/>
                <a:cs typeface="IBM Plex Sans Arabic"/>
              </a:rPr>
              <a:t>خطّط مع أسرتك</a:t>
            </a:r>
          </a:p>
        </p:txBody>
      </p:sp>
      <p:sp>
        <p:nvSpPr>
          <p:cNvPr id="10" name="كلفة واضحة بافتراضات يستطيع تعديلها">
            <a:extLst>
              <a:ext uri="{FF2B5EF4-FFF2-40B4-BE49-F238E27FC236}">
                <a16:creationId xmlns:a16="http://schemas.microsoft.com/office/drawing/2014/main" id="{84483D90-9E9F-4274-BB62-0F3EC623251F}"/>
              </a:ext>
            </a:extLst>
          </p:cNvPr>
          <p:cNvSpPr>
            <a:spLocks noGrp="1"/>
          </p:cNvSpPr>
          <p:nvPr/>
        </p:nvSpPr>
        <p:spPr>
          <a:xfrm>
            <a:off x="4524375" y="5048250"/>
            <a:ext cx="6953250" cy="64770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كلفة واضحة بافتراضات يستطيع تعديلها</a:t>
            </a:r>
          </a:p>
        </p:txBody>
      </p:sp>
    </p:spTree>
    <p:extLst>
      <p:ext uri="{BB962C8B-B14F-4D97-AF65-F5344CB8AC3E}">
        <p14:creationId xmlns:p14="http://schemas.microsoft.com/office/powerpoint/2010/main" val="1157858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A8C97CE2-9BBE-44C6-BAA3-B4CED680DC3D}"/>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40FCEDFC-9B75-4F8E-B576-CA1F44ECCAC6}"/>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04</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607">
            <a:extLst>
              <a:ext uri="{FF2B5EF4-FFF2-40B4-BE49-F238E27FC236}">
                <a16:creationId xmlns:a16="http://schemas.microsoft.com/office/drawing/2014/main" id="{3F48177B-70A0-43A7-ACC6-865D207653B7}"/>
              </a:ext>
            </a:extLst>
          </p:cNvPr>
          <p:cNvSpPr>
            <a:spLocks noGrp="1"/>
          </p:cNvSpPr>
          <p:nvPr/>
        </p:nvSpPr>
        <p:spPr>
          <a:xfrm>
            <a:off x="4524375" y="1819275"/>
            <a:ext cx="6953250" cy="971550"/>
          </a:xfrm>
          <a:prstGeom prst="rect">
            <a:avLst/>
          </a:prstGeom>
          <a:noFill/>
          <a:ln w="0">
            <a:noFill/>
          </a:ln>
        </p:spPr>
        <p:txBody>
          <a:bodyPr wrap="square" lIns="0" tIns="0" rIns="0" bIns="0" anchor="ctr">
            <a:noAutofit/>
          </a:bodyPr>
          <a:lstStyle/>
          <a:p>
            <a:pPr algn="r">
              <a:defRPr lang="ar-JO" sz="6600" b="1">
                <a:solidFill>
                  <a:srgbClr val="013070"/>
                </a:solidFill>
                <a:latin typeface="IBM Plex Sans Arabic"/>
                <a:ea typeface="IBM Plex Sans Arabic"/>
                <a:cs typeface="IBM Plex Sans Arabic"/>
              </a:defRPr>
            </a:pPr>
            <a:r>
              <a:rPr lang="ar-JO" sz="6600" b="1">
                <a:solidFill>
                  <a:srgbClr val="013070"/>
                </a:solidFill>
                <a:latin typeface="IBM Plex Sans Arabic"/>
                <a:ea typeface="IBM Plex Sans Arabic"/>
                <a:cs typeface="IBM Plex Sans Arabic"/>
              </a:rPr>
              <a:t>607</a:t>
            </a:r>
          </a:p>
        </p:txBody>
      </p:sp>
      <p:sp>
        <p:nvSpPr>
          <p:cNvPr id="6" name="عروض برامج في دليل القبول الموحد">
            <a:extLst>
              <a:ext uri="{FF2B5EF4-FFF2-40B4-BE49-F238E27FC236}">
                <a16:creationId xmlns:a16="http://schemas.microsoft.com/office/drawing/2014/main" id="{FE63162F-6260-461F-80BE-54203FE4DC4C}"/>
              </a:ext>
            </a:extLst>
          </p:cNvPr>
          <p:cNvSpPr>
            <a:spLocks noGrp="1"/>
          </p:cNvSpPr>
          <p:nvPr/>
        </p:nvSpPr>
        <p:spPr>
          <a:xfrm>
            <a:off x="4429125" y="2838450"/>
            <a:ext cx="7048500" cy="590550"/>
          </a:xfrm>
          <a:prstGeom prst="rect">
            <a:avLst/>
          </a:prstGeom>
          <a:noFill/>
          <a:ln w="0">
            <a:noFill/>
          </a:ln>
        </p:spPr>
        <p:txBody>
          <a:bodyPr wrap="square" lIns="0" tIns="0" rIns="0" bIns="0" anchor="ctr">
            <a:noAutofit/>
          </a:bodyPr>
          <a:lstStyle/>
          <a:p>
            <a:pPr algn="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عروض برامج في دليل القبول الموحد</a:t>
            </a:r>
          </a:p>
        </p:txBody>
      </p:sp>
      <p:sp>
        <p:nvSpPr>
          <p:cNvPr id="7" name="دليل البرامج والرسوم 2026/2027">
            <a:extLst>
              <a:ext uri="{FF2B5EF4-FFF2-40B4-BE49-F238E27FC236}">
                <a16:creationId xmlns:a16="http://schemas.microsoft.com/office/drawing/2014/main" id="{DFD36B42-71B2-4F0B-80C4-BAB418A57902}"/>
              </a:ext>
            </a:extLst>
          </p:cNvPr>
          <p:cNvSpPr>
            <a:spLocks noGrp="1"/>
          </p:cNvSpPr>
          <p:nvPr/>
        </p:nvSpPr>
        <p:spPr>
          <a:xfrm>
            <a:off x="4429125" y="3609975"/>
            <a:ext cx="7048500" cy="552450"/>
          </a:xfrm>
          <a:prstGeom prst="rect">
            <a:avLst/>
          </a:prstGeom>
          <a:noFill/>
          <a:ln w="0">
            <a:noFill/>
          </a:ln>
        </p:spPr>
        <p:txBody>
          <a:bodyPr wrap="square" lIns="0" tIns="0" rIns="0" bIns="0" anchor="ctr">
            <a:noAutofit/>
          </a:bodyPr>
          <a:lstStyle/>
          <a:p>
            <a:pPr algn="r">
              <a:defRPr lang="ar-JO" sz="2400" b="0">
                <a:solidFill>
                  <a:srgbClr val="53657C"/>
                </a:solidFill>
                <a:latin typeface="IBM Plex Sans Arabic"/>
                <a:ea typeface="IBM Plex Sans Arabic"/>
                <a:cs typeface="IBM Plex Sans Arabic"/>
              </a:defRPr>
            </a:pPr>
            <a:r>
              <a:rPr lang="ar-JO" sz="2400" b="0">
                <a:solidFill>
                  <a:srgbClr val="53657C"/>
                </a:solidFill>
                <a:latin typeface="IBM Plex Sans Arabic"/>
                <a:ea typeface="IBM Plex Sans Arabic"/>
                <a:cs typeface="IBM Plex Sans Arabic"/>
              </a:rPr>
              <a:t>دليل البرامج والرسوم 2026/2027</a:t>
            </a:r>
          </a:p>
        </p:txBody>
      </p:sp>
      <p:sp>
        <p:nvSpPr>
          <p:cNvPr id="8" name="آخر حدود تنافسية منشورة: 2025">
            <a:extLst>
              <a:ext uri="{FF2B5EF4-FFF2-40B4-BE49-F238E27FC236}">
                <a16:creationId xmlns:a16="http://schemas.microsoft.com/office/drawing/2014/main" id="{037C20D3-6A07-4822-8AC8-DE4DBE8BA20F}"/>
              </a:ext>
            </a:extLst>
          </p:cNvPr>
          <p:cNvSpPr>
            <a:spLocks noGrp="1"/>
          </p:cNvSpPr>
          <p:nvPr/>
        </p:nvSpPr>
        <p:spPr>
          <a:xfrm>
            <a:off x="4429125" y="4276725"/>
            <a:ext cx="7048500" cy="552450"/>
          </a:xfrm>
          <a:prstGeom prst="rect">
            <a:avLst/>
          </a:prstGeom>
          <a:noFill/>
          <a:ln w="0">
            <a:noFill/>
          </a:ln>
        </p:spPr>
        <p:txBody>
          <a:bodyPr wrap="square" lIns="0" tIns="0" rIns="0" bIns="0" anchor="ctr">
            <a:noAutofit/>
          </a:bodyPr>
          <a:lstStyle/>
          <a:p>
            <a:pPr algn="r">
              <a:defRPr lang="ar-JO" sz="2400" b="0">
                <a:solidFill>
                  <a:srgbClr val="53657C"/>
                </a:solidFill>
                <a:latin typeface="IBM Plex Sans Arabic"/>
                <a:ea typeface="IBM Plex Sans Arabic"/>
                <a:cs typeface="IBM Plex Sans Arabic"/>
              </a:defRPr>
            </a:pPr>
            <a:r>
              <a:rPr lang="ar-JO" sz="2400" b="0">
                <a:solidFill>
                  <a:srgbClr val="53657C"/>
                </a:solidFill>
                <a:latin typeface="IBM Plex Sans Arabic"/>
                <a:ea typeface="IBM Plex Sans Arabic"/>
                <a:cs typeface="IBM Plex Sans Arabic"/>
              </a:rPr>
              <a:t>آخر حدود تنافسية منشورة: 2025</a:t>
            </a:r>
          </a:p>
        </p:txBody>
      </p:sp>
      <p:sp>
        <p:nvSpPr>
          <p:cNvPr id="9" name="شرط التقديم ≠ ضمان القبول">
            <a:extLst>
              <a:ext uri="{FF2B5EF4-FFF2-40B4-BE49-F238E27FC236}">
                <a16:creationId xmlns:a16="http://schemas.microsoft.com/office/drawing/2014/main" id="{05D9553F-C8ED-4430-805D-811DA5C4C263}"/>
              </a:ext>
            </a:extLst>
          </p:cNvPr>
          <p:cNvSpPr>
            <a:spLocks noGrp="1"/>
          </p:cNvSpPr>
          <p:nvPr/>
        </p:nvSpPr>
        <p:spPr>
          <a:xfrm>
            <a:off x="4429125" y="5057775"/>
            <a:ext cx="7048500" cy="609600"/>
          </a:xfrm>
          <a:prstGeom prst="rect">
            <a:avLst/>
          </a:prstGeom>
          <a:noFill/>
          <a:ln w="0">
            <a:noFill/>
          </a:ln>
        </p:spPr>
        <p:txBody>
          <a:bodyPr wrap="square" lIns="0" tIns="0" rIns="0" bIns="0" anchor="ctr">
            <a:noAutofit/>
          </a:bodyPr>
          <a:lstStyle/>
          <a:p>
            <a:pPr algn="r">
              <a:defRPr lang="ar-JO" sz="2850" b="1">
                <a:solidFill>
                  <a:srgbClr val="013070"/>
                </a:solidFill>
                <a:latin typeface="IBM Plex Sans Arabic"/>
                <a:ea typeface="IBM Plex Sans Arabic"/>
                <a:cs typeface="IBM Plex Sans Arabic"/>
              </a:defRPr>
            </a:pPr>
            <a:r>
              <a:rPr lang="ar-JO" sz="2850" b="1">
                <a:solidFill>
                  <a:srgbClr val="013070"/>
                </a:solidFill>
                <a:latin typeface="IBM Plex Sans Arabic"/>
                <a:ea typeface="IBM Plex Sans Arabic"/>
                <a:cs typeface="IBM Plex Sans Arabic"/>
              </a:rPr>
              <a:t>شرط التقديم ≠ ضمان القبول</a:t>
            </a:r>
          </a:p>
        </p:txBody>
      </p:sp>
      <p:sp>
        <p:nvSpPr>
          <p:cNvPr id="10" name="المصدر: القبول الموحد، تحقق 10 أيلول 2026؛ دل">
            <a:extLst>
              <a:ext uri="{FF2B5EF4-FFF2-40B4-BE49-F238E27FC236}">
                <a16:creationId xmlns:a16="http://schemas.microsoft.com/office/drawing/2014/main" id="{4D938A0D-1E64-44F0-8CF8-549B656D2A12}"/>
              </a:ext>
            </a:extLst>
          </p:cNvPr>
          <p:cNvSpPr>
            <a:spLocks noGrp="1"/>
          </p:cNvSpPr>
          <p:nvPr/>
        </p:nvSpPr>
        <p:spPr>
          <a:xfrm>
            <a:off x="4429125" y="5943600"/>
            <a:ext cx="7048500" cy="409575"/>
          </a:xfrm>
          <a:prstGeom prst="rect">
            <a:avLst/>
          </a:prstGeom>
          <a:noFill/>
          <a:ln w="0">
            <a:noFill/>
          </a:ln>
        </p:spPr>
        <p:txBody>
          <a:bodyPr wrap="square" lIns="0" tIns="0" rIns="0" bIns="0" anchor="ctr">
            <a:noAutofit/>
          </a:bodyPr>
          <a:lstStyle/>
          <a:p>
            <a:pPr algn="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99140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7C02A94B-2E8E-4CDF-B44A-8A8EB7D60633}"/>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B9072A41-A9E5-44C5-A49D-82A8C22C5BF1}"/>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05</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3,051">
            <a:extLst>
              <a:ext uri="{FF2B5EF4-FFF2-40B4-BE49-F238E27FC236}">
                <a16:creationId xmlns:a16="http://schemas.microsoft.com/office/drawing/2014/main" id="{C6581DA0-6317-4A3F-9599-8F0F950591D2}"/>
              </a:ext>
            </a:extLst>
          </p:cNvPr>
          <p:cNvSpPr>
            <a:spLocks noGrp="1"/>
          </p:cNvSpPr>
          <p:nvPr/>
        </p:nvSpPr>
        <p:spPr>
          <a:xfrm>
            <a:off x="4524375" y="1752600"/>
            <a:ext cx="6953250" cy="1123950"/>
          </a:xfrm>
          <a:prstGeom prst="rect">
            <a:avLst/>
          </a:prstGeom>
          <a:noFill/>
          <a:ln w="0">
            <a:noFill/>
          </a:ln>
        </p:spPr>
        <p:txBody>
          <a:bodyPr wrap="square" lIns="0" tIns="0" rIns="0" bIns="0" anchor="ctr">
            <a:noAutofit/>
          </a:bodyPr>
          <a:lstStyle/>
          <a:p>
            <a:pPr algn="r">
              <a:defRPr lang="ar-JO" sz="6750" b="1">
                <a:solidFill>
                  <a:srgbClr val="FFFFFF"/>
                </a:solidFill>
                <a:latin typeface="IBM Plex Sans Arabic"/>
                <a:ea typeface="IBM Plex Sans Arabic"/>
                <a:cs typeface="IBM Plex Sans Arabic"/>
              </a:defRPr>
            </a:pPr>
            <a:r>
              <a:rPr lang="ar-JO" sz="6750" b="1">
                <a:solidFill>
                  <a:srgbClr val="FFFFFF"/>
                </a:solidFill>
                <a:latin typeface="IBM Plex Sans Arabic"/>
                <a:ea typeface="IBM Plex Sans Arabic"/>
                <a:cs typeface="IBM Plex Sans Arabic"/>
              </a:rPr>
              <a:t>3,051</a:t>
            </a:r>
          </a:p>
        </p:txBody>
      </p:sp>
      <p:sp>
        <p:nvSpPr>
          <p:cNvPr id="6" name="دينارًا سنويًا في هذا المثال">
            <a:extLst>
              <a:ext uri="{FF2B5EF4-FFF2-40B4-BE49-F238E27FC236}">
                <a16:creationId xmlns:a16="http://schemas.microsoft.com/office/drawing/2014/main" id="{E6EB2284-E748-4B77-A45F-3876E1DA9657}"/>
              </a:ext>
            </a:extLst>
          </p:cNvPr>
          <p:cNvSpPr>
            <a:spLocks noGrp="1"/>
          </p:cNvSpPr>
          <p:nvPr/>
        </p:nvSpPr>
        <p:spPr>
          <a:xfrm>
            <a:off x="4429125" y="2886075"/>
            <a:ext cx="7048500" cy="590550"/>
          </a:xfrm>
          <a:prstGeom prst="rect">
            <a:avLst/>
          </a:prstGeom>
          <a:noFill/>
          <a:ln w="0">
            <a:noFill/>
          </a:ln>
        </p:spPr>
        <p:txBody>
          <a:bodyPr wrap="square" lIns="0" tIns="0" rIns="0" bIns="0" anchor="ctr">
            <a:noAutofit/>
          </a:bodyPr>
          <a:lstStyle/>
          <a:p>
            <a:pPr algn="r">
              <a:defRPr lang="ar-JO" sz="3000" b="1">
                <a:solidFill>
                  <a:srgbClr val="C8A04C"/>
                </a:solidFill>
                <a:latin typeface="IBM Plex Sans Arabic"/>
                <a:ea typeface="IBM Plex Sans Arabic"/>
                <a:cs typeface="IBM Plex Sans Arabic"/>
              </a:defRPr>
            </a:pPr>
            <a:r>
              <a:rPr lang="ar-JO" sz="3000" b="1">
                <a:solidFill>
                  <a:srgbClr val="C8A04C"/>
                </a:solidFill>
                <a:latin typeface="IBM Plex Sans Arabic"/>
                <a:ea typeface="IBM Plex Sans Arabic"/>
                <a:cs typeface="IBM Plex Sans Arabic"/>
              </a:rPr>
              <a:t>دينارًا سنويًا في هذا المثال</a:t>
            </a:r>
          </a:p>
        </p:txBody>
      </p:sp>
      <p:sp>
        <p:nvSpPr>
          <p:cNvPr id="7" name="رسم رسمي: 47 د.أ للساعة">
            <a:extLst>
              <a:ext uri="{FF2B5EF4-FFF2-40B4-BE49-F238E27FC236}">
                <a16:creationId xmlns:a16="http://schemas.microsoft.com/office/drawing/2014/main" id="{EE0F02C4-5C39-471B-9C0B-83BE5940620E}"/>
              </a:ext>
            </a:extLst>
          </p:cNvPr>
          <p:cNvSpPr>
            <a:spLocks noGrp="1"/>
          </p:cNvSpPr>
          <p:nvPr/>
        </p:nvSpPr>
        <p:spPr>
          <a:xfrm>
            <a:off x="4429125" y="3695700"/>
            <a:ext cx="7048500" cy="495300"/>
          </a:xfrm>
          <a:prstGeom prst="rect">
            <a:avLst/>
          </a:prstGeom>
          <a:noFill/>
          <a:ln w="0">
            <a:noFill/>
          </a:ln>
        </p:spPr>
        <p:txBody>
          <a:bodyPr wrap="square" lIns="0" tIns="0" rIns="0" bIns="0" anchor="ctr">
            <a:noAutofit/>
          </a:bodyPr>
          <a:lstStyle/>
          <a:p>
            <a:pPr algn="r">
              <a:defRPr lang="ar-JO" sz="2400" b="1">
                <a:solidFill>
                  <a:srgbClr val="FFFFFF"/>
                </a:solidFill>
                <a:latin typeface="IBM Plex Sans Arabic"/>
                <a:ea typeface="IBM Plex Sans Arabic"/>
                <a:cs typeface="IBM Plex Sans Arabic"/>
              </a:defRPr>
            </a:pPr>
            <a:r>
              <a:rPr lang="ar-JO" sz="2400" b="1">
                <a:solidFill>
                  <a:srgbClr val="FFFFFF"/>
                </a:solidFill>
                <a:latin typeface="IBM Plex Sans Arabic"/>
                <a:ea typeface="IBM Plex Sans Arabic"/>
                <a:cs typeface="IBM Plex Sans Arabic"/>
              </a:rPr>
              <a:t>رسم رسمي: 47 د.أ للساعة</a:t>
            </a:r>
          </a:p>
        </p:txBody>
      </p:sp>
      <p:sp>
        <p:nvSpPr>
          <p:cNvPr id="8" name="افتراضات الأسرة: الساعات، المدة، والرسوم والم">
            <a:extLst>
              <a:ext uri="{FF2B5EF4-FFF2-40B4-BE49-F238E27FC236}">
                <a16:creationId xmlns:a16="http://schemas.microsoft.com/office/drawing/2014/main" id="{486AF22E-5BD6-48AA-B339-DEB63AEB66EF}"/>
              </a:ext>
            </a:extLst>
          </p:cNvPr>
          <p:cNvSpPr>
            <a:spLocks noGrp="1"/>
          </p:cNvSpPr>
          <p:nvPr/>
        </p:nvSpPr>
        <p:spPr>
          <a:xfrm>
            <a:off x="4429125" y="4295775"/>
            <a:ext cx="7048500" cy="838200"/>
          </a:xfrm>
          <a:prstGeom prst="rect">
            <a:avLst/>
          </a:prstGeom>
          <a:noFill/>
          <a:ln w="0">
            <a:noFill/>
          </a:ln>
        </p:spPr>
        <p:txBody>
          <a:bodyPr wrap="square" lIns="0" tIns="0" rIns="0" bIns="0" anchor="ctr">
            <a:noAutofit/>
          </a:bodyPr>
          <a:lstStyle/>
          <a:p>
            <a:pPr algn="r">
              <a:defRPr lang="ar-JO" sz="2325" b="0">
                <a:solidFill>
                  <a:srgbClr val="D1DEED"/>
                </a:solidFill>
                <a:latin typeface="IBM Plex Sans Arabic"/>
                <a:ea typeface="IBM Plex Sans Arabic"/>
                <a:cs typeface="IBM Plex Sans Arabic"/>
              </a:defRPr>
            </a:pPr>
            <a:r>
              <a:rPr lang="ar-JO" sz="2325" b="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9" name="تغيير الميزانية يغيّر فجوة التمويل">
            <a:extLst>
              <a:ext uri="{FF2B5EF4-FFF2-40B4-BE49-F238E27FC236}">
                <a16:creationId xmlns:a16="http://schemas.microsoft.com/office/drawing/2014/main" id="{093EAA24-C091-4CD4-A930-DAE4CB3C5EC3}"/>
              </a:ext>
            </a:extLst>
          </p:cNvPr>
          <p:cNvSpPr>
            <a:spLocks noGrp="1"/>
          </p:cNvSpPr>
          <p:nvPr/>
        </p:nvSpPr>
        <p:spPr>
          <a:xfrm>
            <a:off x="4429125" y="5248275"/>
            <a:ext cx="7048500" cy="552450"/>
          </a:xfrm>
          <a:prstGeom prst="rect">
            <a:avLst/>
          </a:prstGeom>
          <a:noFill/>
          <a:ln w="0">
            <a:noFill/>
          </a:ln>
        </p:spPr>
        <p:txBody>
          <a:bodyPr wrap="square" lIns="0" tIns="0" rIns="0" bIns="0" anchor="ctr">
            <a:noAutofit/>
          </a:bodyPr>
          <a:lstStyle/>
          <a:p>
            <a:pPr algn="r">
              <a:defRPr lang="ar-JO" sz="2700" b="1">
                <a:solidFill>
                  <a:srgbClr val="C8A04C"/>
                </a:solidFill>
                <a:latin typeface="IBM Plex Sans Arabic"/>
                <a:ea typeface="IBM Plex Sans Arabic"/>
                <a:cs typeface="IBM Plex Sans Arabic"/>
              </a:defRPr>
            </a:pPr>
            <a:r>
              <a:rPr lang="ar-JO" sz="2700" b="1">
                <a:solidFill>
                  <a:srgbClr val="C8A04C"/>
                </a:solidFill>
                <a:latin typeface="IBM Plex Sans Arabic"/>
                <a:ea typeface="IBM Plex Sans Arabic"/>
                <a:cs typeface="IBM Plex Sans Arabic"/>
              </a:rPr>
              <a:t>تغيير الميزانية يغيّر فجوة التمويل</a:t>
            </a:r>
          </a:p>
        </p:txBody>
      </p:sp>
      <p:sp>
        <p:nvSpPr>
          <p:cNvPr id="10" name="مثال علم الحاسوب، الأردنية؛ افتراضات قابلة لل">
            <a:extLst>
              <a:ext uri="{FF2B5EF4-FFF2-40B4-BE49-F238E27FC236}">
                <a16:creationId xmlns:a16="http://schemas.microsoft.com/office/drawing/2014/main" id="{35796A97-1653-4702-934A-517D2AF16D97}"/>
              </a:ext>
            </a:extLst>
          </p:cNvPr>
          <p:cNvSpPr>
            <a:spLocks noGrp="1"/>
          </p:cNvSpPr>
          <p:nvPr/>
        </p:nvSpPr>
        <p:spPr>
          <a:xfrm>
            <a:off x="4429125" y="5972175"/>
            <a:ext cx="7048500" cy="381000"/>
          </a:xfrm>
          <a:prstGeom prst="rect">
            <a:avLst/>
          </a:prstGeom>
          <a:noFill/>
          <a:ln w="0">
            <a:noFill/>
          </a:ln>
        </p:spPr>
        <p:txBody>
          <a:bodyPr wrap="square" lIns="0" tIns="0" rIns="0" bIns="0" anchor="ctr">
            <a:noAutofit/>
          </a:bodyPr>
          <a:lstStyle/>
          <a:p>
            <a:pPr algn="r">
              <a:defRPr lang="ar-JO" sz="1650" b="0">
                <a:solidFill>
                  <a:srgbClr val="D1DEED"/>
                </a:solidFill>
                <a:latin typeface="IBM Plex Sans Arabic"/>
                <a:ea typeface="IBM Plex Sans Arabic"/>
                <a:cs typeface="IBM Plex Sans Arabic"/>
              </a:defRPr>
            </a:pPr>
            <a:r>
              <a:rPr lang="ar-JO" sz="1650" b="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615638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سوق كبير وبداية مركّزة">
            <a:extLst>
              <a:ext uri="{FF2B5EF4-FFF2-40B4-BE49-F238E27FC236}">
                <a16:creationId xmlns:a16="http://schemas.microsoft.com/office/drawing/2014/main" id="{7EBAEECD-619C-4274-AF08-8343865F18A4}"/>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سوق كبير وبداية مركّزة</a:t>
            </a:r>
          </a:p>
        </p:txBody>
      </p:sp>
      <p:sp>
        <p:nvSpPr>
          <p:cNvPr id="3" name="06">
            <a:extLst>
              <a:ext uri="{FF2B5EF4-FFF2-40B4-BE49-F238E27FC236}">
                <a16:creationId xmlns:a16="http://schemas.microsoft.com/office/drawing/2014/main" id="{CAB31F1C-6577-4F03-91AD-B4D659B29020}"/>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9D9CB9E9-8613-47BB-9AEF-100D80928B0D}"/>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7FFB1BD8-1F8B-4126-8238-C6C4B0738349}"/>
              </a:ext>
            </a:extLst>
          </p:cNvPr>
          <p:cNvSpPr>
            <a:spLocks noGrp="1"/>
          </p:cNvSpPr>
          <p:nvPr/>
        </p:nvSpPr>
        <p:spPr>
          <a:xfrm>
            <a:off x="838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51BD5C99-CAA1-4CE7-A3AB-87F8F3B46B7C}"/>
              </a:ext>
            </a:extLst>
          </p:cNvPr>
          <p:cNvSpPr>
            <a:spLocks noGrp="1"/>
          </p:cNvSpPr>
          <p:nvPr/>
        </p:nvSpPr>
        <p:spPr>
          <a:xfrm>
            <a:off x="833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BD3BF365-56D7-4E58-B9A8-A9BD24AACE38}"/>
              </a:ext>
            </a:extLst>
          </p:cNvPr>
          <p:cNvSpPr>
            <a:spLocks noGrp="1"/>
          </p:cNvSpPr>
          <p:nvPr/>
        </p:nvSpPr>
        <p:spPr>
          <a:xfrm>
            <a:off x="838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7AFB5467-A0EE-4CB9-95CE-25F54A7FAD9C}"/>
              </a:ext>
            </a:extLst>
          </p:cNvPr>
          <p:cNvSpPr>
            <a:spLocks noGrp="1"/>
          </p:cNvSpPr>
          <p:nvPr/>
        </p:nvSpPr>
        <p:spPr>
          <a:xfrm>
            <a:off x="838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D1553563-9EBA-4936-A5AA-E5C83E539C1E}"/>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1A128D2C-9FED-42B7-97FA-FBC114228348}"/>
              </a:ext>
            </a:extLst>
          </p:cNvPr>
          <p:cNvSpPr>
            <a:spLocks noGrp="1"/>
          </p:cNvSpPr>
          <p:nvPr/>
        </p:nvSpPr>
        <p:spPr>
          <a:xfrm>
            <a:off x="457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AED689AD-BD29-4F12-B7E0-2CB601104E78}"/>
              </a:ext>
            </a:extLst>
          </p:cNvPr>
          <p:cNvSpPr>
            <a:spLocks noGrp="1"/>
          </p:cNvSpPr>
          <p:nvPr/>
        </p:nvSpPr>
        <p:spPr>
          <a:xfrm>
            <a:off x="452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EDF78D02-103B-4D29-A7A7-2542D0190CC9}"/>
              </a:ext>
            </a:extLst>
          </p:cNvPr>
          <p:cNvSpPr>
            <a:spLocks noGrp="1"/>
          </p:cNvSpPr>
          <p:nvPr/>
        </p:nvSpPr>
        <p:spPr>
          <a:xfrm>
            <a:off x="457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D074ECA5-B4DF-49EB-9556-4DBBE6041DAE}"/>
              </a:ext>
            </a:extLst>
          </p:cNvPr>
          <p:cNvSpPr>
            <a:spLocks noGrp="1"/>
          </p:cNvSpPr>
          <p:nvPr/>
        </p:nvSpPr>
        <p:spPr>
          <a:xfrm>
            <a:off x="457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50FB4F52-7938-4954-BCD0-CCD9807E6F7E}"/>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006A3641-0294-4DCC-8C39-490E0E2A8582}"/>
              </a:ext>
            </a:extLst>
          </p:cNvPr>
          <p:cNvSpPr>
            <a:spLocks noGrp="1"/>
          </p:cNvSpPr>
          <p:nvPr/>
        </p:nvSpPr>
        <p:spPr>
          <a:xfrm>
            <a:off x="76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2E608D57-1B91-4E55-BE4A-F23383C9FC97}"/>
              </a:ext>
            </a:extLst>
          </p:cNvPr>
          <p:cNvSpPr>
            <a:spLocks noGrp="1"/>
          </p:cNvSpPr>
          <p:nvPr/>
        </p:nvSpPr>
        <p:spPr>
          <a:xfrm>
            <a:off x="71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1,500</a:t>
            </a:r>
          </a:p>
        </p:txBody>
      </p:sp>
      <p:sp>
        <p:nvSpPr>
          <p:cNvPr id="17" name="طالب مدفوع / 10 مؤسسات">
            <a:extLst>
              <a:ext uri="{FF2B5EF4-FFF2-40B4-BE49-F238E27FC236}">
                <a16:creationId xmlns:a16="http://schemas.microsoft.com/office/drawing/2014/main" id="{E88E338F-4B48-4DC5-BE8A-76060853114E}"/>
              </a:ext>
            </a:extLst>
          </p:cNvPr>
          <p:cNvSpPr>
            <a:spLocks noGrp="1"/>
          </p:cNvSpPr>
          <p:nvPr/>
        </p:nvSpPr>
        <p:spPr>
          <a:xfrm>
            <a:off x="76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طالب مدفوع / 10 مؤسسات</a:t>
            </a:r>
          </a:p>
        </p:txBody>
      </p:sp>
      <p:sp>
        <p:nvSpPr>
          <p:cNvPr id="18" name="30 ألف د.أ">
            <a:extLst>
              <a:ext uri="{FF2B5EF4-FFF2-40B4-BE49-F238E27FC236}">
                <a16:creationId xmlns:a16="http://schemas.microsoft.com/office/drawing/2014/main" id="{78691C1E-5913-47E3-9694-4BE9D675AC90}"/>
              </a:ext>
            </a:extLst>
          </p:cNvPr>
          <p:cNvSpPr>
            <a:spLocks noGrp="1"/>
          </p:cNvSpPr>
          <p:nvPr/>
        </p:nvSpPr>
        <p:spPr>
          <a:xfrm>
            <a:off x="76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30 ألف د.أ</a:t>
            </a:r>
          </a:p>
        </p:txBody>
      </p:sp>
      <p:sp>
        <p:nvSpPr>
          <p:cNvPr id="19" name="نمذجة عند 20 د.أ لكل طالب نشط سنويًا تدفعها ا">
            <a:extLst>
              <a:ext uri="{FF2B5EF4-FFF2-40B4-BE49-F238E27FC236}">
                <a16:creationId xmlns:a16="http://schemas.microsoft.com/office/drawing/2014/main" id="{8219BD6D-DD6E-47FF-8BD4-A9BF4EBB4C65}"/>
              </a:ext>
            </a:extLst>
          </p:cNvPr>
          <p:cNvSpPr>
            <a:spLocks noGrp="1"/>
          </p:cNvSpPr>
          <p:nvPr/>
        </p:nvSpPr>
        <p:spPr>
          <a:xfrm>
            <a:off x="666750" y="5429250"/>
            <a:ext cx="10810875" cy="400050"/>
          </a:xfrm>
          <a:prstGeom prst="rect">
            <a:avLst/>
          </a:prstGeom>
          <a:noFill/>
          <a:ln w="0">
            <a:noFill/>
          </a:ln>
        </p:spPr>
        <p:txBody>
          <a:bodyPr wrap="square" lIns="0" tIns="0" rIns="0" bIns="0" anchor="ctr">
            <a:noAutofit/>
          </a:bodyPr>
          <a:lstStyle/>
          <a:p>
            <a:pPr algn="ct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نمذجة عند 20 د.أ لكل طالب نشط سنويًا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C9130540-7C10-4B33-8CBA-52D135F6119B}"/>
              </a:ext>
            </a:extLst>
          </p:cNvPr>
          <p:cNvSpPr>
            <a:spLocks noGrp="1"/>
          </p:cNvSpPr>
          <p:nvPr/>
        </p:nvSpPr>
        <p:spPr>
          <a:xfrm>
            <a:off x="762000" y="5953125"/>
            <a:ext cx="10668000" cy="323850"/>
          </a:xfrm>
          <a:prstGeom prst="rect">
            <a:avLst/>
          </a:prstGeom>
          <a:noFill/>
          <a:ln w="0">
            <a:noFill/>
          </a:ln>
        </p:spPr>
        <p:txBody>
          <a:bodyPr wrap="square" lIns="0" tIns="0" rIns="0" bIns="0" anchor="ctr">
            <a:noAutofit/>
          </a:bodyPr>
          <a:lstStyle/>
          <a:p>
            <a:pPr algn="ctr">
              <a:defRPr lang="ar-JO" sz="1425" b="0">
                <a:solidFill>
                  <a:srgbClr val="53657C"/>
                </a:solidFill>
                <a:latin typeface="IBM Plex Sans Arabic"/>
                <a:ea typeface="IBM Plex Sans Arabic"/>
                <a:cs typeface="IBM Plex Sans Arabic"/>
              </a:defRPr>
            </a:pPr>
            <a:r>
              <a:rPr lang="ar-JO" sz="1425" b="0">
                <a:solidFill>
                  <a:srgbClr val="53657C"/>
                </a:solidFill>
                <a:latin typeface="IBM Plex Sans Arabic"/>
                <a:ea typeface="IBM Plex Sans Arabic"/>
                <a:cs typeface="IBM Plex Sans Arabic"/>
              </a:rPr>
              <a:t>الأعداد الرسمية: نتائج التوجيهي 2026 • القيم المالية وحصة السوق المستهدفة فرضيات وليست مبيعات</a:t>
            </a:r>
          </a:p>
        </p:txBody>
      </p:sp>
    </p:spTree>
    <p:extLst>
      <p:ext uri="{BB962C8B-B14F-4D97-AF65-F5344CB8AC3E}">
        <p14:creationId xmlns:p14="http://schemas.microsoft.com/office/powerpoint/2010/main" val="1508145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C8083692-771A-48D0-8B91-D25D70228320}"/>
              </a:ext>
            </a:extLst>
          </p:cNvPr>
          <p:cNvSpPr>
            <a:spLocks noGrp="1"/>
          </p:cNvSpPr>
          <p:nvPr/>
        </p:nvSpPr>
        <p:spPr>
          <a:xfrm>
            <a:off x="571500" y="742950"/>
            <a:ext cx="10287000" cy="762000"/>
          </a:xfrm>
          <a:prstGeom prst="rect">
            <a:avLst/>
          </a:prstGeom>
          <a:noFill/>
          <a:ln w="0">
            <a:noFill/>
          </a:ln>
        </p:spPr>
        <p:txBody>
          <a:bodyPr wrap="square" lIns="0" tIns="0" rIns="0" bIns="0" anchor="ctr">
            <a:noAutofit/>
          </a:bodyPr>
          <a:lstStyle/>
          <a:p>
            <a:pPr algn="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ACBEE3AF-A120-438B-BB79-6E9041E7C2EF}"/>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7CB0B9F8-2F3E-45E5-BC23-1B76C25B7CEA}"/>
              </a:ext>
            </a:extLst>
          </p:cNvPr>
          <p:cNvSpPr>
            <a:spLocks noGrp="1"/>
          </p:cNvSpPr>
          <p:nvPr/>
        </p:nvSpPr>
        <p:spPr>
          <a:xfrm>
            <a:off x="571500" y="1400175"/>
            <a:ext cx="6096000" cy="342900"/>
          </a:xfrm>
          <a:prstGeom prst="rect">
            <a:avLst/>
          </a:prstGeom>
          <a:noFill/>
          <a:ln w="0">
            <a:noFill/>
          </a:ln>
        </p:spPr>
        <p:txBody>
          <a:bodyPr wrap="square" lIns="0" tIns="0" rIns="0" bIns="0" anchor="ctr">
            <a:noAutofit/>
          </a:bodyPr>
          <a:lstStyle/>
          <a:p>
            <a:pPr algn="l">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87BBC6A1-A0C1-42FB-A9C7-469226BBD95F}"/>
              </a:ext>
            </a:extLst>
          </p:cNvPr>
          <p:cNvSpPr>
            <a:spLocks noGrp="1"/>
          </p:cNvSpPr>
          <p:nvPr/>
        </p:nvSpPr>
        <p:spPr>
          <a:xfrm>
            <a:off x="6858000" y="1400175"/>
            <a:ext cx="4667250" cy="342900"/>
          </a:xfrm>
          <a:prstGeom prst="rect">
            <a:avLst/>
          </a:prstGeom>
          <a:noFill/>
          <a:ln w="0">
            <a:noFill/>
          </a:ln>
        </p:spPr>
        <p:txBody>
          <a:bodyPr wrap="square" lIns="0" tIns="0" rIns="0" bIns="0" anchor="ctr">
            <a:noAutofit/>
          </a:bodyPr>
          <a:lstStyle/>
          <a:p>
            <a:pPr algn="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838" b="0">
                          <a:solidFill>
                            <a:srgbClr val="102C50"/>
                          </a:solidFill>
                          <a:latin typeface="IBM Plex Sans Arabic"/>
                          <a:ea typeface="IBM Plex Sans Arabic"/>
                          <a:cs typeface="IBM Plex Sans Arabic"/>
                        </a:rPr>
                        <a:t>الشركاء المحتملون</a:t>
                      </a:r>
                    </a:p>
                    <a:p>
                      <a:endParaRPr lang="ar-JO" sz="1838" b="0">
                        <a:solidFill>
                          <a:srgbClr val="102C50"/>
                        </a:solidFill>
                        <a:latin typeface="IBM Plex Sans Arabic"/>
                        <a:ea typeface="IBM Plex Sans Arabic"/>
                        <a:cs typeface="IBM Plex Sans Arabic"/>
                      </a:endParaRPr>
                    </a:p>
                    <a:p>
                      <a:pPr algn="r" rtl="1"/>
                      <a:r>
                        <a:rPr lang="ar-JO" sz="1838" b="0">
                          <a:solidFill>
                            <a:srgbClr val="102C50"/>
                          </a:solidFill>
                          <a:latin typeface="IBM Plex Sans Arabic"/>
                          <a:ea typeface="IBM Plex Sans Arabic"/>
                          <a:cs typeface="IBM Plex Sans Arabic"/>
                        </a:rPr>
                        <a:t>مدارس وجامعات</a:t>
                      </a:r>
                    </a:p>
                    <a:p>
                      <a:pPr algn="r" rtl="1"/>
                      <a:r>
                        <a:rPr lang="ar-JO" sz="1838" b="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838" b="0">
                          <a:solidFill>
                            <a:srgbClr val="102C50"/>
                          </a:solidFill>
                          <a:latin typeface="IBM Plex Sans Arabic"/>
                          <a:ea typeface="IBM Plex Sans Arabic"/>
                          <a:cs typeface="IBM Plex Sans Arabic"/>
                        </a:rPr>
                        <a:t>الأنشطة الرئيسية</a:t>
                      </a:r>
                    </a:p>
                    <a:p>
                      <a:pPr algn="r" rtl="1"/>
                      <a:r>
                        <a:rPr lang="ar-JO" sz="1838" b="0">
                          <a:solidFill>
                            <a:srgbClr val="102C50"/>
                          </a:solidFill>
                          <a:latin typeface="IBM Plex Sans Arabic"/>
                          <a:ea typeface="IBM Plex Sans Arabic"/>
                          <a:cs typeface="IBM Plex Sans Arabic"/>
                        </a:rPr>
                        <a:t>تطوير وتحديث</a:t>
                      </a:r>
                    </a:p>
                    <a:p>
                      <a:pPr algn="r" rtl="1"/>
                      <a:r>
                        <a:rPr lang="ar-JO" sz="1838" b="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838" b="0">
                          <a:solidFill>
                            <a:srgbClr val="102C50"/>
                          </a:solidFill>
                          <a:latin typeface="IBM Plex Sans Arabic"/>
                          <a:ea typeface="IBM Plex Sans Arabic"/>
                          <a:cs typeface="IBM Plex Sans Arabic"/>
                        </a:rPr>
                        <a:t>الموارد الرئيسية</a:t>
                      </a:r>
                    </a:p>
                    <a:p>
                      <a:pPr algn="r" rtl="1"/>
                      <a:r>
                        <a:rPr lang="ar-JO" sz="1838" b="0">
                          <a:solidFill>
                            <a:srgbClr val="102C50"/>
                          </a:solidFill>
                          <a:latin typeface="IBM Plex Sans Arabic"/>
                          <a:ea typeface="IBM Plex Sans Arabic"/>
                          <a:cs typeface="IBM Plex Sans Arabic"/>
                        </a:rPr>
                        <a:t>الفريق والمنتج</a:t>
                      </a:r>
                    </a:p>
                    <a:p>
                      <a:pPr algn="r" rtl="1"/>
                      <a:r>
                        <a:rPr lang="ar-JO" sz="1838" b="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838" b="1">
                          <a:solidFill>
                            <a:srgbClr val="FFFFFF"/>
                          </a:solidFill>
                          <a:latin typeface="IBM Plex Sans Arabic"/>
                          <a:ea typeface="IBM Plex Sans Arabic"/>
                          <a:cs typeface="IBM Plex Sans Arabic"/>
                        </a:rPr>
                        <a:t>القيمة المقترحة</a:t>
                      </a:r>
                    </a:p>
                    <a:p>
                      <a:endParaRPr lang="ar-JO" sz="1838" b="1">
                        <a:solidFill>
                          <a:srgbClr val="FFFFFF"/>
                        </a:solidFill>
                        <a:latin typeface="IBM Plex Sans Arabic"/>
                        <a:ea typeface="IBM Plex Sans Arabic"/>
                        <a:cs typeface="IBM Plex Sans Arabic"/>
                      </a:endParaRPr>
                    </a:p>
                    <a:p>
                      <a:pPr algn="r" rtl="1"/>
                      <a:r>
                        <a:rPr lang="ar-JO" sz="1838" b="1">
                          <a:solidFill>
                            <a:srgbClr val="FFFFFF"/>
                          </a:solidFill>
                          <a:latin typeface="IBM Plex Sans Arabic"/>
                          <a:ea typeface="IBM Plex Sans Arabic"/>
                          <a:cs typeface="IBM Plex Sans Arabic"/>
                        </a:rPr>
                        <a:t>ميول ومقارنة وكلفة</a:t>
                      </a:r>
                    </a:p>
                    <a:p>
                      <a:pPr algn="r" rtl="1"/>
                      <a:r>
                        <a:rPr lang="ar-JO" sz="1838" b="1">
                          <a:solidFill>
                            <a:srgbClr val="FFFFFF"/>
                          </a:solidFill>
                          <a:latin typeface="IBM Plex Sans Arabic"/>
                          <a:ea typeface="IBM Plex Sans Arabic"/>
                          <a:cs typeface="IBM Plex Sans Arabic"/>
                        </a:rPr>
                        <a:t>في قرار واضح</a:t>
                      </a:r>
                    </a:p>
                    <a:p>
                      <a:pPr algn="r" rtl="1"/>
                      <a:r>
                        <a:rPr lang="ar-JO" sz="1838" b="1">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838" b="0">
                          <a:solidFill>
                            <a:srgbClr val="102C50"/>
                          </a:solidFill>
                          <a:latin typeface="IBM Plex Sans Arabic"/>
                          <a:ea typeface="IBM Plex Sans Arabic"/>
                          <a:cs typeface="IBM Plex Sans Arabic"/>
                        </a:rPr>
                        <a:t>علاقة المستفيد</a:t>
                      </a:r>
                    </a:p>
                    <a:p>
                      <a:pPr algn="r" rtl="1"/>
                      <a:r>
                        <a:rPr lang="ar-JO" sz="1838" b="0">
                          <a:solidFill>
                            <a:srgbClr val="102C50"/>
                          </a:solidFill>
                          <a:latin typeface="IBM Plex Sans Arabic"/>
                          <a:ea typeface="IBM Plex Sans Arabic"/>
                          <a:cs typeface="IBM Plex Sans Arabic"/>
                        </a:rPr>
                        <a:t>تجربة سهلة</a:t>
                      </a:r>
                    </a:p>
                    <a:p>
                      <a:pPr algn="r" rtl="1"/>
                      <a:r>
                        <a:rPr lang="ar-JO" sz="1838" b="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838" b="0">
                          <a:solidFill>
                            <a:srgbClr val="102C50"/>
                          </a:solidFill>
                          <a:latin typeface="IBM Plex Sans Arabic"/>
                          <a:ea typeface="IBM Plex Sans Arabic"/>
                          <a:cs typeface="IBM Plex Sans Arabic"/>
                        </a:rPr>
                        <a:t>قنوات الوصول</a:t>
                      </a:r>
                    </a:p>
                    <a:p>
                      <a:pPr algn="r" rtl="1"/>
                      <a:r>
                        <a:rPr lang="ar-JO" sz="1838" b="0">
                          <a:solidFill>
                            <a:srgbClr val="102C50"/>
                          </a:solidFill>
                          <a:latin typeface="IBM Plex Sans Arabic"/>
                          <a:ea typeface="IBM Plex Sans Arabic"/>
                          <a:cs typeface="IBM Plex Sans Arabic"/>
                        </a:rPr>
                        <a:t>مدارس وجامعات</a:t>
                      </a:r>
                    </a:p>
                    <a:p>
                      <a:pPr algn="r" rtl="1"/>
                      <a:r>
                        <a:rPr lang="ar-JO" sz="1838" b="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838" b="0">
                          <a:solidFill>
                            <a:srgbClr val="102C50"/>
                          </a:solidFill>
                          <a:latin typeface="IBM Plex Sans Arabic"/>
                          <a:ea typeface="IBM Plex Sans Arabic"/>
                          <a:cs typeface="IBM Plex Sans Arabic"/>
                        </a:rPr>
                        <a:t>شرائح العملاء</a:t>
                      </a:r>
                    </a:p>
                    <a:p>
                      <a:endParaRPr lang="ar-JO" sz="1838" b="0">
                        <a:solidFill>
                          <a:srgbClr val="102C50"/>
                        </a:solidFill>
                        <a:latin typeface="IBM Plex Sans Arabic"/>
                        <a:ea typeface="IBM Plex Sans Arabic"/>
                        <a:cs typeface="IBM Plex Sans Arabic"/>
                      </a:endParaRPr>
                    </a:p>
                    <a:p>
                      <a:pPr algn="r" rtl="1"/>
                      <a:r>
                        <a:rPr lang="ar-JO" sz="1838" b="0">
                          <a:solidFill>
                            <a:srgbClr val="102C50"/>
                          </a:solidFill>
                          <a:latin typeface="IBM Plex Sans Arabic"/>
                          <a:ea typeface="IBM Plex Sans Arabic"/>
                          <a:cs typeface="IBM Plex Sans Arabic"/>
                        </a:rPr>
                        <a:t>طلبة وأهل مستفيدون</a:t>
                      </a:r>
                    </a:p>
                    <a:p>
                      <a:pPr algn="r" rtl="1"/>
                      <a:r>
                        <a:rPr lang="ar-JO" sz="1838" b="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r>
                        <a:rPr lang="ar-JO" sz="1838" b="0">
                          <a:solidFill>
                            <a:srgbClr val="102C50"/>
                          </a:solidFill>
                          <a:latin typeface="IBM Plex Sans Arabic"/>
                          <a:ea typeface="IBM Plex Sans Arabic"/>
                          <a:cs typeface="IBM Plex Sans Arabic"/>
                        </a:rPr>
                        <a:t>هيكل التكاليف</a:t>
                      </a:r>
                    </a:p>
                    <a:p>
                      <a:pPr algn="r" rtl="1"/>
                      <a:r>
                        <a:rPr lang="ar-JO" sz="1838" b="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r>
                        <a:rPr lang="ar-JO" sz="1688" b="1">
                          <a:solidFill>
                            <a:srgbClr val="102C50"/>
                          </a:solidFill>
                          <a:latin typeface="IBM Plex Sans Arabic"/>
                          <a:ea typeface="IBM Plex Sans Arabic"/>
                          <a:cs typeface="IBM Plex Sans Arabic"/>
                        </a:rPr>
                        <a:t>الإيراد — فرضية اختبار</a:t>
                      </a:r>
                    </a:p>
                    <a:p>
                      <a:pPr algn="r" rtl="1"/>
                      <a:r>
                        <a:rPr lang="ar-JO" sz="1688" b="1">
                          <a:solidFill>
                            <a:srgbClr val="102C50"/>
                          </a:solidFill>
                          <a:latin typeface="IBM Plex Sans Arabic"/>
                          <a:ea typeface="IBM Plex Sans Arabic"/>
                          <a:cs typeface="IBM Plex Sans Arabic"/>
                        </a:rPr>
                        <a:t>20 د.أ/طالب نشط/سنة</a:t>
                      </a:r>
                    </a:p>
                    <a:p>
                      <a:pPr algn="r" rtl="1"/>
                      <a:r>
                        <a:rPr lang="ar-JO" sz="1688" b="1">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EF5E0CE4-9663-47DC-ABCF-54653F7CC250}"/>
              </a:ext>
            </a:extLst>
          </p:cNvPr>
          <p:cNvSpPr>
            <a:spLocks noGrp="1"/>
          </p:cNvSpPr>
          <p:nvPr/>
        </p:nvSpPr>
        <p:spPr>
          <a:xfrm>
            <a:off x="619125" y="6086475"/>
            <a:ext cx="10906125" cy="419100"/>
          </a:xfrm>
          <a:prstGeom prst="rect">
            <a:avLst/>
          </a:prstGeom>
          <a:noFill/>
          <a:ln w="0">
            <a:noFill/>
          </a:ln>
        </p:spPr>
        <p:txBody>
          <a:bodyPr wrap="square" lIns="0" tIns="0" rIns="0" bIns="0" anchor="ctr">
            <a:noAutofit/>
          </a:bodyPr>
          <a:lstStyle/>
          <a:p>
            <a:pPr algn="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54488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الميزة: قرار شخصي تدعمه الأدلة">
            <a:extLst>
              <a:ext uri="{FF2B5EF4-FFF2-40B4-BE49-F238E27FC236}">
                <a16:creationId xmlns:a16="http://schemas.microsoft.com/office/drawing/2014/main" id="{4A5045FF-D90B-4D9D-9C73-C22F9C3119F0}"/>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الميزة: قرار شخصي تدعمه الأدلة</a:t>
            </a:r>
          </a:p>
        </p:txBody>
      </p:sp>
      <p:sp>
        <p:nvSpPr>
          <p:cNvPr id="3" name="08">
            <a:extLst>
              <a:ext uri="{FF2B5EF4-FFF2-40B4-BE49-F238E27FC236}">
                <a16:creationId xmlns:a16="http://schemas.microsoft.com/office/drawing/2014/main" id="{623EDDB7-12B9-49B7-8017-0EE6B43611AE}"/>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08</a:t>
            </a:r>
          </a:p>
        </p:txBody>
      </p:sp>
      <p:pic>
        <p:nvPicPr>
          <p:cNvPr id="19" name="Picture 18"/>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57B0DEDF-ABD2-4B87-ADF2-0DB5037AD5BD}"/>
              </a:ext>
            </a:extLst>
          </p:cNvPr>
          <p:cNvSpPr>
            <a:spLocks noGrp="1"/>
          </p:cNvSpPr>
          <p:nvPr/>
        </p:nvSpPr>
        <p:spPr>
          <a:xfrm>
            <a:off x="4524375" y="1752600"/>
            <a:ext cx="6953250" cy="1314450"/>
          </a:xfrm>
          <a:prstGeom prst="roundRect">
            <a:avLst>
              <a:gd name="adj" fmla="val 5797"/>
            </a:avLst>
          </a:prstGeom>
          <a:solidFill>
            <a:srgbClr val="FFFFFF"/>
          </a:solidFill>
          <a:ln w="12383">
            <a:solidFill>
              <a:srgbClr val="D4DEE9"/>
            </a:solidFill>
          </a:ln>
        </p:spPr>
      </p:sp>
      <p:sp>
        <p:nvSpPr>
          <p:cNvPr id="6" name="28,186 طالبًا • 243 مدرسة">
            <a:extLst>
              <a:ext uri="{FF2B5EF4-FFF2-40B4-BE49-F238E27FC236}">
                <a16:creationId xmlns:a16="http://schemas.microsoft.com/office/drawing/2014/main" id="{6C587B11-9AA0-475F-B8BD-5524FE49C048}"/>
              </a:ext>
            </a:extLst>
          </p:cNvPr>
          <p:cNvSpPr>
            <a:spLocks noGrp="1"/>
          </p:cNvSpPr>
          <p:nvPr/>
        </p:nvSpPr>
        <p:spPr>
          <a:xfrm>
            <a:off x="4714875" y="1866900"/>
            <a:ext cx="6572250" cy="381000"/>
          </a:xfrm>
          <a:prstGeom prst="rect">
            <a:avLst/>
          </a:prstGeom>
          <a:noFill/>
          <a:ln w="0">
            <a:noFill/>
          </a:ln>
        </p:spPr>
        <p:txBody>
          <a:bodyPr wrap="square" lIns="0" tIns="0" rIns="0" bIns="0" anchor="ctr">
            <a:noAutofit/>
          </a:bodyPr>
          <a:lstStyle/>
          <a:p>
            <a:pPr algn="r">
              <a:defRPr lang="ar-JO" sz="2025" b="1">
                <a:solidFill>
                  <a:srgbClr val="C8A04C"/>
                </a:solidFill>
                <a:latin typeface="IBM Plex Sans Arabic"/>
                <a:ea typeface="IBM Plex Sans Arabic"/>
                <a:cs typeface="IBM Plex Sans Arabic"/>
              </a:defRPr>
            </a:pPr>
            <a:r>
              <a:rPr lang="ar-JO" sz="2025" b="1">
                <a:solidFill>
                  <a:srgbClr val="C8A04C"/>
                </a:solidFill>
                <a:latin typeface="IBM Plex Sans Arabic"/>
                <a:ea typeface="IBM Plex Sans Arabic"/>
                <a:cs typeface="IBM Plex Sans Arabic"/>
              </a:rPr>
              <a:t>28,186 طالبًا • 243 مدرسة</a:t>
            </a:r>
          </a:p>
        </p:txBody>
      </p:sp>
      <p:sp>
        <p:nvSpPr>
          <p:cNvPr id="7" name="معلومة مخصّصة ← برامج بفرص عمل أفضل حتى 2.9 ب">
            <a:extLst>
              <a:ext uri="{FF2B5EF4-FFF2-40B4-BE49-F238E27FC236}">
                <a16:creationId xmlns:a16="http://schemas.microsoft.com/office/drawing/2014/main" id="{C795E428-DC7B-4B2C-B2D7-C6B247B4CCC7}"/>
              </a:ext>
            </a:extLst>
          </p:cNvPr>
          <p:cNvSpPr>
            <a:spLocks noGrp="1"/>
          </p:cNvSpPr>
          <p:nvPr/>
        </p:nvSpPr>
        <p:spPr>
          <a:xfrm>
            <a:off x="4714875" y="2276475"/>
            <a:ext cx="6572250" cy="485775"/>
          </a:xfrm>
          <a:prstGeom prst="rect">
            <a:avLst/>
          </a:prstGeom>
          <a:noFill/>
          <a:ln w="0">
            <a:noFill/>
          </a:ln>
        </p:spPr>
        <p:txBody>
          <a:bodyPr wrap="square" lIns="0" tIns="0" rIns="0" bIns="0" anchor="ctr">
            <a:noAutofit/>
          </a:bodyPr>
          <a:lstStyle/>
          <a:p>
            <a:pPr algn="r">
              <a:defRPr lang="ar-JO" sz="1725" b="1">
                <a:solidFill>
                  <a:srgbClr val="013070"/>
                </a:solidFill>
                <a:latin typeface="IBM Plex Sans Arabic"/>
                <a:ea typeface="IBM Plex Sans Arabic"/>
                <a:cs typeface="IBM Plex Sans Arabic"/>
              </a:defRPr>
            </a:pPr>
            <a:r>
              <a:rPr lang="ar-JO" sz="1725" b="1">
                <a:solidFill>
                  <a:srgbClr val="013070"/>
                </a:solidFill>
                <a:latin typeface="IBM Plex Sans Arabic"/>
                <a:ea typeface="IBM Plex Sans Arabic"/>
                <a:cs typeface="IBM Plex Sans Arabic"/>
              </a:rPr>
              <a:t>معلومة مخصّصة ← برامج بفرص عمل أفضل حتى 2.9 بالمئة</a:t>
            </a:r>
          </a:p>
        </p:txBody>
      </p:sp>
      <p:sp>
        <p:nvSpPr>
          <p:cNvPr id="8" name="دراسة عشوائية، هولندا 2025">
            <a:extLst>
              <a:ext uri="{FF2B5EF4-FFF2-40B4-BE49-F238E27FC236}">
                <a16:creationId xmlns:a16="http://schemas.microsoft.com/office/drawing/2014/main" id="{BF7C07A0-D80E-41A2-B234-245BE788E542}"/>
              </a:ext>
            </a:extLst>
          </p:cNvPr>
          <p:cNvSpPr>
            <a:spLocks noGrp="1"/>
          </p:cNvSpPr>
          <p:nvPr/>
        </p:nvSpPr>
        <p:spPr>
          <a:xfrm>
            <a:off x="4714875" y="2800350"/>
            <a:ext cx="6572250" cy="209550"/>
          </a:xfrm>
          <a:prstGeom prst="rect">
            <a:avLst/>
          </a:prstGeom>
          <a:noFill/>
          <a:ln w="0">
            <a:noFill/>
          </a:ln>
        </p:spPr>
        <p:txBody>
          <a:bodyPr wrap="square" lIns="0" tIns="0" rIns="0" bIns="0" anchor="ctr">
            <a:noAutofit/>
          </a:bodyPr>
          <a:lstStyle/>
          <a:p>
            <a:pPr algn="r">
              <a:defRPr lang="ar-JO" sz="1200" b="0">
                <a:solidFill>
                  <a:srgbClr val="53657C"/>
                </a:solidFill>
                <a:latin typeface="IBM Plex Sans Arabic"/>
                <a:ea typeface="IBM Plex Sans Arabic"/>
                <a:cs typeface="IBM Plex Sans Arabic"/>
              </a:defRPr>
            </a:pPr>
            <a:r>
              <a:rPr lang="ar-JO" sz="1200" b="0">
                <a:solidFill>
                  <a:srgbClr val="53657C"/>
                </a:solidFill>
                <a:latin typeface="IBM Plex Sans Arabic"/>
                <a:ea typeface="IBM Plex Sans Arabic"/>
                <a:cs typeface="IBM Plex Sans Arabic"/>
              </a:rPr>
              <a:t>دراسة عشوائية، هولندا 2025</a:t>
            </a:r>
          </a:p>
        </p:txBody>
      </p:sp>
      <p:sp>
        <p:nvSpPr>
          <p:cNvPr id="9" name="Rectangle: Rounded Corners 8">
            <a:extLst>
              <a:ext uri="{FF2B5EF4-FFF2-40B4-BE49-F238E27FC236}">
                <a16:creationId xmlns:a16="http://schemas.microsoft.com/office/drawing/2014/main" id="{91452132-5F1C-451B-B065-4309BDEA32D5}"/>
              </a:ext>
            </a:extLst>
          </p:cNvPr>
          <p:cNvSpPr>
            <a:spLocks noGrp="1"/>
          </p:cNvSpPr>
          <p:nvPr/>
        </p:nvSpPr>
        <p:spPr>
          <a:xfrm>
            <a:off x="4524375" y="3238500"/>
            <a:ext cx="6953250" cy="1314450"/>
          </a:xfrm>
          <a:prstGeom prst="roundRect">
            <a:avLst>
              <a:gd name="adj" fmla="val 5797"/>
            </a:avLst>
          </a:prstGeom>
          <a:solidFill>
            <a:srgbClr val="FFFFFF"/>
          </a:solidFill>
          <a:ln w="12383">
            <a:solidFill>
              <a:srgbClr val="D4DEE9"/>
            </a:solidFill>
          </a:ln>
        </p:spPr>
      </p:sp>
      <p:sp>
        <p:nvSpPr>
          <p:cNvPr id="10" name="49,166 مستجيبًا">
            <a:extLst>
              <a:ext uri="{FF2B5EF4-FFF2-40B4-BE49-F238E27FC236}">
                <a16:creationId xmlns:a16="http://schemas.microsoft.com/office/drawing/2014/main" id="{A741903A-EA20-4CA1-AB8B-408B87F3D3CD}"/>
              </a:ext>
            </a:extLst>
          </p:cNvPr>
          <p:cNvSpPr>
            <a:spLocks noGrp="1"/>
          </p:cNvSpPr>
          <p:nvPr/>
        </p:nvSpPr>
        <p:spPr>
          <a:xfrm>
            <a:off x="4714875" y="3352800"/>
            <a:ext cx="6572250" cy="381000"/>
          </a:xfrm>
          <a:prstGeom prst="rect">
            <a:avLst/>
          </a:prstGeom>
          <a:noFill/>
          <a:ln w="0">
            <a:noFill/>
          </a:ln>
        </p:spPr>
        <p:txBody>
          <a:bodyPr wrap="square" lIns="0" tIns="0" rIns="0" bIns="0" anchor="ctr">
            <a:noAutofit/>
          </a:bodyPr>
          <a:lstStyle/>
          <a:p>
            <a:pPr algn="r">
              <a:defRPr lang="ar-JO" sz="2025" b="1">
                <a:solidFill>
                  <a:srgbClr val="C8A04C"/>
                </a:solidFill>
                <a:latin typeface="IBM Plex Sans Arabic"/>
                <a:ea typeface="IBM Plex Sans Arabic"/>
                <a:cs typeface="IBM Plex Sans Arabic"/>
              </a:defRPr>
            </a:pPr>
            <a:r>
              <a:rPr lang="ar-JO" sz="2025" b="1">
                <a:solidFill>
                  <a:srgbClr val="C8A04C"/>
                </a:solidFill>
                <a:latin typeface="IBM Plex Sans Arabic"/>
                <a:ea typeface="IBM Plex Sans Arabic"/>
                <a:cs typeface="IBM Plex Sans Arabic"/>
              </a:rPr>
              <a:t>49,166 مستجيبًا</a:t>
            </a:r>
          </a:p>
        </p:txBody>
      </p:sp>
      <p:sp>
        <p:nvSpPr>
          <p:cNvPr id="11" name="معلومات الدخل والكلفة خفّضت طلب البرامج منخفض">
            <a:extLst>
              <a:ext uri="{FF2B5EF4-FFF2-40B4-BE49-F238E27FC236}">
                <a16:creationId xmlns:a16="http://schemas.microsoft.com/office/drawing/2014/main" id="{16F54037-EDFC-48EA-92FD-306E28851FA6}"/>
              </a:ext>
            </a:extLst>
          </p:cNvPr>
          <p:cNvSpPr>
            <a:spLocks noGrp="1"/>
          </p:cNvSpPr>
          <p:nvPr/>
        </p:nvSpPr>
        <p:spPr>
          <a:xfrm>
            <a:off x="4714875" y="3733800"/>
            <a:ext cx="6572250" cy="533400"/>
          </a:xfrm>
          <a:prstGeom prst="rect">
            <a:avLst/>
          </a:prstGeom>
          <a:noFill/>
          <a:ln w="0">
            <a:noFill/>
          </a:ln>
        </p:spPr>
        <p:txBody>
          <a:bodyPr wrap="square" lIns="0" tIns="0" rIns="0" bIns="0" anchor="ctr">
            <a:noAutofit/>
          </a:bodyPr>
          <a:lstStyle/>
          <a:p>
            <a:pPr algn="r">
              <a:defRPr lang="ar-JO" sz="1650" b="1">
                <a:solidFill>
                  <a:srgbClr val="013070"/>
                </a:solidFill>
                <a:latin typeface="IBM Plex Sans Arabic"/>
                <a:ea typeface="IBM Plex Sans Arabic"/>
                <a:cs typeface="IBM Plex Sans Arabic"/>
              </a:defRPr>
            </a:pPr>
            <a:r>
              <a:rPr lang="ar-JO" sz="1650" b="1">
                <a:solidFill>
                  <a:srgbClr val="013070"/>
                </a:solidFill>
                <a:latin typeface="IBM Plex Sans Arabic"/>
                <a:ea typeface="IBM Plex Sans Arabic"/>
                <a:cs typeface="IBM Plex Sans Arabic"/>
              </a:rPr>
              <a:t>معلومات الدخل والكلفة خفّضت طلب البرامج منخفضة العائد 3.3 بالمئة</a:t>
            </a:r>
          </a:p>
        </p:txBody>
      </p:sp>
      <p:sp>
        <p:nvSpPr>
          <p:cNvPr id="12" name="دراسة عشوائية، تشيلي">
            <a:extLst>
              <a:ext uri="{FF2B5EF4-FFF2-40B4-BE49-F238E27FC236}">
                <a16:creationId xmlns:a16="http://schemas.microsoft.com/office/drawing/2014/main" id="{E676569B-B245-4DE3-9654-C66B1C5BDEDC}"/>
              </a:ext>
            </a:extLst>
          </p:cNvPr>
          <p:cNvSpPr>
            <a:spLocks noGrp="1"/>
          </p:cNvSpPr>
          <p:nvPr/>
        </p:nvSpPr>
        <p:spPr>
          <a:xfrm>
            <a:off x="4714875" y="4286250"/>
            <a:ext cx="6572250" cy="209550"/>
          </a:xfrm>
          <a:prstGeom prst="rect">
            <a:avLst/>
          </a:prstGeom>
          <a:noFill/>
          <a:ln w="0">
            <a:noFill/>
          </a:ln>
        </p:spPr>
        <p:txBody>
          <a:bodyPr wrap="square" lIns="0" tIns="0" rIns="0" bIns="0" anchor="ctr">
            <a:noAutofit/>
          </a:bodyPr>
          <a:lstStyle/>
          <a:p>
            <a:pPr algn="r">
              <a:defRPr lang="ar-JO" sz="1200" b="0">
                <a:solidFill>
                  <a:srgbClr val="53657C"/>
                </a:solidFill>
                <a:latin typeface="IBM Plex Sans Arabic"/>
                <a:ea typeface="IBM Plex Sans Arabic"/>
                <a:cs typeface="IBM Plex Sans Arabic"/>
              </a:defRPr>
            </a:pPr>
            <a:r>
              <a:rPr lang="ar-JO" sz="1200" b="0">
                <a:solidFill>
                  <a:srgbClr val="53657C"/>
                </a:solidFill>
                <a:latin typeface="IBM Plex Sans Arabic"/>
                <a:ea typeface="IBM Plex Sans Arabic"/>
                <a:cs typeface="IBM Plex Sans Arabic"/>
              </a:rPr>
              <a:t>دراسة عشوائية، تشيلي</a:t>
            </a:r>
          </a:p>
        </p:txBody>
      </p:sp>
      <p:sp>
        <p:nvSpPr>
          <p:cNvPr id="13" name="Rectangle: Rounded Corners 12">
            <a:extLst>
              <a:ext uri="{FF2B5EF4-FFF2-40B4-BE49-F238E27FC236}">
                <a16:creationId xmlns:a16="http://schemas.microsoft.com/office/drawing/2014/main" id="{C57BA55E-E8C2-4440-BC61-331842AF01FC}"/>
              </a:ext>
            </a:extLst>
          </p:cNvPr>
          <p:cNvSpPr>
            <a:spLocks noGrp="1"/>
          </p:cNvSpPr>
          <p:nvPr/>
        </p:nvSpPr>
        <p:spPr>
          <a:xfrm>
            <a:off x="4524375" y="4733925"/>
            <a:ext cx="6953250" cy="885825"/>
          </a:xfrm>
          <a:prstGeom prst="roundRect">
            <a:avLst>
              <a:gd name="adj" fmla="val 8602"/>
            </a:avLst>
          </a:prstGeom>
          <a:solidFill>
            <a:srgbClr val="F3EAD7"/>
          </a:solidFill>
          <a:ln w="12383">
            <a:solidFill>
              <a:srgbClr val="DFC98F"/>
            </a:solidFill>
          </a:ln>
        </p:spPr>
      </p:sp>
      <p:sp>
        <p:nvSpPr>
          <p:cNvPr id="14" name="الأردن 2024: اتجاه نحو إرشاد شخصي مبني على ال">
            <a:extLst>
              <a:ext uri="{FF2B5EF4-FFF2-40B4-BE49-F238E27FC236}">
                <a16:creationId xmlns:a16="http://schemas.microsoft.com/office/drawing/2014/main" id="{51EE51C1-E91D-41E0-BE94-27D77E94181D}"/>
              </a:ext>
            </a:extLst>
          </p:cNvPr>
          <p:cNvSpPr>
            <a:spLocks noGrp="1"/>
          </p:cNvSpPr>
          <p:nvPr/>
        </p:nvSpPr>
        <p:spPr>
          <a:xfrm>
            <a:off x="4714875" y="4857750"/>
            <a:ext cx="6572250" cy="619125"/>
          </a:xfrm>
          <a:prstGeom prst="rect">
            <a:avLst/>
          </a:prstGeom>
          <a:noFill/>
          <a:ln w="0">
            <a:noFill/>
          </a:ln>
        </p:spPr>
        <p:txBody>
          <a:bodyPr wrap="square" lIns="0" tIns="0" rIns="0" bIns="0" anchor="ctr">
            <a:noAutofit/>
          </a:bodyPr>
          <a:lstStyle/>
          <a:p>
            <a:pPr algn="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الأردن 2024: اتجاه نحو إرشاد شخصي مبني على التقنية وبيانات سوق آنية</a:t>
            </a:r>
          </a:p>
        </p:txBody>
      </p:sp>
      <p:sp>
        <p:nvSpPr>
          <p:cNvPr id="15" name="الدراسات تدعم سلسلة الأثر؛ نثبت أثر مُرشِدي م">
            <a:extLst>
              <a:ext uri="{FF2B5EF4-FFF2-40B4-BE49-F238E27FC236}">
                <a16:creationId xmlns:a16="http://schemas.microsoft.com/office/drawing/2014/main" id="{667623A7-A504-4A6B-B49E-4247163AB30D}"/>
              </a:ext>
            </a:extLst>
          </p:cNvPr>
          <p:cNvSpPr>
            <a:spLocks noGrp="1"/>
          </p:cNvSpPr>
          <p:nvPr/>
        </p:nvSpPr>
        <p:spPr>
          <a:xfrm>
            <a:off x="4524375" y="5838825"/>
            <a:ext cx="6953250" cy="390525"/>
          </a:xfrm>
          <a:prstGeom prst="rect">
            <a:avLst/>
          </a:prstGeom>
          <a:noFill/>
          <a:ln w="0">
            <a:noFill/>
          </a:ln>
        </p:spPr>
        <p:txBody>
          <a:bodyPr wrap="square" lIns="0" tIns="0" rIns="0" bIns="0" anchor="ctr">
            <a:noAutofit/>
          </a:bodyPr>
          <a:lstStyle/>
          <a:p>
            <a:pPr algn="ctr">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الدراسات تدعم سلسلة الأثر؛ نثبت أثر مُرشِدي محليًا ولا ندّعي أنه خفّض البطالة</a:t>
            </a:r>
          </a:p>
        </p:txBody>
      </p:sp>
    </p:spTree>
    <p:extLst>
      <p:ext uri="{BB962C8B-B14F-4D97-AF65-F5344CB8AC3E}">
        <p14:creationId xmlns:p14="http://schemas.microsoft.com/office/powerpoint/2010/main" val="587031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ختبار قبل التوسّع">
            <a:extLst>
              <a:ext uri="{FF2B5EF4-FFF2-40B4-BE49-F238E27FC236}">
                <a16:creationId xmlns:a16="http://schemas.microsoft.com/office/drawing/2014/main" id="{72534A43-9FF2-432C-9058-575D85AD08D9}"/>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اختبار قبل التوسّع</a:t>
            </a:r>
          </a:p>
        </p:txBody>
      </p:sp>
      <p:sp>
        <p:nvSpPr>
          <p:cNvPr id="3" name="09">
            <a:extLst>
              <a:ext uri="{FF2B5EF4-FFF2-40B4-BE49-F238E27FC236}">
                <a16:creationId xmlns:a16="http://schemas.microsoft.com/office/drawing/2014/main" id="{C1F40C5A-6C52-40C4-BDA1-4DCC935D8A61}"/>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56A9D83C-2A49-4A31-979D-1E33E9891B5F}"/>
              </a:ext>
            </a:extLst>
          </p:cNvPr>
          <p:cNvSpPr>
            <a:spLocks noGrp="1"/>
          </p:cNvSpPr>
          <p:nvPr/>
        </p:nvSpPr>
        <p:spPr>
          <a:xfrm>
            <a:off x="819150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59671053-CD96-4504-AEE7-8AAD6F17317A}"/>
              </a:ext>
            </a:extLst>
          </p:cNvPr>
          <p:cNvSpPr>
            <a:spLocks noGrp="1"/>
          </p:cNvSpPr>
          <p:nvPr/>
        </p:nvSpPr>
        <p:spPr>
          <a:xfrm>
            <a:off x="819150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27543C94-BAD8-4394-997D-81A003B04866}"/>
              </a:ext>
            </a:extLst>
          </p:cNvPr>
          <p:cNvSpPr>
            <a:spLocks noGrp="1"/>
          </p:cNvSpPr>
          <p:nvPr/>
        </p:nvSpPr>
        <p:spPr>
          <a:xfrm>
            <a:off x="4429125"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FD35EE73-5AC7-41DB-873F-A9DA62B463D9}"/>
              </a:ext>
            </a:extLst>
          </p:cNvPr>
          <p:cNvSpPr>
            <a:spLocks noGrp="1"/>
          </p:cNvSpPr>
          <p:nvPr/>
        </p:nvSpPr>
        <p:spPr>
          <a:xfrm>
            <a:off x="4429125"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4EF94CED-2FE7-4088-8AFA-6D48B0816F29}"/>
              </a:ext>
            </a:extLst>
          </p:cNvPr>
          <p:cNvSpPr>
            <a:spLocks noGrp="1"/>
          </p:cNvSpPr>
          <p:nvPr/>
        </p:nvSpPr>
        <p:spPr>
          <a:xfrm>
            <a:off x="66675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5A6FBF3A-08BB-4E68-97B2-FD2CF67B1FF4}"/>
              </a:ext>
            </a:extLst>
          </p:cNvPr>
          <p:cNvSpPr>
            <a:spLocks noGrp="1"/>
          </p:cNvSpPr>
          <p:nvPr/>
        </p:nvSpPr>
        <p:spPr>
          <a:xfrm>
            <a:off x="66675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AE9ACFC8-88F5-4E34-95FB-8D9CC79ED851}"/>
              </a:ext>
            </a:extLst>
          </p:cNvPr>
          <p:cNvSpPr>
            <a:spLocks noGrp="1"/>
          </p:cNvSpPr>
          <p:nvPr/>
        </p:nvSpPr>
        <p:spPr>
          <a:xfrm>
            <a:off x="571500" y="3686175"/>
            <a:ext cx="10906125" cy="438150"/>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3E25FD72-AD5F-48B7-8D3F-E68D866316F0}"/>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بالمئة">
            <a:extLst>
              <a:ext uri="{FF2B5EF4-FFF2-40B4-BE49-F238E27FC236}">
                <a16:creationId xmlns:a16="http://schemas.microsoft.com/office/drawing/2014/main" id="{288185BE-067C-45D0-8F39-EE53AE95CC7C}"/>
              </a:ext>
            </a:extLst>
          </p:cNvPr>
          <p:cNvSpPr>
            <a:spLocks noGrp="1"/>
          </p:cNvSpPr>
          <p:nvPr/>
        </p:nvSpPr>
        <p:spPr>
          <a:xfrm>
            <a:off x="8096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70 بالمئة</a:t>
            </a:r>
          </a:p>
        </p:txBody>
      </p:sp>
      <p:sp>
        <p:nvSpPr>
          <p:cNvPr id="13" name="إكمال مقارنة 3 برامج">
            <a:extLst>
              <a:ext uri="{FF2B5EF4-FFF2-40B4-BE49-F238E27FC236}">
                <a16:creationId xmlns:a16="http://schemas.microsoft.com/office/drawing/2014/main" id="{88496385-456C-4DC9-A7F5-39736A91760E}"/>
              </a:ext>
            </a:extLst>
          </p:cNvPr>
          <p:cNvSpPr>
            <a:spLocks noGrp="1"/>
          </p:cNvSpPr>
          <p:nvPr/>
        </p:nvSpPr>
        <p:spPr>
          <a:xfrm>
            <a:off x="8124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إكمال مقارنة 3 برامج</a:t>
            </a:r>
          </a:p>
        </p:txBody>
      </p:sp>
      <p:sp>
        <p:nvSpPr>
          <p:cNvPr id="14" name="Rectangle: Rounded Corners 13">
            <a:extLst>
              <a:ext uri="{FF2B5EF4-FFF2-40B4-BE49-F238E27FC236}">
                <a16:creationId xmlns:a16="http://schemas.microsoft.com/office/drawing/2014/main" id="{2E7C17CB-CC52-4DD1-8A7A-B38EB3A9616F}"/>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4 من 5">
            <a:extLst>
              <a:ext uri="{FF2B5EF4-FFF2-40B4-BE49-F238E27FC236}">
                <a16:creationId xmlns:a16="http://schemas.microsoft.com/office/drawing/2014/main" id="{67F85BBA-3B4C-4540-8900-3F9FE6F2393E}"/>
              </a:ext>
            </a:extLst>
          </p:cNvPr>
          <p:cNvSpPr>
            <a:spLocks noGrp="1"/>
          </p:cNvSpPr>
          <p:nvPr/>
        </p:nvSpPr>
        <p:spPr>
          <a:xfrm>
            <a:off x="44767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4 من 5</a:t>
            </a:r>
          </a:p>
        </p:txBody>
      </p:sp>
      <p:sp>
        <p:nvSpPr>
          <p:cNvPr id="16" name="وضوح القرار">
            <a:extLst>
              <a:ext uri="{FF2B5EF4-FFF2-40B4-BE49-F238E27FC236}">
                <a16:creationId xmlns:a16="http://schemas.microsoft.com/office/drawing/2014/main" id="{547CA9C5-2A23-4125-9045-4157BC6524ED}"/>
              </a:ext>
            </a:extLst>
          </p:cNvPr>
          <p:cNvSpPr>
            <a:spLocks noGrp="1"/>
          </p:cNvSpPr>
          <p:nvPr/>
        </p:nvSpPr>
        <p:spPr>
          <a:xfrm>
            <a:off x="45053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وضوح القرار</a:t>
            </a:r>
          </a:p>
        </p:txBody>
      </p:sp>
      <p:sp>
        <p:nvSpPr>
          <p:cNvPr id="17" name="Rectangle: Rounded Corners 16">
            <a:extLst>
              <a:ext uri="{FF2B5EF4-FFF2-40B4-BE49-F238E27FC236}">
                <a16:creationId xmlns:a16="http://schemas.microsoft.com/office/drawing/2014/main" id="{EA6D21E0-FE54-4261-9792-89EE3BA2F602}"/>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2 من 5">
            <a:extLst>
              <a:ext uri="{FF2B5EF4-FFF2-40B4-BE49-F238E27FC236}">
                <a16:creationId xmlns:a16="http://schemas.microsoft.com/office/drawing/2014/main" id="{39E6C370-16DE-4E23-91D9-51D79816698D}"/>
              </a:ext>
            </a:extLst>
          </p:cNvPr>
          <p:cNvSpPr>
            <a:spLocks noGrp="1"/>
          </p:cNvSpPr>
          <p:nvPr/>
        </p:nvSpPr>
        <p:spPr>
          <a:xfrm>
            <a:off x="857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2 من 5</a:t>
            </a:r>
          </a:p>
        </p:txBody>
      </p:sp>
      <p:sp>
        <p:nvSpPr>
          <p:cNvPr id="19" name="قبول تجربة مدفوعة">
            <a:extLst>
              <a:ext uri="{FF2B5EF4-FFF2-40B4-BE49-F238E27FC236}">
                <a16:creationId xmlns:a16="http://schemas.microsoft.com/office/drawing/2014/main" id="{AB420F48-EF28-4634-BC3D-1C5863AC001F}"/>
              </a:ext>
            </a:extLst>
          </p:cNvPr>
          <p:cNvSpPr>
            <a:spLocks noGrp="1"/>
          </p:cNvSpPr>
          <p:nvPr/>
        </p:nvSpPr>
        <p:spPr>
          <a:xfrm>
            <a:off x="885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قبول تجربة مدفوعة</a:t>
            </a:r>
          </a:p>
        </p:txBody>
      </p:sp>
      <p:sp>
        <p:nvSpPr>
          <p:cNvPr id="20" name="أهداف قرار معلنة — وليست نتائج محققة">
            <a:extLst>
              <a:ext uri="{FF2B5EF4-FFF2-40B4-BE49-F238E27FC236}">
                <a16:creationId xmlns:a16="http://schemas.microsoft.com/office/drawing/2014/main" id="{7CD4E0A1-CD20-4183-B0CA-64FFB311B730}"/>
              </a:ext>
            </a:extLst>
          </p:cNvPr>
          <p:cNvSpPr>
            <a:spLocks noGrp="1"/>
          </p:cNvSpPr>
          <p:nvPr/>
        </p:nvSpPr>
        <p:spPr>
          <a:xfrm>
            <a:off x="1476375" y="5848350"/>
            <a:ext cx="10001250" cy="33337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184637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CE9BCC89-D762-4275-A9DF-5F1E9B38B475}"/>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67C1B3FD-41C6-47E4-914F-88282DA3E4F4}"/>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3060F7BF-2C4A-4DED-857B-1A758D64AA22}"/>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80 بالمئة">
            <a:extLst>
              <a:ext uri="{FF2B5EF4-FFF2-40B4-BE49-F238E27FC236}">
                <a16:creationId xmlns:a16="http://schemas.microsoft.com/office/drawing/2014/main" id="{25532E13-991C-4643-8CD4-72563C9D619C}"/>
              </a:ext>
            </a:extLst>
          </p:cNvPr>
          <p:cNvSpPr>
            <a:spLocks noGrp="1"/>
          </p:cNvSpPr>
          <p:nvPr/>
        </p:nvSpPr>
        <p:spPr>
          <a:xfrm>
            <a:off x="762000" y="1971675"/>
            <a:ext cx="2238375" cy="552450"/>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80 بالمئة</a:t>
            </a:r>
          </a:p>
        </p:txBody>
      </p:sp>
      <p:sp>
        <p:nvSpPr>
          <p:cNvPr id="6" name="هامش مساهمة">
            <a:extLst>
              <a:ext uri="{FF2B5EF4-FFF2-40B4-BE49-F238E27FC236}">
                <a16:creationId xmlns:a16="http://schemas.microsoft.com/office/drawing/2014/main" id="{A8D2AEDE-34EB-4BA8-99B6-96E351FAD58A}"/>
              </a:ext>
            </a:extLst>
          </p:cNvPr>
          <p:cNvSpPr>
            <a:spLocks noGrp="1"/>
          </p:cNvSpPr>
          <p:nvPr/>
        </p:nvSpPr>
        <p:spPr>
          <a:xfrm>
            <a:off x="762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مساهمة</a:t>
            </a:r>
          </a:p>
        </p:txBody>
      </p:sp>
      <p:sp>
        <p:nvSpPr>
          <p:cNvPr id="7" name="Rectangle: Rounded Corners 6">
            <a:extLst>
              <a:ext uri="{FF2B5EF4-FFF2-40B4-BE49-F238E27FC236}">
                <a16:creationId xmlns:a16="http://schemas.microsoft.com/office/drawing/2014/main" id="{282C51B3-CC39-48D5-BEF2-1D51AED4E598}"/>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C3C3811B-7F7E-4668-9118-0FF73E45BE82}"/>
              </a:ext>
            </a:extLst>
          </p:cNvPr>
          <p:cNvSpPr>
            <a:spLocks noGrp="1"/>
          </p:cNvSpPr>
          <p:nvPr/>
        </p:nvSpPr>
        <p:spPr>
          <a:xfrm>
            <a:off x="3619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16 د.أ</a:t>
            </a:r>
          </a:p>
        </p:txBody>
      </p:sp>
      <p:sp>
        <p:nvSpPr>
          <p:cNvPr id="9" name="هامش / طالب">
            <a:extLst>
              <a:ext uri="{FF2B5EF4-FFF2-40B4-BE49-F238E27FC236}">
                <a16:creationId xmlns:a16="http://schemas.microsoft.com/office/drawing/2014/main" id="{4AD49764-5076-4673-B881-94467EEAFBDB}"/>
              </a:ext>
            </a:extLst>
          </p:cNvPr>
          <p:cNvSpPr>
            <a:spLocks noGrp="1"/>
          </p:cNvSpPr>
          <p:nvPr/>
        </p:nvSpPr>
        <p:spPr>
          <a:xfrm>
            <a:off x="3619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 طالب</a:t>
            </a:r>
          </a:p>
        </p:txBody>
      </p:sp>
      <p:sp>
        <p:nvSpPr>
          <p:cNvPr id="10" name="Rectangle: Rounded Corners 9">
            <a:extLst>
              <a:ext uri="{FF2B5EF4-FFF2-40B4-BE49-F238E27FC236}">
                <a16:creationId xmlns:a16="http://schemas.microsoft.com/office/drawing/2014/main" id="{FF2C7BC7-7EE9-4250-9DC9-6BB884AD68AE}"/>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D727BFA3-DE95-4044-8DEB-A2D630CB62BF}"/>
              </a:ext>
            </a:extLst>
          </p:cNvPr>
          <p:cNvSpPr>
            <a:spLocks noGrp="1"/>
          </p:cNvSpPr>
          <p:nvPr/>
        </p:nvSpPr>
        <p:spPr>
          <a:xfrm>
            <a:off x="64770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53636554-D805-471A-B60E-5CBF4A6552A4}"/>
              </a:ext>
            </a:extLst>
          </p:cNvPr>
          <p:cNvSpPr>
            <a:spLocks noGrp="1"/>
          </p:cNvSpPr>
          <p:nvPr/>
        </p:nvSpPr>
        <p:spPr>
          <a:xfrm>
            <a:off x="6477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C986113C-F3B6-4203-8455-D95C2B832065}"/>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EB4A1B5A-EA49-4774-A698-63367F684A25}"/>
              </a:ext>
            </a:extLst>
          </p:cNvPr>
          <p:cNvSpPr>
            <a:spLocks noGrp="1"/>
          </p:cNvSpPr>
          <p:nvPr/>
        </p:nvSpPr>
        <p:spPr>
          <a:xfrm>
            <a:off x="9334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45F51903-0283-4AD8-8384-051C1609E946}"/>
              </a:ext>
            </a:extLst>
          </p:cNvPr>
          <p:cNvSpPr>
            <a:spLocks noGrp="1"/>
          </p:cNvSpPr>
          <p:nvPr/>
        </p:nvSpPr>
        <p:spPr>
          <a:xfrm>
            <a:off x="9334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506D420C-A48F-4E57-B715-5949D81A0868}"/>
              </a:ext>
            </a:extLst>
          </p:cNvPr>
          <p:cNvSpPr>
            <a:spLocks noGrp="1"/>
          </p:cNvSpPr>
          <p:nvPr/>
        </p:nvSpPr>
        <p:spPr>
          <a:xfrm>
            <a:off x="571500" y="3514725"/>
            <a:ext cx="11049000" cy="933450"/>
          </a:xfrm>
          <a:prstGeom prst="rect">
            <a:avLst/>
          </a:prstGeom>
          <a:noFill/>
          <a:ln w="0">
            <a:noFill/>
          </a:ln>
        </p:spPr>
        <p:txBody>
          <a:bodyPr wrap="square" lIns="0" tIns="0" rIns="0" bIns="0" anchor="ctr">
            <a:noAutofit/>
          </a:bodyPr>
          <a:lstStyle/>
          <a:p>
            <a:pPr algn="ctr">
              <a:defRPr lang="ar-JO" sz="6150" b="1">
                <a:solidFill>
                  <a:srgbClr val="FFFFFF"/>
                </a:solidFill>
                <a:latin typeface="IBM Plex Sans Arabic"/>
                <a:ea typeface="IBM Plex Sans Arabic"/>
                <a:cs typeface="IBM Plex Sans Arabic"/>
              </a:defRPr>
            </a:pPr>
            <a:r>
              <a:rPr lang="ar-JO" sz="6150" b="1">
                <a:solidFill>
                  <a:srgbClr val="FFFFFF"/>
                </a:solidFill>
                <a:latin typeface="IBM Plex Sans Arabic"/>
                <a:ea typeface="IBM Plex Sans Arabic"/>
                <a:cs typeface="IBM Plex Sans Arabic"/>
              </a:rPr>
              <a:t>1,950</a:t>
            </a:r>
          </a:p>
        </p:txBody>
      </p:sp>
      <p:sp>
        <p:nvSpPr>
          <p:cNvPr id="17" name="طالبًا مدفوعًا للوصول إلى نقطة التعادل">
            <a:extLst>
              <a:ext uri="{FF2B5EF4-FFF2-40B4-BE49-F238E27FC236}">
                <a16:creationId xmlns:a16="http://schemas.microsoft.com/office/drawing/2014/main" id="{77EA0C65-8129-4285-A5D4-4E0A095B770D}"/>
              </a:ext>
            </a:extLst>
          </p:cNvPr>
          <p:cNvSpPr>
            <a:spLocks noGrp="1"/>
          </p:cNvSpPr>
          <p:nvPr/>
        </p:nvSpPr>
        <p:spPr>
          <a:xfrm>
            <a:off x="1143000" y="4457700"/>
            <a:ext cx="9906000" cy="514350"/>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طالبًا مدفوعًا للوصول إلى نقطة التعادل</a:t>
            </a:r>
          </a:p>
        </p:txBody>
      </p:sp>
      <p:sp>
        <p:nvSpPr>
          <p:cNvPr id="18" name="≈ 13 مؤسسة × 150 طالبًا نشطًا">
            <a:extLst>
              <a:ext uri="{FF2B5EF4-FFF2-40B4-BE49-F238E27FC236}">
                <a16:creationId xmlns:a16="http://schemas.microsoft.com/office/drawing/2014/main" id="{8C051C31-8BD9-418E-8778-23FC3D2EA67A}"/>
              </a:ext>
            </a:extLst>
          </p:cNvPr>
          <p:cNvSpPr>
            <a:spLocks noGrp="1"/>
          </p:cNvSpPr>
          <p:nvPr/>
        </p:nvSpPr>
        <p:spPr>
          <a:xfrm>
            <a:off x="1428750" y="5048250"/>
            <a:ext cx="9334500" cy="466725"/>
          </a:xfrm>
          <a:prstGeom prst="rect">
            <a:avLst/>
          </a:prstGeom>
          <a:noFill/>
          <a:ln w="0">
            <a:noFill/>
          </a:ln>
        </p:spPr>
        <p:txBody>
          <a:bodyPr wrap="square" lIns="0" tIns="0" rIns="0" bIns="0" anchor="ctr">
            <a:noAutofit/>
          </a:bodyPr>
          <a:lstStyle/>
          <a:p>
            <a:pPr algn="ctr">
              <a:defRPr lang="ar-JO" sz="2175" b="1">
                <a:solidFill>
                  <a:srgbClr val="FFFFFF"/>
                </a:solidFill>
                <a:latin typeface="IBM Plex Sans Arabic"/>
                <a:ea typeface="IBM Plex Sans Arabic"/>
                <a:cs typeface="IBM Plex Sans Arabic"/>
              </a:defRPr>
            </a:pPr>
            <a:r>
              <a:rPr lang="ar-JO" sz="2175" b="1">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0BB1E78D-6DE3-4B26-8F20-7E22F03D83E1}"/>
              </a:ext>
            </a:extLst>
          </p:cNvPr>
          <p:cNvSpPr>
            <a:spLocks noGrp="1"/>
          </p:cNvSpPr>
          <p:nvPr/>
        </p:nvSpPr>
        <p:spPr>
          <a:xfrm>
            <a:off x="809625" y="5972175"/>
            <a:ext cx="10572750" cy="361950"/>
          </a:xfrm>
          <a:prstGeom prst="rect">
            <a:avLst/>
          </a:prstGeom>
          <a:noFill/>
          <a:ln w="0">
            <a:noFill/>
          </a:ln>
        </p:spPr>
        <p:txBody>
          <a:bodyPr wrap="square" lIns="0" tIns="0" rIns="0" bIns="0" anchor="ctr">
            <a:noAutofit/>
          </a:bodyPr>
          <a:lstStyle/>
          <a:p>
            <a:pPr algn="ctr">
              <a:defRPr lang="ar-JO" sz="1500" b="0">
                <a:solidFill>
                  <a:srgbClr val="D1DEED"/>
                </a:solidFill>
                <a:latin typeface="IBM Plex Sans Arabic"/>
                <a:ea typeface="IBM Plex Sans Arabic"/>
                <a:cs typeface="IBM Plex Sans Arabic"/>
              </a:defRPr>
            </a:pPr>
            <a:r>
              <a:rPr lang="ar-JO" sz="1500" b="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1018989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946BC0D3-2488-4F8E-A786-16FEB3BEF628}"/>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D996E390-4072-4BB7-923E-24173EBD3496}"/>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1F4276FC-194C-407A-BEDC-4E477CB9748A}"/>
              </a:ext>
            </a:extLst>
          </p:cNvPr>
          <p:cNvSpPr>
            <a:spLocks noGrp="1"/>
          </p:cNvSpPr>
          <p:nvPr/>
        </p:nvSpPr>
        <p:spPr>
          <a:xfrm>
            <a:off x="82296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1375A47D-1F68-4F0B-A488-53906B0287EB}"/>
              </a:ext>
            </a:extLst>
          </p:cNvPr>
          <p:cNvSpPr>
            <a:spLocks noGrp="1"/>
          </p:cNvSpPr>
          <p:nvPr/>
        </p:nvSpPr>
        <p:spPr>
          <a:xfrm>
            <a:off x="82296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8D12CDDF-922F-437E-ACCC-F41D911EEBDF}"/>
              </a:ext>
            </a:extLst>
          </p:cNvPr>
          <p:cNvSpPr>
            <a:spLocks noGrp="1"/>
          </p:cNvSpPr>
          <p:nvPr/>
        </p:nvSpPr>
        <p:spPr>
          <a:xfrm>
            <a:off x="82296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منطق التطبيق والبيانات</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5D7BA94F-6A8D-48B3-9BE6-C0E4DB0138BD}"/>
              </a:ext>
            </a:extLst>
          </p:cNvPr>
          <p:cNvSpPr>
            <a:spLocks noGrp="1"/>
          </p:cNvSpPr>
          <p:nvPr/>
        </p:nvSpPr>
        <p:spPr>
          <a:xfrm>
            <a:off x="4429125"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7634DBAF-7F1B-4A30-8DEA-1C7FFF96E8B4}"/>
              </a:ext>
            </a:extLst>
          </p:cNvPr>
          <p:cNvSpPr>
            <a:spLocks noGrp="1"/>
          </p:cNvSpPr>
          <p:nvPr/>
        </p:nvSpPr>
        <p:spPr>
          <a:xfrm>
            <a:off x="4429125"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6762EE16-0C69-47E2-BB63-3AF2A454C3A3}"/>
              </a:ext>
            </a:extLst>
          </p:cNvPr>
          <p:cNvSpPr>
            <a:spLocks noGrp="1"/>
          </p:cNvSpPr>
          <p:nvPr/>
        </p:nvSpPr>
        <p:spPr>
          <a:xfrm>
            <a:off x="4429125"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الهوية البصرية</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993048EF-67B6-4DE6-89CD-78F8C63F5A24}"/>
              </a:ext>
            </a:extLst>
          </p:cNvPr>
          <p:cNvSpPr>
            <a:spLocks noGrp="1"/>
          </p:cNvSpPr>
          <p:nvPr/>
        </p:nvSpPr>
        <p:spPr>
          <a:xfrm>
            <a:off x="5715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زيد</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486F5994-F610-4F1E-9D3E-C127505EE4F7}"/>
              </a:ext>
            </a:extLst>
          </p:cNvPr>
          <p:cNvSpPr>
            <a:spLocks noGrp="1"/>
          </p:cNvSpPr>
          <p:nvPr/>
        </p:nvSpPr>
        <p:spPr>
          <a:xfrm>
            <a:off x="5715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4B76BDC7-C790-4671-8C7E-3ED082902B4D}"/>
              </a:ext>
            </a:extLst>
          </p:cNvPr>
          <p:cNvSpPr>
            <a:spLocks noGrp="1"/>
          </p:cNvSpPr>
          <p:nvPr/>
        </p:nvSpPr>
        <p:spPr>
          <a:xfrm>
            <a:off x="5715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تحويل التصميم</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0DE525BE-D018-48B2-8DDD-E131216A82D3}"/>
              </a:ext>
            </a:extLst>
          </p:cNvPr>
          <p:cNvSpPr>
            <a:spLocks noGrp="1"/>
          </p:cNvSpPr>
          <p:nvPr/>
        </p:nvSpPr>
        <p:spPr>
          <a:xfrm>
            <a:off x="1428750" y="5762625"/>
            <a:ext cx="10001250" cy="571500"/>
          </a:xfrm>
          <a:prstGeom prst="rect">
            <a:avLst/>
          </a:prstGeom>
          <a:noFill/>
          <a:ln w="0">
            <a:noFill/>
          </a:ln>
        </p:spPr>
        <p:txBody>
          <a:bodyPr wrap="square" lIns="0" tIns="0" rIns="0" bIns="0" anchor="ctr">
            <a:noAutofit/>
          </a:bodyPr>
          <a:lstStyle/>
          <a:p>
            <a:pPr algn="ctr">
              <a:defRPr lang="ar-JO" sz="2550" b="1">
                <a:solidFill>
                  <a:srgbClr val="013070"/>
                </a:solidFill>
                <a:latin typeface="IBM Plex Sans Arabic"/>
                <a:ea typeface="IBM Plex Sans Arabic"/>
                <a:cs typeface="IBM Plex Sans Arabic"/>
              </a:defRPr>
            </a:pPr>
            <a:r>
              <a:rPr lang="ar-JO" sz="2550" b="1">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527561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75E3F74F-36A3-4CD8-ACDE-ECC73CD48EDC}"/>
              </a:ext>
            </a:extLst>
          </p:cNvPr>
          <p:cNvSpPr>
            <a:spLocks noGrp="1"/>
          </p:cNvSpPr>
          <p:nvPr/>
        </p:nvSpPr>
        <p:spPr>
          <a:xfrm>
            <a:off x="6191250" y="1933575"/>
            <a:ext cx="5286375" cy="666750"/>
          </a:xfrm>
          <a:prstGeom prst="rect">
            <a:avLst/>
          </a:prstGeom>
          <a:noFill/>
          <a:ln w="0">
            <a:noFill/>
          </a:ln>
        </p:spPr>
        <p:txBody>
          <a:bodyPr wrap="square" lIns="0" tIns="0" rIns="0" bIns="0" anchor="ctr">
            <a:noAutofit/>
          </a:bodyPr>
          <a:lstStyle/>
          <a:p>
            <a:pPr algn="r">
              <a:defRPr lang="ar-JO" sz="3600" b="1">
                <a:solidFill>
                  <a:srgbClr val="C8A04C"/>
                </a:solidFill>
                <a:latin typeface="IBM Plex Sans Arabic"/>
                <a:ea typeface="IBM Plex Sans Arabic"/>
                <a:cs typeface="IBM Plex Sans Arabic"/>
              </a:defRPr>
            </a:pPr>
            <a:r>
              <a:rPr lang="ar-JO" sz="3600" b="1">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3DF4261C-DCA4-4009-8160-2319786E0FA2}"/>
              </a:ext>
            </a:extLst>
          </p:cNvPr>
          <p:cNvSpPr>
            <a:spLocks noGrp="1"/>
          </p:cNvSpPr>
          <p:nvPr/>
        </p:nvSpPr>
        <p:spPr>
          <a:xfrm>
            <a:off x="5381625" y="2886075"/>
            <a:ext cx="6096000" cy="1495425"/>
          </a:xfrm>
          <a:prstGeom prst="rect">
            <a:avLst/>
          </a:prstGeom>
          <a:noFill/>
          <a:ln w="0">
            <a:noFill/>
          </a:ln>
        </p:spPr>
        <p:txBody>
          <a:bodyPr wrap="square" lIns="0" tIns="0" rIns="0" bIns="0" anchor="ctr">
            <a:noAutofit/>
          </a:bodyPr>
          <a:lstStyle/>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فرصة لتجربة مُرشِدي</a:t>
            </a:r>
          </a:p>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43B5188E-518B-4605-9D01-65397B75A68F}"/>
              </a:ext>
            </a:extLst>
          </p:cNvPr>
          <p:cNvSpPr>
            <a:spLocks noGrp="1"/>
          </p:cNvSpPr>
          <p:nvPr/>
        </p:nvSpPr>
        <p:spPr>
          <a:xfrm>
            <a:off x="4619625" y="4752975"/>
            <a:ext cx="6858000" cy="609600"/>
          </a:xfrm>
          <a:prstGeom prst="rect">
            <a:avLst/>
          </a:prstGeom>
          <a:noFill/>
          <a:ln w="0">
            <a:noFill/>
          </a:ln>
        </p:spPr>
        <p:txBody>
          <a:bodyPr wrap="square" lIns="0" tIns="0" rIns="0" bIns="0" anchor="ctr">
            <a:noAutofit/>
          </a:bodyPr>
          <a:lstStyle/>
          <a:p>
            <a:pPr algn="r">
              <a:defRPr lang="ar-JO" sz="2250" b="0">
                <a:solidFill>
                  <a:srgbClr val="D1DEED"/>
                </a:solidFill>
                <a:latin typeface="IBM Plex Sans Arabic"/>
                <a:ea typeface="IBM Plex Sans Arabic"/>
                <a:cs typeface="IBM Plex Sans Arabic"/>
              </a:defRPr>
            </a:pPr>
            <a:r>
              <a:rPr lang="ar-JO" sz="2250" b="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A49E1CF9-A292-49EC-8129-780DD759C9F7}"/>
              </a:ext>
            </a:extLst>
          </p:cNvPr>
          <p:cNvSpPr>
            <a:spLocks noGrp="1"/>
          </p:cNvSpPr>
          <p:nvPr/>
        </p:nvSpPr>
        <p:spPr>
          <a:xfrm>
            <a:off x="5762625" y="5772150"/>
            <a:ext cx="5715000" cy="571500"/>
          </a:xfrm>
          <a:prstGeom prst="rect">
            <a:avLst/>
          </a:prstGeom>
          <a:noFill/>
          <a:ln w="0">
            <a:noFill/>
          </a:ln>
        </p:spPr>
        <p:txBody>
          <a:bodyPr wrap="square" lIns="0" tIns="0" rIns="0" bIns="0" anchor="ctr">
            <a:noAutofit/>
          </a:bodyPr>
          <a:lstStyle/>
          <a:p>
            <a:pPr algn="r">
              <a:defRPr lang="ar-JO" sz="2850" b="1">
                <a:solidFill>
                  <a:srgbClr val="FFFFFF"/>
                </a:solidFill>
                <a:latin typeface="IBM Plex Sans Arabic"/>
                <a:ea typeface="IBM Plex Sans Arabic"/>
                <a:cs typeface="IBM Plex Sans Arabic"/>
              </a:defRPr>
            </a:pPr>
            <a:r>
              <a:rPr lang="ar-JO" sz="2850" b="1">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115481274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1910</Words>
  <Application>Microsoft Office PowerPoint</Application>
  <DocSecurity>0</DocSecurity>
  <PresentationFormat>Widescreen</PresentationFormat>
  <Paragraphs>217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IBM Plex Sans Arabic</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2026-09-10T19:55:41Z</dcterms:created>
  <dcterms:modified xsi:type="dcterms:W3CDTF">2026-09-10T19:55:43Z</dcterms:modified>
</cp:coreProperties>
</file>